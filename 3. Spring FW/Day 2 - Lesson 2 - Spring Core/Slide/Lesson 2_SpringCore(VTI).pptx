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handoutMasterIdLst>
    <p:handoutMasterId r:id="rId50"/>
  </p:handoutMasterIdLst>
  <p:sldIdLst>
    <p:sldId id="256" r:id="rId2"/>
    <p:sldId id="419" r:id="rId3"/>
    <p:sldId id="761" r:id="rId4"/>
    <p:sldId id="769" r:id="rId5"/>
    <p:sldId id="768" r:id="rId6"/>
    <p:sldId id="762" r:id="rId7"/>
    <p:sldId id="763" r:id="rId8"/>
    <p:sldId id="764" r:id="rId9"/>
    <p:sldId id="765" r:id="rId10"/>
    <p:sldId id="767" r:id="rId11"/>
    <p:sldId id="770" r:id="rId12"/>
    <p:sldId id="772" r:id="rId13"/>
    <p:sldId id="774" r:id="rId14"/>
    <p:sldId id="775" r:id="rId15"/>
    <p:sldId id="776" r:id="rId16"/>
    <p:sldId id="777" r:id="rId17"/>
    <p:sldId id="781" r:id="rId18"/>
    <p:sldId id="778" r:id="rId19"/>
    <p:sldId id="779" r:id="rId20"/>
    <p:sldId id="773" r:id="rId21"/>
    <p:sldId id="780" r:id="rId22"/>
    <p:sldId id="786" r:id="rId23"/>
    <p:sldId id="782" r:id="rId24"/>
    <p:sldId id="787" r:id="rId25"/>
    <p:sldId id="790" r:id="rId26"/>
    <p:sldId id="771" r:id="rId27"/>
    <p:sldId id="788" r:id="rId28"/>
    <p:sldId id="789" r:id="rId29"/>
    <p:sldId id="791" r:id="rId30"/>
    <p:sldId id="792" r:id="rId31"/>
    <p:sldId id="799" r:id="rId32"/>
    <p:sldId id="793" r:id="rId33"/>
    <p:sldId id="794" r:id="rId34"/>
    <p:sldId id="795" r:id="rId35"/>
    <p:sldId id="796" r:id="rId36"/>
    <p:sldId id="797" r:id="rId37"/>
    <p:sldId id="798" r:id="rId38"/>
    <p:sldId id="803" r:id="rId39"/>
    <p:sldId id="805" r:id="rId40"/>
    <p:sldId id="806" r:id="rId41"/>
    <p:sldId id="804" r:id="rId42"/>
    <p:sldId id="807" r:id="rId43"/>
    <p:sldId id="808" r:id="rId44"/>
    <p:sldId id="809" r:id="rId45"/>
    <p:sldId id="511" r:id="rId46"/>
    <p:sldId id="653" r:id="rId47"/>
    <p:sldId id="342" r:id="rId48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46" autoAdjust="0"/>
    <p:restoredTop sz="84555" autoAdjust="0"/>
  </p:normalViewPr>
  <p:slideViewPr>
    <p:cSldViewPr snapToGrid="0" snapToObjects="1">
      <p:cViewPr varScale="1">
        <p:scale>
          <a:sx n="37" d="100"/>
          <a:sy n="37" d="100"/>
        </p:scale>
        <p:origin x="291" y="5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3/5/2024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indent="228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indent="457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indent="685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indent="9144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indent="11430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indent="1371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indent="1600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indent="1828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0410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2875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329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5944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40172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2726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4046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3323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933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7595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9476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33654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81776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87108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28283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81847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65886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1721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90708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6029273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41285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36372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06712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86935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95255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110042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49639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12439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37908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541935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71812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38017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92694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93809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9891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47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3/5/2024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spring.io/" TargetMode="Externa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boot" TargetMode="External"/><Relationship Id="rId2" Type="http://schemas.openxmlformats.org/officeDocument/2006/relationships/hyperlink" Target="https://www.baeldung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pring.io/guides#getting-started-guides" TargetMode="Externa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Spring Framework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Top-down Coding &amp; Bottom-up Coding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SOLID principles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6600" b="0" dirty="0" err="1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IoC</a:t>
            </a: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DI</a:t>
            </a:r>
          </a:p>
          <a:p>
            <a:pPr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Spring core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Spring introduction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Cross Origin</a:t>
            </a:r>
          </a:p>
          <a:p>
            <a:pPr lvl="0"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Top-down Coding &amp; Bottom-up Coding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281" y="2526416"/>
            <a:ext cx="4636957" cy="88470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7823" y="2106488"/>
            <a:ext cx="4883284" cy="988525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15862" y="11893355"/>
            <a:ext cx="31357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Bottom-up coding</a:t>
            </a:r>
            <a:endParaRPr lang="en-US" b="0" i="1" dirty="0"/>
          </a:p>
        </p:txBody>
      </p:sp>
      <p:sp>
        <p:nvSpPr>
          <p:cNvPr id="9" name="Rectangle 8"/>
          <p:cNvSpPr/>
          <p:nvPr/>
        </p:nvSpPr>
        <p:spPr>
          <a:xfrm>
            <a:off x="12415230" y="11991747"/>
            <a:ext cx="30684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Top-down coding</a:t>
            </a:r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369927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967220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Top-down Coding &amp; Bottom-up Coding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1"/>
            <a:ext cx="15992678" cy="927572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Bottom-up Coding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Easy to miss customer requirement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Familiar to student 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Top-down Coding (recommended)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Focus to customer requirement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Familiar to employee</a:t>
            </a:r>
          </a:p>
        </p:txBody>
      </p:sp>
    </p:spTree>
    <p:extLst>
      <p:ext uri="{BB962C8B-B14F-4D97-AF65-F5344CB8AC3E}">
        <p14:creationId xmlns:p14="http://schemas.microsoft.com/office/powerpoint/2010/main" val="307432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6897103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SOLID Principles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984037" y="2436373"/>
            <a:ext cx="21576354" cy="976211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SOLID makes the code easier to refactor and maintain, but takes longer to write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Principles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1. </a:t>
            </a:r>
            <a:r>
              <a:rPr lang="en-US" b="1" dirty="0"/>
              <a:t>S</a:t>
            </a:r>
            <a:r>
              <a:rPr lang="en-US" dirty="0"/>
              <a:t>ingle responsibility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2. </a:t>
            </a:r>
            <a:r>
              <a:rPr lang="en-US" b="1" dirty="0"/>
              <a:t>O</a:t>
            </a:r>
            <a:r>
              <a:rPr lang="en-US" dirty="0"/>
              <a:t>pen/closed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3. </a:t>
            </a:r>
            <a:r>
              <a:rPr lang="en-US" b="1" dirty="0" err="1"/>
              <a:t>L</a:t>
            </a:r>
            <a:r>
              <a:rPr lang="en-US" dirty="0" err="1"/>
              <a:t>iskov</a:t>
            </a:r>
            <a:r>
              <a:rPr lang="en-US" dirty="0"/>
              <a:t> substitution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4. </a:t>
            </a:r>
            <a:r>
              <a:rPr lang="en-US" b="1" dirty="0"/>
              <a:t>I</a:t>
            </a:r>
            <a:r>
              <a:rPr lang="en-US" dirty="0"/>
              <a:t>nterface segregation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5. </a:t>
            </a:r>
            <a:r>
              <a:rPr lang="en-US" b="1" dirty="0"/>
              <a:t>D</a:t>
            </a:r>
            <a:r>
              <a:rPr lang="en-US" dirty="0"/>
              <a:t>ependency inversion</a:t>
            </a:r>
          </a:p>
        </p:txBody>
      </p:sp>
    </p:spTree>
    <p:extLst>
      <p:ext uri="{BB962C8B-B14F-4D97-AF65-F5344CB8AC3E}">
        <p14:creationId xmlns:p14="http://schemas.microsoft.com/office/powerpoint/2010/main" val="1726805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SOLID Principles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12068" y="2708748"/>
            <a:ext cx="22168658" cy="2446912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1. Single responsibility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A class should only hold 1 responsibility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Classes can only be modified for only a reason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38" y="6340408"/>
            <a:ext cx="8740804" cy="4664704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>
            <a:off x="10272408" y="8015591"/>
            <a:ext cx="2918298" cy="1361873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2206" y="6340408"/>
            <a:ext cx="7961745" cy="4664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28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SOLID Principles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517514" y="2629187"/>
            <a:ext cx="22671932" cy="500499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2. Open/closed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It is possible to extend a class freely, but not modify it within that class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When you want to add functionality to the project, you should write a new class that is an extension of the old class (extend or has-a)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78" y="8165728"/>
            <a:ext cx="8065410" cy="2745955"/>
          </a:xfrm>
          <a:prstGeom prst="rect">
            <a:avLst/>
          </a:prstGeom>
        </p:spPr>
      </p:pic>
      <p:sp>
        <p:nvSpPr>
          <p:cNvPr id="3" name="Right Arrow 2"/>
          <p:cNvSpPr/>
          <p:nvPr/>
        </p:nvSpPr>
        <p:spPr>
          <a:xfrm>
            <a:off x="9114059" y="8968902"/>
            <a:ext cx="1692613" cy="1303507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54943" y="8463064"/>
            <a:ext cx="12829057" cy="221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586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SOLID Principles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517514" y="2629187"/>
            <a:ext cx="22671932" cy="302005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3. </a:t>
            </a:r>
            <a:r>
              <a:rPr lang="en-US" dirty="0" err="1"/>
              <a:t>Liskov</a:t>
            </a:r>
            <a:r>
              <a:rPr lang="en-US" dirty="0"/>
              <a:t> substitution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In a program, objects of </a:t>
            </a:r>
            <a:r>
              <a:rPr lang="en-US" dirty="0" err="1"/>
              <a:t>SubClass</a:t>
            </a:r>
            <a:r>
              <a:rPr lang="en-US" dirty="0"/>
              <a:t> can replace </a:t>
            </a:r>
            <a:r>
              <a:rPr lang="en-US" dirty="0" err="1"/>
              <a:t>SuperClass</a:t>
            </a:r>
            <a:r>
              <a:rPr lang="en-US" dirty="0"/>
              <a:t> without changing the correctness of the program</a:t>
            </a: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517514" y="5897681"/>
            <a:ext cx="19428626" cy="2584839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4. Interface segregation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Divide the large interface into many small interfaces with specific purposes</a:t>
            </a:r>
          </a:p>
        </p:txBody>
      </p:sp>
    </p:spTree>
    <p:extLst>
      <p:ext uri="{BB962C8B-B14F-4D97-AF65-F5344CB8AC3E}">
        <p14:creationId xmlns:p14="http://schemas.microsoft.com/office/powerpoint/2010/main" val="3305232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SOLID Principles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614789" y="2629185"/>
            <a:ext cx="23137805" cy="6897586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5. Dependency inversion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High-level modules should not depend on low-level modules (has-a relationship)</a:t>
            </a:r>
          </a:p>
          <a:p>
            <a:pPr marL="889000" lvl="2" indent="0" hangingPunct="1">
              <a:buNone/>
            </a:pPr>
            <a:r>
              <a:rPr lang="en-US" dirty="0">
                <a:sym typeface="Wingdings" panose="05000000000000000000" pitchFamily="2" charset="2"/>
              </a:rPr>
              <a:t>   Both should depend on abstraction/interface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Interface (abstraction) should not depend on details, but the opposite.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Classes communicate with each other through interfaces, not through implementations.</a:t>
            </a: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0529695" y="9526771"/>
            <a:ext cx="3237136" cy="297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546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SOLID Principles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Down Arrow 2"/>
          <p:cNvSpPr/>
          <p:nvPr/>
        </p:nvSpPr>
        <p:spPr>
          <a:xfrm>
            <a:off x="12187649" y="5913906"/>
            <a:ext cx="769594" cy="946798"/>
          </a:xfrm>
          <a:prstGeom prst="downArrow">
            <a:avLst>
              <a:gd name="adj1" fmla="val 38733"/>
              <a:gd name="adj2" fmla="val 50000"/>
            </a:avLst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479" y="6860704"/>
            <a:ext cx="18950582" cy="570921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337875" y="5202554"/>
            <a:ext cx="221567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Dependency</a:t>
            </a:r>
            <a:endParaRPr lang="en-US" b="0" i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3779" y="1524000"/>
            <a:ext cx="20338158" cy="3678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92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Inversion of Control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1"/>
            <a:ext cx="21965462" cy="915899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Is a design pattern created to make the code compliant with Dependency Inversion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Provides a simple mechanism to manage dependencies, object initialization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2 ways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Dependency Injection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Dependency Lookup (self-study)</a:t>
            </a:r>
          </a:p>
        </p:txBody>
      </p:sp>
    </p:spTree>
    <p:extLst>
      <p:ext uri="{BB962C8B-B14F-4D97-AF65-F5344CB8AC3E}">
        <p14:creationId xmlns:p14="http://schemas.microsoft.com/office/powerpoint/2010/main" val="3198602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Dependency Injection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1"/>
            <a:ext cx="3541274" cy="94885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Problem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27" y="4492153"/>
            <a:ext cx="23949189" cy="619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930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Dependency Injection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200150" y="2217706"/>
            <a:ext cx="22633428" cy="190216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When you change the code in the low-level module, you will have to change it on the high-level module too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260" y="3634548"/>
            <a:ext cx="18478378" cy="886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815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Dependency Injection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200150" y="2217706"/>
            <a:ext cx="4188973" cy="93405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Using DI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54" y="3443589"/>
            <a:ext cx="23946598" cy="63229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899457" y="10116408"/>
            <a:ext cx="309251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Setup Component</a:t>
            </a:r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1847889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Dependency Injection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10057" y="11789565"/>
            <a:ext cx="46650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Setup </a:t>
            </a:r>
            <a:r>
              <a:rPr lang="en-US" b="0" i="1" dirty="0" err="1">
                <a:latin typeface="Times New Roman" panose="02020603050405020304" pitchFamily="18" charset="0"/>
                <a:ea typeface="Calibri" panose="020F0502020204030204" pitchFamily="34" charset="0"/>
              </a:rPr>
              <a:t>DIContainer</a:t>
            </a:r>
            <a:r>
              <a:rPr lang="en-US" b="0" i="1" dirty="0">
                <a:latin typeface="Times New Roman" panose="02020603050405020304" pitchFamily="18" charset="0"/>
                <a:ea typeface="Calibri" panose="020F0502020204030204" pitchFamily="34" charset="0"/>
              </a:rPr>
              <a:t> &amp; Bean</a:t>
            </a:r>
            <a:endParaRPr lang="en-US" b="0" i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0238" y="3208363"/>
            <a:ext cx="11425143" cy="460029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7979958" y="7380084"/>
            <a:ext cx="116570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Using</a:t>
            </a:r>
            <a:endParaRPr lang="en-US" b="0" i="1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292" y="3385166"/>
            <a:ext cx="12476757" cy="840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79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Dependency Injection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64356" y="2451166"/>
            <a:ext cx="4188973" cy="93405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Summary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51" y="3151762"/>
            <a:ext cx="23589099" cy="920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771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Dependency Injection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655" y="1704150"/>
            <a:ext cx="17523495" cy="1053324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106848" y="12049361"/>
            <a:ext cx="16433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Injection</a:t>
            </a:r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822266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Dependency Injection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64356" y="2451165"/>
            <a:ext cx="6893261" cy="163445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Changing code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6001" y="3701888"/>
            <a:ext cx="17332211" cy="880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0760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Dependency Injection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24" y="2664049"/>
            <a:ext cx="23044056" cy="741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192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Dependency Injection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0"/>
            <a:ext cx="21965462" cy="1009285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Dependency modules will be injected into high-level modules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DI is used to reduce dependencies between modules </a:t>
            </a:r>
          </a:p>
          <a:p>
            <a:pPr marL="0" indent="0" hangingPunct="1">
              <a:buNone/>
            </a:pPr>
            <a:r>
              <a:rPr lang="en-US" dirty="0">
                <a:sym typeface="Wingdings" panose="05000000000000000000" pitchFamily="2" charset="2"/>
              </a:rPr>
              <a:t>	 </a:t>
            </a:r>
            <a:r>
              <a:rPr lang="en-US" dirty="0"/>
              <a:t>Easier in module change, code maintenance and testing.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3 Injection ways: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Constructor Injection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Setter Injection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Interface Injection (Self-study)</a:t>
            </a:r>
          </a:p>
        </p:txBody>
      </p:sp>
    </p:spTree>
    <p:extLst>
      <p:ext uri="{BB962C8B-B14F-4D97-AF65-F5344CB8AC3E}">
        <p14:creationId xmlns:p14="http://schemas.microsoft.com/office/powerpoint/2010/main" val="3269414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Dependency Injection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533650"/>
            <a:ext cx="6440116" cy="10850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Constructor Injection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046" y="3482501"/>
            <a:ext cx="16052567" cy="3138095"/>
          </a:xfrm>
          <a:prstGeom prst="rect">
            <a:avLst/>
          </a:prstGeom>
        </p:spPr>
      </p:pic>
      <p:sp>
        <p:nvSpPr>
          <p:cNvPr id="5" name="Text Placeholder 1"/>
          <p:cNvSpPr txBox="1">
            <a:spLocks/>
          </p:cNvSpPr>
          <p:nvPr/>
        </p:nvSpPr>
        <p:spPr>
          <a:xfrm>
            <a:off x="1552778" y="6938509"/>
            <a:ext cx="6440116" cy="108503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Setter Injection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7217" y="7648185"/>
            <a:ext cx="11784381" cy="488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606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Dependency Injection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2" y="2533650"/>
            <a:ext cx="10486823" cy="135741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Advantages &amp; Disadvantages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858876"/>
              </p:ext>
            </p:extLst>
          </p:nvPr>
        </p:nvGraphicFramePr>
        <p:xfrm>
          <a:off x="3849989" y="4708187"/>
          <a:ext cx="16597551" cy="47068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78454">
                  <a:extLst>
                    <a:ext uri="{9D8B030D-6E8A-4147-A177-3AD203B41FA5}">
                      <a16:colId xmlns:a16="http://schemas.microsoft.com/office/drawing/2014/main" val="58035362"/>
                    </a:ext>
                  </a:extLst>
                </a:gridCol>
                <a:gridCol w="9319097">
                  <a:extLst>
                    <a:ext uri="{9D8B030D-6E8A-4147-A177-3AD203B41FA5}">
                      <a16:colId xmlns:a16="http://schemas.microsoft.com/office/drawing/2014/main" val="2758127443"/>
                    </a:ext>
                  </a:extLst>
                </a:gridCol>
              </a:tblGrid>
              <a:tr h="1332583">
                <a:tc>
                  <a:txBody>
                    <a:bodyPr/>
                    <a:lstStyle/>
                    <a:p>
                      <a:r>
                        <a:rPr lang="en-US" sz="4000" b="1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b="1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655325"/>
                  </a:ext>
                </a:extLst>
              </a:tr>
              <a:tr h="1042891">
                <a:tc>
                  <a:txBody>
                    <a:bodyPr/>
                    <a:lstStyle/>
                    <a:p>
                      <a:pPr algn="l"/>
                      <a:r>
                        <a:rPr lang="en-US" sz="3500" dirty="0"/>
                        <a:t>Reduce adhesion between 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500" dirty="0"/>
                        <a:t>Confusing DI concept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409246"/>
                  </a:ext>
                </a:extLst>
              </a:tr>
              <a:tr h="1042891">
                <a:tc>
                  <a:txBody>
                    <a:bodyPr/>
                    <a:lstStyle/>
                    <a:p>
                      <a:pPr algn="l"/>
                      <a:r>
                        <a:rPr lang="en-US" sz="3500" dirty="0"/>
                        <a:t>Easy to maintain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500" dirty="0"/>
                        <a:t>Using interfaces </a:t>
                      </a:r>
                      <a:r>
                        <a:rPr lang="en-US" sz="3500" dirty="0"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en-US" sz="3500" dirty="0"/>
                        <a:t>difficult to debug</a:t>
                      </a:r>
                      <a:r>
                        <a:rPr lang="en-US" sz="3500" baseline="0" dirty="0"/>
                        <a:t> </a:t>
                      </a:r>
                    </a:p>
                    <a:p>
                      <a:pPr algn="l"/>
                      <a:r>
                        <a:rPr lang="en-US" sz="3500" baseline="0" dirty="0"/>
                        <a:t>(</a:t>
                      </a:r>
                      <a:r>
                        <a:rPr lang="en-US" sz="3500" dirty="0"/>
                        <a:t>we do not know exactly which module is called)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429435"/>
                  </a:ext>
                </a:extLst>
              </a:tr>
              <a:tr h="1173090">
                <a:tc>
                  <a:txBody>
                    <a:bodyPr/>
                    <a:lstStyle/>
                    <a:p>
                      <a:pPr algn="l"/>
                      <a:r>
                        <a:rPr lang="en-US" sz="3500" dirty="0"/>
                        <a:t>Very easy to test and write Unit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500" dirty="0"/>
                        <a:t>Increases the complexity of the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778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6600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1" y="571498"/>
            <a:ext cx="5501592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3" y="2475287"/>
            <a:ext cx="14708627" cy="89048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Spring Bean, Spring Component, Spring IOC container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40" y="3599436"/>
            <a:ext cx="23917944" cy="739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3042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14291"/>
            <a:ext cx="24310490" cy="838068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791859" y="10920952"/>
            <a:ext cx="22733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@</a:t>
            </a:r>
            <a:r>
              <a:rPr lang="en-US" b="0" i="1" dirty="0" err="1">
                <a:latin typeface="Times New Roman" panose="02020603050405020304" pitchFamily="18" charset="0"/>
              </a:rPr>
              <a:t>Autowired</a:t>
            </a:r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16661752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44" y="3802149"/>
            <a:ext cx="21751959" cy="61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28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4" y="2533652"/>
            <a:ext cx="4844780" cy="987761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Common Error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329" y="3385226"/>
            <a:ext cx="22635087" cy="913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123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4911283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517109" y="2533651"/>
            <a:ext cx="8058330" cy="5598672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Spring Core component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Spring Component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@Scope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</a:t>
            </a:r>
            <a:r>
              <a:rPr lang="en-US" dirty="0" err="1"/>
              <a:t>Autowired</a:t>
            </a:r>
            <a:r>
              <a:rPr lang="en-US" dirty="0"/>
              <a:t> &amp; @Qualifier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5439" y="2102787"/>
            <a:ext cx="14434941" cy="964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5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2" y="2533652"/>
            <a:ext cx="22633428" cy="668654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Spring component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</a:t>
            </a:r>
            <a:r>
              <a:rPr lang="en-US" dirty="0" err="1"/>
              <a:t>RestController</a:t>
            </a:r>
            <a:r>
              <a:rPr lang="en-US" dirty="0"/>
              <a:t>, @Service, @Repository: using for Controller, Service, Repository Object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@Component: using for Other Object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@Configuration, @Bean: using for IOC Container</a:t>
            </a:r>
          </a:p>
        </p:txBody>
      </p:sp>
      <p:pic>
        <p:nvPicPr>
          <p:cNvPr id="5" name="Picture 4" descr="What's the difference between @Component, @Repository &amp; @Service  annotations in Spring? - Stack Overflow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5944" y="8225100"/>
            <a:ext cx="8899052" cy="36815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68057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2" y="2533652"/>
            <a:ext cx="6098028" cy="104774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@Component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1" y="4591052"/>
            <a:ext cx="23368000" cy="427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32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2" y="2533652"/>
            <a:ext cx="6098028" cy="104774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@Configuration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312" y="3406302"/>
            <a:ext cx="19244317" cy="912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811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2" y="2533652"/>
            <a:ext cx="6098028" cy="104774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@Scope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108" y="8484445"/>
            <a:ext cx="9981519" cy="33443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1737" y="8484445"/>
            <a:ext cx="10046083" cy="33443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3274" y="3581400"/>
            <a:ext cx="19124115" cy="452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237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1" y="2533651"/>
            <a:ext cx="10194995" cy="1040413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</a:t>
            </a:r>
            <a:r>
              <a:rPr lang="en-US" dirty="0" err="1"/>
              <a:t>Autowired</a:t>
            </a:r>
            <a:endParaRPr lang="en-US" dirty="0"/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3 ways:</a:t>
            </a:r>
          </a:p>
          <a:p>
            <a:pPr lvl="2" hangingPunct="1">
              <a:buFont typeface="Wingdings" panose="05000000000000000000" pitchFamily="2" charset="2"/>
              <a:buChar char="§"/>
            </a:pPr>
            <a:r>
              <a:rPr lang="en-US" dirty="0"/>
              <a:t> On Field</a:t>
            </a:r>
          </a:p>
          <a:p>
            <a:pPr lvl="2" hangingPunct="1">
              <a:buFont typeface="Wingdings" panose="05000000000000000000" pitchFamily="2" charset="2"/>
              <a:buChar char="§"/>
            </a:pPr>
            <a:r>
              <a:rPr lang="en-US" dirty="0"/>
              <a:t> On Constructor </a:t>
            </a:r>
          </a:p>
          <a:p>
            <a:pPr lvl="2" hangingPunct="1">
              <a:buFont typeface="Wingdings" panose="05000000000000000000" pitchFamily="2" charset="2"/>
              <a:buChar char="§"/>
            </a:pPr>
            <a:r>
              <a:rPr lang="en-US" dirty="0"/>
              <a:t> On Setter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@Qualifier &amp; @Primary</a:t>
            </a:r>
          </a:p>
        </p:txBody>
      </p:sp>
    </p:spTree>
    <p:extLst>
      <p:ext uri="{BB962C8B-B14F-4D97-AF65-F5344CB8AC3E}">
        <p14:creationId xmlns:p14="http://schemas.microsoft.com/office/powerpoint/2010/main" val="38006473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2979" y="1868140"/>
            <a:ext cx="9636463" cy="178979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815699" y="3816637"/>
            <a:ext cx="16546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On Field</a:t>
            </a:r>
            <a:endParaRPr lang="en-US" b="0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962" y="9025719"/>
            <a:ext cx="8904883" cy="273754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806606" y="11950794"/>
            <a:ext cx="17475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On Setter</a:t>
            </a:r>
            <a:endParaRPr lang="en-US" b="0" i="1" dirty="0"/>
          </a:p>
        </p:txBody>
      </p:sp>
      <p:sp>
        <p:nvSpPr>
          <p:cNvPr id="8" name="Rectangle 7"/>
          <p:cNvSpPr/>
          <p:nvPr/>
        </p:nvSpPr>
        <p:spPr>
          <a:xfrm>
            <a:off x="10223656" y="8235117"/>
            <a:ext cx="27751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On Constructor</a:t>
            </a:r>
            <a:endParaRPr lang="en-US" b="0" i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1149" y="4839499"/>
            <a:ext cx="10392217" cy="320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9443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750571" y="2533651"/>
            <a:ext cx="8113276" cy="217659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@Qualifier &amp; @Primary </a:t>
            </a:r>
          </a:p>
          <a:p>
            <a:pPr lvl="2" hangingPunct="1">
              <a:buFont typeface="Wingdings" panose="05000000000000000000" pitchFamily="2" charset="2"/>
              <a:buChar char="§"/>
            </a:pPr>
            <a:r>
              <a:rPr lang="en-US" sz="3800" dirty="0"/>
              <a:t>Error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179" y="4710248"/>
            <a:ext cx="15813931" cy="799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23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3794191"/>
            <a:ext cx="22554121" cy="523307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916801" y="9246504"/>
            <a:ext cx="11208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Error</a:t>
            </a:r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2026053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750571" y="2533651"/>
            <a:ext cx="7179420" cy="23336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Fix by @Qualifier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107" y="4089062"/>
            <a:ext cx="21964215" cy="521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31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Spring Core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7" name="Text Placeholder 1"/>
          <p:cNvSpPr txBox="1">
            <a:spLocks/>
          </p:cNvSpPr>
          <p:nvPr/>
        </p:nvSpPr>
        <p:spPr>
          <a:xfrm>
            <a:off x="1750571" y="2533651"/>
            <a:ext cx="7179420" cy="2333624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Fix by @Primary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1043" y="3700463"/>
            <a:ext cx="12175389" cy="711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2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Spring Introduction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0" y="2533650"/>
            <a:ext cx="22200870" cy="902280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Java platform, Open-source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Provides comprehensive infrastructure support for developing Java applications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Design follows DI &amp; IOC, AOP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Home Page: </a:t>
            </a:r>
            <a:r>
              <a:rPr lang="en-US" dirty="0">
                <a:hlinkClick r:id="rId2"/>
              </a:rPr>
              <a:t>https://spring.io</a:t>
            </a: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568320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Spring Introduction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0" y="2533651"/>
            <a:ext cx="5673090" cy="139827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Multiple modules  </a:t>
            </a:r>
          </a:p>
        </p:txBody>
      </p:sp>
      <p:pic>
        <p:nvPicPr>
          <p:cNvPr id="1026" name="Picture 2" descr="https://docs.spring.io/spring-framework/docs/3.2.x/spring-framework-reference/html/images/spring-overvie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145" y="3559174"/>
            <a:ext cx="11689806" cy="9013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2802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Spring Introduction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0" y="2533650"/>
            <a:ext cx="9391650" cy="678180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Projects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Spring Core (Current Lesson)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Spring Boot (Previous Lesson)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Spring Data (Next Lesson)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Spring Security (Next Lesson)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7570" y="2672662"/>
            <a:ext cx="3400564" cy="835013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4287500" y="11219588"/>
            <a:ext cx="46249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hlinkClick r:id="rId3"/>
              </a:rPr>
              <a:t>https://spring.io/projects</a:t>
            </a:r>
            <a:r>
              <a:rPr lang="en-US" b="0" i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84725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Spring Introduction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2038350" y="2422465"/>
            <a:ext cx="18333631" cy="7168102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Spring Core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IOC &amp; DI Spring Boot</a:t>
            </a:r>
          </a:p>
          <a:p>
            <a:pPr hangingPunct="1">
              <a:buFont typeface="Wingdings" panose="05000000000000000000" pitchFamily="2" charset="2"/>
              <a:buChar char="Ø"/>
            </a:pPr>
            <a:r>
              <a:rPr lang="en-US" dirty="0"/>
              <a:t> Spring Boot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Help develop and run applications quickly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Easy to create Spring Project, auto </a:t>
            </a:r>
            <a:r>
              <a:rPr lang="en-US" dirty="0" err="1"/>
              <a:t>config</a:t>
            </a:r>
            <a:r>
              <a:rPr lang="en-US" dirty="0"/>
              <a:t> tomcat (server), libraries, ...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6652" y="2838450"/>
            <a:ext cx="12300856" cy="20002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037" y="9220200"/>
            <a:ext cx="15614165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761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Other</a:t>
            </a: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@</a:t>
            </a:r>
            <a:r>
              <a:rPr lang="en-US" dirty="0" err="1"/>
              <a:t>CrossOrigin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571" y="5083118"/>
            <a:ext cx="10123131" cy="51276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4737" y="2838450"/>
            <a:ext cx="7739063" cy="886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0304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Other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346" y="2933586"/>
            <a:ext cx="18948320" cy="712481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942095" y="9831279"/>
            <a:ext cx="112082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Error</a:t>
            </a:r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17837444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Other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669" y="4843378"/>
            <a:ext cx="7750056" cy="404818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7440" y="2644658"/>
            <a:ext cx="13120231" cy="830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4178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7765A43E-0B15-485F-9F30-2D602F01A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4774" y="514346"/>
            <a:ext cx="12912726" cy="969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fontAlgn="base" hangingPunct="1">
              <a:spcBef>
                <a:spcPct val="5000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5700" kern="1200" dirty="0">
                <a:solidFill>
                  <a:srgbClr val="4F81BD"/>
                </a:solidFill>
                <a:ea typeface="+mn-ea"/>
                <a:cs typeface="Times New Roman" panose="02020603050405020304" pitchFamily="18" charset="0"/>
              </a:rPr>
              <a:t>Other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9403" y="1800186"/>
            <a:ext cx="7772401" cy="28123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2400" y="1800186"/>
            <a:ext cx="7518504" cy="276310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409373" y="4879639"/>
            <a:ext cx="43460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Apply to Each Controller</a:t>
            </a:r>
            <a:endParaRPr lang="en-US" b="0" i="1" dirty="0"/>
          </a:p>
        </p:txBody>
      </p:sp>
      <p:sp>
        <p:nvSpPr>
          <p:cNvPr id="8" name="Rectangle 7"/>
          <p:cNvSpPr/>
          <p:nvPr/>
        </p:nvSpPr>
        <p:spPr>
          <a:xfrm>
            <a:off x="9889470" y="11879700"/>
            <a:ext cx="414087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0" i="1" dirty="0">
                <a:latin typeface="Times New Roman" panose="02020603050405020304" pitchFamily="18" charset="0"/>
              </a:rPr>
              <a:t>Apply to All Controllers</a:t>
            </a:r>
            <a:endParaRPr lang="en-US" b="0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563" y="5731565"/>
            <a:ext cx="16609620" cy="614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8111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Reference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200150" y="2697075"/>
            <a:ext cx="12866046" cy="557143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>
                <a:hlinkClick r:id="rId2"/>
              </a:rPr>
              <a:t>https://www.baeldung.com</a:t>
            </a:r>
            <a:r>
              <a:rPr lang="en-US" dirty="0"/>
              <a:t>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hlinkClick r:id="rId3"/>
              </a:rPr>
              <a:t>https://spring.io/projects/spring-boot</a:t>
            </a:r>
            <a:r>
              <a:rPr lang="en-US" dirty="0"/>
              <a:t>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hlinkClick r:id="rId4"/>
              </a:rPr>
              <a:t>https://spring.io/guides#getting-started-guides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55878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28595</TotalTime>
  <Words>833</Words>
  <Application>Microsoft Office PowerPoint</Application>
  <PresentationFormat>Custom</PresentationFormat>
  <Paragraphs>172</Paragraphs>
  <Slides>47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Meiryo</vt:lpstr>
      <vt:lpstr>Calibri</vt:lpstr>
      <vt:lpstr>Courier New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3956</cp:revision>
  <cp:lastPrinted>2019-09-17T11:00:25Z</cp:lastPrinted>
  <dcterms:modified xsi:type="dcterms:W3CDTF">2024-03-05T01:40:12Z</dcterms:modified>
  <cp:category/>
</cp:coreProperties>
</file>