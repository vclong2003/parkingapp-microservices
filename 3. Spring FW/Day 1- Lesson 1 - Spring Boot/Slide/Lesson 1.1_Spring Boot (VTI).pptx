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6"/>
  </p:notesMasterIdLst>
  <p:handoutMasterIdLst>
    <p:handoutMasterId r:id="rId47"/>
  </p:handoutMasterIdLst>
  <p:sldIdLst>
    <p:sldId id="256" r:id="rId2"/>
    <p:sldId id="419" r:id="rId3"/>
    <p:sldId id="716" r:id="rId4"/>
    <p:sldId id="717" r:id="rId5"/>
    <p:sldId id="718" r:id="rId6"/>
    <p:sldId id="719" r:id="rId7"/>
    <p:sldId id="720" r:id="rId8"/>
    <p:sldId id="721" r:id="rId9"/>
    <p:sldId id="722" r:id="rId10"/>
    <p:sldId id="723" r:id="rId11"/>
    <p:sldId id="724" r:id="rId12"/>
    <p:sldId id="726" r:id="rId13"/>
    <p:sldId id="725" r:id="rId14"/>
    <p:sldId id="727" r:id="rId15"/>
    <p:sldId id="728" r:id="rId16"/>
    <p:sldId id="733" r:id="rId17"/>
    <p:sldId id="738" r:id="rId18"/>
    <p:sldId id="739" r:id="rId19"/>
    <p:sldId id="740" r:id="rId20"/>
    <p:sldId id="741" r:id="rId21"/>
    <p:sldId id="742" r:id="rId22"/>
    <p:sldId id="736" r:id="rId23"/>
    <p:sldId id="743" r:id="rId24"/>
    <p:sldId id="744" r:id="rId25"/>
    <p:sldId id="747" r:id="rId26"/>
    <p:sldId id="748" r:id="rId27"/>
    <p:sldId id="749" r:id="rId28"/>
    <p:sldId id="750" r:id="rId29"/>
    <p:sldId id="752" r:id="rId30"/>
    <p:sldId id="751" r:id="rId31"/>
    <p:sldId id="753" r:id="rId32"/>
    <p:sldId id="746" r:id="rId33"/>
    <p:sldId id="754" r:id="rId34"/>
    <p:sldId id="755" r:id="rId35"/>
    <p:sldId id="756" r:id="rId36"/>
    <p:sldId id="761" r:id="rId37"/>
    <p:sldId id="745" r:id="rId38"/>
    <p:sldId id="731" r:id="rId39"/>
    <p:sldId id="729" r:id="rId40"/>
    <p:sldId id="734" r:id="rId41"/>
    <p:sldId id="735" r:id="rId42"/>
    <p:sldId id="732" r:id="rId43"/>
    <p:sldId id="653" r:id="rId44"/>
    <p:sldId id="342" r:id="rId45"/>
  </p:sldIdLst>
  <p:sldSz cx="24384000" cy="13716000"/>
  <p:notesSz cx="6797675" cy="9929813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1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1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B040"/>
    <a:srgbClr val="F25A29"/>
    <a:srgbClr val="F35A29"/>
    <a:srgbClr val="4372C4"/>
    <a:srgbClr val="ED1C24"/>
    <a:srgbClr val="E4C622"/>
    <a:srgbClr val="B9D532"/>
    <a:srgbClr val="7BC242"/>
    <a:srgbClr val="E4C721"/>
    <a:srgbClr val="45B74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590" autoAdjust="0"/>
    <p:restoredTop sz="84555" autoAdjust="0"/>
  </p:normalViewPr>
  <p:slideViewPr>
    <p:cSldViewPr snapToGrid="0" snapToObjects="1">
      <p:cViewPr varScale="1">
        <p:scale>
          <a:sx n="37" d="100"/>
          <a:sy n="37" d="100"/>
        </p:scale>
        <p:origin x="224" y="56"/>
      </p:cViewPr>
      <p:guideLst>
        <p:guide orient="horz" pos="4320"/>
        <p:guide pos="7680"/>
      </p:guideLst>
    </p:cSldViewPr>
  </p:slideViewPr>
  <p:outlineViewPr>
    <p:cViewPr>
      <p:scale>
        <a:sx n="33" d="100"/>
        <a:sy n="33" d="100"/>
      </p:scale>
      <p:origin x="0" y="-932"/>
    </p:cViewPr>
  </p:outlin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21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C9682A-6338-40E2-9ACD-2A3FF92BB3F1}" type="datetime1">
              <a:rPr lang="en-US" smtClean="0"/>
              <a:t>3/4/2024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1600"/>
            <a:ext cx="2945659" cy="49821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AC4568-2AE6-42F2-B295-3769A765E8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6770683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sz="quarter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3044357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1pPr>
    <a:lvl2pPr indent="228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2pPr>
    <a:lvl3pPr indent="457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3pPr>
    <a:lvl4pPr indent="685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4pPr>
    <a:lvl5pPr indent="9144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5pPr>
    <a:lvl6pPr indent="11430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6pPr>
    <a:lvl7pPr indent="13716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7pPr>
    <a:lvl8pPr indent="16002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8pPr>
    <a:lvl9pPr indent="1828800" defTabSz="457200" latinLnBrk="0">
      <a:lnSpc>
        <a:spcPct val="117999"/>
      </a:lnSpc>
      <a:defRPr sz="2200">
        <a:latin typeface="Times New Roman" panose="02020603050405020304" pitchFamily="18" charset="0"/>
        <a:ea typeface="Times New Roman" panose="02020603050405020304" pitchFamily="18" charset="0"/>
        <a:cs typeface="Times New Roman" panose="02020603050405020304" pitchFamily="18" charset="0"/>
        <a:sym typeface="Times New Roman" panose="02020603050405020304" pitchFamily="18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836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8900" y="744538"/>
            <a:ext cx="6619875" cy="3724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20717220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5213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2508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836383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45144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540387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793343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151680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0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83470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9931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1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057327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2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56379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395367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2463756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22254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354544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392963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44842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524942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23380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42002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379296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8706967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7933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4805399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27226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444292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305983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461023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57947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359696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4579777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3461429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9681822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9409816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570305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2121186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308561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592850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569610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3:notes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98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546394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FE536F65-AC83-4CA5-A319-75AFC58D4B3B}" type="slidenum">
              <a:rPr lang="en-US" smtClean="0">
                <a:solidFill>
                  <a:prstClr val="black"/>
                </a:solidFill>
                <a:latin typeface="Calibri"/>
                <a:ea typeface=""/>
                <a:cs typeface=""/>
              </a:rPr>
              <a:pPr/>
              <a:t>44</a:t>
            </a:fld>
            <a:endParaRPr lang="en-US" dirty="0">
              <a:solidFill>
                <a:prstClr val="black"/>
              </a:solidFill>
              <a:latin typeface="Calibri"/>
              <a:ea typeface=""/>
              <a:cs typeface=""/>
            </a:endParaRPr>
          </a:p>
        </p:txBody>
      </p:sp>
    </p:spTree>
    <p:extLst>
      <p:ext uri="{BB962C8B-B14F-4D97-AF65-F5344CB8AC3E}">
        <p14:creationId xmlns:p14="http://schemas.microsoft.com/office/powerpoint/2010/main" val="12286319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FA04767-AA7B-4F3E-BCFB-179D9E0CC0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017132" y="859479"/>
            <a:ext cx="2950192" cy="113183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9C049C43-2C50-4372-822C-DA510E94A2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5794390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8820083" y="13156977"/>
            <a:ext cx="6743833" cy="482823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Google Shape;23;p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w="19050" cap="flat" cmpd="sng">
            <a:solidFill>
              <a:srgbClr val="3C5A9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spcFirstLastPara="1" wrap="square" lIns="182850" tIns="91400" rIns="182850" bIns="914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91400" rIns="182850" bIns="91400" anchor="t" anchorCtr="0">
            <a:noAutofit/>
          </a:bodyPr>
          <a:lstStyle/>
          <a:p>
            <a:r>
              <a:rPr lang="vi-VN" dirty="0">
                <a:solidFill>
                  <a:schemeClr val="bg1"/>
                </a:solidFill>
              </a:rPr>
              <a:t>Copyright </a:t>
            </a:r>
            <a:r>
              <a:rPr lang="de-DE" i="1" dirty="0">
                <a:solidFill>
                  <a:schemeClr val="bg1"/>
                </a:solidFill>
              </a:rPr>
              <a:t>© </a:t>
            </a:r>
            <a:r>
              <a:rPr lang="de-DE" dirty="0">
                <a:solidFill>
                  <a:schemeClr val="bg1"/>
                </a:solidFill>
              </a:rPr>
              <a:t>VTI Academy All Right Reserved</a:t>
            </a:r>
            <a:r>
              <a:rPr lang="vi-VN" dirty="0">
                <a:solidFill>
                  <a:schemeClr val="bg1"/>
                </a:solidFill>
              </a:rPr>
              <a:t> </a:t>
            </a:r>
            <a:endParaRPr lang="uk-UA" dirty="0">
              <a:solidFill>
                <a:schemeClr val="bg1"/>
              </a:solidFill>
            </a:endParaRPr>
          </a:p>
        </p:txBody>
      </p:sp>
      <p:cxnSp>
        <p:nvCxnSpPr>
          <p:cNvPr id="26" name="Google Shape;26;p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7" name="Google Shape;27;p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w="19050" cap="flat" cmpd="sng">
            <a:solidFill>
              <a:srgbClr val="FFC00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F365656-3C2C-401A-A261-7849E1DCB5B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52276" y="-25180"/>
            <a:ext cx="5131724" cy="1437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871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8E076-FA65-406B-B46F-9B423DB8E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5217" y="357188"/>
            <a:ext cx="18701658" cy="1710326"/>
          </a:xfrm>
        </p:spPr>
        <p:txBody>
          <a:bodyPr>
            <a:normAutofit/>
          </a:bodyPr>
          <a:lstStyle>
            <a:lvl1pPr algn="l">
              <a:defRPr sz="8200">
                <a:latin typeface="Meiryo" charset="-128"/>
                <a:ea typeface="Meiryo" charset="-128"/>
                <a:cs typeface="Meiryo" charset="-128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4B674F-1420-4DF2-8459-B3931B4964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/>
          <a:lstStyle/>
          <a:p>
            <a:fld id="{06980E3F-CE96-4267-B841-15E317674931}" type="datetimeFigureOut">
              <a:rPr lang="en-US" smtClean="0"/>
              <a:t>3/4/2024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B1A97-058D-4695-BDEE-1CB388B84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E0EE83-65C2-45C2-B15E-F5BF3C6B9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2817" y="13073062"/>
            <a:ext cx="448840" cy="482823"/>
          </a:xfrm>
        </p:spPr>
        <p:txBody>
          <a:bodyPr/>
          <a:lstStyle/>
          <a:p>
            <a:fld id="{76CA7329-12AB-4100-8DDD-19BE59417CE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0641B02-D364-4240-835E-FF32F0F89CB6}"/>
              </a:ext>
            </a:extLst>
          </p:cNvPr>
          <p:cNvCxnSpPr/>
          <p:nvPr userDrawn="1"/>
        </p:nvCxnSpPr>
        <p:spPr>
          <a:xfrm>
            <a:off x="1845217" y="1893677"/>
            <a:ext cx="18701658" cy="0"/>
          </a:xfrm>
          <a:prstGeom prst="line">
            <a:avLst/>
          </a:prstGeom>
          <a:ln w="38100" cap="rnd">
            <a:solidFill>
              <a:srgbClr val="057BBA">
                <a:alpha val="80000"/>
              </a:srgbClr>
            </a:solidFill>
          </a:ln>
          <a:effectLst>
            <a:softEdge rad="0"/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lose up of a sign&#10;&#10;Description automatically generated">
            <a:extLst>
              <a:ext uri="{FF2B5EF4-FFF2-40B4-BE49-F238E27FC236}">
                <a16:creationId xmlns:a16="http://schemas.microsoft.com/office/drawing/2014/main" id="{F3C5E42B-5773-41D1-82C9-A3B7861809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2883" y="427995"/>
            <a:ext cx="2645634" cy="163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217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bg>
      <p:bgPr>
        <a:gradFill flip="none" rotWithShape="1">
          <a:gsLst>
            <a:gs pos="17000">
              <a:schemeClr val="bg1"/>
            </a:gs>
            <a:gs pos="83000">
              <a:srgbClr val="FF9900">
                <a:lumMod val="20000"/>
                <a:lumOff val="80000"/>
              </a:srgbClr>
            </a:gs>
            <a:gs pos="67000">
              <a:schemeClr val="accent1">
                <a:lumMod val="5000"/>
                <a:lumOff val="95000"/>
              </a:schemeClr>
            </a:gs>
            <a:gs pos="100000">
              <a:srgbClr val="057BBA">
                <a:lumMod val="50000"/>
                <a:lumOff val="5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57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200" b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49" r:id="rId2"/>
    <p:sldLayoutId id="2147483655" r:id="rId3"/>
    <p:sldLayoutId id="2147483656" r:id="rId4"/>
    <p:sldLayoutId id="2147483657" r:id="rId5"/>
  </p:sldLayoutIdLst>
  <p:transition spd="med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2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titleStyle>
    <p:bodyStyle>
      <a:lvl1pPr marL="611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1pPr>
      <a:lvl2pPr marL="1055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2pPr>
      <a:lvl3pPr marL="1500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3pPr>
      <a:lvl4pPr marL="1944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4pPr>
      <a:lvl5pPr marL="2389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5pPr>
      <a:lvl6pPr marL="2833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6pPr>
      <a:lvl7pPr marL="3278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7pPr>
      <a:lvl8pPr marL="37226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8pPr>
      <a:lvl9pPr marL="4167187" marR="0" indent="-611187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145000"/>
        <a:buFontTx/>
        <a:buChar char="•"/>
        <a:tabLst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Times New Roman" panose="02020603050405020304" pitchFamily="18" charset="0"/>
          <a:ea typeface="Times New Roman" panose="02020603050405020304" pitchFamily="18" charset="0"/>
          <a:cs typeface="Times New Roman" panose="02020603050405020304" pitchFamily="18" charset="0"/>
          <a:sym typeface="Times New Roman" panose="02020603050405020304" pitchFamily="18" charset="0"/>
        </a:defRPr>
      </a:lvl9pPr>
    </p:bodyStyle>
    <p:otherStyle>
      <a:lvl1pPr marL="0" marR="0" indent="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0" marR="0" indent="228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0" marR="0" indent="457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0" marR="0" indent="685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0" marR="0" indent="9144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0" marR="0" indent="11430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0" marR="0" indent="13716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0" marR="0" indent="16002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0" marR="0" indent="1828800" algn="ctr" defTabSz="821531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Times New Roman" panose="02020603050405020304" pitchFamily="18" charset="0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pring.io/quickstart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microsoft.com/en-us/azure/architecture/best-practices/api-design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ostman.com/downloads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guides/gs/rest-service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0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spring.io/projects/spring-boot" TargetMode="External"/><Relationship Id="rId2" Type="http://schemas.openxmlformats.org/officeDocument/2006/relationships/hyperlink" Target="https://www.baeldung.com/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spring.io/guides#getting-started-guides" TargetMode="Externa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5C73E9A0-1581-412A-9370-80FB5A08E43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650" y="1753558"/>
            <a:ext cx="5103775" cy="142974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3535C99-41AF-418B-BEDD-F28650092074}"/>
              </a:ext>
            </a:extLst>
          </p:cNvPr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sz="3100" dirty="0">
                <a:solidFill>
                  <a:schemeClr val="accent1">
                    <a:lumMod val="75000"/>
                  </a:schemeClr>
                </a:solidFill>
                <a:latin typeface="+mj-lt"/>
                <a:ea typeface="Meiryo" charset="-128"/>
                <a:cs typeface="Meiryo" charset="-128"/>
              </a:rPr>
              <a:t>WAY TO ENTERPRISE</a:t>
            </a:r>
          </a:p>
        </p:txBody>
      </p:sp>
      <p:sp>
        <p:nvSpPr>
          <p:cNvPr id="5" name="Google Shape;90;p9">
            <a:extLst>
              <a:ext uri="{FF2B5EF4-FFF2-40B4-BE49-F238E27FC236}">
                <a16:creationId xmlns:a16="http://schemas.microsoft.com/office/drawing/2014/main" id="{DB753221-CAE6-4172-B420-253F82036F95}"/>
              </a:ext>
            </a:extLst>
          </p:cNvPr>
          <p:cNvSpPr txBox="1">
            <a:spLocks/>
          </p:cNvSpPr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1pPr>
            <a:lvl2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2pPr>
            <a:lvl3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3pPr>
            <a:lvl4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4pPr>
            <a:lvl5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5pPr>
            <a:lvl6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6pPr>
            <a:lvl7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7pPr>
            <a:lvl8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8pPr>
            <a:lvl9pPr marL="0" marR="0" indent="0" algn="ctr" defTabSz="821531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1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Times New Roman" panose="02020603050405020304" pitchFamily="18" charset="0"/>
              </a:defRPr>
            </a:lvl9pPr>
          </a:lstStyle>
          <a:p>
            <a:pPr hangingPunct="1">
              <a:lnSpc>
                <a:spcPct val="90000"/>
              </a:lnSpc>
              <a:buClr>
                <a:srgbClr val="1E4E79"/>
              </a:buClr>
              <a:buSzPts val="4400"/>
            </a:pPr>
            <a:r>
              <a:rPr lang="en-US" altLang="en-US" sz="10000">
                <a:solidFill>
                  <a:schemeClr val="accent1">
                    <a:lumMod val="75000"/>
                  </a:schemeClr>
                </a:solidFill>
              </a:rPr>
              <a:t>Spring Framework</a:t>
            </a:r>
            <a:endParaRPr lang="en-US" sz="10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ja-JP" dirty="0">
                <a:solidFill>
                  <a:schemeClr val="accent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bg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E6175F-EC54-41CE-AC36-9254032B4CC2}"/>
              </a:ext>
            </a:extLst>
          </p:cNvPr>
          <p:cNvSpPr txBox="1">
            <a:spLocks/>
          </p:cNvSpPr>
          <p:nvPr/>
        </p:nvSpPr>
        <p:spPr bwMode="auto">
          <a:xfrm>
            <a:off x="1845217" y="3116480"/>
            <a:ext cx="21401314" cy="9329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q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Times New Roman" panose="02020603050405020304" pitchFamily="18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Setup spring tool suite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HelloWorld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few concepts</a:t>
            </a:r>
          </a:p>
          <a:p>
            <a:pPr lvl="0" defTabSz="914400">
              <a:defRPr/>
            </a:pPr>
            <a:r>
              <a:rPr lang="en-US" altLang="en-US" sz="6600" b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Layers </a:t>
            </a:r>
          </a:p>
          <a:p>
            <a:pPr lvl="0" defTabSz="914400">
              <a:defRPr/>
            </a:pPr>
            <a:r>
              <a:rPr lang="en-US" altLang="en-US" sz="6600" b="0" noProof="0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Assignments</a:t>
            </a:r>
            <a:endParaRPr kumimoji="0" lang="en-US" altLang="en-US" sz="66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3794139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Setup Spring tool suite</a:t>
            </a:r>
            <a:endParaRPr sz="6000" b="1" i="0" u="none" strike="noStrike" cap="none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10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200150" y="571498"/>
            <a:ext cx="14058899" cy="952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601035" y="2265848"/>
            <a:ext cx="19239665" cy="664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sym typeface="Times New Roman" panose="02020603050405020304" pitchFamily="18" charset="0"/>
              </a:rPr>
              <a:t> Step 1: Create Spring Starter Project </a:t>
            </a:r>
            <a:r>
              <a:rPr lang="en-US" sz="4400" b="0" i="0" u="none" strike="noStrike" cap="none" dirty="0">
                <a:solidFill>
                  <a:srgbClr val="000000"/>
                </a:solidFill>
                <a:sym typeface="Wingdings" panose="05000000000000000000" pitchFamily="2" charset="2"/>
              </a:rPr>
              <a:t></a:t>
            </a:r>
            <a:r>
              <a:rPr lang="en-US" sz="4400" b="0" i="0" u="none" strike="noStrike" cap="none" dirty="0">
                <a:solidFill>
                  <a:srgbClr val="000000"/>
                </a:solidFill>
                <a:sym typeface="Times New Roman" panose="02020603050405020304" pitchFamily="18" charset="0"/>
              </a:rPr>
              <a:t> Install library</a:t>
            </a:r>
            <a:endParaRPr sz="4400" dirty="0"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sym typeface="Times New Roman" panose="02020603050405020304" pitchFamily="18" charset="0"/>
              </a:rPr>
              <a:t> Step 2: Create Controller file</a:t>
            </a:r>
            <a:endParaRPr sz="4400" dirty="0"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sym typeface="Times New Roman" panose="02020603050405020304" pitchFamily="18" charset="0"/>
              </a:rPr>
              <a:t> Step 3: Start Server</a:t>
            </a:r>
            <a:endParaRPr sz="4400" dirty="0"/>
          </a:p>
          <a:p>
            <a:pPr marL="428625" marR="0" lvl="0" indent="-428625" algn="l" rtl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sym typeface="Times New Roman" panose="02020603050405020304" pitchFamily="18" charset="0"/>
              </a:rPr>
              <a:t> Step 4: Access API</a:t>
            </a:r>
            <a:endParaRPr sz="4400" dirty="0"/>
          </a:p>
        </p:txBody>
      </p:sp>
    </p:spTree>
    <p:extLst>
      <p:ext uri="{BB962C8B-B14F-4D97-AF65-F5344CB8AC3E}">
        <p14:creationId xmlns:p14="http://schemas.microsoft.com/office/powerpoint/2010/main" val="1613376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63" name="Google Shape;63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4571" y="6210300"/>
            <a:ext cx="11256924" cy="269043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254038" y="3072477"/>
            <a:ext cx="9453563" cy="952833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7;p4"/>
          <p:cNvSpPr txBox="1"/>
          <p:nvPr/>
        </p:nvSpPr>
        <p:spPr>
          <a:xfrm>
            <a:off x="1474571" y="2188547"/>
            <a:ext cx="14375029" cy="10309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sz="4400" b="0" dirty="0"/>
              <a:t>Step 1: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 Spring Starter Project 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</a:t>
            </a:r>
            <a:r>
              <a:rPr lang="en-US" sz="4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Install library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29528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70" name="Google Shape;70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302062" y="3938255"/>
            <a:ext cx="6991350" cy="776816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6"/>
          <p:cNvSpPr/>
          <p:nvPr/>
        </p:nvSpPr>
        <p:spPr>
          <a:xfrm>
            <a:off x="14555249" y="11720591"/>
            <a:ext cx="2484975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sz="32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Source code</a:t>
            </a:r>
            <a:endParaRPr sz="32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4496" y="3284780"/>
            <a:ext cx="8901112" cy="825930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97158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7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78" name="Google Shape;78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33069" y="3538660"/>
            <a:ext cx="10441837" cy="879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631852" y="5353132"/>
            <a:ext cx="11398150" cy="516263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7;p4"/>
          <p:cNvSpPr txBox="1"/>
          <p:nvPr/>
        </p:nvSpPr>
        <p:spPr>
          <a:xfrm>
            <a:off x="1601035" y="2265849"/>
            <a:ext cx="4418765" cy="1010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Install library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9344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85" name="Google Shape;8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79619" y="5395573"/>
            <a:ext cx="5992045" cy="360375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38778" y="3581400"/>
            <a:ext cx="13159322" cy="733019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7;p4"/>
          <p:cNvSpPr txBox="1"/>
          <p:nvPr/>
        </p:nvSpPr>
        <p:spPr>
          <a:xfrm>
            <a:off x="1601035" y="2265849"/>
            <a:ext cx="8552615" cy="9726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Step 2: Create Controller file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344272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92" name="Google Shape;9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3950" y="3494753"/>
            <a:ext cx="10452149" cy="9083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15650" y="5712508"/>
            <a:ext cx="13243248" cy="358586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57;p4"/>
          <p:cNvSpPr txBox="1"/>
          <p:nvPr/>
        </p:nvSpPr>
        <p:spPr>
          <a:xfrm>
            <a:off x="1601035" y="2265849"/>
            <a:ext cx="8324015" cy="78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lvl="0" indent="-428625" algn="l"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dirty="0"/>
              <a:t> Step 3: Start Server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0632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"/>
          <p:cNvSpPr txBox="1"/>
          <p:nvPr/>
        </p:nvSpPr>
        <p:spPr>
          <a:xfrm>
            <a:off x="1200150" y="571498"/>
            <a:ext cx="10540746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HelloWorld</a:t>
            </a:r>
            <a:endParaRPr dirty="0"/>
          </a:p>
        </p:txBody>
      </p:sp>
      <p:pic>
        <p:nvPicPr>
          <p:cNvPr id="99" name="Google Shape;99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07352" y="4981330"/>
            <a:ext cx="8211937" cy="3873204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8048151" y="8854534"/>
            <a:ext cx="833034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r>
              <a:rPr lang="en-US" sz="32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Tutorial: </a:t>
            </a:r>
            <a:r>
              <a:rPr lang="en-US" sz="3200" b="0" i="1" u="sng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https://spring.io/quickstart</a:t>
            </a:r>
            <a:endParaRPr sz="32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 panose="02020603050405020304" pitchFamily="18" charset="0"/>
              <a:buNone/>
            </a:pPr>
            <a:endParaRPr sz="32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6" name="Google Shape;57;p4"/>
          <p:cNvSpPr txBox="1"/>
          <p:nvPr/>
        </p:nvSpPr>
        <p:spPr>
          <a:xfrm>
            <a:off x="1601035" y="2265849"/>
            <a:ext cx="8324015" cy="78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lvl="0" indent="-428625" algn="l"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r>
              <a:rPr lang="en-US" sz="4400" b="0" dirty="0"/>
              <a:t> Step 4: Access API</a:t>
            </a:r>
          </a:p>
        </p:txBody>
      </p:sp>
    </p:spTree>
    <p:extLst>
      <p:ext uri="{BB962C8B-B14F-4D97-AF65-F5344CB8AC3E}">
        <p14:creationId xmlns:p14="http://schemas.microsoft.com/office/powerpoint/2010/main" val="1140629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 few concepts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1597929" y="2639731"/>
            <a:ext cx="7831821" cy="727319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Web &amp; Web service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JSON &amp; XML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API &amp; Restful API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HTTP</a:t>
            </a:r>
          </a:p>
        </p:txBody>
      </p:sp>
    </p:spTree>
    <p:extLst>
      <p:ext uri="{BB962C8B-B14F-4D97-AF65-F5344CB8AC3E}">
        <p14:creationId xmlns:p14="http://schemas.microsoft.com/office/powerpoint/2010/main" val="341499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1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Web &amp; Web Service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>
            <a:off x="11623364" y="11924513"/>
            <a:ext cx="1916956" cy="796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dirty="0"/>
              <a:t>W</a:t>
            </a: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eb</a:t>
            </a:r>
            <a:endParaRPr dirty="0"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8035" y="5975505"/>
            <a:ext cx="11065962" cy="598243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578879" y="2359100"/>
            <a:ext cx="17748212" cy="3917009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Web (Rarely, Old)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Enter the URL and the Brower returns a web page that the user can read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Ex: JSP &amp; Servlet, Spring MVC</a:t>
            </a:r>
          </a:p>
        </p:txBody>
      </p:sp>
    </p:spTree>
    <p:extLst>
      <p:ext uri="{BB962C8B-B14F-4D97-AF65-F5344CB8AC3E}">
        <p14:creationId xmlns:p14="http://schemas.microsoft.com/office/powerpoint/2010/main" val="36993641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Web &amp; Web Service</a:t>
            </a:r>
          </a:p>
        </p:txBody>
      </p:sp>
      <p:sp>
        <p:nvSpPr>
          <p:cNvPr id="114" name="Google Shape;114;p12"/>
          <p:cNvSpPr txBox="1"/>
          <p:nvPr/>
        </p:nvSpPr>
        <p:spPr>
          <a:xfrm>
            <a:off x="14034862" y="11666980"/>
            <a:ext cx="5840848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dirty="0"/>
              <a:t>Multiple frontend types</a:t>
            </a:r>
            <a:endParaRPr sz="4400" b="0" i="1" dirty="0"/>
          </a:p>
        </p:txBody>
      </p:sp>
      <p:sp>
        <p:nvSpPr>
          <p:cNvPr id="115" name="Google Shape;115;p12"/>
          <p:cNvSpPr txBox="1"/>
          <p:nvPr/>
        </p:nvSpPr>
        <p:spPr>
          <a:xfrm>
            <a:off x="317163" y="2249831"/>
            <a:ext cx="24624556" cy="2279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28625" marR="0" lvl="0" indent="-42862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Char char="⮚"/>
            </a:pPr>
            <a:endParaRPr sz="4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117" name="Google Shape;117;p12" descr="Web Service &amp; API Testing | TestArchitec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336901" y="6677247"/>
            <a:ext cx="7236769" cy="494464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114;p12"/>
          <p:cNvSpPr txBox="1"/>
          <p:nvPr/>
        </p:nvSpPr>
        <p:spPr>
          <a:xfrm>
            <a:off x="5344333" y="11621890"/>
            <a:ext cx="3570656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dirty="0"/>
              <a:t>W</a:t>
            </a:r>
            <a:r>
              <a:rPr lang="en-US" sz="4400" b="0" i="1" u="none" strike="noStrike" cap="none" dirty="0">
                <a:solidFill>
                  <a:srgbClr val="000000"/>
                </a:solidFill>
                <a:sym typeface="Times New Roman" panose="02020603050405020304" pitchFamily="18" charset="0"/>
              </a:rPr>
              <a:t>eb service </a:t>
            </a:r>
            <a:endParaRPr i="1" dirty="0"/>
          </a:p>
        </p:txBody>
      </p:sp>
      <p:pic>
        <p:nvPicPr>
          <p:cNvPr id="9" name="Google Shape;116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79724" y="6722337"/>
            <a:ext cx="9099873" cy="494464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 Placeholder 1"/>
          <p:cNvSpPr txBox="1">
            <a:spLocks/>
          </p:cNvSpPr>
          <p:nvPr/>
        </p:nvSpPr>
        <p:spPr>
          <a:xfrm>
            <a:off x="1585001" y="2204741"/>
            <a:ext cx="22798999" cy="3916236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Web service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ID" dirty="0"/>
              <a:t> </a:t>
            </a:r>
            <a:r>
              <a:rPr lang="en-US" dirty="0"/>
              <a:t>Usually provide raw and confusing information for most users (usually return in JSON, XML)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The backend can provide services to multiple frontend types (ex: mobile, web, </a:t>
            </a:r>
            <a:r>
              <a:rPr lang="en-US" dirty="0" err="1"/>
              <a:t>tv</a:t>
            </a:r>
            <a:r>
              <a:rPr lang="en-US" dirty="0"/>
              <a:t>, ...)</a:t>
            </a:r>
          </a:p>
        </p:txBody>
      </p:sp>
    </p:spTree>
    <p:extLst>
      <p:ext uri="{BB962C8B-B14F-4D97-AF65-F5344CB8AC3E}">
        <p14:creationId xmlns:p14="http://schemas.microsoft.com/office/powerpoint/2010/main" val="2488024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JSON &amp; XML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8" name="Text Placeholder 1"/>
          <p:cNvSpPr txBox="1">
            <a:spLocks/>
          </p:cNvSpPr>
          <p:nvPr/>
        </p:nvSpPr>
        <p:spPr>
          <a:xfrm>
            <a:off x="1200150" y="2303302"/>
            <a:ext cx="17297400" cy="391031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JSON (JavaScript Object Notation)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Doesn't use the tag </a:t>
            </a:r>
            <a:r>
              <a:rPr lang="en-US" dirty="0">
                <a:sym typeface="Wingdings" panose="05000000000000000000" pitchFamily="2" charset="2"/>
              </a:rPr>
              <a:t></a:t>
            </a:r>
            <a:r>
              <a:rPr lang="en-US" dirty="0"/>
              <a:t> shorter than XML </a:t>
            </a:r>
            <a:r>
              <a:rPr lang="en-US" dirty="0">
                <a:sym typeface="Wingdings" panose="05000000000000000000" pitchFamily="2" charset="2"/>
              </a:rPr>
              <a:t> quicker loading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 Using for sending data between 2 application</a:t>
            </a:r>
            <a:endParaRPr lang="en-US" dirty="0"/>
          </a:p>
        </p:txBody>
      </p:sp>
      <p:pic>
        <p:nvPicPr>
          <p:cNvPr id="10" name="Google Shape;125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8024" y="7530527"/>
            <a:ext cx="8922632" cy="26955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3;p13"/>
          <p:cNvSpPr txBox="1"/>
          <p:nvPr/>
        </p:nvSpPr>
        <p:spPr>
          <a:xfrm>
            <a:off x="10921040" y="11648696"/>
            <a:ext cx="1999232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JSON 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0656" y="6107954"/>
            <a:ext cx="8339528" cy="5540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323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JSON &amp; XML</a:t>
            </a:r>
            <a:endParaRPr sz="6000" b="1" i="0" u="none" strike="noStrike" cap="none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126" name="Google Shape;126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92669" y="5619751"/>
            <a:ext cx="10356873" cy="528388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3"/>
          <p:cNvSpPr txBox="1"/>
          <p:nvPr/>
        </p:nvSpPr>
        <p:spPr>
          <a:xfrm>
            <a:off x="11432639" y="11629303"/>
            <a:ext cx="1999232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XML </a:t>
            </a:r>
            <a:endParaRPr dirty="0"/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200150" y="2213856"/>
            <a:ext cx="13449300" cy="238425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XML</a:t>
            </a:r>
            <a:endParaRPr lang="en-US" dirty="0">
              <a:sym typeface="Wingdings" panose="05000000000000000000" pitchFamily="2" charset="2"/>
            </a:endParaRP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 Using for application configuration, html, </a:t>
            </a:r>
            <a:r>
              <a:rPr lang="en-US" dirty="0" err="1">
                <a:sym typeface="Wingdings" panose="05000000000000000000" pitchFamily="2" charset="2"/>
              </a:rPr>
              <a:t>css</a:t>
            </a:r>
            <a:r>
              <a:rPr lang="en-US" dirty="0">
                <a:sym typeface="Wingdings" panose="05000000000000000000" pitchFamily="2" charset="2"/>
              </a:rPr>
              <a:t>, ...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47077" y="5140866"/>
            <a:ext cx="9790081" cy="624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0803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89"/>
            <a:ext cx="13449300" cy="238977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API (Application Programming Interface)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Using for transfer data between 2 application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567" y="5095792"/>
            <a:ext cx="23223989" cy="681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009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is a standard used in designing APIs for web applications to manage resources</a:t>
            </a:r>
            <a:endParaRPr lang="en-US" dirty="0"/>
          </a:p>
        </p:txBody>
      </p:sp>
      <p:pic>
        <p:nvPicPr>
          <p:cNvPr id="5" name="Google Shape;166;p19" descr="restful api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54494" y="5095792"/>
            <a:ext cx="15547974" cy="659535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45635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88"/>
            <a:ext cx="22212606" cy="1024288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 design principles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1. Use plural nouns, don't use verbs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2. Use HTTP request method to separate User Action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GET: for reading data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POST: for creating data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/>
              <a:t>PUT: for updating data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dirty="0"/>
              <a:t>DELETE: for removing data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6242" y="2626633"/>
            <a:ext cx="4492862" cy="229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7226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 design principles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3. Use sub-resources</a:t>
            </a:r>
            <a:endParaRPr lang="en-US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463387" y="6716026"/>
            <a:ext cx="12273878" cy="1097190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4. Providing Paging, Sort, Filter, field Choosing</a:t>
            </a:r>
          </a:p>
        </p:txBody>
      </p:sp>
      <p:pic>
        <p:nvPicPr>
          <p:cNvPr id="7" name="Picture 6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4013" y="4776041"/>
            <a:ext cx="11640416" cy="13257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799" y="7439294"/>
            <a:ext cx="5844022" cy="60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4798" y="8194600"/>
            <a:ext cx="6654513" cy="7573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451" y="8955729"/>
            <a:ext cx="13221568" cy="1643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8067" y="10580698"/>
            <a:ext cx="9730223" cy="8122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60447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 design principles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5. Providing version</a:t>
            </a:r>
            <a:endParaRPr lang="en-US" dirty="0"/>
          </a:p>
        </p:txBody>
      </p:sp>
      <p:sp>
        <p:nvSpPr>
          <p:cNvPr id="6" name="Text Placeholder 1"/>
          <p:cNvSpPr txBox="1">
            <a:spLocks/>
          </p:cNvSpPr>
          <p:nvPr/>
        </p:nvSpPr>
        <p:spPr>
          <a:xfrm>
            <a:off x="1504949" y="5860473"/>
            <a:ext cx="11920106" cy="109719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6. Handling Exception</a:t>
            </a:r>
          </a:p>
        </p:txBody>
      </p:sp>
      <p:pic>
        <p:nvPicPr>
          <p:cNvPr id="13" name="Picture 12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564" y="4776828"/>
            <a:ext cx="3193473" cy="7503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1175" y="6829133"/>
            <a:ext cx="7935432" cy="3162741"/>
          </a:xfrm>
          <a:prstGeom prst="rect">
            <a:avLst/>
          </a:prstGeom>
        </p:spPr>
      </p:pic>
      <p:sp>
        <p:nvSpPr>
          <p:cNvPr id="14" name="Google Shape;127;p13"/>
          <p:cNvSpPr txBox="1"/>
          <p:nvPr/>
        </p:nvSpPr>
        <p:spPr>
          <a:xfrm>
            <a:off x="4990275" y="10068869"/>
            <a:ext cx="3821216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Common Error </a:t>
            </a:r>
            <a:endParaRPr dirty="0"/>
          </a:p>
        </p:txBody>
      </p:sp>
      <p:pic>
        <p:nvPicPr>
          <p:cNvPr id="15" name="Picture 14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42189" y="6857999"/>
            <a:ext cx="11041266" cy="31338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885505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89"/>
            <a:ext cx="17272148" cy="2778829"/>
          </a:xfrm>
          <a:prstGeom prst="rect">
            <a:avLst/>
          </a:prstGeom>
        </p:spPr>
        <p:txBody>
          <a:bodyPr>
            <a:no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 design principles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7. HATEOAS (</a:t>
            </a:r>
            <a:r>
              <a:rPr lang="en-US" b="1" dirty="0">
                <a:sym typeface="Wingdings" panose="05000000000000000000" pitchFamily="2" charset="2"/>
              </a:rPr>
              <a:t>H</a:t>
            </a:r>
            <a:r>
              <a:rPr lang="en-US" dirty="0">
                <a:sym typeface="Wingdings" panose="05000000000000000000" pitchFamily="2" charset="2"/>
              </a:rPr>
              <a:t>ypermedia </a:t>
            </a:r>
            <a:r>
              <a:rPr lang="en-US" b="1" dirty="0"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s </a:t>
            </a:r>
            <a:r>
              <a:rPr lang="en-US" b="1" dirty="0">
                <a:sym typeface="Wingdings" panose="05000000000000000000" pitchFamily="2" charset="2"/>
              </a:rPr>
              <a:t>t</a:t>
            </a:r>
            <a:r>
              <a:rPr lang="en-US" dirty="0">
                <a:sym typeface="Wingdings" panose="05000000000000000000" pitchFamily="2" charset="2"/>
              </a:rPr>
              <a:t>he </a:t>
            </a:r>
            <a:r>
              <a:rPr lang="en-US" b="1" dirty="0">
                <a:sym typeface="Wingdings" panose="05000000000000000000" pitchFamily="2" charset="2"/>
              </a:rPr>
              <a:t>E</a:t>
            </a:r>
            <a:r>
              <a:rPr lang="en-US" dirty="0">
                <a:sym typeface="Wingdings" panose="05000000000000000000" pitchFamily="2" charset="2"/>
              </a:rPr>
              <a:t>ngine </a:t>
            </a:r>
            <a:r>
              <a:rPr lang="en-US" b="1" dirty="0">
                <a:sym typeface="Wingdings" panose="05000000000000000000" pitchFamily="2" charset="2"/>
              </a:rPr>
              <a:t>o</a:t>
            </a:r>
            <a:r>
              <a:rPr lang="en-US" dirty="0">
                <a:sym typeface="Wingdings" panose="05000000000000000000" pitchFamily="2" charset="2"/>
              </a:rPr>
              <a:t>f </a:t>
            </a:r>
            <a:r>
              <a:rPr lang="en-US" b="1" dirty="0">
                <a:sym typeface="Wingdings" panose="05000000000000000000" pitchFamily="2" charset="2"/>
              </a:rPr>
              <a:t>A</a:t>
            </a:r>
            <a:r>
              <a:rPr lang="en-US" dirty="0">
                <a:sym typeface="Wingdings" panose="05000000000000000000" pitchFamily="2" charset="2"/>
              </a:rPr>
              <a:t>pplication </a:t>
            </a:r>
            <a:r>
              <a:rPr lang="en-US" b="1" dirty="0">
                <a:sym typeface="Wingdings" panose="05000000000000000000" pitchFamily="2" charset="2"/>
              </a:rPr>
              <a:t>S</a:t>
            </a:r>
            <a:r>
              <a:rPr lang="en-US" dirty="0">
                <a:sym typeface="Wingdings" panose="05000000000000000000" pitchFamily="2" charset="2"/>
              </a:rPr>
              <a:t>tate)</a:t>
            </a:r>
            <a:endParaRPr lang="en-US" dirty="0"/>
          </a:p>
        </p:txBody>
      </p:sp>
      <p:pic>
        <p:nvPicPr>
          <p:cNvPr id="9" name="Picture 8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3133" y="4839999"/>
            <a:ext cx="7082704" cy="748361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958346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4480" y="4705563"/>
            <a:ext cx="20440650" cy="7269754"/>
          </a:xfrm>
          <a:prstGeom prst="rect">
            <a:avLst/>
          </a:prstGeom>
        </p:spPr>
      </p:pic>
      <p:sp>
        <p:nvSpPr>
          <p:cNvPr id="7" name="Text Placeholder 1"/>
          <p:cNvSpPr txBox="1">
            <a:spLocks/>
          </p:cNvSpPr>
          <p:nvPr/>
        </p:nvSpPr>
        <p:spPr>
          <a:xfrm>
            <a:off x="1504950" y="2452389"/>
            <a:ext cx="22212606" cy="264340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 design principles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Example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604559" y="11975317"/>
            <a:ext cx="1546049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0" i="1" dirty="0"/>
              <a:t>Next Lesson: Designing for paging, sort, filter, handling error, HATEOAS</a:t>
            </a:r>
          </a:p>
        </p:txBody>
      </p:sp>
    </p:spTree>
    <p:extLst>
      <p:ext uri="{BB962C8B-B14F-4D97-AF65-F5344CB8AC3E}">
        <p14:creationId xmlns:p14="http://schemas.microsoft.com/office/powerpoint/2010/main" val="34787404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Text Placeholder 1"/>
          <p:cNvSpPr txBox="1">
            <a:spLocks/>
          </p:cNvSpPr>
          <p:nvPr/>
        </p:nvSpPr>
        <p:spPr>
          <a:xfrm>
            <a:off x="1504950" y="2452389"/>
            <a:ext cx="22694752" cy="607492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Restful API design principles 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>
                <a:sym typeface="Wingdings" panose="05000000000000000000" pitchFamily="2" charset="2"/>
              </a:rPr>
              <a:t>References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sz="3500" dirty="0">
                <a:hlinkClick r:id="rId3"/>
              </a:rPr>
              <a:t>https://www.laurencegellert.com/2016/08/webservice-api-design-tips-correct-pagination-and-exposing-deleted-rows/</a:t>
            </a:r>
          </a:p>
          <a:p>
            <a:pPr lvl="2" hangingPunct="1">
              <a:buFont typeface="Wingdings" panose="05000000000000000000" pitchFamily="2" charset="2"/>
              <a:buChar char="§"/>
            </a:pPr>
            <a:r>
              <a:rPr lang="en-US" sz="3500" dirty="0">
                <a:hlinkClick r:id="rId3"/>
              </a:rPr>
              <a:t>https://docs.microsoft.com/en-us/azure/architecture/best-practices/api-design</a:t>
            </a:r>
            <a:r>
              <a:rPr lang="en-US" sz="35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625343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90"/>
            <a:ext cx="13067084" cy="101065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Implement Restful API with 3 Layer Spring boot</a:t>
            </a:r>
            <a:endParaRPr lang="en-US" sz="3800" dirty="0"/>
          </a:p>
        </p:txBody>
      </p:sp>
      <p:pic>
        <p:nvPicPr>
          <p:cNvPr id="4" name="Google Shape;184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15190" y="5428077"/>
            <a:ext cx="10650896" cy="418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8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95309" y="3463047"/>
            <a:ext cx="9786025" cy="8219046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186;p22"/>
          <p:cNvSpPr/>
          <p:nvPr/>
        </p:nvSpPr>
        <p:spPr>
          <a:xfrm>
            <a:off x="10686074" y="11682093"/>
            <a:ext cx="29243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Repository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3090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7" name="Google Shape;192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00150" y="2286367"/>
            <a:ext cx="10349985" cy="919665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9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88019" y="2286367"/>
            <a:ext cx="11401830" cy="8150895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94;p23"/>
          <p:cNvSpPr/>
          <p:nvPr/>
        </p:nvSpPr>
        <p:spPr>
          <a:xfrm>
            <a:off x="10579749" y="11483023"/>
            <a:ext cx="29243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Service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3953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6" name="Google Shape;20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19771" y="1595335"/>
            <a:ext cx="14718815" cy="10179815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201;p24"/>
          <p:cNvSpPr/>
          <p:nvPr/>
        </p:nvSpPr>
        <p:spPr>
          <a:xfrm>
            <a:off x="10677930" y="11740458"/>
            <a:ext cx="292437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Controller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52938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90"/>
            <a:ext cx="9604038" cy="2275253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Test (postman)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sz="3800" dirty="0"/>
              <a:t> </a:t>
            </a:r>
            <a:r>
              <a:rPr lang="en-US" sz="3800" dirty="0">
                <a:hlinkClick r:id="rId3"/>
              </a:rPr>
              <a:t>https://www.postman.com/downloads</a:t>
            </a:r>
            <a:r>
              <a:rPr lang="en-US" sz="3800" dirty="0"/>
              <a:t> </a:t>
            </a:r>
          </a:p>
        </p:txBody>
      </p:sp>
      <p:pic>
        <p:nvPicPr>
          <p:cNvPr id="13" name="Google Shape;213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8110" y="4870720"/>
            <a:ext cx="15244864" cy="6899748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14;p26"/>
          <p:cNvSpPr/>
          <p:nvPr/>
        </p:nvSpPr>
        <p:spPr>
          <a:xfrm>
            <a:off x="11375281" y="11848292"/>
            <a:ext cx="1990522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Get all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2012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8" name="Google Shape;220;p27"/>
          <p:cNvSpPr/>
          <p:nvPr/>
        </p:nvSpPr>
        <p:spPr>
          <a:xfrm>
            <a:off x="10830532" y="10905663"/>
            <a:ext cx="272982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Get by ID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9" name="Google Shape;221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58117" y="2393712"/>
            <a:ext cx="16874653" cy="8161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72549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Google Shape;227;p28"/>
          <p:cNvSpPr/>
          <p:nvPr/>
        </p:nvSpPr>
        <p:spPr>
          <a:xfrm>
            <a:off x="11180728" y="11019368"/>
            <a:ext cx="1971067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Create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4" name="Google Shape;228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736028" y="2453233"/>
            <a:ext cx="16860466" cy="85661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73326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4" name="Google Shape;23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281199" y="2016013"/>
            <a:ext cx="16402694" cy="910790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236;p29"/>
          <p:cNvSpPr/>
          <p:nvPr/>
        </p:nvSpPr>
        <p:spPr>
          <a:xfrm>
            <a:off x="11404735" y="11187715"/>
            <a:ext cx="215562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Update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55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3" name="Google Shape;243;p30"/>
          <p:cNvSpPr/>
          <p:nvPr/>
        </p:nvSpPr>
        <p:spPr>
          <a:xfrm>
            <a:off x="11253165" y="10906070"/>
            <a:ext cx="2155623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Delete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4" name="Google Shape;244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67694" y="3268236"/>
            <a:ext cx="19926563" cy="763783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67660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90"/>
            <a:ext cx="3183782" cy="101065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Explain</a:t>
            </a:r>
            <a:endParaRPr lang="en-US" sz="3800" dirty="0"/>
          </a:p>
        </p:txBody>
      </p:sp>
      <p:sp>
        <p:nvSpPr>
          <p:cNvPr id="8" name="Google Shape;194;p23"/>
          <p:cNvSpPr/>
          <p:nvPr/>
        </p:nvSpPr>
        <p:spPr>
          <a:xfrm>
            <a:off x="9666252" y="11040996"/>
            <a:ext cx="443885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@</a:t>
            </a:r>
            <a:r>
              <a:rPr lang="en-US" sz="44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Autowired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1463" y="6956947"/>
            <a:ext cx="10028991" cy="343219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1463" y="3678075"/>
            <a:ext cx="9936492" cy="266435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054" y="4923215"/>
            <a:ext cx="9834623" cy="3033217"/>
          </a:xfrm>
          <a:prstGeom prst="rect">
            <a:avLst/>
          </a:prstGeom>
        </p:spPr>
      </p:pic>
      <p:sp>
        <p:nvSpPr>
          <p:cNvPr id="12" name="Right Arrow 11"/>
          <p:cNvSpPr/>
          <p:nvPr/>
        </p:nvSpPr>
        <p:spPr>
          <a:xfrm>
            <a:off x="10875523" y="6070060"/>
            <a:ext cx="2295728" cy="1147863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71437" tIns="71437" rIns="71437" bIns="71437" numCol="1" spcCol="38100" rtlCol="0" anchor="ctr">
            <a:spAutoFit/>
          </a:bodyPr>
          <a:lstStyle/>
          <a:p>
            <a:pPr marL="0" marR="0" indent="0" algn="ctr" defTabSz="821531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694181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23" y="3561170"/>
            <a:ext cx="23751391" cy="6490206"/>
          </a:xfrm>
          <a:prstGeom prst="rect">
            <a:avLst/>
          </a:prstGeom>
        </p:spPr>
      </p:pic>
      <p:sp>
        <p:nvSpPr>
          <p:cNvPr id="13" name="Google Shape;194;p23"/>
          <p:cNvSpPr/>
          <p:nvPr/>
        </p:nvSpPr>
        <p:spPr>
          <a:xfrm>
            <a:off x="9376618" y="10223059"/>
            <a:ext cx="589800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@</a:t>
            </a:r>
            <a:r>
              <a:rPr lang="en-US" sz="44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GetMapping</a:t>
            </a: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 &amp; URL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75492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48" y="3977921"/>
            <a:ext cx="22177581" cy="4396075"/>
          </a:xfrm>
          <a:prstGeom prst="rect">
            <a:avLst/>
          </a:prstGeom>
        </p:spPr>
      </p:pic>
      <p:sp>
        <p:nvSpPr>
          <p:cNvPr id="5" name="Google Shape;194;p23"/>
          <p:cNvSpPr/>
          <p:nvPr/>
        </p:nvSpPr>
        <p:spPr>
          <a:xfrm>
            <a:off x="10069513" y="8373996"/>
            <a:ext cx="443885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@</a:t>
            </a:r>
            <a:r>
              <a:rPr lang="en-US" sz="44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PathVariable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7872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" name="Google Shape;194;p23"/>
          <p:cNvSpPr/>
          <p:nvPr/>
        </p:nvSpPr>
        <p:spPr>
          <a:xfrm>
            <a:off x="9680407" y="8373996"/>
            <a:ext cx="4438853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@</a:t>
            </a:r>
            <a:r>
              <a:rPr lang="en-US" sz="4400" b="0" i="1" u="none" strike="noStrike" cap="none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RequestBody</a:t>
            </a:r>
            <a:endParaRPr sz="4400" b="0" i="1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2" y="2295825"/>
            <a:ext cx="23152206" cy="598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93532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90"/>
            <a:ext cx="6553200" cy="957560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Postman Organization</a:t>
            </a:r>
            <a:endParaRPr lang="en-US" sz="38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9500" y="3329538"/>
            <a:ext cx="17335500" cy="924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82096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9480820" cy="7903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buClr>
                <a:srgbClr val="4F81BD"/>
              </a:buClr>
              <a:buSzPts val="6000"/>
            </a:pPr>
            <a:r>
              <a:rPr lang="en-US" sz="6000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API &amp; Restful API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504950" y="2452390"/>
            <a:ext cx="13067084" cy="1010657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Reference: </a:t>
            </a:r>
            <a:r>
              <a:rPr lang="en-US" sz="4000" u="sng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https://spring.io/guides/gs/rest-service/</a:t>
            </a: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12251174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HTTP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847850" y="2533650"/>
            <a:ext cx="10780755" cy="9699539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HTTP Request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Header (cookie, Authorization,…)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Method (GET, POST, PUT, DELETE, ...)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URL &amp; Body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HTTP Response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Header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Status Code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URL &amp; Body</a:t>
            </a:r>
            <a:endParaRPr lang="en-US" sz="3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7674" y="5757353"/>
            <a:ext cx="16063618" cy="66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92959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HTTP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2666" y="1797628"/>
            <a:ext cx="20273770" cy="10505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3996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HTTP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847850" y="2533650"/>
            <a:ext cx="8356023" cy="6672695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HTTP Request Method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GET: Get resource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POST: create resource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PUT: update resource</a:t>
            </a:r>
          </a:p>
          <a:p>
            <a:pPr lvl="1" hangingPunct="1">
              <a:buFont typeface="Courier New" panose="02070309020205020404" pitchFamily="49" charset="0"/>
              <a:buChar char="o"/>
            </a:pPr>
            <a:r>
              <a:rPr lang="en-US" dirty="0"/>
              <a:t> DELTE: delete resource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13143" y="3168692"/>
            <a:ext cx="8766203" cy="3977406"/>
          </a:xfrm>
          <a:prstGeom prst="rect">
            <a:avLst/>
          </a:prstGeom>
        </p:spPr>
      </p:pic>
      <p:sp>
        <p:nvSpPr>
          <p:cNvPr id="6" name="Google Shape;123;p13"/>
          <p:cNvSpPr txBox="1"/>
          <p:nvPr/>
        </p:nvSpPr>
        <p:spPr>
          <a:xfrm>
            <a:off x="17396244" y="7240103"/>
            <a:ext cx="2782900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Request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792671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HTTP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10" name="Text Placeholder 1"/>
          <p:cNvSpPr txBox="1">
            <a:spLocks/>
          </p:cNvSpPr>
          <p:nvPr/>
        </p:nvSpPr>
        <p:spPr>
          <a:xfrm>
            <a:off x="1847850" y="2533651"/>
            <a:ext cx="8730095" cy="1103168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HTTP Response Status Code</a:t>
            </a:r>
          </a:p>
        </p:txBody>
      </p:sp>
      <p:pic>
        <p:nvPicPr>
          <p:cNvPr id="7" name="Google Shape;15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6164" y="3636819"/>
            <a:ext cx="20159857" cy="9035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534197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3"/>
          <p:cNvSpPr txBox="1"/>
          <p:nvPr/>
        </p:nvSpPr>
        <p:spPr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Times New Roman" panose="02020603050405020304" pitchFamily="18" charset="0"/>
              <a:buNone/>
            </a:pPr>
            <a:r>
              <a:rPr lang="en-US" sz="6000" b="1" i="0" u="none" strike="noStrike" cap="none" dirty="0">
                <a:solidFill>
                  <a:srgbClr val="4F81BD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HTTP</a:t>
            </a:r>
            <a:endParaRPr sz="6000" b="1" i="0" u="none" strike="noStrike" cap="none" dirty="0">
              <a:solidFill>
                <a:srgbClr val="4F81BD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9324" y="2808762"/>
            <a:ext cx="18937587" cy="13785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551" y="4887241"/>
            <a:ext cx="15195233" cy="5817913"/>
          </a:xfrm>
          <a:prstGeom prst="rect">
            <a:avLst/>
          </a:prstGeom>
        </p:spPr>
      </p:pic>
      <p:sp>
        <p:nvSpPr>
          <p:cNvPr id="8" name="Google Shape;123;p13"/>
          <p:cNvSpPr txBox="1"/>
          <p:nvPr/>
        </p:nvSpPr>
        <p:spPr>
          <a:xfrm>
            <a:off x="10385883" y="10705154"/>
            <a:ext cx="3678568" cy="1089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 panose="02020603050405020304" pitchFamily="18" charset="0"/>
              <a:buNone/>
            </a:pPr>
            <a:r>
              <a:rPr lang="en-US" sz="4400" b="0" i="1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rPr>
              <a:t>Response Data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49640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144509F-90D5-455A-B86D-D2BF5157B17F}"/>
              </a:ext>
            </a:extLst>
          </p:cNvPr>
          <p:cNvSpPr txBox="1">
            <a:spLocks/>
          </p:cNvSpPr>
          <p:nvPr/>
        </p:nvSpPr>
        <p:spPr bwMode="auto">
          <a:xfrm>
            <a:off x="1200150" y="571498"/>
            <a:ext cx="8229600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60000"/>
              <a:buFont typeface="Wingdings" panose="05000000000000000000" pitchFamily="2" charset="2"/>
              <a:buChar char="q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Wingdings" panose="05000000000000000000" pitchFamily="2" charset="2"/>
              <a:buChar char="ü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Times New Roman" panose="02020603050405020304" pitchFamily="18" charset="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Times New Roman" panose="02020603050405020304" pitchFamily="18" charset="0"/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defTabSz="914400" eaLnBrk="0" fontAlgn="base">
              <a:spcBef>
                <a:spcPct val="0"/>
              </a:spcBef>
              <a:spcAft>
                <a:spcPct val="0"/>
              </a:spcAft>
              <a:buSzTx/>
              <a:buFontTx/>
              <a:buNone/>
            </a:pPr>
            <a:r>
              <a:rPr lang="en-US" altLang="en-US" sz="6000" kern="1200" dirty="0">
                <a:solidFill>
                  <a:srgbClr val="4F81BD"/>
                </a:solidFill>
                <a:ea typeface="+mn-ea"/>
                <a:cs typeface="Tahoma" panose="020B0604030504040204" pitchFamily="34" charset="0"/>
              </a:rPr>
              <a:t>Reference</a:t>
            </a:r>
            <a:endParaRPr lang="vi-VN" altLang="en-US" sz="6000" kern="1200" dirty="0">
              <a:solidFill>
                <a:srgbClr val="4F81BD"/>
              </a:solidFill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Text Placeholder 1"/>
          <p:cNvSpPr txBox="1">
            <a:spLocks/>
          </p:cNvSpPr>
          <p:nvPr/>
        </p:nvSpPr>
        <p:spPr>
          <a:xfrm>
            <a:off x="1200150" y="2697075"/>
            <a:ext cx="12866046" cy="5571436"/>
          </a:xfrm>
          <a:prstGeom prst="rect">
            <a:avLst/>
          </a:prstGeom>
        </p:spPr>
        <p:txBody>
          <a:bodyPr>
            <a:normAutofit/>
          </a:bodyPr>
          <a:lstStyle>
            <a:lvl1pPr marL="611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1pPr>
            <a:lvl2pPr marL="1055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2pPr>
            <a:lvl3pPr marL="1500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3pPr>
            <a:lvl4pPr marL="1944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4pPr>
            <a:lvl5pPr marL="2389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5pPr>
            <a:lvl6pPr marL="2833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6pPr>
            <a:lvl7pPr marL="3278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7pPr>
            <a:lvl8pPr marL="37226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8pPr>
            <a:lvl9pPr marL="4167187" marR="0" indent="-611187" algn="l" defTabSz="821531" rtl="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45000"/>
              <a:buFontTx/>
              <a:buChar char="•"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sym typeface="Times New Roman" panose="02020603050405020304" pitchFamily="18" charset="0"/>
              </a:defRPr>
            </a:lvl9pPr>
          </a:lstStyle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ID" dirty="0"/>
              <a:t> </a:t>
            </a:r>
            <a:r>
              <a:rPr lang="en-US" dirty="0">
                <a:hlinkClick r:id="rId2"/>
              </a:rPr>
              <a:t>https://www.baeldung.com</a:t>
            </a:r>
            <a:r>
              <a:rPr lang="en-US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3"/>
              </a:rPr>
              <a:t>https://spring.io/projects/spring-boot</a:t>
            </a:r>
            <a:r>
              <a:rPr lang="en-US" dirty="0"/>
              <a:t> </a:t>
            </a:r>
          </a:p>
          <a:p>
            <a:pPr marL="428625" indent="-428625" hangingPunct="1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>
                <a:hlinkClick r:id="rId4"/>
              </a:rPr>
              <a:t>https://spring.io/guides#getting-started-guides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55878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Copyright </a:t>
            </a:r>
            <a:r>
              <a:rPr lang="en-GB" sz="2200" b="0" i="1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© </a:t>
            </a:r>
            <a:r>
              <a:rPr lang="en-GB" sz="2200" b="0" dirty="0">
                <a:solidFill>
                  <a:schemeClr val="tx1"/>
                </a:solidFill>
                <a:latin typeface="Meiryo" charset="-128"/>
                <a:ea typeface="Meiryo" charset="-128"/>
                <a:cs typeface="Meiryo" charset="-128"/>
              </a:rPr>
              <a:t>VTI Academy All Rights Reserved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3CDD7E-E173-4A74-9533-427DE02233F9}"/>
              </a:ext>
            </a:extLst>
          </p:cNvPr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8800" b="0" cap="none" spc="0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Q &amp; A</a:t>
            </a:r>
          </a:p>
        </p:txBody>
      </p:sp>
    </p:spTree>
    <p:extLst>
      <p:ext uri="{BB962C8B-B14F-4D97-AF65-F5344CB8AC3E}">
        <p14:creationId xmlns:p14="http://schemas.microsoft.com/office/powerpoint/2010/main" val="582079886"/>
      </p:ext>
    </p:extLst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27534</TotalTime>
  <Words>717</Words>
  <Application>Microsoft Office PowerPoint</Application>
  <PresentationFormat>Custom</PresentationFormat>
  <Paragraphs>148</Paragraphs>
  <Slides>44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Meiryo</vt:lpstr>
      <vt:lpstr>Calibri</vt:lpstr>
      <vt:lpstr>Courier New</vt:lpstr>
      <vt:lpstr>Times New Roman</vt:lpstr>
      <vt:lpstr>Wingdings</vt:lpstr>
      <vt:lpstr>White</vt:lpstr>
      <vt:lpstr>PowerPoint Presentation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Nguyen Anh Quan (VTI.GA)</dc:creator>
  <cp:keywords/>
  <dc:description/>
  <cp:lastModifiedBy>Nguyen Dao</cp:lastModifiedBy>
  <cp:revision>3747</cp:revision>
  <cp:lastPrinted>2019-09-17T11:00:25Z</cp:lastPrinted>
  <dcterms:modified xsi:type="dcterms:W3CDTF">2024-03-04T02:59:03Z</dcterms:modified>
  <cp:category/>
</cp:coreProperties>
</file>