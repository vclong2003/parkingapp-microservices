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419" r:id="rId3"/>
    <p:sldId id="769" r:id="rId4"/>
    <p:sldId id="819" r:id="rId5"/>
    <p:sldId id="814" r:id="rId6"/>
    <p:sldId id="820" r:id="rId7"/>
    <p:sldId id="822" r:id="rId8"/>
    <p:sldId id="821" r:id="rId9"/>
    <p:sldId id="815" r:id="rId10"/>
    <p:sldId id="817" r:id="rId11"/>
    <p:sldId id="818" r:id="rId12"/>
    <p:sldId id="823" r:id="rId13"/>
    <p:sldId id="812" r:id="rId14"/>
    <p:sldId id="826" r:id="rId15"/>
    <p:sldId id="827" r:id="rId16"/>
    <p:sldId id="828" r:id="rId17"/>
    <p:sldId id="830" r:id="rId18"/>
    <p:sldId id="831" r:id="rId19"/>
    <p:sldId id="829" r:id="rId20"/>
    <p:sldId id="832" r:id="rId21"/>
    <p:sldId id="833" r:id="rId22"/>
    <p:sldId id="834" r:id="rId23"/>
    <p:sldId id="836" r:id="rId24"/>
    <p:sldId id="835" r:id="rId25"/>
    <p:sldId id="839" r:id="rId26"/>
    <p:sldId id="840" r:id="rId27"/>
    <p:sldId id="653" r:id="rId28"/>
    <p:sldId id="342" r:id="rId29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72" autoAdjust="0"/>
    <p:restoredTop sz="84555" autoAdjust="0"/>
  </p:normalViewPr>
  <p:slideViewPr>
    <p:cSldViewPr snapToGrid="0" snapToObjects="1">
      <p:cViewPr varScale="1">
        <p:scale>
          <a:sx n="37" d="100"/>
          <a:sy n="37" d="100"/>
        </p:scale>
        <p:origin x="301" y="56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3/5/2024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1pPr>
    <a:lvl2pPr indent="2286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2pPr>
    <a:lvl3pPr indent="4572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3pPr>
    <a:lvl4pPr indent="6858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4pPr>
    <a:lvl5pPr indent="9144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5pPr>
    <a:lvl6pPr indent="11430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6pPr>
    <a:lvl7pPr indent="13716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7pPr>
    <a:lvl8pPr indent="16002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8pPr>
    <a:lvl9pPr indent="18288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2287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9989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1410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04726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84539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51059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17930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76784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35512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68773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30953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1971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8748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82310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9626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34118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12956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79945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42221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56064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60967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73286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06921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14965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E536F65-AC83-4CA5-A319-75AFC58D4B3B}" type="slidenum">
              <a:rPr lang="en-US" smtClean="0">
                <a:solidFill>
                  <a:prstClr val="black"/>
                </a:solidFill>
                <a:latin typeface="Calibri"/>
                <a:ea typeface=""/>
                <a:cs typeface=""/>
              </a:rPr>
              <a:pPr/>
              <a:t>28</a:t>
            </a:fld>
            <a:endParaRPr lang="en-US" dirty="0">
              <a:solidFill>
                <a:prstClr val="black"/>
              </a:solidFill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22863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w="19050" cap="flat" cmpd="sng">
            <a:solidFill>
              <a:srgbClr val="3C5A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BF365656-3C2C-401A-A261-7849E1DCB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2276" y="-25180"/>
            <a:ext cx="5131724" cy="14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3/5/2024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spring.io/projects/spring-data" TargetMode="Externa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attacomsian.com/blog/spring-data-jpa-named-queries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spring.io/projects/spring-boot" TargetMode="External"/><Relationship Id="rId2" Type="http://schemas.openxmlformats.org/officeDocument/2006/relationships/hyperlink" Target="https://www.baeldung.com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spring.io/guides#getting-started-guides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Spring Framework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Hello World Spring Data JPA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Spring Data Introduction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Custom Query</a:t>
            </a:r>
          </a:p>
          <a:p>
            <a:pPr lvl="0" defTabSz="914400">
              <a:defRPr/>
            </a:pPr>
            <a:r>
              <a:rPr lang="en-US" altLang="en-US" sz="6600" b="0" noProof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Assignments</a:t>
            </a:r>
            <a:endParaRPr kumimoji="0" lang="en-US" altLang="en-US" sz="6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Hello World Spring Data JPA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750573" y="2533650"/>
            <a:ext cx="15992678" cy="1036954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Step 1: Create Spring Project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Step 2: </a:t>
            </a:r>
            <a:r>
              <a:rPr lang="en-US" dirty="0" err="1"/>
              <a:t>Config</a:t>
            </a:r>
            <a:r>
              <a:rPr lang="en-US" dirty="0"/>
              <a:t> database into </a:t>
            </a:r>
            <a:r>
              <a:rPr lang="en-US" dirty="0" err="1"/>
              <a:t>application.properties</a:t>
            </a:r>
            <a:r>
              <a:rPr lang="en-US" dirty="0"/>
              <a:t> file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Step 3: Create Persistent Object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Step 4: Create interface </a:t>
            </a:r>
            <a:r>
              <a:rPr lang="en-US" dirty="0" err="1"/>
              <a:t>JpaRepository</a:t>
            </a:r>
            <a:endParaRPr lang="en-US" dirty="0"/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Step 5: Create service &amp; controller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Step 6: Start Server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Step 7: Test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321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Hello World Spring Data JPA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750573" y="2533651"/>
            <a:ext cx="12422627" cy="1174750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Step 1: Create Spring Project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734" y="6677309"/>
            <a:ext cx="9991903" cy="201387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0" y="2920077"/>
            <a:ext cx="9453563" cy="952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458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Hello World Spring Data JPA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74" y="3511550"/>
            <a:ext cx="12070474" cy="5334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1" y="3511550"/>
            <a:ext cx="8867274" cy="4835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540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Hello World Spring Data JPA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750573" y="2533651"/>
            <a:ext cx="14575277" cy="914400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Step 2: </a:t>
            </a:r>
            <a:r>
              <a:rPr lang="en-US" dirty="0" err="1"/>
              <a:t>Config</a:t>
            </a:r>
            <a:r>
              <a:rPr lang="en-US" dirty="0"/>
              <a:t> database into </a:t>
            </a:r>
            <a:r>
              <a:rPr lang="en-US" dirty="0" err="1"/>
              <a:t>application.properties</a:t>
            </a:r>
            <a:r>
              <a:rPr lang="en-US" dirty="0"/>
              <a:t> file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37" y="4182341"/>
            <a:ext cx="5029200" cy="657189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8666" y="4182340"/>
            <a:ext cx="15624520" cy="545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762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Hello World Spring Data JPA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676" y="2095040"/>
            <a:ext cx="13993159" cy="939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713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Hello World Spring Data JPA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62" y="2457451"/>
            <a:ext cx="10441837" cy="87915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9345" y="4428883"/>
            <a:ext cx="11398150" cy="516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087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Hello World Spring Data JPA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750573" y="2533650"/>
            <a:ext cx="19375877" cy="209549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Step 3: Create Persistent Object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Step 4: Create interface </a:t>
            </a:r>
            <a:r>
              <a:rPr lang="en-US" dirty="0" err="1"/>
              <a:t>JpaRepository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49" y="5638799"/>
            <a:ext cx="23534157" cy="5474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864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Hello World Spring Data JPA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750573" y="2533651"/>
            <a:ext cx="9698477" cy="933450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Step 5: Create service &amp; controller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23" y="3467101"/>
            <a:ext cx="10583392" cy="912494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8494" y="3467100"/>
            <a:ext cx="12778745" cy="763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743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Hello World Spring Data JPA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750573" y="2533651"/>
            <a:ext cx="6326627" cy="91439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Step 6: Start Server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50" y="3499246"/>
            <a:ext cx="10452149" cy="908365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5650" y="5717001"/>
            <a:ext cx="13243248" cy="3585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616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Hello World Spring Data JPA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750573" y="2533651"/>
            <a:ext cx="6326627" cy="91439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Step 7: Test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14" y="3746370"/>
            <a:ext cx="11023936" cy="853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342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09224" y="2612859"/>
            <a:ext cx="9980264" cy="7700721"/>
          </a:xfrm>
          <a:prstGeom prst="rect">
            <a:avLst/>
          </a:prstGeom>
        </p:spPr>
        <p:txBody>
          <a:bodyPr>
            <a:no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Working with both SQL &amp; NoSQL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Spring Data JPA Generated DAO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 No More DAO Implementations 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Main tasks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CRUD (Create, Read, Update, Delete)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Pagination, Sorting and Filtering</a:t>
            </a:r>
          </a:p>
        </p:txBody>
      </p:sp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5396" y="2533651"/>
            <a:ext cx="8439150" cy="5200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/>
          <p:nvPr/>
        </p:nvPicPr>
        <p:blipFill>
          <a:blip r:embed="rId4"/>
          <a:stretch>
            <a:fillRect/>
          </a:stretch>
        </p:blipFill>
        <p:spPr>
          <a:xfrm>
            <a:off x="20095723" y="2030758"/>
            <a:ext cx="3993774" cy="85766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5418988" y="10874666"/>
            <a:ext cx="66736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hlinkClick r:id="rId5"/>
              </a:rPr>
              <a:t>https://spring.io/projects/spring-data</a:t>
            </a:r>
            <a:endParaRPr lang="en-US" b="0" i="1" dirty="0"/>
          </a:p>
        </p:txBody>
      </p:sp>
    </p:spTree>
    <p:extLst>
      <p:ext uri="{BB962C8B-B14F-4D97-AF65-F5344CB8AC3E}">
        <p14:creationId xmlns:p14="http://schemas.microsoft.com/office/powerpoint/2010/main" val="4293011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561097" y="2533652"/>
            <a:ext cx="9879536" cy="9005206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 Support multiple features: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Custom Query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Paging &amp; Sorting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Specification (Where)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Transaction (Next Lesson)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Spring Data Rest (Next Lesson)</a:t>
            </a:r>
          </a:p>
        </p:txBody>
      </p:sp>
    </p:spTree>
    <p:extLst>
      <p:ext uri="{BB962C8B-B14F-4D97-AF65-F5344CB8AC3E}">
        <p14:creationId xmlns:p14="http://schemas.microsoft.com/office/powerpoint/2010/main" val="1086019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9856" y="2540672"/>
            <a:ext cx="8017158" cy="5540072"/>
          </a:xfrm>
          <a:prstGeom prst="rect">
            <a:avLst/>
          </a:prstGeom>
        </p:spPr>
        <p:txBody>
          <a:bodyPr>
            <a:no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Custom Query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Method names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@Query Annotation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Named Queries (Self-study)</a:t>
            </a:r>
          </a:p>
        </p:txBody>
      </p:sp>
    </p:spTree>
    <p:extLst>
      <p:ext uri="{BB962C8B-B14F-4D97-AF65-F5344CB8AC3E}">
        <p14:creationId xmlns:p14="http://schemas.microsoft.com/office/powerpoint/2010/main" val="2297175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9856" y="2540672"/>
            <a:ext cx="4863178" cy="111692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Method names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0" y="4248498"/>
            <a:ext cx="23874652" cy="481155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554817" y="9336941"/>
            <a:ext cx="19880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  <a:ea typeface="Calibri" panose="020F0502020204030204" pitchFamily="34" charset="0"/>
              </a:rPr>
              <a:t>Repository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831459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22062" y="10541271"/>
            <a:ext cx="36535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  <a:ea typeface="Calibri" panose="020F0502020204030204" pitchFamily="34" charset="0"/>
              </a:rPr>
              <a:t>Service &amp; Controller</a:t>
            </a:r>
            <a:endParaRPr lang="en-US" b="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14" y="2831361"/>
            <a:ext cx="11156875" cy="704861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2516" y="2831361"/>
            <a:ext cx="12114470" cy="704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210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11679695" y="10541271"/>
            <a:ext cx="8691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  <a:ea typeface="Calibri" panose="020F0502020204030204" pitchFamily="34" charset="0"/>
              </a:rPr>
              <a:t>Test</a:t>
            </a:r>
            <a:endParaRPr lang="en-US" b="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884" y="2668857"/>
            <a:ext cx="14749285" cy="738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5438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50" y="1524000"/>
            <a:ext cx="14187307" cy="1024095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0449" y="1524000"/>
            <a:ext cx="6762506" cy="1024095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693205" y="11873339"/>
            <a:ext cx="24769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b="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Name Pattern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48800" y="11884075"/>
            <a:ext cx="30476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 Pattern</a:t>
            </a:r>
          </a:p>
        </p:txBody>
      </p:sp>
    </p:spTree>
    <p:extLst>
      <p:ext uri="{BB962C8B-B14F-4D97-AF65-F5344CB8AC3E}">
        <p14:creationId xmlns:p14="http://schemas.microsoft.com/office/powerpoint/2010/main" val="19556834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9857" y="2540673"/>
            <a:ext cx="6003226" cy="834540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@Query Annotation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65542" y="6897548"/>
            <a:ext cx="10054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b="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HQL</a:t>
            </a:r>
          </a:p>
        </p:txBody>
      </p:sp>
      <p:sp>
        <p:nvSpPr>
          <p:cNvPr id="7" name="Rectangle 6"/>
          <p:cNvSpPr/>
          <p:nvPr/>
        </p:nvSpPr>
        <p:spPr>
          <a:xfrm>
            <a:off x="11664544" y="10381642"/>
            <a:ext cx="91403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b="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SQL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8896" y="3273837"/>
            <a:ext cx="14224098" cy="35642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9856" y="8487952"/>
            <a:ext cx="20282178" cy="1535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7266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9856" y="2540672"/>
            <a:ext cx="10773324" cy="1183835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Modifying @Query with Transaction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23175" y="11017407"/>
            <a:ext cx="369844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b="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Repository &amp; Service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037" y="3724507"/>
            <a:ext cx="14733999" cy="713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4041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23175" y="9590052"/>
            <a:ext cx="312777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b="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Controller &amp; Test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49" y="4380103"/>
            <a:ext cx="24016747" cy="489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3004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9855" y="2540672"/>
            <a:ext cx="16928799" cy="263349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 Named Queries (Self-study)</a:t>
            </a:r>
          </a:p>
          <a:p>
            <a:pPr marL="889000" lvl="2" indent="0" hangingPunct="1">
              <a:buNone/>
            </a:pPr>
            <a:r>
              <a:rPr lang="en-US" sz="3800" u="sng" dirty="0">
                <a:hlinkClick r:id="rId3"/>
              </a:rPr>
              <a:t>https://attacomsian.com/blog/spring-data-jpa-named-queries</a:t>
            </a: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8872142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9856" y="2540672"/>
            <a:ext cx="10773324" cy="1183835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Paging &amp; Sorting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23175" y="11017407"/>
            <a:ext cx="369844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b="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Repository &amp; Service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233" y="3958683"/>
            <a:ext cx="12056331" cy="682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5650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23175" y="12067994"/>
            <a:ext cx="312777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b="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Controller &amp; Test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780" y="1524000"/>
            <a:ext cx="19391920" cy="1054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276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9856" y="2540672"/>
            <a:ext cx="10773324" cy="1183835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err="1"/>
              <a:t>Config</a:t>
            </a:r>
            <a:r>
              <a:rPr lang="en-US" dirty="0"/>
              <a:t> parameter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6156" y="3443077"/>
            <a:ext cx="17442830" cy="875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7491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Reference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200150" y="2697075"/>
            <a:ext cx="12866046" cy="5571436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n-US" dirty="0">
                <a:hlinkClick r:id="rId2"/>
              </a:rPr>
              <a:t>https://www.baeldung.com</a:t>
            </a:r>
            <a:r>
              <a:rPr lang="en-US" dirty="0"/>
              <a:t> 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>
                <a:hlinkClick r:id="rId3"/>
              </a:rPr>
              <a:t>https://spring.io/projects/spring-boot</a:t>
            </a:r>
            <a:r>
              <a:rPr lang="en-US" dirty="0"/>
              <a:t> 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>
                <a:hlinkClick r:id="rId4"/>
              </a:rPr>
              <a:t>https://spring.io/guides#getting-started-guides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955878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3CDD7E-E173-4A74-9533-427DE02233F9}"/>
              </a:ext>
            </a:extLst>
          </p:cNvPr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582079886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29281</TotalTime>
  <Words>407</Words>
  <Application>Microsoft Office PowerPoint</Application>
  <PresentationFormat>Custom</PresentationFormat>
  <Paragraphs>87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Meiryo</vt:lpstr>
      <vt:lpstr>Calibri</vt:lpstr>
      <vt:lpstr>Courier New</vt:lpstr>
      <vt:lpstr>Times New Roman</vt:lpstr>
      <vt:lpstr>Wingdings</vt:lpstr>
      <vt:lpstr>White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Nguyen Dao</cp:lastModifiedBy>
  <cp:revision>4105</cp:revision>
  <cp:lastPrinted>2019-09-17T11:00:25Z</cp:lastPrinted>
  <dcterms:modified xsi:type="dcterms:W3CDTF">2024-03-05T02:42:26Z</dcterms:modified>
  <cp:category/>
</cp:coreProperties>
</file>