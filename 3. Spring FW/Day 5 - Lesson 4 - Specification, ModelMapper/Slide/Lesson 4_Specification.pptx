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6" r:id="rId2"/>
    <p:sldId id="419" r:id="rId3"/>
    <p:sldId id="853" r:id="rId4"/>
    <p:sldId id="858" r:id="rId5"/>
    <p:sldId id="859" r:id="rId6"/>
    <p:sldId id="860" r:id="rId7"/>
    <p:sldId id="861" r:id="rId8"/>
    <p:sldId id="862" r:id="rId9"/>
    <p:sldId id="864" r:id="rId10"/>
    <p:sldId id="863" r:id="rId11"/>
    <p:sldId id="865" r:id="rId12"/>
    <p:sldId id="866" r:id="rId13"/>
    <p:sldId id="867" r:id="rId14"/>
    <p:sldId id="868" r:id="rId15"/>
    <p:sldId id="869" r:id="rId16"/>
    <p:sldId id="857" r:id="rId17"/>
    <p:sldId id="870" r:id="rId18"/>
    <p:sldId id="871" r:id="rId19"/>
    <p:sldId id="872" r:id="rId20"/>
    <p:sldId id="875" r:id="rId21"/>
    <p:sldId id="873" r:id="rId22"/>
    <p:sldId id="874" r:id="rId23"/>
    <p:sldId id="876" r:id="rId24"/>
    <p:sldId id="879" r:id="rId25"/>
    <p:sldId id="880" r:id="rId26"/>
    <p:sldId id="881" r:id="rId27"/>
    <p:sldId id="882" r:id="rId28"/>
    <p:sldId id="877" r:id="rId29"/>
    <p:sldId id="884" r:id="rId30"/>
    <p:sldId id="885" r:id="rId31"/>
    <p:sldId id="886" r:id="rId32"/>
    <p:sldId id="887" r:id="rId33"/>
    <p:sldId id="888" r:id="rId34"/>
    <p:sldId id="878" r:id="rId35"/>
    <p:sldId id="889" r:id="rId36"/>
    <p:sldId id="342" r:id="rId37"/>
  </p:sldIdLst>
  <p:sldSz cx="24384000" cy="13716000"/>
  <p:notesSz cx="6797675" cy="99298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040"/>
    <a:srgbClr val="F25A29"/>
    <a:srgbClr val="F35A29"/>
    <a:srgbClr val="4372C4"/>
    <a:srgbClr val="ED1C24"/>
    <a:srgbClr val="E4C622"/>
    <a:srgbClr val="B9D532"/>
    <a:srgbClr val="7BC242"/>
    <a:srgbClr val="E4C721"/>
    <a:srgbClr val="45B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682" autoAdjust="0"/>
    <p:restoredTop sz="84555" autoAdjust="0"/>
  </p:normalViewPr>
  <p:slideViewPr>
    <p:cSldViewPr snapToGrid="0" snapToObjects="1">
      <p:cViewPr varScale="1">
        <p:scale>
          <a:sx n="35" d="100"/>
          <a:sy n="35" d="100"/>
        </p:scale>
        <p:origin x="72" y="136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932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682A-6338-40E2-9ACD-2A3FF92BB3F1}" type="datetime1">
              <a:rPr lang="en-US" smtClean="0"/>
              <a:t>3/5/2024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C4568-2AE6-42F2-B295-3769A765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068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sz="quarter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04435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1pPr>
    <a:lvl2pPr indent="2286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2pPr>
    <a:lvl3pPr indent="4572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3pPr>
    <a:lvl4pPr indent="6858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4pPr>
    <a:lvl5pPr indent="9144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5pPr>
    <a:lvl6pPr indent="11430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6pPr>
    <a:lvl7pPr indent="13716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7pPr>
    <a:lvl8pPr indent="16002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8pPr>
    <a:lvl9pPr indent="18288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3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1722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5932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14119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40878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07887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36634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78275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27861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15732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5851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498380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48251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01384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38497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13150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20287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501008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076901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62011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54650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42283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87095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50037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04919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44564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75116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61628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949116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20233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25684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57102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994980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97297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67271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E536F65-AC83-4CA5-A319-75AFC58D4B3B}" type="slidenum">
              <a:rPr lang="en-US" smtClean="0">
                <a:solidFill>
                  <a:prstClr val="black"/>
                </a:solidFill>
                <a:latin typeface="Calibri"/>
                <a:ea typeface=""/>
                <a:cs typeface=""/>
              </a:rPr>
              <a:pPr/>
              <a:t>36</a:t>
            </a:fld>
            <a:endParaRPr lang="en-US" dirty="0">
              <a:solidFill>
                <a:prstClr val="black"/>
              </a:solidFill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22863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A04767-AA7B-4F3E-BCFB-179D9E0CC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7132" y="859479"/>
            <a:ext cx="2950192" cy="1131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049C43-2C50-4372-822C-DA510E94A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820083" y="13156977"/>
            <a:ext cx="6743833" cy="482823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w="19050" cap="flat" cmpd="sng">
            <a:solidFill>
              <a:srgbClr val="3C5A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" name="Google Shape;27;p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BF365656-3C2C-401A-A261-7849E1DCB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2276" y="-25180"/>
            <a:ext cx="5131724" cy="143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7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8701658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B674F-1420-4DF2-8459-B3931B49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06980E3F-CE96-4267-B841-15E317674931}" type="datetimeFigureOut">
              <a:rPr lang="en-US" smtClean="0"/>
              <a:t>3/5/2024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1A97-058D-4695-BDEE-1CB388B8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0EE83-65C2-45C2-B15E-F5BF3C6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76CA7329-12AB-4100-8DDD-19BE59417CE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41B02-D364-4240-835E-FF32F0F89CB6}"/>
              </a:ext>
            </a:extLst>
          </p:cNvPr>
          <p:cNvCxnSpPr/>
          <p:nvPr userDrawn="1"/>
        </p:nvCxnSpPr>
        <p:spPr>
          <a:xfrm>
            <a:off x="1845217" y="1893677"/>
            <a:ext cx="18701658" cy="0"/>
          </a:xfrm>
          <a:prstGeom prst="line">
            <a:avLst/>
          </a:prstGeom>
          <a:ln w="38100" cap="rnd">
            <a:solidFill>
              <a:srgbClr val="057BBA">
                <a:alpha val="80000"/>
              </a:srgb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3C5E42B-5773-41D1-82C9-A3B78618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883" y="427995"/>
            <a:ext cx="2645634" cy="16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modelmapper.or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modelmapper.org/getting-started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Spring Framework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ModelMapper</a:t>
            </a:r>
            <a:endParaRPr lang="en-US" altLang="en-US" sz="6600" b="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Specification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HATEOAS</a:t>
            </a:r>
          </a:p>
          <a:p>
            <a:pPr lvl="0" defTabSz="914400">
              <a:defRPr/>
            </a:pPr>
            <a:r>
              <a:rPr lang="en-US" altLang="en-US" sz="6600" b="0" noProof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Assignments</a:t>
            </a:r>
            <a:endParaRPr kumimoji="0" lang="en-US" altLang="en-US" sz="6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79413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 err="1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ModelMapper</a:t>
            </a:r>
            <a:endParaRPr lang="en-US" sz="6000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9855" y="2540671"/>
            <a:ext cx="13325294" cy="543600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Used to automatically convert objects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Home page: </a:t>
            </a:r>
            <a:r>
              <a:rPr lang="en-US" dirty="0">
                <a:hlinkClick r:id="rId3"/>
              </a:rPr>
              <a:t>http://modelmapper.org/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69612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 err="1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ModelMapper</a:t>
            </a:r>
            <a:endParaRPr lang="en-US" sz="6000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9856" y="2307209"/>
            <a:ext cx="4648222" cy="2537165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Example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Repeat error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335" y="4702446"/>
            <a:ext cx="20929775" cy="776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274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 err="1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ModelMapper</a:t>
            </a:r>
            <a:endParaRPr lang="en-US" sz="6000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2213246"/>
            <a:ext cx="21240750" cy="87058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609949" y="10907395"/>
            <a:ext cx="116410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  <a:ea typeface="Calibri" panose="020F0502020204030204" pitchFamily="34" charset="0"/>
              </a:rPr>
              <a:t>Entity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028833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 err="1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ModelMapper</a:t>
            </a:r>
            <a:endParaRPr lang="en-US" sz="6000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141" y="2854460"/>
            <a:ext cx="22964738" cy="617280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960548" y="9389880"/>
            <a:ext cx="59570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  <a:ea typeface="Calibri" panose="020F0502020204030204" pitchFamily="34" charset="0"/>
              </a:rPr>
              <a:t>Repository &amp; Service &amp; Controller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907831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 err="1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ModelMapper</a:t>
            </a:r>
            <a:endParaRPr lang="en-US" sz="6000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283947" y="10164412"/>
            <a:ext cx="86914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  <a:ea typeface="Calibri" panose="020F0502020204030204" pitchFamily="34" charset="0"/>
              </a:rPr>
              <a:t>Test</a:t>
            </a:r>
            <a:endParaRPr lang="en-US" b="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40" y="2521535"/>
            <a:ext cx="10413782" cy="75368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8442" y="4970971"/>
            <a:ext cx="12925987" cy="362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941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 err="1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ModelMapper</a:t>
            </a:r>
            <a:endParaRPr lang="en-US" sz="6000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9855" y="2307210"/>
            <a:ext cx="4667677" cy="83197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Fix by DTO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9397" y="3139183"/>
            <a:ext cx="17506162" cy="901773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490463" y="12156915"/>
            <a:ext cx="3264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  <a:ea typeface="Calibri" panose="020F0502020204030204" pitchFamily="34" charset="0"/>
              </a:rPr>
              <a:t>DTO &amp; Controller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101425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 err="1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ModelMapper</a:t>
            </a:r>
            <a:endParaRPr lang="en-US" sz="6000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569" y="2228062"/>
            <a:ext cx="14012196" cy="874155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687906" y="11028506"/>
            <a:ext cx="86914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  <a:ea typeface="Calibri" panose="020F0502020204030204" pitchFamily="34" charset="0"/>
              </a:rPr>
              <a:t>Test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4237919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 err="1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ModelMapper</a:t>
            </a:r>
            <a:endParaRPr lang="en-US" sz="6000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9855" y="2307210"/>
            <a:ext cx="6701021" cy="1011992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Fix by </a:t>
            </a:r>
            <a:r>
              <a:rPr lang="en-US" dirty="0" err="1"/>
              <a:t>ModelMapper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007212" y="10654153"/>
            <a:ext cx="73773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hlinkClick r:id="rId3"/>
              </a:rPr>
              <a:t>http://modelmapper.org/getting-started/</a:t>
            </a:r>
            <a:r>
              <a:rPr lang="en-US" b="0" i="1" dirty="0"/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6353" y="4381882"/>
            <a:ext cx="7448321" cy="627227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8644" y="1863317"/>
            <a:ext cx="11396063" cy="305722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8644" y="5215978"/>
            <a:ext cx="12719726" cy="690468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490463" y="12156915"/>
            <a:ext cx="3264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  <a:ea typeface="Calibri" panose="020F0502020204030204" pitchFamily="34" charset="0"/>
              </a:rPr>
              <a:t>DTO &amp; Controller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402588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 err="1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ModelMapper</a:t>
            </a:r>
            <a:endParaRPr lang="en-US" sz="6000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129" y="3953643"/>
            <a:ext cx="21706005" cy="608530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804240" y="10016829"/>
            <a:ext cx="409278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Mapping Entity &amp; DTO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842469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 err="1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ModelMapper</a:t>
            </a:r>
            <a:endParaRPr lang="en-US" sz="6000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9855" y="2307210"/>
            <a:ext cx="5445890" cy="123635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sz="3800" dirty="0"/>
              <a:t> </a:t>
            </a:r>
            <a:r>
              <a:rPr lang="en-US" dirty="0"/>
              <a:t>Summary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endParaRPr lang="en-US" sz="3800" dirty="0"/>
          </a:p>
        </p:txBody>
      </p:sp>
      <p:sp>
        <p:nvSpPr>
          <p:cNvPr id="10" name="Rectangle 9"/>
          <p:cNvSpPr/>
          <p:nvPr/>
        </p:nvSpPr>
        <p:spPr>
          <a:xfrm>
            <a:off x="3165932" y="6362557"/>
            <a:ext cx="432522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Convert Object to Object</a:t>
            </a:r>
            <a:endParaRPr lang="en-US" b="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354" y="3543563"/>
            <a:ext cx="8952689" cy="285576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645229" y="10598646"/>
            <a:ext cx="336662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Convert List to List</a:t>
            </a:r>
            <a:endParaRPr lang="en-US" b="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399" y="7838005"/>
            <a:ext cx="10276205" cy="2760641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5486979" y="12017231"/>
            <a:ext cx="38218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Convert Page to Page</a:t>
            </a:r>
            <a:endParaRPr lang="en-US" b="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02765" y="1690778"/>
            <a:ext cx="9990308" cy="319434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68884" y="4688732"/>
            <a:ext cx="6145584" cy="7318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900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 err="1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ModelMapper</a:t>
            </a:r>
            <a:endParaRPr lang="en-US" sz="6000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9855" y="2307210"/>
            <a:ext cx="3597634" cy="1136382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Mapping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05501" y="8664987"/>
            <a:ext cx="32271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Mapping Attribute</a:t>
            </a:r>
            <a:endParaRPr lang="en-US" b="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80" y="4624421"/>
            <a:ext cx="10669552" cy="393591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6088822" y="9578829"/>
            <a:ext cx="44486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Mapping Nested Attribute</a:t>
            </a:r>
            <a:endParaRPr lang="en-US" b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0362" y="3443592"/>
            <a:ext cx="12174517" cy="601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630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 err="1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ModelMapper</a:t>
            </a:r>
            <a:endParaRPr lang="en-US" sz="6000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0350705" y="10843424"/>
            <a:ext cx="23839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Mapping List</a:t>
            </a:r>
            <a:endParaRPr lang="en-US" b="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36" y="3811936"/>
            <a:ext cx="14943825" cy="494295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5109" y="2061859"/>
            <a:ext cx="8305941" cy="826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8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 err="1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ModelMapper</a:t>
            </a:r>
            <a:endParaRPr lang="en-US" sz="6000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9855" y="2307210"/>
            <a:ext cx="5173515" cy="1039105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Formatting DTO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endParaRPr lang="en-US" sz="3800" dirty="0"/>
          </a:p>
        </p:txBody>
      </p:sp>
      <p:sp>
        <p:nvSpPr>
          <p:cNvPr id="10" name="Rectangle 9"/>
          <p:cNvSpPr/>
          <p:nvPr/>
        </p:nvSpPr>
        <p:spPr>
          <a:xfrm>
            <a:off x="10764223" y="11930507"/>
            <a:ext cx="28296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Date &amp; Rename</a:t>
            </a:r>
            <a:endParaRPr lang="en-US" b="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976" y="3375907"/>
            <a:ext cx="14305049" cy="855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440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Data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9854" y="2540671"/>
            <a:ext cx="12286275" cy="4079132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Specification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Used to build where conditions for the query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Example 1: 1 condition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073062" y="11119524"/>
            <a:ext cx="6211957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Entity &amp; Specification</a:t>
            </a:r>
          </a:p>
          <a:p>
            <a:r>
              <a:rPr lang="en-US" b="0" i="1" dirty="0">
                <a:latin typeface="Times New Roman" panose="02020603050405020304" pitchFamily="18" charset="0"/>
              </a:rPr>
              <a:t>WHERE username LIKE ‘‘%value%</a:t>
            </a:r>
            <a:endParaRPr lang="en-US" b="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042" y="6619803"/>
            <a:ext cx="23819998" cy="465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923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Data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151" y="3551405"/>
            <a:ext cx="18271778" cy="557992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329816" y="9131334"/>
            <a:ext cx="369844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Repository &amp; Service</a:t>
            </a:r>
          </a:p>
        </p:txBody>
      </p:sp>
    </p:spTree>
    <p:extLst>
      <p:ext uri="{BB962C8B-B14F-4D97-AF65-F5344CB8AC3E}">
        <p14:creationId xmlns:p14="http://schemas.microsoft.com/office/powerpoint/2010/main" val="16552702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15154" y="10327329"/>
            <a:ext cx="312777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Controller &amp; Test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345" y="2959577"/>
            <a:ext cx="23885355" cy="742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2527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Data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9855" y="2540671"/>
            <a:ext cx="8480919" cy="883465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Example 2: multiple condition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515" y="3617912"/>
            <a:ext cx="16269016" cy="811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3926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7628" y="11045503"/>
            <a:ext cx="23278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Specification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399" y="2585936"/>
            <a:ext cx="24014518" cy="8234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3908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34103" y="8403903"/>
            <a:ext cx="139493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Service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4630" y="4019480"/>
            <a:ext cx="12476514" cy="441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5049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96994" y="11604303"/>
            <a:ext cx="86914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Test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459" y="1739726"/>
            <a:ext cx="22358741" cy="9899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676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96994" y="9800903"/>
            <a:ext cx="86914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Test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464" y="2499942"/>
            <a:ext cx="16709917" cy="740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6626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Data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9854" y="2483521"/>
            <a:ext cx="13561595" cy="267902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Example 3: Nested Attribute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Object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7050" y="4861633"/>
            <a:ext cx="17414226" cy="760858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815824" y="12116090"/>
            <a:ext cx="383149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Specification &amp; Entity</a:t>
            </a:r>
          </a:p>
        </p:txBody>
      </p:sp>
    </p:spTree>
    <p:extLst>
      <p:ext uri="{BB962C8B-B14F-4D97-AF65-F5344CB8AC3E}">
        <p14:creationId xmlns:p14="http://schemas.microsoft.com/office/powerpoint/2010/main" val="12557295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96999" y="11590797"/>
            <a:ext cx="86914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Test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537" y="2415635"/>
            <a:ext cx="14292071" cy="917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158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Data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9855" y="2540671"/>
            <a:ext cx="2703095" cy="883465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List </a:t>
            </a:r>
          </a:p>
        </p:txBody>
      </p:sp>
      <p:sp>
        <p:nvSpPr>
          <p:cNvPr id="5" name="Rectangle 4"/>
          <p:cNvSpPr/>
          <p:nvPr/>
        </p:nvSpPr>
        <p:spPr>
          <a:xfrm>
            <a:off x="9815824" y="12116090"/>
            <a:ext cx="383149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Specification &amp; Entity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843" y="3424136"/>
            <a:ext cx="14961063" cy="8691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9739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02841" y="11167236"/>
            <a:ext cx="86914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Test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249" y="1771886"/>
            <a:ext cx="12782125" cy="930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8566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Data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9855" y="2540671"/>
            <a:ext cx="5309702" cy="236206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Example 4: Date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Problem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1030" y="4703277"/>
            <a:ext cx="13618980" cy="790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6753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Data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9855" y="2540671"/>
            <a:ext cx="10582094" cy="407413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Fix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90" y="4755636"/>
            <a:ext cx="16172539" cy="487538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94184" y="3117631"/>
            <a:ext cx="6118315" cy="7379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570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Data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9854" y="2540671"/>
            <a:ext cx="16761995" cy="102167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Compare Date: Equal Date, </a:t>
            </a:r>
            <a:r>
              <a:rPr lang="en-US" dirty="0" err="1"/>
              <a:t>MinDate</a:t>
            </a:r>
            <a:r>
              <a:rPr lang="en-US" dirty="0"/>
              <a:t>, </a:t>
            </a:r>
            <a:r>
              <a:rPr lang="en-US" dirty="0" err="1"/>
              <a:t>MaxDate</a:t>
            </a:r>
            <a:r>
              <a:rPr lang="en-US" dirty="0"/>
              <a:t>, </a:t>
            </a:r>
            <a:r>
              <a:rPr lang="en-US" dirty="0" err="1"/>
              <a:t>MinYear</a:t>
            </a:r>
            <a:r>
              <a:rPr lang="en-US" dirty="0"/>
              <a:t>, ...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127" y="3390701"/>
            <a:ext cx="8868243" cy="887556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638902" y="11973880"/>
            <a:ext cx="23278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Specification</a:t>
            </a:r>
          </a:p>
        </p:txBody>
      </p:sp>
    </p:spTree>
    <p:extLst>
      <p:ext uri="{BB962C8B-B14F-4D97-AF65-F5344CB8AC3E}">
        <p14:creationId xmlns:p14="http://schemas.microsoft.com/office/powerpoint/2010/main" val="36787600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05677" y="11865758"/>
            <a:ext cx="27847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Test equal Date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653" y="1988578"/>
            <a:ext cx="17221547" cy="959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6569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9649625" y="11865758"/>
            <a:ext cx="369684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Test min &amp; max Date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0776" y="1682594"/>
            <a:ext cx="17070224" cy="1027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6616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11520" y="10094108"/>
            <a:ext cx="24208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Test min year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121" y="2685934"/>
            <a:ext cx="14536671" cy="737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7187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Data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9855" y="2540671"/>
            <a:ext cx="8480919" cy="883465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Example 5: </a:t>
            </a:r>
            <a:r>
              <a:rPr lang="en-US" dirty="0" err="1"/>
              <a:t>Enum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0153804" y="11614246"/>
            <a:ext cx="383149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Specification &amp; Entity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539" y="4440807"/>
            <a:ext cx="17675028" cy="731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8915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Data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351" y="1524000"/>
            <a:ext cx="9925300" cy="1048319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700897" y="12071446"/>
            <a:ext cx="86914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16112277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3CDD7E-E173-4A74-9533-427DE02233F9}"/>
              </a:ext>
            </a:extLst>
          </p:cNvPr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582079886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30256</TotalTime>
  <Words>270</Words>
  <Application>Microsoft Office PowerPoint</Application>
  <PresentationFormat>Custom</PresentationFormat>
  <Paragraphs>98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Meiryo</vt:lpstr>
      <vt:lpstr>Calibri</vt:lpstr>
      <vt:lpstr>Courier New</vt:lpstr>
      <vt:lpstr>Times New Roman</vt:lpstr>
      <vt:lpstr>Wingdings</vt:lpstr>
      <vt:lpstr>White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Nguyen Anh Quan (VTI.GA)</dc:creator>
  <cp:keywords/>
  <dc:description/>
  <cp:lastModifiedBy>Nguyen Dao</cp:lastModifiedBy>
  <cp:revision>4221</cp:revision>
  <cp:lastPrinted>2019-09-17T11:00:25Z</cp:lastPrinted>
  <dcterms:modified xsi:type="dcterms:W3CDTF">2024-03-05T02:29:37Z</dcterms:modified>
  <cp:category/>
</cp:coreProperties>
</file>