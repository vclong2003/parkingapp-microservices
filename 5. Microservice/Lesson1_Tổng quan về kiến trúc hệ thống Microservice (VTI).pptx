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13716000" cx="24384000"/>
  <p:notesSz cx="6797675" cy="9929800"/>
  <p:embeddedFontLst>
    <p:embeddedFont>
      <p:font typeface="Roboto Condensed"/>
      <p:regular r:id="rId25"/>
      <p:bold r:id="rId26"/>
      <p:italic r:id="rId27"/>
      <p:boldItalic r:id="rId28"/>
    </p:embeddedFont>
    <p:embeddedFont>
      <p:font typeface="Helvetica Neue"/>
      <p:regular r:id="rId29"/>
      <p:bold r:id="rId30"/>
      <p:italic r:id="rId31"/>
      <p:boldItalic r:id="rId32"/>
    </p:embeddedFont>
    <p:embeddedFont>
      <p:font typeface="Helvetica Neue Ligh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37" roundtripDataSignature="AMtx7mhzg0SvRd+HnMSmG9RSaheI0ikd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Condensed-bold.fntdata"/><Relationship Id="rId25" Type="http://schemas.openxmlformats.org/officeDocument/2006/relationships/font" Target="fonts/RobotoCondensed-regular.fntdata"/><Relationship Id="rId28" Type="http://schemas.openxmlformats.org/officeDocument/2006/relationships/font" Target="fonts/RobotoCondensed-boldItalic.fntdata"/><Relationship Id="rId27" Type="http://schemas.openxmlformats.org/officeDocument/2006/relationships/font" Target="fonts/RobotoCondense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6.xml"/><Relationship Id="rId33" Type="http://schemas.openxmlformats.org/officeDocument/2006/relationships/font" Target="fonts/HelveticaNeueLight-regular.fntdata"/><Relationship Id="rId10" Type="http://schemas.openxmlformats.org/officeDocument/2006/relationships/slide" Target="slides/slide5.xml"/><Relationship Id="rId32" Type="http://schemas.openxmlformats.org/officeDocument/2006/relationships/font" Target="fonts/HelveticaNeue-boldItalic.fntdata"/><Relationship Id="rId13" Type="http://schemas.openxmlformats.org/officeDocument/2006/relationships/slide" Target="slides/slide8.xml"/><Relationship Id="rId35" Type="http://schemas.openxmlformats.org/officeDocument/2006/relationships/font" Target="fonts/HelveticaNeueLight-italic.fntdata"/><Relationship Id="rId12" Type="http://schemas.openxmlformats.org/officeDocument/2006/relationships/slide" Target="slides/slide7.xml"/><Relationship Id="rId34" Type="http://schemas.openxmlformats.org/officeDocument/2006/relationships/font" Target="fonts/HelveticaNeueLight-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HelveticaNeueLigh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4" name="Google Shape;54;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1" name="Google Shape;61;p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8" name="Google Shape;68;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4" name="Google Shape;74;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1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2" name="Google Shape;82;p11:notes"/>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Calibri"/>
              <a:buNone/>
            </a:pPr>
            <a:fld id="{00000000-1234-1234-1234-123412341234}" type="slidenum">
              <a:rPr b="1" i="0" lang="en-US" sz="3200" u="none" cap="none" strike="noStrike">
                <a:solidFill>
                  <a:srgbClr val="000000"/>
                </a:solidFill>
                <a:latin typeface="Calibri"/>
                <a:ea typeface="Calibri"/>
                <a:cs typeface="Calibri"/>
                <a:sym typeface="Calibri"/>
              </a:rPr>
              <a:t>‹#›</a:t>
            </a:fld>
            <a:endParaRPr b="1" i="0" sz="3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0" name="Google Shape;90;p21:notes"/>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Calibri"/>
              <a:buNone/>
            </a:pPr>
            <a:fld id="{00000000-1234-1234-1234-123412341234}" type="slidenum">
              <a:rPr b="1" i="0" lang="en-US" sz="3200" u="none" cap="none" strike="noStrike">
                <a:solidFill>
                  <a:srgbClr val="000000"/>
                </a:solidFill>
                <a:latin typeface="Calibri"/>
                <a:ea typeface="Calibri"/>
                <a:cs typeface="Calibri"/>
                <a:sym typeface="Calibri"/>
              </a:rPr>
              <a:t>‹#›</a:t>
            </a:fld>
            <a:endParaRPr b="1" i="0" sz="3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7" name="Google Shape;97;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5" name="Google Shape;105;p23:notes"/>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Calibri"/>
              <a:buNone/>
            </a:pPr>
            <a:fld id="{00000000-1234-1234-1234-123412341234}" type="slidenum">
              <a:rPr b="1" i="0" lang="en-US" sz="3200" u="none" cap="none" strike="noStrike">
                <a:solidFill>
                  <a:srgbClr val="000000"/>
                </a:solidFill>
                <a:latin typeface="Calibri"/>
                <a:ea typeface="Calibri"/>
                <a:cs typeface="Calibri"/>
                <a:sym typeface="Calibri"/>
              </a:rPr>
              <a:t>‹#›</a:t>
            </a:fld>
            <a:endParaRPr b="1" i="0" sz="3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3" name="Google Shape;113;p24:notes"/>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Calibri"/>
              <a:buNone/>
            </a:pPr>
            <a:fld id="{00000000-1234-1234-1234-123412341234}" type="slidenum">
              <a:rPr b="1" i="0" lang="en-US" sz="3200" u="none" cap="none" strike="noStrike">
                <a:solidFill>
                  <a:srgbClr val="000000"/>
                </a:solidFill>
                <a:latin typeface="Calibri"/>
                <a:ea typeface="Calibri"/>
                <a:cs typeface="Calibri"/>
                <a:sym typeface="Calibri"/>
              </a:rPr>
              <a:t>‹#›</a:t>
            </a:fld>
            <a:endParaRPr b="1" i="0" sz="3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1" name="Google Shape;121;p25:notes"/>
          <p:cNvSpPr txBox="1"/>
          <p:nvPr>
            <p:ph idx="12" type="sldNum"/>
          </p:nvPr>
        </p:nvSpPr>
        <p:spPr>
          <a:xfrm>
            <a:off x="3884613" y="8685213"/>
            <a:ext cx="2971800" cy="45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Calibri"/>
              <a:buNone/>
            </a:pPr>
            <a:fld id="{00000000-1234-1234-1234-123412341234}" type="slidenum">
              <a:rPr b="1" i="0" lang="en-US" sz="3200" u="none" cap="none" strike="noStrike">
                <a:solidFill>
                  <a:srgbClr val="000000"/>
                </a:solidFill>
                <a:latin typeface="Calibri"/>
                <a:ea typeface="Calibri"/>
                <a:cs typeface="Calibri"/>
                <a:sym typeface="Calibri"/>
              </a:rPr>
              <a:t>‹#›</a:t>
            </a:fld>
            <a:endParaRPr b="1" i="0" sz="3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8" name="Google Shape;128;p2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5" name="Google Shape;135;p2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2" name="Google Shape;142;p2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0" name="Google Shape;150;p2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8" name="Google Shape;158;p3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6" name="Google Shape;166;p3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hyperlink" Target="https://spring.io/projects/spring-cloud-config" TargetMode="External"/><Relationship Id="rId5" Type="http://schemas.openxmlformats.org/officeDocument/2006/relationships/hyperlink" Target="https://spring.io/projects/spring-cloud-gateway" TargetMode="External"/><Relationship Id="rId6" Type="http://schemas.openxmlformats.org/officeDocument/2006/relationships/hyperlink" Target="https://spring.io/projects/spring-cloud-netflix"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215678" y="4549070"/>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Microservices</a:t>
            </a:r>
            <a:endParaRPr b="0" i="0" sz="10000" u="none" cap="none" strike="noStrike">
              <a:solidFill>
                <a:srgbClr val="0079BF"/>
              </a:solidFill>
              <a:latin typeface="Helvetica Neue"/>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3116480"/>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Web serervices</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RESTFul web services</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Microservices introductions</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Microservices with springboot, spring cloud</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Docker ? Docker setup</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4"/>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Webservices</a:t>
            </a:r>
            <a:endParaRPr b="1" i="0" sz="6000" u="none" cap="none" strike="noStrike">
              <a:solidFill>
                <a:srgbClr val="4F81BD"/>
              </a:solidFill>
              <a:latin typeface="Arial"/>
              <a:ea typeface="Arial"/>
              <a:cs typeface="Arial"/>
              <a:sym typeface="Arial"/>
            </a:endParaRPr>
          </a:p>
        </p:txBody>
      </p:sp>
      <p:sp>
        <p:nvSpPr>
          <p:cNvPr id="51" name="Google Shape;51;p4"/>
          <p:cNvSpPr txBox="1"/>
          <p:nvPr/>
        </p:nvSpPr>
        <p:spPr>
          <a:xfrm>
            <a:off x="1491350" y="2101875"/>
            <a:ext cx="21797400" cy="932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4500" u="none" cap="none" strike="noStrike">
                <a:solidFill>
                  <a:srgbClr val="333333"/>
                </a:solidFill>
                <a:latin typeface="Roboto Condensed"/>
                <a:ea typeface="Roboto Condensed"/>
                <a:cs typeface="Roboto Condensed"/>
                <a:sym typeface="Roboto Condensed"/>
              </a:rPr>
              <a:t>Web services là tập hợp các giao thức và tiêu chuẩn mở được sử dụng để trao đổi dữ liệu giữa các ứng dụng hoặc giữa các hệ thống.</a:t>
            </a:r>
            <a:endParaRPr b="0" i="0" sz="4500" u="none" cap="none" strike="noStrike">
              <a:solidFill>
                <a:srgbClr val="333333"/>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4500" u="none" cap="none" strike="noStrike">
                <a:solidFill>
                  <a:srgbClr val="000000"/>
                </a:solidFill>
                <a:latin typeface="Arial"/>
                <a:ea typeface="Arial"/>
                <a:cs typeface="Arial"/>
                <a:sym typeface="Arial"/>
              </a:rPr>
              <a:t>1.</a:t>
            </a:r>
            <a:r>
              <a:rPr b="0" i="0" lang="en-US" sz="4500" u="none" cap="none" strike="noStrike">
                <a:solidFill>
                  <a:srgbClr val="333333"/>
                </a:solidFill>
                <a:latin typeface="Roboto Condensed"/>
                <a:ea typeface="Roboto Condensed"/>
                <a:cs typeface="Roboto Condensed"/>
                <a:sym typeface="Roboto Condensed"/>
              </a:rPr>
              <a:t> Là phương thức giao tiếp giữa hai thiết bị qua mạng.</a:t>
            </a:r>
            <a:endParaRPr sz="2700"/>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4500" u="none" cap="none" strike="noStrike">
                <a:solidFill>
                  <a:srgbClr val="000000"/>
                </a:solidFill>
                <a:latin typeface="Arial"/>
                <a:ea typeface="Arial"/>
                <a:cs typeface="Arial"/>
                <a:sym typeface="Arial"/>
              </a:rPr>
              <a:t>2. </a:t>
            </a:r>
            <a:r>
              <a:rPr b="0" i="0" lang="en-US" sz="4500" u="none" cap="none" strike="noStrike">
                <a:solidFill>
                  <a:srgbClr val="333333"/>
                </a:solidFill>
                <a:latin typeface="Roboto Condensed"/>
                <a:ea typeface="Roboto Condensed"/>
                <a:cs typeface="Roboto Condensed"/>
                <a:sym typeface="Roboto Condensed"/>
              </a:rPr>
              <a:t>Là ứng dụng hoặc thành phần ứng dụng để giao tiếp</a:t>
            </a:r>
            <a:endParaRPr sz="2700"/>
          </a:p>
          <a:p>
            <a:pPr indent="0" lvl="0" marL="0" marR="0" rtl="0" algn="l">
              <a:lnSpc>
                <a:spcPct val="100000"/>
              </a:lnSpc>
              <a:spcBef>
                <a:spcPts val="0"/>
              </a:spcBef>
              <a:spcAft>
                <a:spcPts val="0"/>
              </a:spcAft>
              <a:buNone/>
            </a:pPr>
            <a:r>
              <a:t/>
            </a:r>
            <a:endParaRPr b="0" i="0" sz="4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4500" u="none" cap="none" strike="noStrike">
                <a:solidFill>
                  <a:srgbClr val="000000"/>
                </a:solidFill>
                <a:latin typeface="Arial"/>
                <a:ea typeface="Arial"/>
                <a:cs typeface="Arial"/>
                <a:sym typeface="Arial"/>
              </a:rPr>
              <a:t>3. </a:t>
            </a:r>
            <a:r>
              <a:rPr b="0" i="0" lang="en-US" sz="4500" u="none" cap="none" strike="noStrike">
                <a:solidFill>
                  <a:srgbClr val="333333"/>
                </a:solidFill>
                <a:latin typeface="Roboto Condensed"/>
                <a:ea typeface="Roboto Condensed"/>
                <a:cs typeface="Roboto Condensed"/>
                <a:sym typeface="Roboto Condensed"/>
              </a:rPr>
              <a:t>Là tập hợp các tiêu chuẩn hoặc giao thức để trao đổi thông tin giữa hai thiết bị hoặc ứng dụng.</a:t>
            </a:r>
            <a:endParaRPr sz="2700"/>
          </a:p>
          <a:p>
            <a:pPr indent="0" lvl="0" marL="0" marR="0" rtl="0" algn="l">
              <a:lnSpc>
                <a:spcPct val="100000"/>
              </a:lnSpc>
              <a:spcBef>
                <a:spcPts val="0"/>
              </a:spcBef>
              <a:spcAft>
                <a:spcPts val="0"/>
              </a:spcAft>
              <a:buNone/>
            </a:pPr>
            <a:r>
              <a:t/>
            </a:r>
            <a:endParaRPr b="0" i="0" sz="4500" u="none" cap="none" strike="noStrike">
              <a:solidFill>
                <a:srgbClr val="333333"/>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0" lang="en-US" sz="4500" u="none" cap="none" strike="noStrike">
                <a:solidFill>
                  <a:srgbClr val="000000"/>
                </a:solidFill>
                <a:latin typeface="Arial"/>
                <a:ea typeface="Arial"/>
                <a:cs typeface="Arial"/>
                <a:sym typeface="Arial"/>
              </a:rPr>
              <a:t>Các </a:t>
            </a:r>
            <a:r>
              <a:rPr b="1" i="0" lang="en-US" sz="4500" u="none" cap="none" strike="noStrike">
                <a:solidFill>
                  <a:srgbClr val="000000"/>
                </a:solidFill>
                <a:latin typeface="Arial"/>
                <a:ea typeface="Arial"/>
                <a:cs typeface="Arial"/>
                <a:sym typeface="Arial"/>
              </a:rPr>
              <a:t>Web Service</a:t>
            </a:r>
            <a:r>
              <a:rPr b="0" i="0" lang="en-US" sz="4500" u="none" cap="none" strike="noStrike">
                <a:solidFill>
                  <a:srgbClr val="000000"/>
                </a:solidFill>
                <a:latin typeface="Arial"/>
                <a:ea typeface="Arial"/>
                <a:cs typeface="Arial"/>
                <a:sym typeface="Arial"/>
              </a:rPr>
              <a:t> thường cung cấp các dữ liệu thô mà nó khó hiểu đối với đa số người dùng thông thường, chúng thường được trả về dưới dạng </a:t>
            </a:r>
            <a:r>
              <a:rPr b="1" i="0" lang="en-US" sz="4500" u="none" cap="none" strike="noStrike">
                <a:solidFill>
                  <a:srgbClr val="000000"/>
                </a:solidFill>
                <a:latin typeface="Arial"/>
                <a:ea typeface="Arial"/>
                <a:cs typeface="Arial"/>
                <a:sym typeface="Arial"/>
              </a:rPr>
              <a:t>XML </a:t>
            </a:r>
            <a:r>
              <a:rPr b="0" i="0" lang="en-US" sz="4500" u="none" cap="none" strike="noStrike">
                <a:solidFill>
                  <a:srgbClr val="000000"/>
                </a:solidFill>
                <a:latin typeface="Arial"/>
                <a:ea typeface="Arial"/>
                <a:cs typeface="Arial"/>
                <a:sym typeface="Arial"/>
              </a:rPr>
              <a:t>hoặc </a:t>
            </a:r>
            <a:r>
              <a:rPr b="1" i="0" lang="en-US" sz="4500" u="none" cap="none" strike="noStrike">
                <a:solidFill>
                  <a:srgbClr val="000000"/>
                </a:solidFill>
                <a:latin typeface="Arial"/>
                <a:ea typeface="Arial"/>
                <a:cs typeface="Arial"/>
                <a:sym typeface="Arial"/>
              </a:rPr>
              <a:t>JSON</a:t>
            </a:r>
            <a:r>
              <a:rPr b="0" i="0" lang="en-US" sz="4500" u="none" cap="none" strike="noStrike">
                <a:solidFill>
                  <a:srgbClr val="000000"/>
                </a:solidFill>
                <a:latin typeface="Arial"/>
                <a:ea typeface="Arial"/>
                <a:cs typeface="Arial"/>
                <a:sym typeface="Arial"/>
              </a:rPr>
              <a:t>.</a:t>
            </a:r>
            <a:endParaRPr b="0" i="0" sz="45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8"/>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Web Services</a:t>
            </a:r>
            <a:endParaRPr b="1" i="0" sz="6000" u="none" cap="none" strike="noStrike">
              <a:solidFill>
                <a:srgbClr val="4F81BD"/>
              </a:solidFill>
              <a:latin typeface="Arial"/>
              <a:ea typeface="Arial"/>
              <a:cs typeface="Arial"/>
              <a:sym typeface="Arial"/>
            </a:endParaRPr>
          </a:p>
        </p:txBody>
      </p:sp>
      <p:sp>
        <p:nvSpPr>
          <p:cNvPr id="57" name="Google Shape;57;p18"/>
          <p:cNvSpPr txBox="1"/>
          <p:nvPr/>
        </p:nvSpPr>
        <p:spPr>
          <a:xfrm>
            <a:off x="1603313" y="1573238"/>
            <a:ext cx="205065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300" u="none" cap="none" strike="noStrike">
                <a:solidFill>
                  <a:srgbClr val="000000"/>
                </a:solidFill>
                <a:latin typeface="Roboto Condensed"/>
                <a:ea typeface="Roboto Condensed"/>
                <a:cs typeface="Roboto Condensed"/>
                <a:sym typeface="Roboto Condensed"/>
              </a:rPr>
              <a:t>VD 1: </a:t>
            </a:r>
            <a:r>
              <a:rPr b="0" i="0" lang="en-US" sz="3300" u="none" cap="none" strike="noStrike">
                <a:solidFill>
                  <a:srgbClr val="000000"/>
                </a:solidFill>
                <a:latin typeface="Roboto Condensed"/>
                <a:ea typeface="Roboto Condensed"/>
                <a:cs typeface="Roboto Condensed"/>
                <a:sym typeface="Roboto Condensed"/>
              </a:rPr>
              <a:t>Truy vấn thông tin tài khoản ngân hàng từ web hoặc điện thoại thì đó cũng là một web service do ngân hàng tạo ra. Dữ liệu trả về có thể là định dạng JSON:</a:t>
            </a:r>
            <a:endParaRPr b="0" i="0" sz="3300" u="none" cap="none" strike="noStrike">
              <a:solidFill>
                <a:srgbClr val="000000"/>
              </a:solidFill>
              <a:latin typeface="Arial"/>
              <a:ea typeface="Arial"/>
              <a:cs typeface="Arial"/>
              <a:sym typeface="Arial"/>
            </a:endParaRPr>
          </a:p>
        </p:txBody>
      </p:sp>
      <p:pic>
        <p:nvPicPr>
          <p:cNvPr id="58" name="Google Shape;58;p18"/>
          <p:cNvPicPr preferRelativeResize="0"/>
          <p:nvPr/>
        </p:nvPicPr>
        <p:blipFill rotWithShape="1">
          <a:blip r:embed="rId3">
            <a:alphaModFix/>
          </a:blip>
          <a:srcRect b="0" l="0" r="0" t="0"/>
          <a:stretch/>
        </p:blipFill>
        <p:spPr>
          <a:xfrm>
            <a:off x="8277128" y="3062474"/>
            <a:ext cx="7158884" cy="90188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5"/>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Web Services</a:t>
            </a:r>
            <a:endParaRPr b="1" i="0" sz="6000" u="none" cap="none" strike="noStrike">
              <a:solidFill>
                <a:srgbClr val="4F81BD"/>
              </a:solidFill>
              <a:latin typeface="Arial"/>
              <a:ea typeface="Arial"/>
              <a:cs typeface="Arial"/>
              <a:sym typeface="Arial"/>
            </a:endParaRPr>
          </a:p>
        </p:txBody>
      </p:sp>
      <p:pic>
        <p:nvPicPr>
          <p:cNvPr id="64" name="Google Shape;64;p5"/>
          <p:cNvPicPr preferRelativeResize="0"/>
          <p:nvPr/>
        </p:nvPicPr>
        <p:blipFill rotWithShape="1">
          <a:blip r:embed="rId3">
            <a:alphaModFix/>
          </a:blip>
          <a:srcRect b="0" l="0" r="0" t="0"/>
          <a:stretch/>
        </p:blipFill>
        <p:spPr>
          <a:xfrm>
            <a:off x="4812730" y="3624165"/>
            <a:ext cx="14758550" cy="7511003"/>
          </a:xfrm>
          <a:prstGeom prst="rect">
            <a:avLst/>
          </a:prstGeom>
          <a:noFill/>
          <a:ln>
            <a:noFill/>
          </a:ln>
        </p:spPr>
      </p:pic>
      <p:sp>
        <p:nvSpPr>
          <p:cNvPr id="65" name="Google Shape;65;p5"/>
          <p:cNvSpPr txBox="1"/>
          <p:nvPr/>
        </p:nvSpPr>
        <p:spPr>
          <a:xfrm>
            <a:off x="1603322" y="2021550"/>
            <a:ext cx="20363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300" u="none" cap="none" strike="noStrike">
                <a:solidFill>
                  <a:srgbClr val="000000"/>
                </a:solidFill>
                <a:latin typeface="Roboto Condensed"/>
                <a:ea typeface="Roboto Condensed"/>
                <a:cs typeface="Roboto Condensed"/>
                <a:sym typeface="Roboto Condensed"/>
              </a:rPr>
              <a:t>VD 2:</a:t>
            </a:r>
            <a:r>
              <a:rPr b="0" i="0" lang="en-US" sz="3300" u="none" cap="none" strike="noStrike">
                <a:solidFill>
                  <a:srgbClr val="000000"/>
                </a:solidFill>
                <a:latin typeface="Roboto Condensed"/>
                <a:ea typeface="Roboto Condensed"/>
                <a:cs typeface="Roboto Condensed"/>
                <a:sym typeface="Roboto Condensed"/>
              </a:rPr>
              <a:t> Để lấy thông tin thời tiết của một khu vực chúng ta có thể dựa vào web service là Weather Service trên internet</a:t>
            </a:r>
            <a:endParaRPr sz="3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9"/>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RESTFUL WEB SERVICES</a:t>
            </a:r>
            <a:endParaRPr b="1" i="0" sz="6000" u="none" cap="none" strike="noStrike">
              <a:solidFill>
                <a:srgbClr val="4F81BD"/>
              </a:solidFill>
              <a:latin typeface="Arial"/>
              <a:ea typeface="Arial"/>
              <a:cs typeface="Arial"/>
              <a:sym typeface="Arial"/>
            </a:endParaRPr>
          </a:p>
        </p:txBody>
      </p:sp>
      <p:sp>
        <p:nvSpPr>
          <p:cNvPr id="71" name="Google Shape;71;p19"/>
          <p:cNvSpPr txBox="1"/>
          <p:nvPr/>
        </p:nvSpPr>
        <p:spPr>
          <a:xfrm>
            <a:off x="1435100" y="2007550"/>
            <a:ext cx="21853500" cy="909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500" u="none" cap="none" strike="noStrike">
                <a:solidFill>
                  <a:srgbClr val="000000"/>
                </a:solidFill>
                <a:latin typeface="Roboto Condensed"/>
                <a:ea typeface="Roboto Condensed"/>
                <a:cs typeface="Roboto Condensed"/>
                <a:sym typeface="Roboto Condensed"/>
              </a:rPr>
              <a:t>RESTful Web Service</a:t>
            </a:r>
            <a:r>
              <a:rPr b="0" i="0" lang="en-US" sz="4500" u="none" cap="none" strike="noStrike">
                <a:solidFill>
                  <a:srgbClr val="000000"/>
                </a:solidFill>
                <a:latin typeface="Roboto Condensed"/>
                <a:ea typeface="Roboto Condensed"/>
                <a:cs typeface="Roboto Condensed"/>
                <a:sym typeface="Roboto Condensed"/>
              </a:rPr>
              <a:t> là các </a:t>
            </a:r>
            <a:r>
              <a:rPr b="1" i="0" lang="en-US" sz="4500" u="none" cap="none" strike="noStrike">
                <a:solidFill>
                  <a:srgbClr val="000000"/>
                </a:solidFill>
                <a:latin typeface="Roboto Condensed"/>
                <a:ea typeface="Roboto Condensed"/>
                <a:cs typeface="Roboto Condensed"/>
                <a:sym typeface="Roboto Condensed"/>
              </a:rPr>
              <a:t>Web Service</a:t>
            </a:r>
            <a:r>
              <a:rPr b="0" i="0" lang="en-US" sz="4500" u="none" cap="none" strike="noStrike">
                <a:solidFill>
                  <a:srgbClr val="000000"/>
                </a:solidFill>
                <a:latin typeface="Roboto Condensed"/>
                <a:ea typeface="Roboto Condensed"/>
                <a:cs typeface="Roboto Condensed"/>
                <a:sym typeface="Roboto Condensed"/>
              </a:rPr>
              <a:t> được viết dựa trên kiến trúc </a:t>
            </a:r>
            <a:r>
              <a:rPr b="1" i="0" lang="en-US" sz="4500" u="none" cap="none" strike="noStrike">
                <a:solidFill>
                  <a:srgbClr val="000000"/>
                </a:solidFill>
                <a:latin typeface="Roboto Condensed"/>
                <a:ea typeface="Roboto Condensed"/>
                <a:cs typeface="Roboto Condensed"/>
                <a:sym typeface="Roboto Condensed"/>
              </a:rPr>
              <a:t>REST.</a:t>
            </a:r>
            <a:endParaRPr sz="4500"/>
          </a:p>
          <a:p>
            <a:pPr indent="0" lvl="0" marL="0" marR="0" rtl="0" algn="l">
              <a:lnSpc>
                <a:spcPct val="100000"/>
              </a:lnSpc>
              <a:spcBef>
                <a:spcPts val="0"/>
              </a:spcBef>
              <a:spcAft>
                <a:spcPts val="0"/>
              </a:spcAft>
              <a:buNone/>
            </a:pPr>
            <a:r>
              <a:t/>
            </a:r>
            <a:endParaRPr b="1" i="0" sz="45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0" i="0" lang="en-US" sz="4500" u="none" cap="none" strike="noStrike">
                <a:solidFill>
                  <a:srgbClr val="000000"/>
                </a:solidFill>
                <a:latin typeface="Roboto Condensed"/>
                <a:ea typeface="Roboto Condensed"/>
                <a:cs typeface="Roboto Condensed"/>
                <a:sym typeface="Roboto Condensed"/>
              </a:rPr>
              <a:t>Những khái niệm đầu tiên về </a:t>
            </a:r>
            <a:r>
              <a:rPr b="1" i="0" lang="en-US" sz="4500" u="none" cap="none" strike="noStrike">
                <a:solidFill>
                  <a:srgbClr val="000000"/>
                </a:solidFill>
                <a:latin typeface="Roboto Condensed"/>
                <a:ea typeface="Roboto Condensed"/>
                <a:cs typeface="Roboto Condensed"/>
                <a:sym typeface="Roboto Condensed"/>
              </a:rPr>
              <a:t>REST</a:t>
            </a:r>
            <a:r>
              <a:rPr b="0" i="0" lang="en-US" sz="4500" u="none" cap="none" strike="noStrike">
                <a:solidFill>
                  <a:srgbClr val="000000"/>
                </a:solidFill>
                <a:latin typeface="Roboto Condensed"/>
                <a:ea typeface="Roboto Condensed"/>
                <a:cs typeface="Roboto Condensed"/>
                <a:sym typeface="Roboto Condensed"/>
              </a:rPr>
              <a:t> (</a:t>
            </a:r>
            <a:r>
              <a:rPr b="1" i="0" lang="en-US" sz="4500" u="none" cap="none" strike="noStrike">
                <a:solidFill>
                  <a:srgbClr val="000000"/>
                </a:solidFill>
                <a:latin typeface="Roboto Condensed"/>
                <a:ea typeface="Roboto Condensed"/>
                <a:cs typeface="Roboto Condensed"/>
                <a:sym typeface="Roboto Condensed"/>
              </a:rPr>
              <a:t>RE</a:t>
            </a:r>
            <a:r>
              <a:rPr b="0" i="0" lang="en-US" sz="4500" u="none" cap="none" strike="noStrike">
                <a:solidFill>
                  <a:srgbClr val="000000"/>
                </a:solidFill>
                <a:latin typeface="Roboto Condensed"/>
                <a:ea typeface="Roboto Condensed"/>
                <a:cs typeface="Roboto Condensed"/>
                <a:sym typeface="Roboto Condensed"/>
              </a:rPr>
              <a:t>presentational </a:t>
            </a:r>
            <a:r>
              <a:rPr b="1" i="0" lang="en-US" sz="4500" u="none" cap="none" strike="noStrike">
                <a:solidFill>
                  <a:srgbClr val="000000"/>
                </a:solidFill>
                <a:latin typeface="Roboto Condensed"/>
                <a:ea typeface="Roboto Condensed"/>
                <a:cs typeface="Roboto Condensed"/>
                <a:sym typeface="Roboto Condensed"/>
              </a:rPr>
              <a:t>S</a:t>
            </a:r>
            <a:r>
              <a:rPr b="0" i="0" lang="en-US" sz="4500" u="none" cap="none" strike="noStrike">
                <a:solidFill>
                  <a:srgbClr val="000000"/>
                </a:solidFill>
                <a:latin typeface="Roboto Condensed"/>
                <a:ea typeface="Roboto Condensed"/>
                <a:cs typeface="Roboto Condensed"/>
                <a:sym typeface="Roboto Condensed"/>
              </a:rPr>
              <a:t>tate </a:t>
            </a:r>
            <a:r>
              <a:rPr b="1" i="0" lang="en-US" sz="4500" u="none" cap="none" strike="noStrike">
                <a:solidFill>
                  <a:srgbClr val="000000"/>
                </a:solidFill>
                <a:latin typeface="Roboto Condensed"/>
                <a:ea typeface="Roboto Condensed"/>
                <a:cs typeface="Roboto Condensed"/>
                <a:sym typeface="Roboto Condensed"/>
              </a:rPr>
              <a:t>T</a:t>
            </a:r>
            <a:r>
              <a:rPr b="0" i="0" lang="en-US" sz="4500" u="none" cap="none" strike="noStrike">
                <a:solidFill>
                  <a:srgbClr val="000000"/>
                </a:solidFill>
                <a:latin typeface="Roboto Condensed"/>
                <a:ea typeface="Roboto Condensed"/>
                <a:cs typeface="Roboto Condensed"/>
                <a:sym typeface="Roboto Condensed"/>
              </a:rPr>
              <a:t>ransfer) được đưa ra vào năm 2000 trong luận văn tiến sĩ của </a:t>
            </a:r>
            <a:r>
              <a:rPr b="1" i="1" lang="en-US" sz="4500" u="none" cap="none" strike="noStrike">
                <a:solidFill>
                  <a:srgbClr val="000000"/>
                </a:solidFill>
                <a:latin typeface="Roboto Condensed"/>
                <a:ea typeface="Roboto Condensed"/>
                <a:cs typeface="Roboto Condensed"/>
                <a:sym typeface="Roboto Condensed"/>
              </a:rPr>
              <a:t>Roy Thomas Fielding</a:t>
            </a:r>
            <a:r>
              <a:rPr b="0" i="0" lang="en-US" sz="4500" u="none" cap="none" strike="noStrike">
                <a:solidFill>
                  <a:srgbClr val="000000"/>
                </a:solidFill>
                <a:latin typeface="Roboto Condensed"/>
                <a:ea typeface="Roboto Condensed"/>
                <a:cs typeface="Roboto Condensed"/>
                <a:sym typeface="Roboto Condensed"/>
              </a:rPr>
              <a:t> (người đồng sáng lập giao thức HTTP).</a:t>
            </a:r>
            <a:endParaRPr b="1" i="0" sz="4500" u="none" cap="none" strike="noStrike">
              <a:solidFill>
                <a:srgbClr val="000000"/>
              </a:solidFill>
              <a:latin typeface="Roboto Condensed"/>
              <a:ea typeface="Roboto Condensed"/>
              <a:cs typeface="Roboto Condensed"/>
              <a:sym typeface="Roboto Condensed"/>
            </a:endParaRPr>
          </a:p>
          <a:p>
            <a:pPr indent="-514350" lvl="0" marL="457200" marR="0" rtl="0" algn="l">
              <a:lnSpc>
                <a:spcPct val="100000"/>
              </a:lnSpc>
              <a:spcBef>
                <a:spcPts val="0"/>
              </a:spcBef>
              <a:spcAft>
                <a:spcPts val="0"/>
              </a:spcAft>
              <a:buClr>
                <a:srgbClr val="000000"/>
              </a:buClr>
              <a:buSzPts val="4500"/>
              <a:buFont typeface="Roboto Condensed"/>
              <a:buChar char="-"/>
            </a:pPr>
            <a:r>
              <a:rPr b="1" i="0" lang="en-US" sz="4500" u="none" cap="none" strike="noStrike">
                <a:solidFill>
                  <a:srgbClr val="000000"/>
                </a:solidFill>
                <a:latin typeface="Roboto Condensed"/>
                <a:ea typeface="Roboto Condensed"/>
                <a:cs typeface="Roboto Condensed"/>
                <a:sym typeface="Roboto Condensed"/>
              </a:rPr>
              <a:t>REST</a:t>
            </a:r>
            <a:r>
              <a:rPr b="0" i="0" lang="en-US" sz="4500" u="none" cap="none" strike="noStrike">
                <a:solidFill>
                  <a:srgbClr val="000000"/>
                </a:solidFill>
                <a:latin typeface="Roboto Condensed"/>
                <a:ea typeface="Roboto Condensed"/>
                <a:cs typeface="Roboto Condensed"/>
                <a:sym typeface="Roboto Condensed"/>
              </a:rPr>
              <a:t> định nghĩa các quy tắc kiến trúc để bạn thiết kế </a:t>
            </a:r>
            <a:r>
              <a:rPr b="1" i="0" lang="en-US" sz="4500" u="none" cap="none" strike="noStrike">
                <a:solidFill>
                  <a:srgbClr val="000000"/>
                </a:solidFill>
                <a:latin typeface="Roboto Condensed"/>
                <a:ea typeface="Roboto Condensed"/>
                <a:cs typeface="Roboto Condensed"/>
                <a:sym typeface="Roboto Condensed"/>
              </a:rPr>
              <a:t>Web services</a:t>
            </a:r>
            <a:r>
              <a:rPr b="0" i="0" lang="en-US" sz="4500" u="none" cap="none" strike="noStrike">
                <a:solidFill>
                  <a:srgbClr val="000000"/>
                </a:solidFill>
                <a:latin typeface="Roboto Condensed"/>
                <a:ea typeface="Roboto Condensed"/>
                <a:cs typeface="Roboto Condensed"/>
                <a:sym typeface="Roboto Condensed"/>
              </a:rPr>
              <a:t>, chú trọng vào tài nguyên hệ thống, bao gồm các trạng thái tài nguyên được định dạng như thế nào và được truyền tải qua </a:t>
            </a:r>
            <a:r>
              <a:rPr b="1" i="0" lang="en-US" sz="4500" u="none" cap="none" strike="noStrike">
                <a:solidFill>
                  <a:srgbClr val="000000"/>
                </a:solidFill>
                <a:latin typeface="Roboto Condensed"/>
                <a:ea typeface="Roboto Condensed"/>
                <a:cs typeface="Roboto Condensed"/>
                <a:sym typeface="Roboto Condensed"/>
              </a:rPr>
              <a:t>HTTP</a:t>
            </a:r>
            <a:endParaRPr b="1" i="0" sz="4500" u="none" cap="none" strike="noStrike">
              <a:solidFill>
                <a:srgbClr val="000000"/>
              </a:solidFill>
              <a:latin typeface="Roboto Condensed"/>
              <a:ea typeface="Roboto Condensed"/>
              <a:cs typeface="Roboto Condensed"/>
              <a:sym typeface="Roboto Condensed"/>
            </a:endParaRPr>
          </a:p>
          <a:p>
            <a:pPr indent="-514350" lvl="0" marL="457200" marR="0" rtl="0" algn="l">
              <a:lnSpc>
                <a:spcPct val="100000"/>
              </a:lnSpc>
              <a:spcBef>
                <a:spcPts val="0"/>
              </a:spcBef>
              <a:spcAft>
                <a:spcPts val="0"/>
              </a:spcAft>
              <a:buClr>
                <a:srgbClr val="000000"/>
              </a:buClr>
              <a:buSzPts val="4500"/>
              <a:buFont typeface="Roboto Condensed"/>
              <a:buChar char="-"/>
            </a:pPr>
            <a:r>
              <a:rPr b="1" i="0" lang="en-US" sz="4500" u="none" cap="none" strike="noStrike">
                <a:solidFill>
                  <a:srgbClr val="000000"/>
                </a:solidFill>
                <a:latin typeface="Roboto Condensed"/>
                <a:ea typeface="Roboto Condensed"/>
                <a:cs typeface="Roboto Condensed"/>
                <a:sym typeface="Roboto Condensed"/>
              </a:rPr>
              <a:t>REST</a:t>
            </a:r>
            <a:r>
              <a:rPr b="0" i="0" lang="en-US" sz="4500" u="none" cap="none" strike="noStrike">
                <a:solidFill>
                  <a:srgbClr val="000000"/>
                </a:solidFill>
                <a:latin typeface="Roboto Condensed"/>
                <a:ea typeface="Roboto Condensed"/>
                <a:cs typeface="Roboto Condensed"/>
                <a:sym typeface="Roboto Condensed"/>
              </a:rPr>
              <a:t> là một bộ quy tắc để tạo ra một ứng dụng </a:t>
            </a:r>
            <a:r>
              <a:rPr b="1" i="0" lang="en-US" sz="4500" u="none" cap="none" strike="noStrike">
                <a:solidFill>
                  <a:srgbClr val="000000"/>
                </a:solidFill>
                <a:latin typeface="Roboto Condensed"/>
                <a:ea typeface="Roboto Condensed"/>
                <a:cs typeface="Roboto Condensed"/>
                <a:sym typeface="Roboto Condensed"/>
              </a:rPr>
              <a:t>Web Service</a:t>
            </a:r>
            <a:r>
              <a:rPr b="0" i="0" lang="en-US" sz="4500" u="none" cap="none" strike="noStrike">
                <a:solidFill>
                  <a:srgbClr val="000000"/>
                </a:solidFill>
                <a:latin typeface="Roboto Condensed"/>
                <a:ea typeface="Roboto Condensed"/>
                <a:cs typeface="Roboto Condensed"/>
                <a:sym typeface="Roboto Condensed"/>
              </a:rPr>
              <a:t>, mà nó tuân thủ 4 nguyên tắc thiết kế cơ bản sau:</a:t>
            </a:r>
            <a:endParaRPr b="0" i="0" sz="4500" u="none" cap="none" strike="noStrike">
              <a:solidFill>
                <a:srgbClr val="000000"/>
              </a:solidFill>
              <a:latin typeface="Roboto Condensed"/>
              <a:ea typeface="Roboto Condensed"/>
              <a:cs typeface="Roboto Condensed"/>
              <a:sym typeface="Roboto Condensed"/>
            </a:endParaRPr>
          </a:p>
          <a:p>
            <a:pPr indent="-285750" lvl="0" marL="1314450" marR="0" rtl="0" algn="l">
              <a:lnSpc>
                <a:spcPct val="100000"/>
              </a:lnSpc>
              <a:spcBef>
                <a:spcPts val="0"/>
              </a:spcBef>
              <a:spcAft>
                <a:spcPts val="0"/>
              </a:spcAft>
              <a:buClr>
                <a:srgbClr val="000000"/>
              </a:buClr>
              <a:buSzPts val="4500"/>
              <a:buFont typeface="Arial"/>
              <a:buChar char="•"/>
            </a:pPr>
            <a:r>
              <a:rPr b="0" i="0" lang="en-US" sz="4500" u="none" cap="none" strike="noStrike">
                <a:solidFill>
                  <a:srgbClr val="000000"/>
                </a:solidFill>
                <a:latin typeface="Roboto Condensed"/>
                <a:ea typeface="Roboto Condensed"/>
                <a:cs typeface="Roboto Condensed"/>
                <a:sym typeface="Roboto Condensed"/>
              </a:rPr>
              <a:t> Sử dụng các phương thức HTTP một cách rõ ràng</a:t>
            </a:r>
            <a:endParaRPr sz="4500"/>
          </a:p>
          <a:p>
            <a:pPr indent="-285750" lvl="0" marL="1314450" marR="0" rtl="0" algn="l">
              <a:lnSpc>
                <a:spcPct val="100000"/>
              </a:lnSpc>
              <a:spcBef>
                <a:spcPts val="0"/>
              </a:spcBef>
              <a:spcAft>
                <a:spcPts val="0"/>
              </a:spcAft>
              <a:buClr>
                <a:srgbClr val="000000"/>
              </a:buClr>
              <a:buSzPts val="4500"/>
              <a:buFont typeface="Arial"/>
              <a:buChar char="•"/>
            </a:pPr>
            <a:r>
              <a:rPr b="0" i="0" lang="en-US" sz="4500" u="none" cap="none" strike="noStrike">
                <a:solidFill>
                  <a:srgbClr val="000000"/>
                </a:solidFill>
                <a:latin typeface="Roboto Condensed"/>
                <a:ea typeface="Roboto Condensed"/>
                <a:cs typeface="Roboto Condensed"/>
                <a:sym typeface="Roboto Condensed"/>
              </a:rPr>
              <a:t> Phi trạng thái</a:t>
            </a:r>
            <a:endParaRPr sz="4500"/>
          </a:p>
          <a:p>
            <a:pPr indent="-285750" lvl="0" marL="1314450" marR="0" rtl="0" algn="l">
              <a:lnSpc>
                <a:spcPct val="100000"/>
              </a:lnSpc>
              <a:spcBef>
                <a:spcPts val="0"/>
              </a:spcBef>
              <a:spcAft>
                <a:spcPts val="0"/>
              </a:spcAft>
              <a:buClr>
                <a:srgbClr val="000000"/>
              </a:buClr>
              <a:buSzPts val="4500"/>
              <a:buFont typeface="Arial"/>
              <a:buChar char="•"/>
            </a:pPr>
            <a:r>
              <a:rPr b="0" i="0" lang="en-US" sz="4500" u="none" cap="none" strike="noStrike">
                <a:solidFill>
                  <a:srgbClr val="000000"/>
                </a:solidFill>
                <a:latin typeface="Roboto Condensed"/>
                <a:ea typeface="Roboto Condensed"/>
                <a:cs typeface="Roboto Condensed"/>
                <a:sym typeface="Roboto Condensed"/>
              </a:rPr>
              <a:t> Hiển thị cấu trúc thư mục như các URls</a:t>
            </a:r>
            <a:endParaRPr sz="4500"/>
          </a:p>
          <a:p>
            <a:pPr indent="-285750" lvl="0" marL="1314450" marR="0" rtl="0" algn="l">
              <a:lnSpc>
                <a:spcPct val="100000"/>
              </a:lnSpc>
              <a:spcBef>
                <a:spcPts val="0"/>
              </a:spcBef>
              <a:spcAft>
                <a:spcPts val="0"/>
              </a:spcAft>
              <a:buClr>
                <a:srgbClr val="000000"/>
              </a:buClr>
              <a:buSzPts val="4500"/>
              <a:buFont typeface="Arial"/>
              <a:buChar char="•"/>
            </a:pPr>
            <a:r>
              <a:rPr b="0" i="0" lang="en-US" sz="4500" u="none" cap="none" strike="noStrike">
                <a:solidFill>
                  <a:srgbClr val="000000"/>
                </a:solidFill>
                <a:latin typeface="Roboto Condensed"/>
                <a:ea typeface="Roboto Condensed"/>
                <a:cs typeface="Roboto Condensed"/>
                <a:sym typeface="Roboto Condensed"/>
              </a:rPr>
              <a:t> Truyền tải </a:t>
            </a:r>
            <a:r>
              <a:rPr b="1" i="0" lang="en-US" sz="4500" u="none" cap="none" strike="noStrike">
                <a:solidFill>
                  <a:srgbClr val="000000"/>
                </a:solidFill>
                <a:latin typeface="Roboto Condensed"/>
                <a:ea typeface="Roboto Condensed"/>
                <a:cs typeface="Roboto Condensed"/>
                <a:sym typeface="Roboto Condensed"/>
              </a:rPr>
              <a:t>JavaScript Object Notation (JSON)</a:t>
            </a:r>
            <a:r>
              <a:rPr b="0" i="0" lang="en-US" sz="4500" u="none" cap="none" strike="noStrike">
                <a:solidFill>
                  <a:srgbClr val="000000"/>
                </a:solidFill>
                <a:latin typeface="Roboto Condensed"/>
                <a:ea typeface="Roboto Condensed"/>
                <a:cs typeface="Roboto Condensed"/>
                <a:sym typeface="Roboto Condensed"/>
              </a:rPr>
              <a:t>, </a:t>
            </a:r>
            <a:r>
              <a:rPr b="1" i="0" lang="en-US" sz="4500" u="none" cap="none" strike="noStrike">
                <a:solidFill>
                  <a:srgbClr val="000000"/>
                </a:solidFill>
                <a:latin typeface="Roboto Condensed"/>
                <a:ea typeface="Roboto Condensed"/>
                <a:cs typeface="Roboto Condensed"/>
                <a:sym typeface="Roboto Condensed"/>
              </a:rPr>
              <a:t>XML </a:t>
            </a:r>
            <a:r>
              <a:rPr b="0" i="0" lang="en-US" sz="4500" u="none" cap="none" strike="noStrike">
                <a:solidFill>
                  <a:srgbClr val="000000"/>
                </a:solidFill>
                <a:latin typeface="Roboto Condensed"/>
                <a:ea typeface="Roboto Condensed"/>
                <a:cs typeface="Roboto Condensed"/>
                <a:sym typeface="Roboto Condensed"/>
              </a:rPr>
              <a:t>hoặc cả hai.</a:t>
            </a:r>
            <a:endParaRPr b="0" i="0" sz="45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20"/>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pic>
        <p:nvPicPr>
          <p:cNvPr id="77" name="Google Shape;77;p20"/>
          <p:cNvPicPr preferRelativeResize="0"/>
          <p:nvPr/>
        </p:nvPicPr>
        <p:blipFill rotWithShape="1">
          <a:blip r:embed="rId3">
            <a:alphaModFix/>
          </a:blip>
          <a:srcRect b="0" l="0" r="0" t="0"/>
          <a:stretch/>
        </p:blipFill>
        <p:spPr>
          <a:xfrm>
            <a:off x="5491223" y="2534442"/>
            <a:ext cx="13401554" cy="9552575"/>
          </a:xfrm>
          <a:prstGeom prst="rect">
            <a:avLst/>
          </a:prstGeom>
          <a:noFill/>
          <a:ln>
            <a:noFill/>
          </a:ln>
        </p:spPr>
      </p:pic>
      <p:sp>
        <p:nvSpPr>
          <p:cNvPr id="78" name="Google Shape;78;p20"/>
          <p:cNvSpPr txBox="1"/>
          <p:nvPr/>
        </p:nvSpPr>
        <p:spPr>
          <a:xfrm>
            <a:off x="1200149" y="1564634"/>
            <a:ext cx="1219835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4000" u="none" cap="none" strike="noStrike">
                <a:solidFill>
                  <a:srgbClr val="0079BF"/>
                </a:solidFill>
                <a:latin typeface="Roboto Condensed"/>
                <a:ea typeface="Roboto Condensed"/>
                <a:cs typeface="Roboto Condensed"/>
                <a:sym typeface="Roboto Condensed"/>
              </a:rPr>
              <a:t>Monolithic Application</a:t>
            </a:r>
            <a:endParaRPr b="1" i="0" sz="4000" u="none" cap="none" strike="noStrike">
              <a:solidFill>
                <a:srgbClr val="0079BF"/>
              </a:solidFill>
              <a:latin typeface="Roboto Condensed"/>
              <a:ea typeface="Roboto Condensed"/>
              <a:cs typeface="Roboto Condensed"/>
              <a:sym typeface="Roboto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1"/>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200"/>
              <a:buFont typeface="Meiryo"/>
              <a:buNone/>
            </a:pPr>
            <a:r>
              <a:rPr b="0" i="0" lang="en-US" sz="2200" u="none" cap="none" strike="noStrike">
                <a:solidFill>
                  <a:schemeClr val="dk1"/>
                </a:solidFill>
                <a:latin typeface="Meiryo"/>
                <a:ea typeface="Meiryo"/>
                <a:cs typeface="Meiryo"/>
                <a:sym typeface="Meiryo"/>
              </a:rPr>
              <a:t>Copyright </a:t>
            </a:r>
            <a:r>
              <a:rPr b="0" i="1" lang="en-US" sz="2200" u="none" cap="none" strike="noStrike">
                <a:solidFill>
                  <a:schemeClr val="dk1"/>
                </a:solidFill>
                <a:latin typeface="Meiryo"/>
                <a:ea typeface="Meiryo"/>
                <a:cs typeface="Meiryo"/>
                <a:sym typeface="Meiryo"/>
              </a:rPr>
              <a:t>© </a:t>
            </a:r>
            <a:r>
              <a:rPr b="0" i="0" lang="en-US" sz="2200" u="none" cap="none" strike="noStrike">
                <a:solidFill>
                  <a:schemeClr val="dk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85" name="Google Shape;85;p11"/>
          <p:cNvSpPr txBox="1"/>
          <p:nvPr/>
        </p:nvSpPr>
        <p:spPr>
          <a:xfrm>
            <a:off x="1130300" y="1385250"/>
            <a:ext cx="22194000" cy="11790600"/>
          </a:xfrm>
          <a:prstGeom prst="rect">
            <a:avLst/>
          </a:prstGeom>
          <a:noFill/>
          <a:ln>
            <a:noFill/>
          </a:ln>
        </p:spPr>
        <p:txBody>
          <a:bodyPr anchorCtr="0" anchor="t" bIns="45700" lIns="91425" spcFirstLastPara="1" rIns="91425" wrap="square" tIns="45700">
            <a:spAutoFit/>
          </a:bodyPr>
          <a:lstStyle/>
          <a:p>
            <a:pPr indent="-622300" lvl="0" marL="571500" marR="0" rtl="0" algn="l">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Kiến trúc nguyên khối là một mô hình truyền thống của một chương trình phần mềm, được xây dựng như một đơn vị thống nhất, khép kín và độc lập với các ứng dụng khác.</a:t>
            </a:r>
            <a:endParaRPr sz="2200"/>
          </a:p>
          <a:p>
            <a:pPr indent="-368300" lvl="0" marL="571500" marR="0" rtl="0" algn="l">
              <a:lnSpc>
                <a:spcPct val="100000"/>
              </a:lnSpc>
              <a:spcBef>
                <a:spcPts val="0"/>
              </a:spcBef>
              <a:spcAft>
                <a:spcPts val="0"/>
              </a:spcAft>
              <a:buClr>
                <a:srgbClr val="000000"/>
              </a:buClr>
              <a:buSzPts val="3200"/>
              <a:buFont typeface="Noto Sans Symbols"/>
              <a:buNone/>
            </a:pPr>
            <a:r>
              <a:t/>
            </a:r>
            <a:endParaRPr b="0" i="0" sz="4000" u="none" cap="none" strike="noStrike">
              <a:solidFill>
                <a:srgbClr val="000000"/>
              </a:solidFill>
              <a:latin typeface="Roboto Condensed"/>
              <a:ea typeface="Roboto Condensed"/>
              <a:cs typeface="Roboto Condensed"/>
              <a:sym typeface="Roboto Condensed"/>
            </a:endParaRPr>
          </a:p>
          <a:p>
            <a:pPr indent="-622300" lvl="0" marL="571500" marR="0" rtl="0" algn="l">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Ưu điểm của kiến trúc nguyên khối:</a:t>
            </a:r>
            <a:endParaRPr sz="2200"/>
          </a:p>
          <a:p>
            <a:pPr indent="-368300" lvl="0" marL="571500" marR="0" rtl="0" algn="l">
              <a:lnSpc>
                <a:spcPct val="100000"/>
              </a:lnSpc>
              <a:spcBef>
                <a:spcPts val="0"/>
              </a:spcBef>
              <a:spcAft>
                <a:spcPts val="0"/>
              </a:spcAft>
              <a:buClr>
                <a:srgbClr val="000000"/>
              </a:buClr>
              <a:buSzPts val="3200"/>
              <a:buFont typeface="Noto Sans Symbols"/>
              <a:buNone/>
            </a:pPr>
            <a:r>
              <a:t/>
            </a:r>
            <a:endParaRPr b="0" i="0" sz="4000" u="none" cap="none" strike="noStrike">
              <a:solidFill>
                <a:srgbClr val="000000"/>
              </a:solidFill>
              <a:latin typeface="Roboto Condensed"/>
              <a:ea typeface="Roboto Condensed"/>
              <a:cs typeface="Roboto Condensed"/>
              <a:sym typeface="Roboto Condensed"/>
            </a:endParaRPr>
          </a:p>
          <a:p>
            <a:pPr indent="-622300" lvl="3" marL="571500" marR="0" rtl="0" algn="just">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Kiến trúc nguyên khối rất đơn giản và dễ hiểu vì nó liên quan đến việc xây dựng toàn bộ ứng dụng trong một cơ sở mã duy nhất với một bộ ngôn ngữ và khung.</a:t>
            </a:r>
            <a:endParaRPr b="0" i="0" sz="40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4000" u="none" cap="none" strike="noStrike">
              <a:solidFill>
                <a:srgbClr val="000000"/>
              </a:solidFill>
              <a:latin typeface="Roboto Condensed"/>
              <a:ea typeface="Roboto Condensed"/>
              <a:cs typeface="Roboto Condensed"/>
              <a:sym typeface="Roboto Condensed"/>
            </a:endParaRPr>
          </a:p>
          <a:p>
            <a:pPr indent="-622300" lvl="6" marL="571500" marR="0" rtl="0" algn="just">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Kiến trúc nguyên khối thường hoạt động tốt hơn kiến trúc phân tán vì nó không yêu cầu giao tiếp mạng giữa các thành phần khác nhau.</a:t>
            </a:r>
            <a:endParaRPr b="0" i="0" sz="4000" u="none" cap="none" strike="noStrike">
              <a:solidFill>
                <a:srgbClr val="000000"/>
              </a:solidFill>
              <a:latin typeface="Roboto Condensed"/>
              <a:ea typeface="Roboto Condensed"/>
              <a:cs typeface="Roboto Condensed"/>
              <a:sym typeface="Roboto Condensed"/>
            </a:endParaRPr>
          </a:p>
          <a:p>
            <a:pPr indent="-368300" lvl="6" marL="571500" marR="0" rtl="0" algn="just">
              <a:lnSpc>
                <a:spcPct val="100000"/>
              </a:lnSpc>
              <a:spcBef>
                <a:spcPts val="0"/>
              </a:spcBef>
              <a:spcAft>
                <a:spcPts val="0"/>
              </a:spcAft>
              <a:buClr>
                <a:srgbClr val="000000"/>
              </a:buClr>
              <a:buSzPts val="3200"/>
              <a:buFont typeface="Noto Sans Symbols"/>
              <a:buNone/>
            </a:pPr>
            <a:r>
              <a:t/>
            </a:r>
            <a:endParaRPr b="0" i="0" sz="4000" u="none" cap="none" strike="noStrike">
              <a:solidFill>
                <a:srgbClr val="000000"/>
              </a:solidFill>
              <a:latin typeface="Roboto Condensed"/>
              <a:ea typeface="Roboto Condensed"/>
              <a:cs typeface="Roboto Condensed"/>
              <a:sym typeface="Roboto Condensed"/>
            </a:endParaRPr>
          </a:p>
          <a:p>
            <a:pPr indent="-622300" lvl="3" marL="571500" marR="0" rtl="0" algn="just">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Việc kiểm tra các ứng dụng nguyên khối dễ dàng hơn vì chỉ có một cơ sở mã để kiểm tra. Bằng cách này, bạn có thể dễ dàng đảm bảo rằng tất cả các thành phần hoạt động chính xác với nhau.</a:t>
            </a:r>
            <a:endParaRPr b="0" i="0" sz="40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4000" u="none" cap="none" strike="noStrike">
              <a:solidFill>
                <a:srgbClr val="000000"/>
              </a:solidFill>
              <a:latin typeface="Roboto Condensed"/>
              <a:ea typeface="Roboto Condensed"/>
              <a:cs typeface="Roboto Condensed"/>
              <a:sym typeface="Roboto Condensed"/>
            </a:endParaRPr>
          </a:p>
          <a:p>
            <a:pPr indent="-622300" lvl="3" marL="571500" marR="0" rtl="0" algn="just">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Kiến trúc nguyên khối thường ít tốn kém hơn để phát triển và bảo trì vì nó không yêu cầu nhiều công nghệ và công cụ khác nhau, làm giảm độ phức tạp của ứng dụng.</a:t>
            </a:r>
            <a:endParaRPr b="0" i="0" sz="40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4000" u="none" cap="none" strike="noStrike">
              <a:solidFill>
                <a:srgbClr val="000000"/>
              </a:solidFill>
              <a:latin typeface="Roboto Condensed"/>
              <a:ea typeface="Roboto Condensed"/>
              <a:cs typeface="Roboto Condensed"/>
              <a:sym typeface="Roboto Condensed"/>
            </a:endParaRPr>
          </a:p>
          <a:p>
            <a:pPr indent="-622300" lvl="3" marL="571500" marR="0" rtl="0" algn="just">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Với kiến trúc nguyên khối, việc đảm bảo các biện pháp bảo mật được áp dụng nhất quán trên toàn bộ ứng dụng sẽ dễ tiếp cận hơn</a:t>
            </a:r>
            <a:endParaRPr b="0" i="0" sz="2200" u="none" cap="none" strike="noStrike">
              <a:solidFill>
                <a:srgbClr val="000000"/>
              </a:solidFill>
              <a:latin typeface="Arial"/>
              <a:ea typeface="Arial"/>
              <a:cs typeface="Arial"/>
              <a:sym typeface="Arial"/>
            </a:endParaRPr>
          </a:p>
        </p:txBody>
      </p:sp>
      <p:sp>
        <p:nvSpPr>
          <p:cNvPr id="86" name="Google Shape;86;p11"/>
          <p:cNvSpPr txBox="1"/>
          <p:nvPr/>
        </p:nvSpPr>
        <p:spPr>
          <a:xfrm>
            <a:off x="1130300" y="192828"/>
            <a:ext cx="1219835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Monolithic Application</a:t>
            </a:r>
            <a:endParaRPr b="1" i="0" sz="4000" u="none" cap="none" strike="noStrike">
              <a:solidFill>
                <a:srgbClr val="0079BF"/>
              </a:solidFill>
              <a:latin typeface="Roboto Condensed"/>
              <a:ea typeface="Roboto Condensed"/>
              <a:cs typeface="Roboto Condensed"/>
              <a:sym typeface="Roboto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1"/>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200"/>
              <a:buFont typeface="Meiryo"/>
              <a:buNone/>
            </a:pPr>
            <a:r>
              <a:rPr b="0" i="0" lang="en-US" sz="2200" u="none" cap="none" strike="noStrike">
                <a:solidFill>
                  <a:schemeClr val="dk1"/>
                </a:solidFill>
                <a:latin typeface="Meiryo"/>
                <a:ea typeface="Meiryo"/>
                <a:cs typeface="Meiryo"/>
                <a:sym typeface="Meiryo"/>
              </a:rPr>
              <a:t>Copyright </a:t>
            </a:r>
            <a:r>
              <a:rPr b="0" i="1" lang="en-US" sz="2200" u="none" cap="none" strike="noStrike">
                <a:solidFill>
                  <a:schemeClr val="dk1"/>
                </a:solidFill>
                <a:latin typeface="Meiryo"/>
                <a:ea typeface="Meiryo"/>
                <a:cs typeface="Meiryo"/>
                <a:sym typeface="Meiryo"/>
              </a:rPr>
              <a:t>© </a:t>
            </a:r>
            <a:r>
              <a:rPr b="0" i="0" lang="en-US" sz="2200" u="none" cap="none" strike="noStrike">
                <a:solidFill>
                  <a:schemeClr val="dk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93" name="Google Shape;93;p21"/>
          <p:cNvSpPr txBox="1"/>
          <p:nvPr/>
        </p:nvSpPr>
        <p:spPr>
          <a:xfrm>
            <a:off x="1130300" y="1371650"/>
            <a:ext cx="22194000" cy="11790600"/>
          </a:xfrm>
          <a:prstGeom prst="rect">
            <a:avLst/>
          </a:prstGeom>
          <a:noFill/>
          <a:ln>
            <a:noFill/>
          </a:ln>
        </p:spPr>
        <p:txBody>
          <a:bodyPr anchorCtr="0" anchor="t" bIns="45700" lIns="91425" spcFirstLastPara="1" rIns="91425" wrap="square" tIns="45700">
            <a:spAutoFit/>
          </a:bodyPr>
          <a:lstStyle/>
          <a:p>
            <a:pPr indent="-609600" lvl="0" marL="571500" marR="0" rtl="0" algn="l">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Nhược điểm của kiến trúc nguyên khối:</a:t>
            </a:r>
            <a:endParaRPr sz="2000"/>
          </a:p>
          <a:p>
            <a:pPr indent="0" lvl="3" marL="0" marR="0" rtl="0" algn="just">
              <a:lnSpc>
                <a:spcPct val="100000"/>
              </a:lnSpc>
              <a:spcBef>
                <a:spcPts val="0"/>
              </a:spcBef>
              <a:spcAft>
                <a:spcPts val="0"/>
              </a:spcAft>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Việc cập nhật bất kỳ phần nào của cơ sở mã sẽ tác động đến kiến trúc nguyên khối, yêu cầu biên dịch lại ứng dụng hoàn chỉnh.</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Bất kỳ lỗi hoặc sự cố máy chủ nào đều ảnh hưởng đến toàn bộ ứng dụng, ảnh hưởng đến độ tin cậy tổng thể của ứng dụng.</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Việc sử dụng lại mã bị hạn chế, thường chỉ được hỗ trợ với các thư viện dùng chung (dẫn đến các vấn đề về trùng lặp mã, quá phụ thuộc vào nhau).</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Những thay đổi đối với bất kỳ phần nào của mã ứng dụng đều trở nên khó khan tốn kém do phụ thuộc.</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Cơ sở mã có thể trở nên cồng kềnh theo thời gian, gây khó khăn cho việc duy trì và bảo trì đồng thời gây khó khắn cho những người mới khi tiếp cận.</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Kiến trúc nguyên khối không hỗ trợ mở rộng theo chiều ngang (chỉ có thể mở rộng theo chiều dọc), do đó mọi thứ mọi thứ đều phải mở rộng trong khi chỉ một phần của ứng dụng có thể đang phải chịu tải lớn.</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Trong kiến trúc nguyên khối, chỉ dùng một ngăn xếp công nghệ (technical stack)duy nhất cho mọi thứ.</a:t>
            </a:r>
            <a:endParaRPr b="0" i="0" sz="2000" u="none" cap="none" strike="noStrike">
              <a:solidFill>
                <a:srgbClr val="000000"/>
              </a:solidFill>
              <a:latin typeface="Arial"/>
              <a:ea typeface="Arial"/>
              <a:cs typeface="Arial"/>
              <a:sym typeface="Arial"/>
            </a:endParaRPr>
          </a:p>
        </p:txBody>
      </p:sp>
      <p:sp>
        <p:nvSpPr>
          <p:cNvPr id="94" name="Google Shape;94;p21"/>
          <p:cNvSpPr txBox="1"/>
          <p:nvPr/>
        </p:nvSpPr>
        <p:spPr>
          <a:xfrm>
            <a:off x="1130300" y="91228"/>
            <a:ext cx="1219835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Monolithic Application</a:t>
            </a:r>
            <a:endParaRPr b="1" i="0" sz="4000" u="none" cap="none" strike="noStrike">
              <a:solidFill>
                <a:srgbClr val="0079BF"/>
              </a:solidFill>
              <a:latin typeface="Roboto Condensed"/>
              <a:ea typeface="Roboto Condensed"/>
              <a:cs typeface="Roboto Condensed"/>
              <a:sym typeface="Roboto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2"/>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sp>
        <p:nvSpPr>
          <p:cNvPr id="100" name="Google Shape;100;p22"/>
          <p:cNvSpPr txBox="1"/>
          <p:nvPr/>
        </p:nvSpPr>
        <p:spPr>
          <a:xfrm>
            <a:off x="722724" y="3690521"/>
            <a:ext cx="11403900" cy="629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400" u="none" cap="none" strike="noStrike">
                <a:solidFill>
                  <a:srgbClr val="0079BF"/>
                </a:solidFill>
                <a:latin typeface="Roboto Condensed"/>
                <a:ea typeface="Roboto Condensed"/>
                <a:cs typeface="Roboto Condensed"/>
                <a:sym typeface="Roboto Condensed"/>
              </a:rPr>
              <a:t>2</a:t>
            </a:r>
            <a:r>
              <a:rPr b="1" i="0" lang="en-US" sz="4400" u="none" cap="none" strike="noStrike">
                <a:solidFill>
                  <a:srgbClr val="000000"/>
                </a:solidFill>
                <a:latin typeface="Roboto Condensed"/>
                <a:ea typeface="Roboto Condensed"/>
                <a:cs typeface="Roboto Condensed"/>
                <a:sym typeface="Roboto Condensed"/>
              </a:rPr>
              <a:t>. </a:t>
            </a:r>
            <a:r>
              <a:rPr b="1" i="0" lang="en-US" sz="4800" u="none" cap="none" strike="noStrike">
                <a:solidFill>
                  <a:srgbClr val="0079BF"/>
                </a:solidFill>
                <a:latin typeface="Roboto Condensed"/>
                <a:ea typeface="Roboto Condensed"/>
                <a:cs typeface="Roboto Condensed"/>
                <a:sym typeface="Roboto Condensed"/>
              </a:rPr>
              <a:t>Microservices Application</a:t>
            </a:r>
            <a:endParaRPr sz="2200"/>
          </a:p>
          <a:p>
            <a:pPr indent="0" lvl="0" marL="0" marR="0" rtl="0" algn="l">
              <a:lnSpc>
                <a:spcPct val="100000"/>
              </a:lnSpc>
              <a:spcBef>
                <a:spcPts val="0"/>
              </a:spcBef>
              <a:spcAft>
                <a:spcPts val="0"/>
              </a:spcAft>
              <a:buNone/>
            </a:pPr>
            <a:r>
              <a:t/>
            </a:r>
            <a:endParaRPr b="1" i="0" sz="4000" u="none" cap="none" strike="noStrike">
              <a:solidFill>
                <a:srgbClr val="0079BF"/>
              </a:solidFill>
              <a:latin typeface="Roboto Condensed"/>
              <a:ea typeface="Roboto Condensed"/>
              <a:cs typeface="Roboto Condensed"/>
              <a:sym typeface="Roboto Condensed"/>
            </a:endParaRPr>
          </a:p>
          <a:p>
            <a:pPr indent="-539750" lvl="0" marL="457200" marR="0" rtl="0" algn="l">
              <a:lnSpc>
                <a:spcPct val="100000"/>
              </a:lnSpc>
              <a:spcBef>
                <a:spcPts val="0"/>
              </a:spcBef>
              <a:spcAft>
                <a:spcPts val="0"/>
              </a:spcAft>
              <a:buClr>
                <a:srgbClr val="000000"/>
              </a:buClr>
              <a:buSzPts val="4500"/>
              <a:buFont typeface="Noto Sans Symbols"/>
              <a:buChar char="❖"/>
            </a:pPr>
            <a:r>
              <a:rPr b="0" i="0" lang="en-US" sz="4500" u="none" cap="none" strike="noStrike">
                <a:solidFill>
                  <a:srgbClr val="000000"/>
                </a:solidFill>
                <a:latin typeface="Roboto Condensed"/>
                <a:ea typeface="Roboto Condensed"/>
                <a:cs typeface="Roboto Condensed"/>
                <a:sym typeface="Roboto Condensed"/>
              </a:rPr>
              <a:t>Kiến trúc microservices là một loại kiến trúc ứng dụng trong đó ứng dụng được phát triển dưới dạng tập hợp các service. </a:t>
            </a:r>
            <a:endParaRPr b="0" i="0" sz="4500" u="none" cap="none" strike="noStrike">
              <a:solidFill>
                <a:srgbClr val="000000"/>
              </a:solidFill>
              <a:latin typeface="Roboto Condensed"/>
              <a:ea typeface="Roboto Condensed"/>
              <a:cs typeface="Roboto Condensed"/>
              <a:sym typeface="Roboto Condensed"/>
            </a:endParaRPr>
          </a:p>
          <a:p>
            <a:pPr indent="-539750" lvl="0" marL="457200" marR="0" rtl="0" algn="l">
              <a:lnSpc>
                <a:spcPct val="100000"/>
              </a:lnSpc>
              <a:spcBef>
                <a:spcPts val="0"/>
              </a:spcBef>
              <a:spcAft>
                <a:spcPts val="0"/>
              </a:spcAft>
              <a:buClr>
                <a:srgbClr val="000000"/>
              </a:buClr>
              <a:buSzPts val="4500"/>
              <a:buFont typeface="Noto Sans Symbols"/>
              <a:buChar char="❖"/>
            </a:pPr>
            <a:r>
              <a:rPr b="0" i="0" lang="en-US" sz="4500" u="none" cap="none" strike="noStrike">
                <a:solidFill>
                  <a:srgbClr val="000000"/>
                </a:solidFill>
                <a:latin typeface="Roboto Condensed"/>
                <a:ea typeface="Roboto Condensed"/>
                <a:cs typeface="Roboto Condensed"/>
                <a:sym typeface="Roboto Condensed"/>
              </a:rPr>
              <a:t>Nó cung cấp khuôn khổ để phát triển, triển khai và duy trì các sơ đồ kiến trúc kết nối nhưng vẫn đảm bảo các thành phần service con hoạt động một cách độc lập.</a:t>
            </a:r>
            <a:endParaRPr b="1" i="0" sz="5300" u="none" cap="none" strike="noStrike">
              <a:solidFill>
                <a:srgbClr val="0079BF"/>
              </a:solidFill>
              <a:latin typeface="Roboto Condensed"/>
              <a:ea typeface="Roboto Condensed"/>
              <a:cs typeface="Roboto Condensed"/>
              <a:sym typeface="Roboto Condensed"/>
            </a:endParaRPr>
          </a:p>
        </p:txBody>
      </p:sp>
      <p:pic>
        <p:nvPicPr>
          <p:cNvPr id="101" name="Google Shape;101;p22"/>
          <p:cNvPicPr preferRelativeResize="0"/>
          <p:nvPr/>
        </p:nvPicPr>
        <p:blipFill rotWithShape="1">
          <a:blip r:embed="rId3">
            <a:alphaModFix/>
          </a:blip>
          <a:srcRect b="0" l="0" r="0" t="0"/>
          <a:stretch/>
        </p:blipFill>
        <p:spPr>
          <a:xfrm>
            <a:off x="12604115" y="1828801"/>
            <a:ext cx="11044177" cy="100189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200"/>
              <a:buFont typeface="Meiryo"/>
              <a:buNone/>
            </a:pPr>
            <a:r>
              <a:rPr b="0" i="0" lang="en-US" sz="2200" u="none" cap="none" strike="noStrike">
                <a:solidFill>
                  <a:schemeClr val="dk1"/>
                </a:solidFill>
                <a:latin typeface="Meiryo"/>
                <a:ea typeface="Meiryo"/>
                <a:cs typeface="Meiryo"/>
                <a:sym typeface="Meiryo"/>
              </a:rPr>
              <a:t>Copyright </a:t>
            </a:r>
            <a:r>
              <a:rPr b="0" i="1" lang="en-US" sz="2200" u="none" cap="none" strike="noStrike">
                <a:solidFill>
                  <a:schemeClr val="dk1"/>
                </a:solidFill>
                <a:latin typeface="Meiryo"/>
                <a:ea typeface="Meiryo"/>
                <a:cs typeface="Meiryo"/>
                <a:sym typeface="Meiryo"/>
              </a:rPr>
              <a:t>© </a:t>
            </a:r>
            <a:r>
              <a:rPr b="0" i="0" lang="en-US" sz="2200" u="none" cap="none" strike="noStrike">
                <a:solidFill>
                  <a:schemeClr val="dk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108" name="Google Shape;108;p23"/>
          <p:cNvSpPr txBox="1"/>
          <p:nvPr/>
        </p:nvSpPr>
        <p:spPr>
          <a:xfrm>
            <a:off x="1130300" y="887025"/>
            <a:ext cx="22158300" cy="12313800"/>
          </a:xfrm>
          <a:prstGeom prst="rect">
            <a:avLst/>
          </a:prstGeom>
          <a:noFill/>
          <a:ln>
            <a:noFill/>
          </a:ln>
        </p:spPr>
        <p:txBody>
          <a:bodyPr anchorCtr="0" anchor="t" bIns="45700" lIns="91425" spcFirstLastPara="1" rIns="91425" wrap="square" tIns="45700">
            <a:spAutoFit/>
          </a:bodyPr>
          <a:lstStyle/>
          <a:p>
            <a:pPr indent="-596900" lvl="0" marL="571500" marR="0" rtl="0" algn="l">
              <a:lnSpc>
                <a:spcPct val="10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Roboto Condensed"/>
                <a:ea typeface="Roboto Condensed"/>
                <a:cs typeface="Roboto Condensed"/>
                <a:sym typeface="Roboto Condensed"/>
              </a:rPr>
              <a:t>Nguyên tắc của microservice:</a:t>
            </a:r>
            <a:endParaRPr sz="1800"/>
          </a:p>
          <a:p>
            <a:pPr indent="0" lvl="3" marL="0" marR="0" rtl="0" algn="just">
              <a:lnSpc>
                <a:spcPct val="100000"/>
              </a:lnSpc>
              <a:spcBef>
                <a:spcPts val="0"/>
              </a:spcBef>
              <a:spcAft>
                <a:spcPts val="0"/>
              </a:spcAft>
              <a:buNone/>
            </a:pPr>
            <a:r>
              <a:t/>
            </a:r>
            <a:endParaRPr b="0" i="0" sz="3400" u="none" cap="none" strike="noStrike">
              <a:solidFill>
                <a:srgbClr val="000000"/>
              </a:solidFill>
              <a:latin typeface="Roboto Condensed"/>
              <a:ea typeface="Roboto Condensed"/>
              <a:cs typeface="Roboto Condensed"/>
              <a:sym typeface="Roboto Condensed"/>
            </a:endParaRPr>
          </a:p>
          <a:p>
            <a:pPr indent="-596900" lvl="3" marL="57150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Độc lập dịch vụ: Mỗi microservice phải độc lập với các microservice khác, có cơ sở dữ liệu và logic nghiệp vụ riêng của nó.</a:t>
            </a:r>
            <a:endParaRPr b="0" i="0" sz="36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596900" lvl="3" marL="57150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Phân cấp: Kiến trúc microservice phải được phân cấp, với mỗi nhóm dịch vụ sẽ có cách phát triển, triển khai và bảo trì khác nhau.</a:t>
            </a:r>
            <a:endParaRPr sz="1800"/>
          </a:p>
          <a:p>
            <a:pPr indent="-368300" lvl="3" marL="57150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596900" lvl="3" marL="57150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Tính linh hoạt: Kiến trúc microservice phải cho phép phát triển, triển khai và mở rộng quy mô các dịch vụ riêng lẻ nhanh chóng và linh hoạt mà không ảnh hưởng đến toàn bộ hệ thống.</a:t>
            </a:r>
            <a:endParaRPr b="0" i="0" sz="36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596900" lvl="3" marL="57150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Khả năng phục hồi: Microservice phải có khả năng chịu lỗi, trong đó mỗi dịch vụ có thể xử lý lỗi và sự cố một cách độc lập.</a:t>
            </a:r>
            <a:endParaRPr b="0" i="0" sz="36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596900" lvl="3" marL="57150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Khả năng mở rộng: Kiến trúc microservice phải cho phép dễ dàng mở rộng quy mô các dịch vụ riêng lẻ để đáp ứng nhu cầu thay đổi mà không ảnh hưởng đến toàn bộ hệ thống.</a:t>
            </a:r>
            <a:endParaRPr b="0" i="0" sz="36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596900" lvl="3" marL="57150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Tích hợp và triển khai liên tục: Kiến trúc microservice phải cho phép tích hợp và triển khai liên tục, với mỗi dịch vụ được xây dựng, thử nghiệm và triển khai độc lập.</a:t>
            </a:r>
            <a:endParaRPr b="0" i="0" sz="36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596900" lvl="3" marL="57150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Phương pháp tiếp cận API đầu tiên: Kiến trúc microservice phải tuân theo cách tiếp cận API đầu tiên, trong đó mỗi dịch gồm các API được định nghĩa rõ ràng và được lưu lại để các dịch vụ khác có thể sử dụng.</a:t>
            </a:r>
            <a:endParaRPr b="0" i="0" sz="3900" u="none" cap="none" strike="noStrike">
              <a:solidFill>
                <a:srgbClr val="000000"/>
              </a:solidFill>
              <a:latin typeface="Arial"/>
              <a:ea typeface="Arial"/>
              <a:cs typeface="Arial"/>
              <a:sym typeface="Arial"/>
            </a:endParaRPr>
          </a:p>
        </p:txBody>
      </p:sp>
      <p:sp>
        <p:nvSpPr>
          <p:cNvPr id="109" name="Google Shape;109;p23"/>
          <p:cNvSpPr txBox="1"/>
          <p:nvPr/>
        </p:nvSpPr>
        <p:spPr>
          <a:xfrm>
            <a:off x="1130300" y="192828"/>
            <a:ext cx="1219835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Microservices</a:t>
            </a:r>
            <a:endParaRPr b="1" i="0" sz="4000" u="none" cap="none" strike="noStrike">
              <a:solidFill>
                <a:srgbClr val="0079BF"/>
              </a:solidFill>
              <a:latin typeface="Roboto Condensed"/>
              <a:ea typeface="Roboto Condensed"/>
              <a:cs typeface="Roboto Condensed"/>
              <a:sym typeface="Roboto Condense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4"/>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200"/>
              <a:buFont typeface="Meiryo"/>
              <a:buNone/>
            </a:pPr>
            <a:r>
              <a:rPr b="0" i="0" lang="en-US" sz="2200" u="none" cap="none" strike="noStrike">
                <a:solidFill>
                  <a:schemeClr val="dk1"/>
                </a:solidFill>
                <a:latin typeface="Meiryo"/>
                <a:ea typeface="Meiryo"/>
                <a:cs typeface="Meiryo"/>
                <a:sym typeface="Meiryo"/>
              </a:rPr>
              <a:t>Copyright </a:t>
            </a:r>
            <a:r>
              <a:rPr b="0" i="1" lang="en-US" sz="2200" u="none" cap="none" strike="noStrike">
                <a:solidFill>
                  <a:schemeClr val="dk1"/>
                </a:solidFill>
                <a:latin typeface="Meiryo"/>
                <a:ea typeface="Meiryo"/>
                <a:cs typeface="Meiryo"/>
                <a:sym typeface="Meiryo"/>
              </a:rPr>
              <a:t>© </a:t>
            </a:r>
            <a:r>
              <a:rPr b="0" i="0" lang="en-US" sz="2200" u="none" cap="none" strike="noStrike">
                <a:solidFill>
                  <a:schemeClr val="dk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116" name="Google Shape;116;p24"/>
          <p:cNvSpPr txBox="1"/>
          <p:nvPr/>
        </p:nvSpPr>
        <p:spPr>
          <a:xfrm>
            <a:off x="1130300" y="1371650"/>
            <a:ext cx="22194000" cy="11790600"/>
          </a:xfrm>
          <a:prstGeom prst="rect">
            <a:avLst/>
          </a:prstGeom>
          <a:noFill/>
          <a:ln>
            <a:noFill/>
          </a:ln>
        </p:spPr>
        <p:txBody>
          <a:bodyPr anchorCtr="0" anchor="t" bIns="45700" lIns="91425" spcFirstLastPara="1" rIns="91425" wrap="square" tIns="45700">
            <a:spAutoFit/>
          </a:bodyPr>
          <a:lstStyle/>
          <a:p>
            <a:pPr indent="-609600" lvl="0" marL="571500" marR="0" rtl="0" algn="l">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Ưu điểm của kiến trúc micorservice:</a:t>
            </a:r>
            <a:endParaRPr sz="2000"/>
          </a:p>
          <a:p>
            <a:pPr indent="0" lvl="3" marL="0" marR="0" rtl="0" algn="just">
              <a:lnSpc>
                <a:spcPct val="100000"/>
              </a:lnSpc>
              <a:spcBef>
                <a:spcPts val="0"/>
              </a:spcBef>
              <a:spcAft>
                <a:spcPts val="0"/>
              </a:spcAft>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Do có thể mở rộng các service độc lập với nhau nên hệ thống có tính chịu tải cao, xử lý được lượng truy cập đồng thời cao cũng như những thời điểm tăng đột biến.</a:t>
            </a:r>
            <a:endParaRPr sz="2000"/>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Bất kỳ lỗi hoặc sự cố máy chủ nào đều ảnh hưởng đến toàn bộ ứng dụng, ảnh hưởng đến độ tin cậy tổng thể của ứng dụng.</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Việc sử dụng lại mã bị hạn chế, thường chỉ được hỗ trợ với các thư viện dùng chung (dẫn đến các vấn đề về trùng lặp mã).</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Những thay đổi đối với bất kỳ phần nào của mã ứng dụng đều trở nên khó khăn tốn kém do phụ thuộc.</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Cơ sở mã có thể trở nên cồng kềnh theo thời gian, gây khó khăn cho việc duy trì và bảo trì đồng thời gây khó khắn cho những người mới khi tiếp cận.</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Kiến trúc nguyên khối không hỗ trợ mở rộng theo chiều ngang (chỉ có thể mở rộng theo chiều dọc), do đó mọi thứ mọi thứ đều phải mở rộng trong khi chỉ một phần của ứng dụng có thể đang phải chịu tải lớn.</a:t>
            </a:r>
            <a:endParaRPr b="0" i="0" sz="38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000000"/>
              </a:solidFill>
              <a:latin typeface="Roboto Condensed"/>
              <a:ea typeface="Roboto Condensed"/>
              <a:cs typeface="Roboto Condensed"/>
              <a:sym typeface="Roboto Condensed"/>
            </a:endParaRPr>
          </a:p>
          <a:p>
            <a:pPr indent="-609600" lvl="3" marL="5715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000000"/>
                </a:solidFill>
                <a:latin typeface="Roboto Condensed"/>
                <a:ea typeface="Roboto Condensed"/>
                <a:cs typeface="Roboto Condensed"/>
                <a:sym typeface="Roboto Condensed"/>
              </a:rPr>
              <a:t>Trong kiến trúc nguyên khối, chỉ dùng một ngăn xếp công nghệ (technical stack)duy nhất cho mọi thứ.</a:t>
            </a:r>
            <a:endParaRPr b="0" i="0" sz="2000" u="none" cap="none" strike="noStrike">
              <a:solidFill>
                <a:srgbClr val="000000"/>
              </a:solidFill>
              <a:latin typeface="Arial"/>
              <a:ea typeface="Arial"/>
              <a:cs typeface="Arial"/>
              <a:sym typeface="Arial"/>
            </a:endParaRPr>
          </a:p>
        </p:txBody>
      </p:sp>
      <p:sp>
        <p:nvSpPr>
          <p:cNvPr id="117" name="Google Shape;117;p24"/>
          <p:cNvSpPr txBox="1"/>
          <p:nvPr/>
        </p:nvSpPr>
        <p:spPr>
          <a:xfrm>
            <a:off x="1130300" y="91228"/>
            <a:ext cx="1219835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Microservices</a:t>
            </a:r>
            <a:endParaRPr b="1" i="0" sz="4000" u="none" cap="none" strike="noStrike">
              <a:solidFill>
                <a:srgbClr val="0079BF"/>
              </a:solidFill>
              <a:latin typeface="Roboto Condensed"/>
              <a:ea typeface="Roboto Condensed"/>
              <a:cs typeface="Roboto Condensed"/>
              <a:sym typeface="Roboto Condense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200"/>
              <a:buFont typeface="Meiryo"/>
              <a:buNone/>
            </a:pPr>
            <a:r>
              <a:rPr b="0" i="0" lang="en-US" sz="2200" u="none" cap="none" strike="noStrike">
                <a:solidFill>
                  <a:schemeClr val="dk1"/>
                </a:solidFill>
                <a:latin typeface="Meiryo"/>
                <a:ea typeface="Meiryo"/>
                <a:cs typeface="Meiryo"/>
                <a:sym typeface="Meiryo"/>
              </a:rPr>
              <a:t>Copyright </a:t>
            </a:r>
            <a:r>
              <a:rPr b="0" i="1" lang="en-US" sz="2200" u="none" cap="none" strike="noStrike">
                <a:solidFill>
                  <a:schemeClr val="dk1"/>
                </a:solidFill>
                <a:latin typeface="Meiryo"/>
                <a:ea typeface="Meiryo"/>
                <a:cs typeface="Meiryo"/>
                <a:sym typeface="Meiryo"/>
              </a:rPr>
              <a:t>© </a:t>
            </a:r>
            <a:r>
              <a:rPr b="0" i="0" lang="en-US" sz="2200" u="none" cap="none" strike="noStrike">
                <a:solidFill>
                  <a:schemeClr val="dk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124" name="Google Shape;124;p25"/>
          <p:cNvSpPr txBox="1"/>
          <p:nvPr/>
        </p:nvSpPr>
        <p:spPr>
          <a:xfrm>
            <a:off x="1130300" y="1371650"/>
            <a:ext cx="22158300" cy="11344200"/>
          </a:xfrm>
          <a:prstGeom prst="rect">
            <a:avLst/>
          </a:prstGeom>
          <a:noFill/>
          <a:ln>
            <a:noFill/>
          </a:ln>
        </p:spPr>
        <p:txBody>
          <a:bodyPr anchorCtr="0" anchor="t" bIns="45700" lIns="91425" spcFirstLastPara="1" rIns="91425" wrap="square" tIns="45700">
            <a:spAutoFit/>
          </a:bodyPr>
          <a:lstStyle/>
          <a:p>
            <a:pPr indent="-641350" lvl="0" marL="571500" marR="0" rtl="0" algn="l">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Nhược điểm của kiến trúc micorservice:</a:t>
            </a:r>
            <a:endParaRPr sz="2500"/>
          </a:p>
          <a:p>
            <a:pPr indent="-368300" lvl="0" marL="571500" marR="0" rtl="0" algn="l">
              <a:lnSpc>
                <a:spcPct val="100000"/>
              </a:lnSpc>
              <a:spcBef>
                <a:spcPts val="0"/>
              </a:spcBef>
              <a:spcAft>
                <a:spcPts val="0"/>
              </a:spcAft>
              <a:buClr>
                <a:srgbClr val="000000"/>
              </a:buClr>
              <a:buSzPts val="3200"/>
              <a:buFont typeface="Noto Sans Symbols"/>
              <a:buNone/>
            </a:pPr>
            <a:r>
              <a:t/>
            </a:r>
            <a:endParaRPr b="0" i="0" sz="4300" u="none" cap="none" strike="noStrike">
              <a:solidFill>
                <a:srgbClr val="000000"/>
              </a:solidFill>
              <a:latin typeface="Roboto Condensed"/>
              <a:ea typeface="Roboto Condensed"/>
              <a:cs typeface="Roboto Condensed"/>
              <a:sym typeface="Roboto Condensed"/>
            </a:endParaRPr>
          </a:p>
          <a:p>
            <a:pPr indent="-641350" lvl="3" marL="5715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Độ phức tạp cao hơn: Có thể cần nhiều nhóm khả năng sử dụng các ngăn xếp công nghệ khác nhau cho từng service con. Đồng thời việc quản lý tất cả các hoạt động tích hợp và đáp ứng nhu cầu cân bằng tải cũng khó khăn hơn.</a:t>
            </a:r>
            <a:endParaRPr b="0" i="0" sz="43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4300" u="none" cap="none" strike="noStrike">
              <a:solidFill>
                <a:srgbClr val="000000"/>
              </a:solidFill>
              <a:latin typeface="Roboto Condensed"/>
              <a:ea typeface="Roboto Condensed"/>
              <a:cs typeface="Roboto Condensed"/>
              <a:sym typeface="Roboto Condensed"/>
            </a:endParaRPr>
          </a:p>
          <a:p>
            <a:pPr indent="-641350" lvl="3" marL="5715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Tái sử dụng mã có giới hạn: Vì mỗi service có mã riêng nên cách duy nhất để hỗ trợ tái sử dụng mã là tạo thư viện bên ngoài – nhưng điều đó cần có người quản lý thư viện.</a:t>
            </a:r>
            <a:endParaRPr b="0" i="0" sz="43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4300" u="none" cap="none" strike="noStrike">
              <a:solidFill>
                <a:srgbClr val="000000"/>
              </a:solidFill>
              <a:latin typeface="Roboto Condensed"/>
              <a:ea typeface="Roboto Condensed"/>
              <a:cs typeface="Roboto Condensed"/>
              <a:sym typeface="Roboto Condensed"/>
            </a:endParaRPr>
          </a:p>
          <a:p>
            <a:pPr indent="-641350" lvl="3" marL="5715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Tăng thời gian phát triển: Mặc dù các nhóm có thể phát triển đồng thời các service khác nhau nhưng phải dành thêm thời gian để hỗ trợ các service phụ thuộc.</a:t>
            </a:r>
            <a:endParaRPr b="0" i="0" sz="43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4300" u="none" cap="none" strike="noStrike">
              <a:solidFill>
                <a:srgbClr val="000000"/>
              </a:solidFill>
              <a:latin typeface="Roboto Condensed"/>
              <a:ea typeface="Roboto Condensed"/>
              <a:cs typeface="Roboto Condensed"/>
              <a:sym typeface="Roboto Condensed"/>
            </a:endParaRPr>
          </a:p>
          <a:p>
            <a:pPr indent="-641350" lvl="3" marL="5715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Sự phụ thuộc vào DevOps: Việc tạo ra service độc lập đặt gánh nặng cao hơn lên DevOps trong việc hỗ trợ quy trình tích hợp liên tục/phân phối liên tục (CI/CD).</a:t>
            </a:r>
            <a:endParaRPr b="0" i="0" sz="4300" u="none" cap="none" strike="noStrike">
              <a:solidFill>
                <a:srgbClr val="000000"/>
              </a:solidFill>
              <a:latin typeface="Roboto Condensed"/>
              <a:ea typeface="Roboto Condensed"/>
              <a:cs typeface="Roboto Condensed"/>
              <a:sym typeface="Roboto Condensed"/>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4300" u="none" cap="none" strike="noStrike">
              <a:solidFill>
                <a:srgbClr val="000000"/>
              </a:solidFill>
              <a:latin typeface="Roboto Condensed"/>
              <a:ea typeface="Roboto Condensed"/>
              <a:cs typeface="Roboto Condensed"/>
              <a:sym typeface="Roboto Condensed"/>
            </a:endParaRPr>
          </a:p>
          <a:p>
            <a:pPr indent="-641350" lvl="3" marL="5715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Phức tạp trong việc kiểm tra và gỡ lỗi toàn bộ ứng dụng: Việc kiểm tra có thể phức tạp do việc triển khai được phân phối trên các service con.</a:t>
            </a:r>
            <a:endParaRPr b="0" i="0" sz="2500" u="none" cap="none" strike="noStrike">
              <a:solidFill>
                <a:srgbClr val="000000"/>
              </a:solidFill>
              <a:latin typeface="Arial"/>
              <a:ea typeface="Arial"/>
              <a:cs typeface="Arial"/>
              <a:sym typeface="Arial"/>
            </a:endParaRPr>
          </a:p>
        </p:txBody>
      </p:sp>
      <p:sp>
        <p:nvSpPr>
          <p:cNvPr id="125" name="Google Shape;125;p25"/>
          <p:cNvSpPr txBox="1"/>
          <p:nvPr/>
        </p:nvSpPr>
        <p:spPr>
          <a:xfrm>
            <a:off x="1130300" y="91228"/>
            <a:ext cx="1219835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Microservices</a:t>
            </a:r>
            <a:endParaRPr b="1" i="0" sz="4000" u="none" cap="none" strike="noStrike">
              <a:solidFill>
                <a:srgbClr val="0079BF"/>
              </a:solidFill>
              <a:latin typeface="Roboto Condensed"/>
              <a:ea typeface="Roboto Condensed"/>
              <a:cs typeface="Roboto Condensed"/>
              <a:sym typeface="Roboto Condens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sp>
        <p:nvSpPr>
          <p:cNvPr id="131" name="Google Shape;131;p26"/>
          <p:cNvSpPr txBox="1"/>
          <p:nvPr/>
        </p:nvSpPr>
        <p:spPr>
          <a:xfrm>
            <a:off x="1200150" y="1714945"/>
            <a:ext cx="398562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Spring Cloud</a:t>
            </a:r>
            <a:endParaRPr/>
          </a:p>
        </p:txBody>
      </p:sp>
      <p:pic>
        <p:nvPicPr>
          <p:cNvPr id="132" name="Google Shape;132;p26"/>
          <p:cNvPicPr preferRelativeResize="0"/>
          <p:nvPr/>
        </p:nvPicPr>
        <p:blipFill rotWithShape="1">
          <a:blip r:embed="rId3">
            <a:alphaModFix/>
          </a:blip>
          <a:srcRect b="0" l="0" r="0" t="0"/>
          <a:stretch/>
        </p:blipFill>
        <p:spPr>
          <a:xfrm>
            <a:off x="3591917" y="2557968"/>
            <a:ext cx="17200148" cy="86000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sp>
        <p:nvSpPr>
          <p:cNvPr id="138" name="Google Shape;138;p27"/>
          <p:cNvSpPr txBox="1"/>
          <p:nvPr/>
        </p:nvSpPr>
        <p:spPr>
          <a:xfrm>
            <a:off x="1200150" y="1714945"/>
            <a:ext cx="398562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Spring Cloud</a:t>
            </a:r>
            <a:endParaRPr/>
          </a:p>
        </p:txBody>
      </p:sp>
      <p:sp>
        <p:nvSpPr>
          <p:cNvPr id="139" name="Google Shape;139;p27"/>
          <p:cNvSpPr txBox="1"/>
          <p:nvPr/>
        </p:nvSpPr>
        <p:spPr>
          <a:xfrm>
            <a:off x="1147800" y="2422825"/>
            <a:ext cx="22088400" cy="10066500"/>
          </a:xfrm>
          <a:prstGeom prst="rect">
            <a:avLst/>
          </a:prstGeom>
          <a:noFill/>
          <a:ln>
            <a:noFill/>
          </a:ln>
        </p:spPr>
        <p:txBody>
          <a:bodyPr anchorCtr="0" anchor="t" bIns="45700" lIns="91425" spcFirstLastPara="1" rIns="91425" wrap="square" tIns="45700">
            <a:spAutoFit/>
          </a:bodyPr>
          <a:lstStyle/>
          <a:p>
            <a:pPr indent="-596900" lvl="0" marL="571500" marR="0" rtl="0" algn="l">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Spring cloud là một phần trong spring framework. Spring cloud cung cấp các các mẫu thông dụng giúp nhà phát triển nhanh chóng xây dựng được các thành phần trong một hệ thống phân tán:</a:t>
            </a:r>
            <a:endParaRPr sz="1800"/>
          </a:p>
          <a:p>
            <a:pPr indent="-368300" lvl="0" marL="571500" marR="0" rtl="0" algn="l">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Quản lý cấu hình (configuration management)</a:t>
            </a:r>
            <a:endParaRPr sz="1800"/>
          </a:p>
          <a:p>
            <a:pPr indent="-371475" lvl="3" marL="188595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Tìm kiếm dịch vụ con (service discovery)</a:t>
            </a:r>
            <a:endParaRPr sz="1800"/>
          </a:p>
          <a:p>
            <a:pPr indent="-371475" lvl="3" marL="188595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Bộ ngắt mạch (</a:t>
            </a:r>
            <a:r>
              <a:rPr b="0" i="0" lang="en-US" sz="3600" u="none" cap="none" strike="noStrike">
                <a:solidFill>
                  <a:srgbClr val="333333"/>
                </a:solidFill>
                <a:latin typeface="Roboto Condensed"/>
                <a:ea typeface="Roboto Condensed"/>
                <a:cs typeface="Roboto Condensed"/>
                <a:sym typeface="Roboto Condensed"/>
              </a:rPr>
              <a:t>circuit breakers)</a:t>
            </a:r>
            <a:endParaRPr sz="1800"/>
          </a:p>
          <a:p>
            <a:pPr indent="-371475" lvl="3" marL="188595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Định tuyến thông minh (</a:t>
            </a:r>
            <a:r>
              <a:rPr b="0" i="0" lang="en-US" sz="3600" u="none" cap="none" strike="noStrike">
                <a:solidFill>
                  <a:srgbClr val="333333"/>
                </a:solidFill>
                <a:latin typeface="Roboto Condensed"/>
                <a:ea typeface="Roboto Condensed"/>
                <a:cs typeface="Roboto Condensed"/>
                <a:sym typeface="Roboto Condensed"/>
              </a:rPr>
              <a:t>intelligent routing)</a:t>
            </a:r>
            <a:endParaRPr sz="1800"/>
          </a:p>
          <a:p>
            <a:pPr indent="-371475" lvl="3" marL="188595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Dịch vụ trung gian (micro-proxy)</a:t>
            </a:r>
            <a:endParaRPr sz="1800"/>
          </a:p>
          <a:p>
            <a:pPr indent="-371475" lvl="3" marL="188595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Mã xác thực một lần (</a:t>
            </a:r>
            <a:r>
              <a:rPr b="0" i="0" lang="en-US" sz="3600" u="none" cap="none" strike="noStrike">
                <a:solidFill>
                  <a:srgbClr val="333333"/>
                </a:solidFill>
                <a:latin typeface="Roboto Condensed"/>
                <a:ea typeface="Roboto Condensed"/>
                <a:cs typeface="Roboto Condensed"/>
                <a:sym typeface="Roboto Condensed"/>
              </a:rPr>
              <a:t>one-time tokens)</a:t>
            </a:r>
            <a:endParaRPr sz="1800"/>
          </a:p>
          <a:p>
            <a:pPr indent="-371475" lvl="3" marL="188595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Khóa toàn cục (global locks)</a:t>
            </a:r>
            <a:endParaRPr sz="1800"/>
          </a:p>
          <a:p>
            <a:pPr indent="-371475" lvl="3" marL="1885950" marR="0" rtl="0" algn="just">
              <a:lnSpc>
                <a:spcPct val="100000"/>
              </a:lnSpc>
              <a:spcBef>
                <a:spcPts val="0"/>
              </a:spcBef>
              <a:spcAft>
                <a:spcPts val="0"/>
              </a:spcAft>
              <a:buClr>
                <a:srgbClr val="000000"/>
              </a:buClr>
              <a:buSzPts val="3200"/>
              <a:buFont typeface="Noto Sans Symbols"/>
              <a:buNone/>
            </a:pPr>
            <a:r>
              <a:t/>
            </a:r>
            <a:endParaRPr b="0" i="0" sz="3600" u="none" cap="none" strike="noStrike">
              <a:solidFill>
                <a:srgbClr val="000000"/>
              </a:solidFill>
              <a:latin typeface="Roboto Condensed"/>
              <a:ea typeface="Roboto Condensed"/>
              <a:cs typeface="Roboto Condensed"/>
              <a:sym typeface="Roboto Condensed"/>
            </a:endParaRPr>
          </a:p>
          <a:p>
            <a:pPr indent="-600075" lvl="3" marL="1885950" marR="0" rtl="0" algn="just">
              <a:lnSpc>
                <a:spcPct val="10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Roboto Condensed"/>
                <a:ea typeface="Roboto Condensed"/>
                <a:cs typeface="Roboto Condensed"/>
                <a:sym typeface="Roboto Condensed"/>
              </a:rPr>
              <a:t>Phân phối phiên làm việc (</a:t>
            </a:r>
            <a:r>
              <a:rPr b="0" i="0" lang="en-US" sz="3600" u="none" cap="none" strike="noStrike">
                <a:solidFill>
                  <a:srgbClr val="333333"/>
                </a:solidFill>
                <a:latin typeface="Roboto Condensed"/>
                <a:ea typeface="Roboto Condensed"/>
                <a:cs typeface="Roboto Condensed"/>
                <a:sym typeface="Roboto Condensed"/>
              </a:rPr>
              <a:t>distributed sessions)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sp>
        <p:nvSpPr>
          <p:cNvPr id="145" name="Google Shape;145;p28"/>
          <p:cNvSpPr txBox="1"/>
          <p:nvPr/>
        </p:nvSpPr>
        <p:spPr>
          <a:xfrm>
            <a:off x="1771650" y="3572320"/>
            <a:ext cx="39855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300" u="none" cap="none" strike="noStrike">
                <a:solidFill>
                  <a:srgbClr val="0079BF"/>
                </a:solidFill>
                <a:latin typeface="Roboto Condensed"/>
                <a:ea typeface="Roboto Condensed"/>
                <a:cs typeface="Roboto Condensed"/>
                <a:sym typeface="Roboto Condensed"/>
              </a:rPr>
              <a:t>Spring Cloud</a:t>
            </a:r>
            <a:endParaRPr sz="1700"/>
          </a:p>
        </p:txBody>
      </p:sp>
      <p:pic>
        <p:nvPicPr>
          <p:cNvPr id="146" name="Google Shape;146;p28"/>
          <p:cNvPicPr preferRelativeResize="0"/>
          <p:nvPr/>
        </p:nvPicPr>
        <p:blipFill rotWithShape="1">
          <a:blip r:embed="rId3">
            <a:alphaModFix/>
          </a:blip>
          <a:srcRect b="0" l="0" r="0" t="0"/>
          <a:stretch/>
        </p:blipFill>
        <p:spPr>
          <a:xfrm>
            <a:off x="10322858" y="3334585"/>
            <a:ext cx="12962613" cy="7046846"/>
          </a:xfrm>
          <a:prstGeom prst="rect">
            <a:avLst/>
          </a:prstGeom>
          <a:noFill/>
          <a:ln>
            <a:noFill/>
          </a:ln>
        </p:spPr>
      </p:pic>
      <p:sp>
        <p:nvSpPr>
          <p:cNvPr id="147" name="Google Shape;147;p28"/>
          <p:cNvSpPr txBox="1"/>
          <p:nvPr/>
        </p:nvSpPr>
        <p:spPr>
          <a:xfrm>
            <a:off x="1021575" y="4626150"/>
            <a:ext cx="9122700" cy="5541300"/>
          </a:xfrm>
          <a:prstGeom prst="rect">
            <a:avLst/>
          </a:prstGeom>
          <a:noFill/>
          <a:ln>
            <a:noFill/>
          </a:ln>
        </p:spPr>
        <p:txBody>
          <a:bodyPr anchorCtr="0" anchor="t" bIns="45700" lIns="91425" spcFirstLastPara="1" rIns="91425" wrap="square" tIns="45700">
            <a:spAutoFit/>
          </a:bodyPr>
          <a:lstStyle/>
          <a:p>
            <a:pPr indent="-615950" lvl="0" marL="571500" marR="0" rtl="0" algn="l">
              <a:lnSpc>
                <a:spcPct val="100000"/>
              </a:lnSpc>
              <a:spcBef>
                <a:spcPts val="0"/>
              </a:spcBef>
              <a:spcAft>
                <a:spcPts val="0"/>
              </a:spcAft>
              <a:buClr>
                <a:srgbClr val="000000"/>
              </a:buClr>
              <a:buSzPts val="3900"/>
              <a:buFont typeface="Noto Sans Symbols"/>
              <a:buChar char="❖"/>
            </a:pPr>
            <a:r>
              <a:rPr b="0" i="0" lang="en-US" sz="3900" u="none" cap="none" strike="noStrike">
                <a:solidFill>
                  <a:srgbClr val="000000"/>
                </a:solidFill>
                <a:latin typeface="Roboto Condensed"/>
                <a:ea typeface="Roboto Condensed"/>
                <a:cs typeface="Roboto Condensed"/>
                <a:sym typeface="Roboto Condensed"/>
              </a:rPr>
              <a:t>3 thành phần chính trong spring cloud để xây dựng microservices:</a:t>
            </a:r>
            <a:endParaRPr b="0" i="0" sz="3900" u="none" cap="none" strike="noStrike">
              <a:solidFill>
                <a:srgbClr val="000000"/>
              </a:solidFill>
              <a:latin typeface="Roboto Condensed"/>
              <a:ea typeface="Roboto Condensed"/>
              <a:cs typeface="Roboto Condensed"/>
              <a:sym typeface="Roboto Condensed"/>
            </a:endParaRPr>
          </a:p>
          <a:p>
            <a:pPr indent="-368300" lvl="0" marL="571500" marR="0" rtl="0" algn="l">
              <a:lnSpc>
                <a:spcPct val="100000"/>
              </a:lnSpc>
              <a:spcBef>
                <a:spcPts val="0"/>
              </a:spcBef>
              <a:spcAft>
                <a:spcPts val="0"/>
              </a:spcAft>
              <a:buClr>
                <a:srgbClr val="000000"/>
              </a:buClr>
              <a:buSzPts val="3200"/>
              <a:buFont typeface="Noto Sans Symbols"/>
              <a:buNone/>
            </a:pPr>
            <a:r>
              <a:t/>
            </a:r>
            <a:endParaRPr b="0" i="0" sz="3900" u="none" cap="none" strike="noStrike">
              <a:solidFill>
                <a:srgbClr val="000000"/>
              </a:solidFill>
              <a:latin typeface="Roboto Condensed"/>
              <a:ea typeface="Roboto Condensed"/>
              <a:cs typeface="Roboto Condensed"/>
              <a:sym typeface="Roboto Condensed"/>
            </a:endParaRPr>
          </a:p>
          <a:p>
            <a:pPr indent="-615950" lvl="3" marL="571500" marR="0" rtl="0" algn="just">
              <a:lnSpc>
                <a:spcPct val="100000"/>
              </a:lnSpc>
              <a:spcBef>
                <a:spcPts val="0"/>
              </a:spcBef>
              <a:spcAft>
                <a:spcPts val="0"/>
              </a:spcAft>
              <a:buClr>
                <a:srgbClr val="000000"/>
              </a:buClr>
              <a:buSzPts val="3900"/>
              <a:buFont typeface="Noto Sans Symbols"/>
              <a:buChar char="▪"/>
            </a:pPr>
            <a:r>
              <a:rPr b="0" i="0" lang="en-US" sz="3900" u="sng" cap="none" strike="noStrike">
                <a:solidFill>
                  <a:schemeClr val="dk1"/>
                </a:solidFill>
                <a:latin typeface="Arial"/>
                <a:ea typeface="Arial"/>
                <a:cs typeface="Arial"/>
                <a:sym typeface="Arial"/>
                <a:hlinkClick r:id="rId4">
                  <a:extLst>
                    <a:ext uri="{A12FA001-AC4F-418D-AE19-62706E023703}">
                      <ahyp:hlinkClr val="tx"/>
                    </a:ext>
                  </a:extLst>
                </a:hlinkClick>
              </a:rPr>
              <a:t>Spring Cloud Config</a:t>
            </a:r>
            <a:endParaRPr b="0" i="0" sz="3900" u="none" cap="none" strike="noStrike">
              <a:solidFill>
                <a:schemeClr val="dk1"/>
              </a:solidFill>
              <a:latin typeface="Arial"/>
              <a:ea typeface="Arial"/>
              <a:cs typeface="Arial"/>
              <a:sym typeface="Arial"/>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900" u="none" cap="none" strike="noStrike">
              <a:solidFill>
                <a:schemeClr val="dk1"/>
              </a:solidFill>
              <a:latin typeface="Roboto Condensed"/>
              <a:ea typeface="Roboto Condensed"/>
              <a:cs typeface="Roboto Condensed"/>
              <a:sym typeface="Roboto Condensed"/>
            </a:endParaRPr>
          </a:p>
          <a:p>
            <a:pPr indent="-615950" lvl="3" marL="571500" marR="0" rtl="0" algn="just">
              <a:lnSpc>
                <a:spcPct val="100000"/>
              </a:lnSpc>
              <a:spcBef>
                <a:spcPts val="0"/>
              </a:spcBef>
              <a:spcAft>
                <a:spcPts val="0"/>
              </a:spcAft>
              <a:buClr>
                <a:srgbClr val="000000"/>
              </a:buClr>
              <a:buSzPts val="3900"/>
              <a:buFont typeface="Noto Sans Symbols"/>
              <a:buChar char="▪"/>
            </a:pPr>
            <a:r>
              <a:rPr b="0" i="0" lang="en-US" sz="3900" u="sng" cap="none" strike="noStrike">
                <a:solidFill>
                  <a:schemeClr val="dk1"/>
                </a:solidFill>
                <a:latin typeface="Arial"/>
                <a:ea typeface="Arial"/>
                <a:cs typeface="Arial"/>
                <a:sym typeface="Arial"/>
                <a:hlinkClick r:id="rId5">
                  <a:extLst>
                    <a:ext uri="{A12FA001-AC4F-418D-AE19-62706E023703}">
                      <ahyp:hlinkClr val="tx"/>
                    </a:ext>
                  </a:extLst>
                </a:hlinkClick>
              </a:rPr>
              <a:t>Spring Cloud Gateway</a:t>
            </a:r>
            <a:endParaRPr b="0" i="0" sz="3900" u="none" cap="none" strike="noStrike">
              <a:solidFill>
                <a:schemeClr val="dk1"/>
              </a:solidFill>
              <a:latin typeface="Arial"/>
              <a:ea typeface="Arial"/>
              <a:cs typeface="Arial"/>
              <a:sym typeface="Arial"/>
            </a:endParaRPr>
          </a:p>
          <a:p>
            <a:pPr indent="-368300" lvl="3" marL="571500" marR="0" rtl="0" algn="just">
              <a:lnSpc>
                <a:spcPct val="100000"/>
              </a:lnSpc>
              <a:spcBef>
                <a:spcPts val="0"/>
              </a:spcBef>
              <a:spcAft>
                <a:spcPts val="0"/>
              </a:spcAft>
              <a:buClr>
                <a:srgbClr val="000000"/>
              </a:buClr>
              <a:buSzPts val="3200"/>
              <a:buFont typeface="Noto Sans Symbols"/>
              <a:buNone/>
            </a:pPr>
            <a:r>
              <a:t/>
            </a:r>
            <a:endParaRPr b="0" i="0" sz="3900" u="none" cap="none" strike="noStrike">
              <a:solidFill>
                <a:schemeClr val="dk1"/>
              </a:solidFill>
              <a:latin typeface="Arial"/>
              <a:ea typeface="Arial"/>
              <a:cs typeface="Arial"/>
              <a:sym typeface="Arial"/>
            </a:endParaRPr>
          </a:p>
          <a:p>
            <a:pPr indent="-615950" lvl="3" marL="571500" marR="0" rtl="0" algn="just">
              <a:lnSpc>
                <a:spcPct val="100000"/>
              </a:lnSpc>
              <a:spcBef>
                <a:spcPts val="0"/>
              </a:spcBef>
              <a:spcAft>
                <a:spcPts val="0"/>
              </a:spcAft>
              <a:buClr>
                <a:srgbClr val="000000"/>
              </a:buClr>
              <a:buSzPts val="3900"/>
              <a:buFont typeface="Noto Sans Symbols"/>
              <a:buChar char="▪"/>
            </a:pPr>
            <a:r>
              <a:rPr b="0" i="0" lang="en-US" sz="3900" u="sng" cap="none" strike="noStrike">
                <a:solidFill>
                  <a:schemeClr val="dk1"/>
                </a:solidFill>
                <a:latin typeface="Arial"/>
                <a:ea typeface="Arial"/>
                <a:cs typeface="Arial"/>
                <a:sym typeface="Arial"/>
                <a:hlinkClick r:id="rId6">
                  <a:extLst>
                    <a:ext uri="{A12FA001-AC4F-418D-AE19-62706E023703}">
                      <ahyp:hlinkClr val="tx"/>
                    </a:ext>
                  </a:extLst>
                </a:hlinkClick>
              </a:rPr>
              <a:t>Spring Cloud Netflix</a:t>
            </a:r>
            <a:endParaRPr b="0" i="0" sz="3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sp>
        <p:nvSpPr>
          <p:cNvPr id="153" name="Google Shape;153;p29"/>
          <p:cNvSpPr txBox="1"/>
          <p:nvPr/>
        </p:nvSpPr>
        <p:spPr>
          <a:xfrm>
            <a:off x="1200150" y="1714945"/>
            <a:ext cx="570169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Spring Cloud Config</a:t>
            </a:r>
            <a:endParaRPr/>
          </a:p>
        </p:txBody>
      </p:sp>
      <p:sp>
        <p:nvSpPr>
          <p:cNvPr id="154" name="Google Shape;154;p29"/>
          <p:cNvSpPr txBox="1"/>
          <p:nvPr/>
        </p:nvSpPr>
        <p:spPr>
          <a:xfrm>
            <a:off x="1200148" y="2835069"/>
            <a:ext cx="10161000" cy="10020300"/>
          </a:xfrm>
          <a:prstGeom prst="rect">
            <a:avLst/>
          </a:prstGeom>
          <a:noFill/>
          <a:ln>
            <a:noFill/>
          </a:ln>
        </p:spPr>
        <p:txBody>
          <a:bodyPr anchorCtr="0" anchor="t" bIns="45700" lIns="91425" spcFirstLastPara="1" rIns="91425" wrap="square" tIns="45700">
            <a:spAutoFit/>
          </a:bodyPr>
          <a:lstStyle/>
          <a:p>
            <a:pPr indent="-501650" lvl="3" marL="457200" marR="0" rtl="0" algn="just">
              <a:lnSpc>
                <a:spcPct val="100000"/>
              </a:lnSpc>
              <a:spcBef>
                <a:spcPts val="0"/>
              </a:spcBef>
              <a:spcAft>
                <a:spcPts val="0"/>
              </a:spcAft>
              <a:buClr>
                <a:srgbClr val="000000"/>
              </a:buClr>
              <a:buSzPts val="3900"/>
              <a:buFont typeface="Noto Sans Symbols"/>
              <a:buChar char="❖"/>
            </a:pPr>
            <a:r>
              <a:rPr b="1" i="0" lang="en-US" sz="3900" u="none" cap="none" strike="noStrike">
                <a:solidFill>
                  <a:srgbClr val="686868"/>
                </a:solidFill>
                <a:latin typeface="Roboto Condensed"/>
                <a:ea typeface="Roboto Condensed"/>
                <a:cs typeface="Roboto Condensed"/>
                <a:sym typeface="Roboto Condensed"/>
              </a:rPr>
              <a:t>Spring Cloud Config </a:t>
            </a:r>
            <a:r>
              <a:rPr b="0" i="0" lang="en-US" sz="3900" u="none" cap="none" strike="noStrike">
                <a:solidFill>
                  <a:srgbClr val="686868"/>
                </a:solidFill>
                <a:latin typeface="Roboto Condensed"/>
                <a:ea typeface="Roboto Condensed"/>
                <a:cs typeface="Roboto Condensed"/>
                <a:sym typeface="Roboto Condensed"/>
              </a:rPr>
              <a:t>là một dịch vụ của </a:t>
            </a:r>
            <a:r>
              <a:rPr b="1" i="0" lang="en-US" sz="3900" u="none" cap="none" strike="noStrike">
                <a:solidFill>
                  <a:srgbClr val="686868"/>
                </a:solidFill>
                <a:latin typeface="Roboto Condensed"/>
                <a:ea typeface="Roboto Condensed"/>
                <a:cs typeface="Roboto Condensed"/>
                <a:sym typeface="Roboto Condensed"/>
              </a:rPr>
              <a:t>Spring Cloud</a:t>
            </a:r>
            <a:r>
              <a:rPr b="0" i="0" lang="en-US" sz="3900" u="none" cap="none" strike="noStrike">
                <a:solidFill>
                  <a:srgbClr val="686868"/>
                </a:solidFill>
                <a:latin typeface="Roboto Condensed"/>
                <a:ea typeface="Roboto Condensed"/>
                <a:cs typeface="Roboto Condensed"/>
                <a:sym typeface="Roboto Condensed"/>
              </a:rPr>
              <a:t>, cung cấp khả năng quản lý cấu hình trung tâm cho các ứng dụng phân tán. </a:t>
            </a:r>
            <a:endParaRPr b="0" i="0" sz="3900" u="none" cap="none" strike="noStrike">
              <a:solidFill>
                <a:srgbClr val="686868"/>
              </a:solidFill>
              <a:latin typeface="Roboto Condensed"/>
              <a:ea typeface="Roboto Condensed"/>
              <a:cs typeface="Roboto Condensed"/>
              <a:sym typeface="Roboto Condensed"/>
            </a:endParaRPr>
          </a:p>
          <a:p>
            <a:pPr indent="-254000" lvl="3" marL="457200" marR="0" rtl="0" algn="just">
              <a:lnSpc>
                <a:spcPct val="100000"/>
              </a:lnSpc>
              <a:spcBef>
                <a:spcPts val="0"/>
              </a:spcBef>
              <a:spcAft>
                <a:spcPts val="0"/>
              </a:spcAft>
              <a:buClr>
                <a:srgbClr val="000000"/>
              </a:buClr>
              <a:buSzPts val="3200"/>
              <a:buFont typeface="Noto Sans Symbols"/>
              <a:buNone/>
            </a:pPr>
            <a:r>
              <a:t/>
            </a:r>
            <a:endParaRPr b="0" i="0" sz="3900" u="none" cap="none" strike="noStrike">
              <a:solidFill>
                <a:srgbClr val="686868"/>
              </a:solidFill>
              <a:latin typeface="Roboto Condensed"/>
              <a:ea typeface="Roboto Condensed"/>
              <a:cs typeface="Roboto Condensed"/>
              <a:sym typeface="Roboto Condensed"/>
            </a:endParaRPr>
          </a:p>
          <a:p>
            <a:pPr indent="-501650" lvl="3" marL="457200" marR="0" rtl="0" algn="just">
              <a:lnSpc>
                <a:spcPct val="100000"/>
              </a:lnSpc>
              <a:spcBef>
                <a:spcPts val="0"/>
              </a:spcBef>
              <a:spcAft>
                <a:spcPts val="0"/>
              </a:spcAft>
              <a:buClr>
                <a:srgbClr val="000000"/>
              </a:buClr>
              <a:buSzPts val="3900"/>
              <a:buFont typeface="Noto Sans Symbols"/>
              <a:buChar char="❖"/>
            </a:pPr>
            <a:r>
              <a:rPr b="0" i="0" lang="en-US" sz="3900" u="none" cap="none" strike="noStrike">
                <a:solidFill>
                  <a:srgbClr val="686868"/>
                </a:solidFill>
                <a:latin typeface="Roboto Condensed"/>
                <a:ea typeface="Roboto Condensed"/>
                <a:cs typeface="Roboto Condensed"/>
                <a:sym typeface="Roboto Condensed"/>
              </a:rPr>
              <a:t>Nó cho phép các ứng dụng lấy cấu hình của chúng từ một vị trí tập trung thay vì phải lưu trữ cấu hình trực tiếp trong mã nguồn hoặc tệp tin.</a:t>
            </a:r>
            <a:endParaRPr b="0" i="0" sz="3900" u="none" cap="none" strike="noStrike">
              <a:solidFill>
                <a:srgbClr val="686868"/>
              </a:solidFill>
              <a:latin typeface="Roboto Condensed"/>
              <a:ea typeface="Roboto Condensed"/>
              <a:cs typeface="Roboto Condensed"/>
              <a:sym typeface="Roboto Condensed"/>
            </a:endParaRPr>
          </a:p>
          <a:p>
            <a:pPr indent="0" lvl="3" marL="0" marR="0" rtl="0" algn="just">
              <a:lnSpc>
                <a:spcPct val="100000"/>
              </a:lnSpc>
              <a:spcBef>
                <a:spcPts val="0"/>
              </a:spcBef>
              <a:spcAft>
                <a:spcPts val="0"/>
              </a:spcAft>
              <a:buNone/>
            </a:pPr>
            <a:r>
              <a:t/>
            </a:r>
            <a:endParaRPr b="0" i="0" sz="3900" u="none" cap="none" strike="noStrike">
              <a:solidFill>
                <a:srgbClr val="686868"/>
              </a:solidFill>
              <a:latin typeface="Roboto Condensed"/>
              <a:ea typeface="Roboto Condensed"/>
              <a:cs typeface="Roboto Condensed"/>
              <a:sym typeface="Roboto Condensed"/>
            </a:endParaRPr>
          </a:p>
          <a:p>
            <a:pPr indent="-501650" lvl="3" marL="457200" marR="0" rtl="0" algn="just">
              <a:lnSpc>
                <a:spcPct val="100000"/>
              </a:lnSpc>
              <a:spcBef>
                <a:spcPts val="0"/>
              </a:spcBef>
              <a:spcAft>
                <a:spcPts val="0"/>
              </a:spcAft>
              <a:buClr>
                <a:srgbClr val="000000"/>
              </a:buClr>
              <a:buSzPts val="3900"/>
              <a:buFont typeface="Noto Sans Symbols"/>
              <a:buChar char="❖"/>
            </a:pPr>
            <a:r>
              <a:rPr b="0" i="0" lang="en-US" sz="3900" u="none" cap="none" strike="noStrike">
                <a:solidFill>
                  <a:srgbClr val="686868"/>
                </a:solidFill>
                <a:latin typeface="Roboto Condensed"/>
                <a:ea typeface="Roboto Condensed"/>
                <a:cs typeface="Roboto Condensed"/>
                <a:sym typeface="Roboto Condensed"/>
              </a:rPr>
              <a:t>Các ứng dụng có thể truy cập cấu hình của chúng thông qua REST API, hoặc thông qua các thư viện khách được cung cấp bởi Spring Cloud Config. </a:t>
            </a:r>
            <a:endParaRPr b="0" i="0" sz="3900" u="none" cap="none" strike="noStrike">
              <a:solidFill>
                <a:srgbClr val="686868"/>
              </a:solidFill>
              <a:latin typeface="Roboto Condensed"/>
              <a:ea typeface="Roboto Condensed"/>
              <a:cs typeface="Roboto Condensed"/>
              <a:sym typeface="Roboto Condensed"/>
            </a:endParaRPr>
          </a:p>
          <a:p>
            <a:pPr indent="-254000" lvl="3" marL="457200" marR="0" rtl="0" algn="just">
              <a:lnSpc>
                <a:spcPct val="100000"/>
              </a:lnSpc>
              <a:spcBef>
                <a:spcPts val="0"/>
              </a:spcBef>
              <a:spcAft>
                <a:spcPts val="0"/>
              </a:spcAft>
              <a:buClr>
                <a:srgbClr val="000000"/>
              </a:buClr>
              <a:buSzPts val="3200"/>
              <a:buFont typeface="Noto Sans Symbols"/>
              <a:buNone/>
            </a:pPr>
            <a:r>
              <a:t/>
            </a:r>
            <a:endParaRPr b="0" i="0" sz="3900" u="none" cap="none" strike="noStrike">
              <a:solidFill>
                <a:srgbClr val="686868"/>
              </a:solidFill>
              <a:latin typeface="Roboto Condensed"/>
              <a:ea typeface="Roboto Condensed"/>
              <a:cs typeface="Roboto Condensed"/>
              <a:sym typeface="Roboto Condensed"/>
            </a:endParaRPr>
          </a:p>
          <a:p>
            <a:pPr indent="-501650" lvl="3" marL="457200" marR="0" rtl="0" algn="just">
              <a:lnSpc>
                <a:spcPct val="100000"/>
              </a:lnSpc>
              <a:spcBef>
                <a:spcPts val="0"/>
              </a:spcBef>
              <a:spcAft>
                <a:spcPts val="0"/>
              </a:spcAft>
              <a:buClr>
                <a:srgbClr val="000000"/>
              </a:buClr>
              <a:buSzPts val="3900"/>
              <a:buFont typeface="Noto Sans Symbols"/>
              <a:buChar char="❖"/>
            </a:pPr>
            <a:r>
              <a:rPr b="0" i="0" lang="en-US" sz="3900" u="none" cap="none" strike="noStrike">
                <a:solidFill>
                  <a:srgbClr val="686868"/>
                </a:solidFill>
                <a:latin typeface="Roboto Condensed"/>
                <a:ea typeface="Roboto Condensed"/>
                <a:cs typeface="Roboto Condensed"/>
                <a:sym typeface="Roboto Condensed"/>
              </a:rPr>
              <a:t>Sử dụng Spring Cloud Config, ta có thể dễ dàng quản lý và triển khai các ứng dụng phân tán một cách hiệu quả và an toàn hơn.</a:t>
            </a:r>
            <a:endParaRPr b="1" i="0" sz="39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p:txBody>
      </p:sp>
      <p:pic>
        <p:nvPicPr>
          <p:cNvPr id="155" name="Google Shape;155;p29"/>
          <p:cNvPicPr preferRelativeResize="0"/>
          <p:nvPr/>
        </p:nvPicPr>
        <p:blipFill rotWithShape="1">
          <a:blip r:embed="rId3">
            <a:alphaModFix/>
          </a:blip>
          <a:srcRect b="0" l="0" r="0" t="0"/>
          <a:stretch/>
        </p:blipFill>
        <p:spPr>
          <a:xfrm>
            <a:off x="11649204" y="2835065"/>
            <a:ext cx="11937306" cy="83746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sp>
        <p:nvSpPr>
          <p:cNvPr id="161" name="Google Shape;161;p30"/>
          <p:cNvSpPr txBox="1"/>
          <p:nvPr/>
        </p:nvSpPr>
        <p:spPr>
          <a:xfrm>
            <a:off x="1200150" y="1714945"/>
            <a:ext cx="570169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Spring Cloud Gateway</a:t>
            </a:r>
            <a:endParaRPr/>
          </a:p>
        </p:txBody>
      </p:sp>
      <p:sp>
        <p:nvSpPr>
          <p:cNvPr id="162" name="Google Shape;162;p30"/>
          <p:cNvSpPr txBox="1"/>
          <p:nvPr/>
        </p:nvSpPr>
        <p:spPr>
          <a:xfrm>
            <a:off x="1200149" y="2835069"/>
            <a:ext cx="9083700" cy="9450900"/>
          </a:xfrm>
          <a:prstGeom prst="rect">
            <a:avLst/>
          </a:prstGeom>
          <a:noFill/>
          <a:ln>
            <a:noFill/>
          </a:ln>
        </p:spPr>
        <p:txBody>
          <a:bodyPr anchorCtr="0" anchor="t" bIns="45700" lIns="91425" spcFirstLastPara="1" rIns="91425" wrap="square" tIns="45700">
            <a:spAutoFit/>
          </a:bodyPr>
          <a:lstStyle/>
          <a:p>
            <a:pPr indent="-495300" lvl="3" marL="457200" marR="0" rtl="0" algn="just">
              <a:lnSpc>
                <a:spcPct val="100000"/>
              </a:lnSpc>
              <a:spcBef>
                <a:spcPts val="0"/>
              </a:spcBef>
              <a:spcAft>
                <a:spcPts val="0"/>
              </a:spcAft>
              <a:buClr>
                <a:srgbClr val="000000"/>
              </a:buClr>
              <a:buSzPts val="3800"/>
              <a:buFont typeface="Noto Sans Symbols"/>
              <a:buChar char="❖"/>
            </a:pPr>
            <a:r>
              <a:rPr b="0" i="0" lang="en-US" sz="3800" u="none" cap="none" strike="noStrike">
                <a:solidFill>
                  <a:srgbClr val="1B1B1B"/>
                </a:solidFill>
                <a:latin typeface="Roboto Condensed"/>
                <a:ea typeface="Roboto Condensed"/>
                <a:cs typeface="Roboto Condensed"/>
                <a:sym typeface="Roboto Condensed"/>
              </a:rPr>
              <a:t>Một </a:t>
            </a:r>
            <a:r>
              <a:rPr b="1" i="0" lang="en-US" sz="3800" u="none" cap="none" strike="noStrike">
                <a:solidFill>
                  <a:srgbClr val="1B1B1B"/>
                </a:solidFill>
                <a:latin typeface="Roboto Condensed"/>
                <a:ea typeface="Roboto Condensed"/>
                <a:cs typeface="Roboto Condensed"/>
                <a:sym typeface="Roboto Condensed"/>
              </a:rPr>
              <a:t>Gateway</a:t>
            </a:r>
            <a:r>
              <a:rPr b="0" i="0" lang="en-US" sz="3800" u="none" cap="none" strike="noStrike">
                <a:solidFill>
                  <a:srgbClr val="1B1B1B"/>
                </a:solidFill>
                <a:latin typeface="Roboto Condensed"/>
                <a:ea typeface="Roboto Condensed"/>
                <a:cs typeface="Roboto Condensed"/>
                <a:sym typeface="Roboto Condensed"/>
              </a:rPr>
              <a:t> là một cánh cổng để đi vào hệ thống, được sử dụng để xử lý các yêu cầu bằng cách định tuyến chúng đến dịch vụ tương ứng. Nó cũng có thể được sử dụng cho xác thực, giám sát và nhiều hơn nữa.</a:t>
            </a:r>
            <a:endParaRPr b="0" i="0" sz="3800" u="none" cap="none" strike="noStrike">
              <a:solidFill>
                <a:srgbClr val="686868"/>
              </a:solidFill>
              <a:latin typeface="Roboto Condensed"/>
              <a:ea typeface="Roboto Condensed"/>
              <a:cs typeface="Roboto Condensed"/>
              <a:sym typeface="Roboto Condensed"/>
            </a:endParaRPr>
          </a:p>
          <a:p>
            <a:pPr indent="-254000" lvl="3" marL="457200" marR="0" rtl="0" algn="just">
              <a:lnSpc>
                <a:spcPct val="100000"/>
              </a:lnSpc>
              <a:spcBef>
                <a:spcPts val="0"/>
              </a:spcBef>
              <a:spcAft>
                <a:spcPts val="0"/>
              </a:spcAft>
              <a:buClr>
                <a:srgbClr val="000000"/>
              </a:buClr>
              <a:buSzPts val="3200"/>
              <a:buFont typeface="Noto Sans Symbols"/>
              <a:buNone/>
            </a:pPr>
            <a:r>
              <a:t/>
            </a:r>
            <a:endParaRPr b="0" i="0" sz="3800" u="none" cap="none" strike="noStrike">
              <a:solidFill>
                <a:srgbClr val="686868"/>
              </a:solidFill>
              <a:latin typeface="Roboto Condensed"/>
              <a:ea typeface="Roboto Condensed"/>
              <a:cs typeface="Roboto Condensed"/>
              <a:sym typeface="Roboto Condensed"/>
            </a:endParaRPr>
          </a:p>
          <a:p>
            <a:pPr indent="-495300" lvl="0" marL="457200" marR="0" rtl="0" algn="l">
              <a:lnSpc>
                <a:spcPct val="100000"/>
              </a:lnSpc>
              <a:spcBef>
                <a:spcPts val="0"/>
              </a:spcBef>
              <a:spcAft>
                <a:spcPts val="0"/>
              </a:spcAft>
              <a:buClr>
                <a:srgbClr val="000000"/>
              </a:buClr>
              <a:buSzPts val="3800"/>
              <a:buFont typeface="Noto Sans Symbols"/>
              <a:buChar char="❖"/>
            </a:pPr>
            <a:r>
              <a:rPr b="0" i="0" lang="en-US" sz="3800" u="none" cap="none" strike="noStrike">
                <a:solidFill>
                  <a:srgbClr val="1B1B1B"/>
                </a:solidFill>
                <a:latin typeface="Roboto Condensed"/>
                <a:ea typeface="Roboto Condensed"/>
                <a:cs typeface="Roboto Condensed"/>
                <a:sym typeface="Roboto Condensed"/>
              </a:rPr>
              <a:t>Spring Cloud Gateway là một thư viện được sử dụng để xây dựng cổng API trên nền tảng Spring WebFlux. Dự án này nhằm mục đích cung cấp một cách đơn giản và hiệu quả để định tuyến đến các API và cung cấp các vấn đề liên quan đến bảo mật, giám sát/thống kê và khả năng chịu lỗi. Nó là một proxy, cổng thông tin, một lớp trung gian giữa người dùng và dịch vụ (service) của hệ thống.</a:t>
            </a:r>
            <a:endParaRPr b="0" i="0" sz="2000" u="none" cap="none" strike="noStrike">
              <a:solidFill>
                <a:srgbClr val="000000"/>
              </a:solidFill>
              <a:latin typeface="Arial"/>
              <a:ea typeface="Arial"/>
              <a:cs typeface="Arial"/>
              <a:sym typeface="Arial"/>
            </a:endParaRPr>
          </a:p>
        </p:txBody>
      </p:sp>
      <p:pic>
        <p:nvPicPr>
          <p:cNvPr id="163" name="Google Shape;163;p30"/>
          <p:cNvPicPr preferRelativeResize="0"/>
          <p:nvPr/>
        </p:nvPicPr>
        <p:blipFill rotWithShape="1">
          <a:blip r:embed="rId3">
            <a:alphaModFix/>
          </a:blip>
          <a:srcRect b="0" l="0" r="0" t="0"/>
          <a:stretch/>
        </p:blipFill>
        <p:spPr>
          <a:xfrm>
            <a:off x="10960271" y="2712937"/>
            <a:ext cx="11905369" cy="82901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4F81BD"/>
                </a:solidFill>
                <a:latin typeface="Arial"/>
                <a:ea typeface="Arial"/>
                <a:cs typeface="Arial"/>
                <a:sym typeface="Arial"/>
              </a:rPr>
              <a:t>Microservices</a:t>
            </a:r>
            <a:endParaRPr b="1" i="0" sz="6000" u="none" cap="none" strike="noStrike">
              <a:solidFill>
                <a:srgbClr val="4F81BD"/>
              </a:solidFill>
              <a:latin typeface="Arial"/>
              <a:ea typeface="Arial"/>
              <a:cs typeface="Arial"/>
              <a:sym typeface="Arial"/>
            </a:endParaRPr>
          </a:p>
        </p:txBody>
      </p:sp>
      <p:sp>
        <p:nvSpPr>
          <p:cNvPr id="169" name="Google Shape;169;p31"/>
          <p:cNvSpPr txBox="1"/>
          <p:nvPr/>
        </p:nvSpPr>
        <p:spPr>
          <a:xfrm>
            <a:off x="1200150" y="1714945"/>
            <a:ext cx="570169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79BF"/>
                </a:solidFill>
                <a:latin typeface="Roboto Condensed"/>
                <a:ea typeface="Roboto Condensed"/>
                <a:cs typeface="Roboto Condensed"/>
                <a:sym typeface="Roboto Condensed"/>
              </a:rPr>
              <a:t>Spring Cloud Netflix</a:t>
            </a:r>
            <a:endParaRPr/>
          </a:p>
        </p:txBody>
      </p:sp>
      <p:sp>
        <p:nvSpPr>
          <p:cNvPr id="170" name="Google Shape;170;p31"/>
          <p:cNvSpPr txBox="1"/>
          <p:nvPr/>
        </p:nvSpPr>
        <p:spPr>
          <a:xfrm>
            <a:off x="1200148" y="2835069"/>
            <a:ext cx="10161000" cy="9358500"/>
          </a:xfrm>
          <a:prstGeom prst="rect">
            <a:avLst/>
          </a:prstGeom>
          <a:noFill/>
          <a:ln>
            <a:noFill/>
          </a:ln>
        </p:spPr>
        <p:txBody>
          <a:bodyPr anchorCtr="0" anchor="t" bIns="45700" lIns="91425" spcFirstLastPara="1" rIns="91425" wrap="square" tIns="45700">
            <a:spAutoFit/>
          </a:bodyPr>
          <a:lstStyle/>
          <a:p>
            <a:pPr indent="-527050" lvl="3" marL="457200" marR="0" rtl="0" algn="just">
              <a:lnSpc>
                <a:spcPct val="100000"/>
              </a:lnSpc>
              <a:spcBef>
                <a:spcPts val="0"/>
              </a:spcBef>
              <a:spcAft>
                <a:spcPts val="0"/>
              </a:spcAft>
              <a:buClr>
                <a:srgbClr val="000000"/>
              </a:buClr>
              <a:buSzPts val="4300"/>
              <a:buFont typeface="Noto Sans Symbols"/>
              <a:buChar char="❖"/>
            </a:pPr>
            <a:r>
              <a:rPr b="1" i="0" lang="en-US" sz="4300" u="none" cap="none" strike="noStrike">
                <a:solidFill>
                  <a:srgbClr val="000000"/>
                </a:solidFill>
                <a:latin typeface="Roboto Condensed"/>
                <a:ea typeface="Roboto Condensed"/>
                <a:cs typeface="Roboto Condensed"/>
                <a:sym typeface="Roboto Condensed"/>
              </a:rPr>
              <a:t>Spring Cloud Netflix</a:t>
            </a:r>
            <a:r>
              <a:rPr b="0" i="0" lang="en-US" sz="4300" u="none" cap="none" strike="noStrike">
                <a:solidFill>
                  <a:srgbClr val="000000"/>
                </a:solidFill>
                <a:latin typeface="Roboto Condensed"/>
                <a:ea typeface="Roboto Condensed"/>
                <a:cs typeface="Roboto Condensed"/>
                <a:sym typeface="Roboto Condensed"/>
              </a:rPr>
              <a:t> cung cấp nần tảng tích hợp Netflix OSS (Open Source Software). Với một vài annotation chúng ta có thể nhanh chóng kích hoạt và cấu hình các mẫu phổ biến bên trong ứng dụng của mình và xây dựng các hệ thống phân tán lớn với các thành phần Netflix đã được thử nghiệm. </a:t>
            </a:r>
            <a:endParaRPr b="0" i="0" sz="4300" u="none" cap="none" strike="noStrike">
              <a:solidFill>
                <a:srgbClr val="000000"/>
              </a:solidFill>
              <a:latin typeface="Roboto Condensed"/>
              <a:ea typeface="Roboto Condensed"/>
              <a:cs typeface="Roboto Condensed"/>
              <a:sym typeface="Roboto Condensed"/>
            </a:endParaRPr>
          </a:p>
          <a:p>
            <a:pPr indent="-254000" lvl="3" marL="457200" marR="0" rtl="0" algn="just">
              <a:lnSpc>
                <a:spcPct val="100000"/>
              </a:lnSpc>
              <a:spcBef>
                <a:spcPts val="0"/>
              </a:spcBef>
              <a:spcAft>
                <a:spcPts val="0"/>
              </a:spcAft>
              <a:buClr>
                <a:srgbClr val="000000"/>
              </a:buClr>
              <a:buSzPts val="3200"/>
              <a:buFont typeface="Noto Sans Symbols"/>
              <a:buNone/>
            </a:pPr>
            <a:r>
              <a:t/>
            </a:r>
            <a:endParaRPr b="0" i="0" sz="4300" u="none" cap="none" strike="noStrike">
              <a:solidFill>
                <a:srgbClr val="000000"/>
              </a:solidFill>
              <a:latin typeface="Roboto Condensed"/>
              <a:ea typeface="Roboto Condensed"/>
              <a:cs typeface="Roboto Condensed"/>
              <a:sym typeface="Roboto Condensed"/>
            </a:endParaRPr>
          </a:p>
          <a:p>
            <a:pPr indent="-527050" lvl="3" marL="457200" marR="0" rtl="0" algn="just">
              <a:lnSpc>
                <a:spcPct val="100000"/>
              </a:lnSpc>
              <a:spcBef>
                <a:spcPts val="0"/>
              </a:spcBef>
              <a:spcAft>
                <a:spcPts val="0"/>
              </a:spcAft>
              <a:buClr>
                <a:srgbClr val="000000"/>
              </a:buClr>
              <a:buSzPts val="4300"/>
              <a:buFont typeface="Noto Sans Symbols"/>
              <a:buChar char="❖"/>
            </a:pPr>
            <a:r>
              <a:rPr b="1" i="0" lang="en-US" sz="4300" u="none" cap="none" strike="noStrike">
                <a:solidFill>
                  <a:srgbClr val="000000"/>
                </a:solidFill>
                <a:latin typeface="Roboto Condensed"/>
                <a:ea typeface="Roboto Condensed"/>
                <a:cs typeface="Roboto Condensed"/>
                <a:sym typeface="Roboto Condensed"/>
              </a:rPr>
              <a:t>Spring Cloud Netflix </a:t>
            </a:r>
            <a:r>
              <a:rPr b="0" i="0" lang="en-US" sz="4300" u="none" cap="none" strike="noStrike">
                <a:solidFill>
                  <a:srgbClr val="000000"/>
                </a:solidFill>
                <a:latin typeface="Roboto Condensed"/>
                <a:ea typeface="Roboto Condensed"/>
                <a:cs typeface="Roboto Condensed"/>
                <a:sym typeface="Roboto Condensed"/>
              </a:rPr>
              <a:t>gồm mốt số tính năng chính như:</a:t>
            </a:r>
            <a:endParaRPr b="0" i="0" sz="4300" u="none" cap="none" strike="noStrike">
              <a:solidFill>
                <a:srgbClr val="000000"/>
              </a:solidFill>
              <a:latin typeface="Roboto Condensed"/>
              <a:ea typeface="Roboto Condensed"/>
              <a:cs typeface="Roboto Condensed"/>
              <a:sym typeface="Roboto Condensed"/>
            </a:endParaRPr>
          </a:p>
          <a:p>
            <a:pPr indent="-527050" lvl="7" marL="457200" marR="0" rtl="0" algn="l">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Service Discovery(Eureka)</a:t>
            </a:r>
            <a:endParaRPr b="0" i="0" sz="4300" u="none" cap="none" strike="noStrike">
              <a:solidFill>
                <a:srgbClr val="000000"/>
              </a:solidFill>
              <a:latin typeface="Roboto Condensed"/>
              <a:ea typeface="Roboto Condensed"/>
              <a:cs typeface="Roboto Condensed"/>
              <a:sym typeface="Roboto Condensed"/>
            </a:endParaRPr>
          </a:p>
          <a:p>
            <a:pPr indent="-527050" lvl="3" marL="4572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Circuit Breaker(Hystrix)</a:t>
            </a:r>
            <a:endParaRPr b="0" i="0" sz="4300" u="none" cap="none" strike="noStrike">
              <a:solidFill>
                <a:srgbClr val="000000"/>
              </a:solidFill>
              <a:latin typeface="Roboto Condensed"/>
              <a:ea typeface="Roboto Condensed"/>
              <a:cs typeface="Roboto Condensed"/>
              <a:sym typeface="Roboto Condensed"/>
            </a:endParaRPr>
          </a:p>
          <a:p>
            <a:pPr indent="-527050" lvl="3" marL="4572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Client Side Load Balancer (Ribbon)</a:t>
            </a:r>
            <a:endParaRPr b="0" i="0" sz="4300" u="none" cap="none" strike="noStrike">
              <a:solidFill>
                <a:srgbClr val="000000"/>
              </a:solidFill>
              <a:latin typeface="Roboto Condensed"/>
              <a:ea typeface="Roboto Condensed"/>
              <a:cs typeface="Roboto Condensed"/>
              <a:sym typeface="Roboto Condensed"/>
            </a:endParaRPr>
          </a:p>
          <a:p>
            <a:pPr indent="-527050" lvl="3" marL="457200" marR="0" rtl="0" algn="just">
              <a:lnSpc>
                <a:spcPct val="100000"/>
              </a:lnSpc>
              <a:spcBef>
                <a:spcPts val="0"/>
              </a:spcBef>
              <a:spcAft>
                <a:spcPts val="0"/>
              </a:spcAft>
              <a:buClr>
                <a:srgbClr val="000000"/>
              </a:buClr>
              <a:buSzPts val="4300"/>
              <a:buFont typeface="Noto Sans Symbols"/>
              <a:buChar char="▪"/>
            </a:pPr>
            <a:r>
              <a:rPr b="0" i="0" lang="en-US" sz="4300" u="none" cap="none" strike="noStrike">
                <a:solidFill>
                  <a:srgbClr val="000000"/>
                </a:solidFill>
                <a:latin typeface="Roboto Condensed"/>
                <a:ea typeface="Roboto Condensed"/>
                <a:cs typeface="Roboto Condensed"/>
                <a:sym typeface="Roboto Condensed"/>
              </a:rPr>
              <a:t>External Configuratio</a:t>
            </a:r>
            <a:r>
              <a:rPr b="0" i="0" lang="en-US" sz="4300" u="none" cap="none" strike="noStrike">
                <a:solidFill>
                  <a:srgbClr val="000000"/>
                </a:solidFill>
                <a:latin typeface="Roboto Condensed"/>
                <a:ea typeface="Roboto Condensed"/>
                <a:cs typeface="Roboto Condensed"/>
                <a:sym typeface="Roboto Condensed"/>
              </a:rPr>
              <a:t>n</a:t>
            </a:r>
            <a:r>
              <a:rPr lang="en-US" sz="4300">
                <a:solidFill>
                  <a:srgbClr val="686868"/>
                </a:solidFill>
                <a:latin typeface="Roboto Condensed"/>
                <a:ea typeface="Roboto Condensed"/>
                <a:cs typeface="Roboto Condensed"/>
                <a:sym typeface="Roboto Condensed"/>
              </a:rPr>
              <a:t>.</a:t>
            </a:r>
            <a:endParaRPr b="0" i="0" sz="2500" u="none" cap="none" strike="noStrike">
              <a:solidFill>
                <a:srgbClr val="000000"/>
              </a:solidFill>
              <a:latin typeface="Arial"/>
              <a:ea typeface="Arial"/>
              <a:cs typeface="Arial"/>
              <a:sym typeface="Arial"/>
            </a:endParaRPr>
          </a:p>
        </p:txBody>
      </p:sp>
      <p:pic>
        <p:nvPicPr>
          <p:cNvPr id="171" name="Google Shape;171;p31"/>
          <p:cNvPicPr preferRelativeResize="0"/>
          <p:nvPr/>
        </p:nvPicPr>
        <p:blipFill rotWithShape="1">
          <a:blip r:embed="rId3">
            <a:alphaModFix/>
          </a:blip>
          <a:srcRect b="0" l="0" r="0" t="0"/>
          <a:stretch/>
        </p:blipFill>
        <p:spPr>
          <a:xfrm>
            <a:off x="12598365" y="1334024"/>
            <a:ext cx="9782825" cy="110479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