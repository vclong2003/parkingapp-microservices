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13716000" cx="24384000"/>
  <p:notesSz cx="6797675" cy="9929800"/>
  <p:embeddedFontLst>
    <p:embeddedFont>
      <p:font typeface="Roboto Condensed"/>
      <p:regular r:id="rId27"/>
      <p:bold r:id="rId28"/>
      <p:italic r:id="rId29"/>
      <p:boldItalic r:id="rId30"/>
    </p:embeddedFont>
    <p:embeddedFont>
      <p:font typeface="Helvetica Neue"/>
      <p:regular r:id="rId31"/>
      <p:bold r:id="rId32"/>
      <p:italic r:id="rId33"/>
      <p:boldItalic r:id="rId34"/>
    </p:embeddedFont>
    <p:embeddedFont>
      <p:font typeface="Helvetica Neue Light"/>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4320">
          <p15:clr>
            <a:srgbClr val="A4A3A4"/>
          </p15:clr>
        </p15:guide>
        <p15:guide id="2" pos="7680">
          <p15:clr>
            <a:srgbClr val="A4A3A4"/>
          </p15:clr>
        </p15:guide>
      </p15:sldGuideLst>
    </p:ext>
    <p:ext uri="GoogleSlidesCustomDataVersion2">
      <go:slidesCustomData xmlns:go="http://customooxmlschemas.google.com/" r:id="rId39" roundtripDataSignature="AMtx7mjvAFtD1F2lnXr2qBfiDaBiSLZaI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4320" orient="horz"/>
        <p:guide pos="76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obotoCondensed-bold.fntdata"/><Relationship Id="rId27" Type="http://schemas.openxmlformats.org/officeDocument/2006/relationships/font" Target="fonts/RobotoCondensed-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Condense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HelveticaNeue-regular.fntdata"/><Relationship Id="rId30" Type="http://schemas.openxmlformats.org/officeDocument/2006/relationships/font" Target="fonts/RobotoCondensed-boldItalic.fntdata"/><Relationship Id="rId11" Type="http://schemas.openxmlformats.org/officeDocument/2006/relationships/slide" Target="slides/slide6.xml"/><Relationship Id="rId33" Type="http://schemas.openxmlformats.org/officeDocument/2006/relationships/font" Target="fonts/HelveticaNeue-italic.fntdata"/><Relationship Id="rId10" Type="http://schemas.openxmlformats.org/officeDocument/2006/relationships/slide" Target="slides/slide5.xml"/><Relationship Id="rId32" Type="http://schemas.openxmlformats.org/officeDocument/2006/relationships/font" Target="fonts/HelveticaNeue-bold.fntdata"/><Relationship Id="rId13" Type="http://schemas.openxmlformats.org/officeDocument/2006/relationships/slide" Target="slides/slide8.xml"/><Relationship Id="rId35" Type="http://schemas.openxmlformats.org/officeDocument/2006/relationships/font" Target="fonts/HelveticaNeueLight-regular.fntdata"/><Relationship Id="rId12" Type="http://schemas.openxmlformats.org/officeDocument/2006/relationships/slide" Target="slides/slide7.xml"/><Relationship Id="rId34" Type="http://schemas.openxmlformats.org/officeDocument/2006/relationships/font" Target="fonts/HelveticaNeue-boldItalic.fntdata"/><Relationship Id="rId15" Type="http://schemas.openxmlformats.org/officeDocument/2006/relationships/slide" Target="slides/slide10.xml"/><Relationship Id="rId37" Type="http://schemas.openxmlformats.org/officeDocument/2006/relationships/font" Target="fonts/HelveticaNeueLight-italic.fntdata"/><Relationship Id="rId14" Type="http://schemas.openxmlformats.org/officeDocument/2006/relationships/slide" Target="slides/slide9.xml"/><Relationship Id="rId36" Type="http://schemas.openxmlformats.org/officeDocument/2006/relationships/font" Target="fonts/HelveticaNeueLight-bold.fntdata"/><Relationship Id="rId17" Type="http://schemas.openxmlformats.org/officeDocument/2006/relationships/slide" Target="slides/slide12.xml"/><Relationship Id="rId39" Type="http://customschemas.google.com/relationships/presentationmetadata" Target="metadata"/><Relationship Id="rId16" Type="http://schemas.openxmlformats.org/officeDocument/2006/relationships/slide" Target="slides/slide11.xml"/><Relationship Id="rId38" Type="http://schemas.openxmlformats.org/officeDocument/2006/relationships/font" Target="fonts/HelveticaNeueLight-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1pPr>
            <a:lvl2pPr indent="-228600" lvl="1" marL="914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2pPr>
            <a:lvl3pPr indent="-228600" lvl="2" marL="1371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3pPr>
            <a:lvl4pPr indent="-228600" lvl="3" marL="1828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4pPr>
            <a:lvl5pPr indent="-228600" lvl="4" marL="22860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5pPr>
            <a:lvl6pPr indent="-228600" lvl="5" marL="27432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6pPr>
            <a:lvl7pPr indent="-228600" lvl="6" marL="32004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7pPr>
            <a:lvl8pPr indent="-228600" lvl="7" marL="36576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8pPr>
            <a:lvl9pPr indent="-228600" lvl="8" marL="4114800" marR="0" rtl="0" algn="l">
              <a:lnSpc>
                <a:spcPct val="117999"/>
              </a:lnSpc>
              <a:spcBef>
                <a:spcPts val="0"/>
              </a:spcBef>
              <a:spcAft>
                <a:spcPts val="0"/>
              </a:spcAft>
              <a:buClr>
                <a:srgbClr val="000000"/>
              </a:buClr>
              <a:buSzPts val="1400"/>
              <a:buFont typeface="Arial"/>
              <a:buNone/>
              <a:defRPr b="0" i="0" sz="2200" u="none" cap="none" strike="noStrike">
                <a:solidFill>
                  <a:srgbClr val="000000"/>
                </a:solidFill>
                <a:latin typeface="Helvetica Neue"/>
                <a:ea typeface="Helvetica Neue"/>
                <a:cs typeface="Helvetica Neue"/>
                <a:sym typeface="Helvetica Neue"/>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 name="Google Shape;41;p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 name="Shape 46"/>
        <p:cNvGrpSpPr/>
        <p:nvPr/>
      </p:nvGrpSpPr>
      <p:grpSpPr>
        <a:xfrm>
          <a:off x="0" y="0"/>
          <a:ext cx="0" cy="0"/>
          <a:chOff x="0" y="0"/>
          <a:chExt cx="0" cy="0"/>
        </a:xfrm>
      </p:grpSpPr>
      <p:sp>
        <p:nvSpPr>
          <p:cNvPr id="47" name="Google Shape;47;p1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48" name="Google Shape;48;p1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p1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56" name="Google Shape;56;p1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2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64" name="Google Shape;64;p2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72" name="Google Shape;72;p2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0" name="Google Shape;80;p2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88" name="Google Shape;88;p2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2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96" name="Google Shape;96;p2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04" name="Google Shape;104;p2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2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12" name="Google Shape;112;p2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7: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0" name="Google Shape;120;p27: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8: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28" name="Google Shape;128;p28: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9: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36" name="Google Shape;136;p29: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30: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44" name="Google Shape;144;p30: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31: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52" name="Google Shape;152;p31: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32: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0" name="Google Shape;160;p32: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33: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68" name="Google Shape;168;p33: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34: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76" name="Google Shape;176;p34: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35: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84" name="Google Shape;184;p35: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36:notes"/>
          <p:cNvSpPr txBox="1"/>
          <p:nvPr>
            <p:ph idx="1" type="body"/>
          </p:nvPr>
        </p:nvSpPr>
        <p:spPr>
          <a:xfrm>
            <a:off x="906357" y="4716661"/>
            <a:ext cx="4984962" cy="4468416"/>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SzPts val="1400"/>
              <a:buNone/>
            </a:pPr>
            <a:r>
              <a:t/>
            </a:r>
            <a:endParaRPr/>
          </a:p>
        </p:txBody>
      </p:sp>
      <p:sp>
        <p:nvSpPr>
          <p:cNvPr id="192" name="Google Shape;192;p36:notes"/>
          <p:cNvSpPr/>
          <p:nvPr>
            <p:ph idx="2" type="sldImg"/>
          </p:nvPr>
        </p:nvSpPr>
        <p:spPr>
          <a:xfrm>
            <a:off x="88900" y="744538"/>
            <a:ext cx="6619875" cy="3724275"/>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1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9" name="Shape 9"/>
        <p:cNvGrpSpPr/>
        <p:nvPr/>
      </p:nvGrpSpPr>
      <p:grpSpPr>
        <a:xfrm>
          <a:off x="0" y="0"/>
          <a:ext cx="0" cy="0"/>
          <a:chOff x="0" y="0"/>
          <a:chExt cx="0" cy="0"/>
        </a:xfrm>
      </p:grpSpPr>
      <p:pic>
        <p:nvPicPr>
          <p:cNvPr id="10" name="Google Shape;10;p13"/>
          <p:cNvPicPr preferRelativeResize="0"/>
          <p:nvPr/>
        </p:nvPicPr>
        <p:blipFill rotWithShape="1">
          <a:blip r:embed="rId2">
            <a:alphaModFix/>
          </a:blip>
          <a:srcRect b="0" l="0" r="0" t="0"/>
          <a:stretch/>
        </p:blipFill>
        <p:spPr>
          <a:xfrm>
            <a:off x="21017131" y="859479"/>
            <a:ext cx="2950192" cy="1131834"/>
          </a:xfrm>
          <a:prstGeom prst="rect">
            <a:avLst/>
          </a:prstGeom>
          <a:noFill/>
          <a:ln>
            <a:noFill/>
          </a:ln>
        </p:spPr>
      </p:pic>
      <p:pic>
        <p:nvPicPr>
          <p:cNvPr id="11" name="Google Shape;11;p13"/>
          <p:cNvPicPr preferRelativeResize="0"/>
          <p:nvPr/>
        </p:nvPicPr>
        <p:blipFill rotWithShape="1">
          <a:blip r:embed="rId3">
            <a:alphaModFix/>
          </a:blip>
          <a:srcRect b="0" l="0" r="0" t="0"/>
          <a:stretch/>
        </p:blipFill>
        <p:spPr>
          <a:xfrm>
            <a:off x="0" y="0"/>
            <a:ext cx="24384000" cy="13716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12" name="Shape 12"/>
        <p:cNvGrpSpPr/>
        <p:nvPr/>
      </p:nvGrpSpPr>
      <p:grpSpPr>
        <a:xfrm>
          <a:off x="0" y="0"/>
          <a:ext cx="0" cy="0"/>
          <a:chOff x="0" y="0"/>
          <a:chExt cx="0" cy="0"/>
        </a:xfrm>
      </p:grpSpPr>
      <p:pic>
        <p:nvPicPr>
          <p:cNvPr descr="A screenshot of a cell phone&#10;&#10;Description automatically generated" id="13" name="Google Shape;13;p14"/>
          <p:cNvPicPr preferRelativeResize="0"/>
          <p:nvPr/>
        </p:nvPicPr>
        <p:blipFill rotWithShape="1">
          <a:blip r:embed="rId2">
            <a:alphaModFix/>
          </a:blip>
          <a:srcRect b="0" l="0" r="0" t="0"/>
          <a:stretch/>
        </p:blipFill>
        <p:spPr>
          <a:xfrm>
            <a:off x="0" y="0"/>
            <a:ext cx="24384000" cy="13716000"/>
          </a:xfrm>
          <a:prstGeom prst="rect">
            <a:avLst/>
          </a:prstGeom>
          <a:noFill/>
          <a:ln>
            <a:noFill/>
          </a:ln>
        </p:spPr>
      </p:pic>
      <p:sp>
        <p:nvSpPr>
          <p:cNvPr id="14" name="Google Shape;14;p14"/>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15" name="Google Shape;15;p14"/>
          <p:cNvSpPr txBox="1"/>
          <p:nvPr>
            <p:ph idx="12" type="sldNum"/>
          </p:nvPr>
        </p:nvSpPr>
        <p:spPr>
          <a:xfrm>
            <a:off x="8820083" y="13156977"/>
            <a:ext cx="6743833"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1pPr>
            <a:lvl2pPr indent="0" lvl="1"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2pPr>
            <a:lvl3pPr indent="0" lvl="2"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3pPr>
            <a:lvl4pPr indent="0" lvl="3"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4pPr>
            <a:lvl5pPr indent="0" lvl="4"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5pPr>
            <a:lvl6pPr indent="0" lvl="5"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6pPr>
            <a:lvl7pPr indent="0" lvl="6"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7pPr>
            <a:lvl8pPr indent="0" lvl="7"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8pPr>
            <a:lvl9pPr indent="0" lvl="8" marL="0" marR="0" algn="ctr">
              <a:lnSpc>
                <a:spcPct val="100000"/>
              </a:lnSpc>
              <a:spcBef>
                <a:spcPts val="0"/>
              </a:spcBef>
              <a:spcAft>
                <a:spcPts val="0"/>
              </a:spcAft>
              <a:buClr>
                <a:schemeClr val="lt1"/>
              </a:buClr>
              <a:buSzPts val="2200"/>
              <a:buFont typeface="Meiryo"/>
              <a:buNone/>
              <a:defRPr b="0" i="0" sz="2200" u="none" cap="none" strike="noStrike">
                <a:solidFill>
                  <a:schemeClr val="lt1"/>
                </a:solidFill>
                <a:latin typeface="Meiryo"/>
                <a:ea typeface="Meiryo"/>
                <a:cs typeface="Meiryo"/>
                <a:sym typeface="Meiryo"/>
              </a:defRPr>
            </a:lvl9pPr>
          </a:lstStyle>
          <a:p>
            <a:pPr indent="0" lvl="0" marL="0" rtl="0" algn="ctr">
              <a:spcBef>
                <a:spcPts val="0"/>
              </a:spcBef>
              <a:spcAft>
                <a:spcPts val="0"/>
              </a:spcAft>
              <a:buNone/>
            </a:pPr>
            <a:r>
              <a:rPr lang="en-US"/>
              <a:t>Copyright </a:t>
            </a:r>
            <a:r>
              <a:rPr i="1" lang="en-US"/>
              <a:t>© </a:t>
            </a:r>
            <a:r>
              <a:rPr lang="en-US"/>
              <a:t>VTI Academy All Right Reserved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1_Title and Content">
    <p:spTree>
      <p:nvGrpSpPr>
        <p:cNvPr id="16" name="Shape 16"/>
        <p:cNvGrpSpPr/>
        <p:nvPr/>
      </p:nvGrpSpPr>
      <p:grpSpPr>
        <a:xfrm>
          <a:off x="0" y="0"/>
          <a:ext cx="0" cy="0"/>
          <a:chOff x="0" y="0"/>
          <a:chExt cx="0" cy="0"/>
        </a:xfrm>
      </p:grpSpPr>
      <p:cxnSp>
        <p:nvCxnSpPr>
          <p:cNvPr id="17" name="Google Shape;17;p15"/>
          <p:cNvCxnSpPr/>
          <p:nvPr/>
        </p:nvCxnSpPr>
        <p:spPr>
          <a:xfrm>
            <a:off x="482600" y="1412390"/>
            <a:ext cx="21521992" cy="0"/>
          </a:xfrm>
          <a:prstGeom prst="straightConnector1">
            <a:avLst/>
          </a:prstGeom>
          <a:noFill/>
          <a:ln cap="flat" cmpd="sng" w="19050">
            <a:solidFill>
              <a:srgbClr val="3C5A99"/>
            </a:solidFill>
            <a:prstDash val="solid"/>
            <a:miter lim="800000"/>
            <a:headEnd len="sm" w="sm" type="none"/>
            <a:tailEnd len="sm" w="sm" type="none"/>
          </a:ln>
        </p:spPr>
      </p:cxnSp>
      <p:sp>
        <p:nvSpPr>
          <p:cNvPr id="18" name="Google Shape;18;p15"/>
          <p:cNvSpPr/>
          <p:nvPr/>
        </p:nvSpPr>
        <p:spPr>
          <a:xfrm>
            <a:off x="0" y="12670972"/>
            <a:ext cx="24384001" cy="1045028"/>
          </a:xfrm>
          <a:prstGeom prst="rect">
            <a:avLst/>
          </a:prstGeom>
          <a:solidFill>
            <a:srgbClr val="3C5A99"/>
          </a:solidFill>
          <a:ln>
            <a:noFill/>
          </a:ln>
        </p:spPr>
        <p:txBody>
          <a:bodyPr anchorCtr="0" anchor="ctr" bIns="91400" lIns="182850" spcFirstLastPara="1" rIns="182850" wrap="square" tIns="91400">
            <a:noAutofit/>
          </a:bodyPr>
          <a:lstStyle/>
          <a:p>
            <a:pPr indent="0" lvl="0" marL="0" marR="0" rtl="0" algn="ctr">
              <a:lnSpc>
                <a:spcPct val="100000"/>
              </a:lnSpc>
              <a:spcBef>
                <a:spcPts val="0"/>
              </a:spcBef>
              <a:spcAft>
                <a:spcPts val="0"/>
              </a:spcAft>
              <a:buClr>
                <a:srgbClr val="000000"/>
              </a:buClr>
              <a:buSzPts val="3600"/>
              <a:buFont typeface="Helvetica Neue"/>
              <a:buNone/>
            </a:pPr>
            <a:r>
              <a:t/>
            </a:r>
            <a:endParaRPr b="1" i="0" sz="3600" u="none" cap="none" strike="noStrike">
              <a:solidFill>
                <a:schemeClr val="lt1"/>
              </a:solidFill>
              <a:latin typeface="Calibri"/>
              <a:ea typeface="Calibri"/>
              <a:cs typeface="Calibri"/>
              <a:sym typeface="Calibri"/>
            </a:endParaRPr>
          </a:p>
        </p:txBody>
      </p:sp>
      <p:sp>
        <p:nvSpPr>
          <p:cNvPr id="19" name="Google Shape;19;p15"/>
          <p:cNvSpPr/>
          <p:nvPr/>
        </p:nvSpPr>
        <p:spPr>
          <a:xfrm>
            <a:off x="6781639" y="12854932"/>
            <a:ext cx="10458958" cy="677108"/>
          </a:xfrm>
          <a:prstGeom prst="rect">
            <a:avLst/>
          </a:prstGeom>
          <a:noFill/>
          <a:ln>
            <a:noFill/>
          </a:ln>
        </p:spPr>
        <p:txBody>
          <a:bodyPr anchorCtr="0" anchor="t" bIns="91400" lIns="182850" spcFirstLastPara="1" rIns="182850" wrap="square" tIns="91400">
            <a:noAutofit/>
          </a:bodyPr>
          <a:lstStyle/>
          <a:p>
            <a:pPr indent="0" lvl="0" marL="0" marR="0" rtl="0" algn="ctr">
              <a:lnSpc>
                <a:spcPct val="100000"/>
              </a:lnSpc>
              <a:spcBef>
                <a:spcPts val="0"/>
              </a:spcBef>
              <a:spcAft>
                <a:spcPts val="0"/>
              </a:spcAft>
              <a:buClr>
                <a:schemeClr val="lt1"/>
              </a:buClr>
              <a:buSzPts val="3200"/>
              <a:buFont typeface="Helvetica Neue"/>
              <a:buNone/>
            </a:pPr>
            <a:r>
              <a:rPr b="1" i="0" lang="en-US" sz="3200" u="none" cap="none" strike="noStrike">
                <a:solidFill>
                  <a:schemeClr val="lt1"/>
                </a:solidFill>
                <a:latin typeface="Helvetica Neue"/>
                <a:ea typeface="Helvetica Neue"/>
                <a:cs typeface="Helvetica Neue"/>
                <a:sym typeface="Helvetica Neue"/>
              </a:rPr>
              <a:t>Copyright </a:t>
            </a:r>
            <a:r>
              <a:rPr b="1" i="1" lang="en-US" sz="3200" u="none" cap="none" strike="noStrike">
                <a:solidFill>
                  <a:schemeClr val="lt1"/>
                </a:solidFill>
                <a:latin typeface="Helvetica Neue"/>
                <a:ea typeface="Helvetica Neue"/>
                <a:cs typeface="Helvetica Neue"/>
                <a:sym typeface="Helvetica Neue"/>
              </a:rPr>
              <a:t>© </a:t>
            </a:r>
            <a:r>
              <a:rPr b="1" i="0" lang="en-US" sz="3200" u="none" cap="none" strike="noStrike">
                <a:solidFill>
                  <a:schemeClr val="lt1"/>
                </a:solidFill>
                <a:latin typeface="Helvetica Neue"/>
                <a:ea typeface="Helvetica Neue"/>
                <a:cs typeface="Helvetica Neue"/>
                <a:sym typeface="Helvetica Neue"/>
              </a:rPr>
              <a:t>VTI Academy All Right Reserved </a:t>
            </a:r>
            <a:endParaRPr b="1" i="0" sz="3200" u="none" cap="none" strike="noStrike">
              <a:solidFill>
                <a:schemeClr val="lt1"/>
              </a:solidFill>
              <a:latin typeface="Helvetica Neue"/>
              <a:ea typeface="Helvetica Neue"/>
              <a:cs typeface="Helvetica Neue"/>
              <a:sym typeface="Helvetica Neue"/>
            </a:endParaRPr>
          </a:p>
        </p:txBody>
      </p:sp>
      <p:cxnSp>
        <p:nvCxnSpPr>
          <p:cNvPr id="20" name="Google Shape;20;p15"/>
          <p:cNvCxnSpPr/>
          <p:nvPr/>
        </p:nvCxnSpPr>
        <p:spPr>
          <a:xfrm>
            <a:off x="14610736" y="1412390"/>
            <a:ext cx="7393856" cy="0"/>
          </a:xfrm>
          <a:prstGeom prst="straightConnector1">
            <a:avLst/>
          </a:prstGeom>
          <a:noFill/>
          <a:ln cap="flat" cmpd="sng" w="19050">
            <a:solidFill>
              <a:srgbClr val="FFC000"/>
            </a:solidFill>
            <a:prstDash val="solid"/>
            <a:miter lim="800000"/>
            <a:headEnd len="sm" w="sm" type="none"/>
            <a:tailEnd len="sm" w="sm" type="none"/>
          </a:ln>
        </p:spPr>
      </p:cxnSp>
      <p:cxnSp>
        <p:nvCxnSpPr>
          <p:cNvPr id="21" name="Google Shape;21;p15"/>
          <p:cNvCxnSpPr/>
          <p:nvPr/>
        </p:nvCxnSpPr>
        <p:spPr>
          <a:xfrm>
            <a:off x="0" y="12670972"/>
            <a:ext cx="24384001" cy="0"/>
          </a:xfrm>
          <a:prstGeom prst="straightConnector1">
            <a:avLst/>
          </a:prstGeom>
          <a:noFill/>
          <a:ln cap="flat" cmpd="sng" w="19050">
            <a:solidFill>
              <a:srgbClr val="FFC000"/>
            </a:solidFill>
            <a:prstDash val="solid"/>
            <a:miter lim="800000"/>
            <a:headEnd len="sm" w="sm" type="none"/>
            <a:tailEnd len="sm" w="sm" type="none"/>
          </a:ln>
        </p:spPr>
      </p:cxnSp>
      <p:pic>
        <p:nvPicPr>
          <p:cNvPr descr="A picture containing drawing&#10;&#10;Description automatically generated" id="22" name="Google Shape;22;p15"/>
          <p:cNvPicPr preferRelativeResize="0"/>
          <p:nvPr/>
        </p:nvPicPr>
        <p:blipFill rotWithShape="1">
          <a:blip r:embed="rId2">
            <a:alphaModFix/>
          </a:blip>
          <a:srcRect b="0" l="0" r="0" t="0"/>
          <a:stretch/>
        </p:blipFill>
        <p:spPr>
          <a:xfrm>
            <a:off x="19252277" y="-25180"/>
            <a:ext cx="5131724" cy="143757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23" name="Shape 23"/>
        <p:cNvGrpSpPr/>
        <p:nvPr/>
      </p:nvGrpSpPr>
      <p:grpSpPr>
        <a:xfrm>
          <a:off x="0" y="0"/>
          <a:ext cx="0" cy="0"/>
          <a:chOff x="0" y="0"/>
          <a:chExt cx="0" cy="0"/>
        </a:xfrm>
      </p:grpSpPr>
      <p:sp>
        <p:nvSpPr>
          <p:cNvPr id="24" name="Google Shape;24;p16"/>
          <p:cNvSpPr txBox="1"/>
          <p:nvPr>
            <p:ph type="title"/>
          </p:nvPr>
        </p:nvSpPr>
        <p:spPr>
          <a:xfrm>
            <a:off x="1845217" y="357188"/>
            <a:ext cx="18701657" cy="1710326"/>
          </a:xfrm>
          <a:prstGeom prst="rect">
            <a:avLst/>
          </a:prstGeom>
          <a:noFill/>
          <a:ln>
            <a:noFill/>
          </a:ln>
        </p:spPr>
        <p:txBody>
          <a:bodyPr anchorCtr="0" anchor="ctr" bIns="71425" lIns="71425" spcFirstLastPara="1" rIns="71425" wrap="square" tIns="71425">
            <a:normAutofit/>
          </a:bodyPr>
          <a:lstStyle>
            <a:lvl1pPr lvl="0" algn="l">
              <a:lnSpc>
                <a:spcPct val="100000"/>
              </a:lnSpc>
              <a:spcBef>
                <a:spcPts val="0"/>
              </a:spcBef>
              <a:spcAft>
                <a:spcPts val="0"/>
              </a:spcAft>
              <a:buClr>
                <a:srgbClr val="000000"/>
              </a:buClr>
              <a:buSzPts val="8200"/>
              <a:buFont typeface="Meiryo"/>
              <a:buNone/>
              <a:defRPr sz="8200">
                <a:latin typeface="Meiryo"/>
                <a:ea typeface="Meiryo"/>
                <a:cs typeface="Meiryo"/>
                <a:sym typeface="Meiryo"/>
              </a:defRPr>
            </a:lvl1pPr>
            <a:lvl2pPr lvl="1" algn="ctr">
              <a:lnSpc>
                <a:spcPct val="100000"/>
              </a:lnSpc>
              <a:spcBef>
                <a:spcPts val="0"/>
              </a:spcBef>
              <a:spcAft>
                <a:spcPts val="0"/>
              </a:spcAft>
              <a:buClr>
                <a:srgbClr val="000000"/>
              </a:buClr>
              <a:buSzPts val="1800"/>
              <a:buNone/>
              <a:defRPr/>
            </a:lvl2pPr>
            <a:lvl3pPr lvl="2" algn="ctr">
              <a:lnSpc>
                <a:spcPct val="100000"/>
              </a:lnSpc>
              <a:spcBef>
                <a:spcPts val="0"/>
              </a:spcBef>
              <a:spcAft>
                <a:spcPts val="0"/>
              </a:spcAft>
              <a:buClr>
                <a:srgbClr val="000000"/>
              </a:buClr>
              <a:buSzPts val="1800"/>
              <a:buNone/>
              <a:defRPr/>
            </a:lvl3pPr>
            <a:lvl4pPr lvl="3" algn="ctr">
              <a:lnSpc>
                <a:spcPct val="100000"/>
              </a:lnSpc>
              <a:spcBef>
                <a:spcPts val="0"/>
              </a:spcBef>
              <a:spcAft>
                <a:spcPts val="0"/>
              </a:spcAft>
              <a:buClr>
                <a:srgbClr val="000000"/>
              </a:buClr>
              <a:buSzPts val="1800"/>
              <a:buNone/>
              <a:defRPr/>
            </a:lvl4pPr>
            <a:lvl5pPr lvl="4" algn="ctr">
              <a:lnSpc>
                <a:spcPct val="100000"/>
              </a:lnSpc>
              <a:spcBef>
                <a:spcPts val="0"/>
              </a:spcBef>
              <a:spcAft>
                <a:spcPts val="0"/>
              </a:spcAft>
              <a:buClr>
                <a:srgbClr val="000000"/>
              </a:buClr>
              <a:buSzPts val="1800"/>
              <a:buNone/>
              <a:defRPr/>
            </a:lvl5pPr>
            <a:lvl6pPr lvl="5" algn="ctr">
              <a:lnSpc>
                <a:spcPct val="100000"/>
              </a:lnSpc>
              <a:spcBef>
                <a:spcPts val="0"/>
              </a:spcBef>
              <a:spcAft>
                <a:spcPts val="0"/>
              </a:spcAft>
              <a:buClr>
                <a:srgbClr val="000000"/>
              </a:buClr>
              <a:buSzPts val="1800"/>
              <a:buNone/>
              <a:defRPr/>
            </a:lvl6pPr>
            <a:lvl7pPr lvl="6" algn="ctr">
              <a:lnSpc>
                <a:spcPct val="100000"/>
              </a:lnSpc>
              <a:spcBef>
                <a:spcPts val="0"/>
              </a:spcBef>
              <a:spcAft>
                <a:spcPts val="0"/>
              </a:spcAft>
              <a:buClr>
                <a:srgbClr val="000000"/>
              </a:buClr>
              <a:buSzPts val="1800"/>
              <a:buNone/>
              <a:defRPr/>
            </a:lvl7pPr>
            <a:lvl8pPr lvl="7" algn="ctr">
              <a:lnSpc>
                <a:spcPct val="100000"/>
              </a:lnSpc>
              <a:spcBef>
                <a:spcPts val="0"/>
              </a:spcBef>
              <a:spcAft>
                <a:spcPts val="0"/>
              </a:spcAft>
              <a:buClr>
                <a:srgbClr val="000000"/>
              </a:buClr>
              <a:buSzPts val="1800"/>
              <a:buNone/>
              <a:defRPr/>
            </a:lvl8pPr>
            <a:lvl9pPr lvl="8" algn="ctr">
              <a:lnSpc>
                <a:spcPct val="100000"/>
              </a:lnSpc>
              <a:spcBef>
                <a:spcPts val="0"/>
              </a:spcBef>
              <a:spcAft>
                <a:spcPts val="0"/>
              </a:spcAft>
              <a:buClr>
                <a:srgbClr val="000000"/>
              </a:buClr>
              <a:buSzPts val="1800"/>
              <a:buNone/>
              <a:defRPr/>
            </a:lvl9pPr>
          </a:lstStyle>
          <a:p/>
        </p:txBody>
      </p:sp>
      <p:sp>
        <p:nvSpPr>
          <p:cNvPr id="25" name="Google Shape;25;p16"/>
          <p:cNvSpPr txBox="1"/>
          <p:nvPr>
            <p:ph idx="10" type="dt"/>
          </p:nvPr>
        </p:nvSpPr>
        <p:spPr>
          <a:xfrm>
            <a:off x="1676400" y="12712701"/>
            <a:ext cx="54864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6" name="Google Shape;26;p16"/>
          <p:cNvSpPr txBox="1"/>
          <p:nvPr>
            <p:ph idx="11" type="ftr"/>
          </p:nvPr>
        </p:nvSpPr>
        <p:spPr>
          <a:xfrm>
            <a:off x="8077200" y="12712701"/>
            <a:ext cx="8229600" cy="730250"/>
          </a:xfrm>
          <a:prstGeom prst="rect">
            <a:avLst/>
          </a:prstGeom>
          <a:noFill/>
          <a:ln>
            <a:noFill/>
          </a:ln>
        </p:spPr>
        <p:txBody>
          <a:bodyPr anchorCtr="0" anchor="t" bIns="45700" lIns="91425" spcFirstLastPara="1" rIns="91425" wrap="square" tIns="45700">
            <a:noAutofit/>
          </a:bodyPr>
          <a:lstStyle>
            <a:lvl1pPr lvl="0"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3200"/>
              <a:buFont typeface="Helvetica Neue"/>
              <a:buNone/>
              <a:defRPr b="1" i="0" sz="3200" u="none" cap="none" strike="noStrike">
                <a:solidFill>
                  <a:srgbClr val="000000"/>
                </a:solidFill>
                <a:latin typeface="Helvetica Neue"/>
                <a:ea typeface="Helvetica Neue"/>
                <a:cs typeface="Helvetica Neue"/>
                <a:sym typeface="Helvetica Neue"/>
              </a:defRPr>
            </a:lvl9pPr>
          </a:lstStyle>
          <a:p/>
        </p:txBody>
      </p:sp>
      <p:sp>
        <p:nvSpPr>
          <p:cNvPr id="27" name="Google Shape;27;p16"/>
          <p:cNvSpPr txBox="1"/>
          <p:nvPr>
            <p:ph idx="12" type="sldNum"/>
          </p:nvPr>
        </p:nvSpPr>
        <p:spPr>
          <a:xfrm>
            <a:off x="11962817" y="13073062"/>
            <a:ext cx="448840" cy="482823"/>
          </a:xfrm>
          <a:prstGeom prst="rect">
            <a:avLst/>
          </a:prstGeom>
          <a:noFill/>
          <a:ln>
            <a:noFill/>
          </a:ln>
        </p:spPr>
        <p:txBody>
          <a:bodyPr anchorCtr="0" anchor="t" bIns="71425" lIns="71425" spcFirstLastPara="1" rIns="71425" wrap="square" tIns="71425">
            <a:spAutoFit/>
          </a:bodyPr>
          <a:lstStyle>
            <a:lvl1pPr indent="0" lvl="0"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cxnSp>
        <p:nvCxnSpPr>
          <p:cNvPr id="28" name="Google Shape;28;p16"/>
          <p:cNvCxnSpPr/>
          <p:nvPr/>
        </p:nvCxnSpPr>
        <p:spPr>
          <a:xfrm>
            <a:off x="1845217" y="1893677"/>
            <a:ext cx="18701657" cy="0"/>
          </a:xfrm>
          <a:prstGeom prst="straightConnector1">
            <a:avLst/>
          </a:prstGeom>
          <a:noFill/>
          <a:ln cap="rnd" cmpd="sng" w="38100">
            <a:solidFill>
              <a:srgbClr val="057BBA">
                <a:alpha val="80000"/>
              </a:srgbClr>
            </a:solidFill>
            <a:prstDash val="solid"/>
            <a:round/>
            <a:headEnd len="sm" w="sm" type="none"/>
            <a:tailEnd len="sm" w="sm" type="none"/>
          </a:ln>
        </p:spPr>
      </p:cxnSp>
      <p:pic>
        <p:nvPicPr>
          <p:cNvPr descr="A close up of a sign&#10;&#10;Description automatically generated" id="29" name="Google Shape;29;p16"/>
          <p:cNvPicPr preferRelativeResize="0"/>
          <p:nvPr/>
        </p:nvPicPr>
        <p:blipFill rotWithShape="1">
          <a:blip r:embed="rId2">
            <a:alphaModFix/>
          </a:blip>
          <a:srcRect b="0" l="0" r="0" t="0"/>
          <a:stretch/>
        </p:blipFill>
        <p:spPr>
          <a:xfrm>
            <a:off x="20812883" y="427995"/>
            <a:ext cx="2645634" cy="1639519"/>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Only">
  <p:cSld name="2_Title Only">
    <p:bg>
      <p:bgPr>
        <a:gradFill>
          <a:gsLst>
            <a:gs pos="0">
              <a:schemeClr val="lt1"/>
            </a:gs>
            <a:gs pos="17000">
              <a:schemeClr val="lt1"/>
            </a:gs>
            <a:gs pos="67000">
              <a:srgbClr val="F1FAFE"/>
            </a:gs>
            <a:gs pos="83000">
              <a:srgbClr val="FFEACC"/>
            </a:gs>
            <a:gs pos="100000">
              <a:srgbClr val="62C5FB"/>
            </a:gs>
          </a:gsLst>
          <a:path path="circle">
            <a:fillToRect b="100%" r="100%"/>
          </a:path>
          <a:tileRect l="-100%" t="-100%"/>
        </a:gradFill>
      </p:bgPr>
    </p:bg>
    <p:spTree>
      <p:nvGrpSpPr>
        <p:cNvPr id="30" name="Shape 3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 name="Shape 5"/>
        <p:cNvGrpSpPr/>
        <p:nvPr/>
      </p:nvGrpSpPr>
      <p:grpSpPr>
        <a:xfrm>
          <a:off x="0" y="0"/>
          <a:ext cx="0" cy="0"/>
          <a:chOff x="0" y="0"/>
          <a:chExt cx="0" cy="0"/>
        </a:xfrm>
      </p:grpSpPr>
      <p:sp>
        <p:nvSpPr>
          <p:cNvPr id="6" name="Google Shape;6;p12"/>
          <p:cNvSpPr txBox="1"/>
          <p:nvPr>
            <p:ph type="title"/>
          </p:nvPr>
        </p:nvSpPr>
        <p:spPr>
          <a:xfrm>
            <a:off x="4387453" y="357187"/>
            <a:ext cx="15609095" cy="3036095"/>
          </a:xfrm>
          <a:prstGeom prst="rect">
            <a:avLst/>
          </a:prstGeom>
          <a:noFill/>
          <a:ln>
            <a:noFill/>
          </a:ln>
        </p:spPr>
        <p:txBody>
          <a:bodyPr anchorCtr="0" anchor="ctr" bIns="71425" lIns="71425" spcFirstLastPara="1" rIns="71425" wrap="square" tIns="71425">
            <a:normAutofit/>
          </a:bodyPr>
          <a:lstStyle>
            <a:lvl1pPr lvl="0"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1pPr>
            <a:lvl2pPr lvl="1"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2pPr>
            <a:lvl3pPr lvl="2"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3pPr>
            <a:lvl4pPr lvl="3"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4pPr>
            <a:lvl5pPr lvl="4"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5pPr>
            <a:lvl6pPr lvl="5"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6pPr>
            <a:lvl7pPr lvl="6"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7pPr>
            <a:lvl8pPr lvl="7"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8pPr>
            <a:lvl9pPr lvl="8" marR="0" rtl="0" algn="ctr">
              <a:lnSpc>
                <a:spcPct val="100000"/>
              </a:lnSpc>
              <a:spcBef>
                <a:spcPts val="0"/>
              </a:spcBef>
              <a:spcAft>
                <a:spcPts val="0"/>
              </a:spcAft>
              <a:buClr>
                <a:srgbClr val="000000"/>
              </a:buClr>
              <a:buSzPts val="11200"/>
              <a:buFont typeface="Helvetica Neue"/>
              <a:buNone/>
              <a:defRPr b="0" i="0" sz="11200" u="none" cap="none" strike="noStrike">
                <a:solidFill>
                  <a:srgbClr val="000000"/>
                </a:solidFill>
                <a:latin typeface="Helvetica Neue"/>
                <a:ea typeface="Helvetica Neue"/>
                <a:cs typeface="Helvetica Neue"/>
                <a:sym typeface="Helvetica Neue"/>
              </a:defRPr>
            </a:lvl9pPr>
          </a:lstStyle>
          <a:p/>
        </p:txBody>
      </p:sp>
      <p:sp>
        <p:nvSpPr>
          <p:cNvPr id="7" name="Google Shape;7;p12"/>
          <p:cNvSpPr txBox="1"/>
          <p:nvPr>
            <p:ph idx="1" type="body"/>
          </p:nvPr>
        </p:nvSpPr>
        <p:spPr>
          <a:xfrm>
            <a:off x="4387453" y="3643312"/>
            <a:ext cx="15609095" cy="8840392"/>
          </a:xfrm>
          <a:prstGeom prst="rect">
            <a:avLst/>
          </a:prstGeom>
          <a:noFill/>
          <a:ln>
            <a:noFill/>
          </a:ln>
        </p:spPr>
        <p:txBody>
          <a:bodyPr anchorCtr="0" anchor="ctr" bIns="71425" lIns="71425" spcFirstLastPara="1" rIns="71425" wrap="square" tIns="71425">
            <a:normAutofit/>
          </a:bodyPr>
          <a:lstStyle>
            <a:lvl1pPr indent="-633730" lvl="0" marL="457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1pPr>
            <a:lvl2pPr indent="-633730" lvl="1" marL="914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2pPr>
            <a:lvl3pPr indent="-633730" lvl="2" marL="1371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3pPr>
            <a:lvl4pPr indent="-633730" lvl="3" marL="1828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4pPr>
            <a:lvl5pPr indent="-633729" lvl="4" marL="22860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5pPr>
            <a:lvl6pPr indent="-633729" lvl="5" marL="27432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6pPr>
            <a:lvl7pPr indent="-633729" lvl="6" marL="32004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7pPr>
            <a:lvl8pPr indent="-633729" lvl="7" marL="36576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8pPr>
            <a:lvl9pPr indent="-633729" lvl="8" marL="4114800" marR="0" rtl="0" algn="l">
              <a:lnSpc>
                <a:spcPct val="100000"/>
              </a:lnSpc>
              <a:spcBef>
                <a:spcPts val="5900"/>
              </a:spcBef>
              <a:spcAft>
                <a:spcPts val="0"/>
              </a:spcAft>
              <a:buClr>
                <a:srgbClr val="000000"/>
              </a:buClr>
              <a:buSzPts val="6380"/>
              <a:buFont typeface="Helvetica Neue"/>
              <a:buChar char="•"/>
              <a:defRPr b="0" i="0" sz="4400" u="none" cap="none" strike="noStrike">
                <a:solidFill>
                  <a:srgbClr val="000000"/>
                </a:solidFill>
                <a:latin typeface="Helvetica Neue"/>
                <a:ea typeface="Helvetica Neue"/>
                <a:cs typeface="Helvetica Neue"/>
                <a:sym typeface="Helvetica Neue"/>
              </a:defRPr>
            </a:lvl9pPr>
          </a:lstStyle>
          <a:p/>
        </p:txBody>
      </p:sp>
      <p:sp>
        <p:nvSpPr>
          <p:cNvPr id="8" name="Google Shape;8;p12"/>
          <p:cNvSpPr txBox="1"/>
          <p:nvPr>
            <p:ph idx="12" type="sldNum"/>
          </p:nvPr>
        </p:nvSpPr>
        <p:spPr>
          <a:xfrm>
            <a:off x="11954103" y="13073062"/>
            <a:ext cx="466269" cy="477671"/>
          </a:xfrm>
          <a:prstGeom prst="rect">
            <a:avLst/>
          </a:prstGeom>
          <a:noFill/>
          <a:ln>
            <a:noFill/>
          </a:ln>
        </p:spPr>
        <p:txBody>
          <a:bodyPr anchorCtr="0" anchor="t" bIns="71425" lIns="71425" spcFirstLastPara="1" rIns="71425" wrap="square" tIns="71425">
            <a:spAutoFit/>
          </a:bodyPr>
          <a:lstStyle>
            <a:lvl1pPr indent="0" lvl="0"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1pPr>
            <a:lvl2pPr indent="0" lvl="1"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2pPr>
            <a:lvl3pPr indent="0" lvl="2"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3pPr>
            <a:lvl4pPr indent="0" lvl="3"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4pPr>
            <a:lvl5pPr indent="0" lvl="4"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5pPr>
            <a:lvl6pPr indent="0" lvl="5"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6pPr>
            <a:lvl7pPr indent="0" lvl="6"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7pPr>
            <a:lvl8pPr indent="0" lvl="7"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8pPr>
            <a:lvl9pPr indent="0" lvl="8" marL="0" marR="0" rtl="0" algn="ctr">
              <a:lnSpc>
                <a:spcPct val="100000"/>
              </a:lnSpc>
              <a:spcBef>
                <a:spcPts val="0"/>
              </a:spcBef>
              <a:spcAft>
                <a:spcPts val="0"/>
              </a:spcAft>
              <a:buClr>
                <a:srgbClr val="000000"/>
              </a:buClr>
              <a:buSzPts val="2200"/>
              <a:buFont typeface="Helvetica Neue Light"/>
              <a:buNone/>
              <a:defRPr b="0" i="0" sz="2200" u="none" cap="none" strike="noStrike">
                <a:solidFill>
                  <a:srgbClr val="000000"/>
                </a:solidFill>
                <a:latin typeface="Helvetica Neue Light"/>
                <a:ea typeface="Helvetica Neue Light"/>
                <a:cs typeface="Helvetica Neue Light"/>
                <a:sym typeface="Helvetica Neue Light"/>
              </a:defRPr>
            </a:lvl9pPr>
          </a:lstStyle>
          <a:p>
            <a:pPr indent="0" lvl="0" marL="0" rtl="0" algn="ct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descr="A picture containing drawing&#10;&#10;Description automatically generated" id="35" name="Google Shape;35;p1"/>
          <p:cNvPicPr preferRelativeResize="0"/>
          <p:nvPr/>
        </p:nvPicPr>
        <p:blipFill rotWithShape="1">
          <a:blip r:embed="rId3">
            <a:alphaModFix/>
          </a:blip>
          <a:srcRect b="0" l="0" r="0" t="0"/>
          <a:stretch/>
        </p:blipFill>
        <p:spPr>
          <a:xfrm>
            <a:off x="1313650" y="1753558"/>
            <a:ext cx="5103775" cy="1429741"/>
          </a:xfrm>
          <a:prstGeom prst="rect">
            <a:avLst/>
          </a:prstGeom>
          <a:noFill/>
          <a:ln>
            <a:noFill/>
          </a:ln>
        </p:spPr>
      </p:pic>
      <p:sp>
        <p:nvSpPr>
          <p:cNvPr id="36" name="Google Shape;36;p1"/>
          <p:cNvSpPr/>
          <p:nvPr/>
        </p:nvSpPr>
        <p:spPr>
          <a:xfrm>
            <a:off x="1795790" y="3025157"/>
            <a:ext cx="5636029" cy="5693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9BF"/>
              </a:buClr>
              <a:buSzPts val="3100"/>
              <a:buFont typeface="Helvetica Neue"/>
              <a:buNone/>
            </a:pPr>
            <a:r>
              <a:rPr b="1" i="0" lang="en-US" sz="3100" u="none" cap="none" strike="noStrike">
                <a:solidFill>
                  <a:srgbClr val="0079BF"/>
                </a:solidFill>
                <a:latin typeface="Helvetica Neue"/>
                <a:ea typeface="Helvetica Neue"/>
                <a:cs typeface="Helvetica Neue"/>
                <a:sym typeface="Helvetica Neue"/>
              </a:rPr>
              <a:t>WAY TO ENTERPRISE</a:t>
            </a:r>
            <a:endParaRPr b="0" i="0" sz="1400" u="none" cap="none" strike="noStrike">
              <a:solidFill>
                <a:srgbClr val="000000"/>
              </a:solidFill>
              <a:latin typeface="Arial"/>
              <a:ea typeface="Arial"/>
              <a:cs typeface="Arial"/>
              <a:sym typeface="Arial"/>
            </a:endParaRPr>
          </a:p>
        </p:txBody>
      </p:sp>
      <p:sp>
        <p:nvSpPr>
          <p:cNvPr id="37" name="Google Shape;37;p1"/>
          <p:cNvSpPr txBox="1"/>
          <p:nvPr/>
        </p:nvSpPr>
        <p:spPr>
          <a:xfrm>
            <a:off x="1215678" y="4549070"/>
            <a:ext cx="22486370" cy="1317750"/>
          </a:xfrm>
          <a:prstGeom prst="rect">
            <a:avLst/>
          </a:prstGeom>
          <a:noFill/>
          <a:ln>
            <a:noFill/>
          </a:ln>
        </p:spPr>
        <p:txBody>
          <a:bodyPr anchorCtr="0" anchor="ctr" bIns="45700" lIns="91425" spcFirstLastPara="1" rIns="91425" wrap="square" tIns="45700">
            <a:noAutofit/>
          </a:bodyPr>
          <a:lstStyle/>
          <a:p>
            <a:pPr indent="0" lvl="0" marL="0" marR="0" rtl="0" algn="ctr">
              <a:lnSpc>
                <a:spcPct val="90000"/>
              </a:lnSpc>
              <a:spcBef>
                <a:spcPts val="0"/>
              </a:spcBef>
              <a:spcAft>
                <a:spcPts val="0"/>
              </a:spcAft>
              <a:buClr>
                <a:srgbClr val="0079BF"/>
              </a:buClr>
              <a:buSzPts val="4400"/>
              <a:buFont typeface="Helvetica Neue"/>
              <a:buNone/>
            </a:pPr>
            <a:r>
              <a:rPr b="0" i="0" lang="en-US" sz="10000" u="none" cap="none" strike="noStrike">
                <a:solidFill>
                  <a:srgbClr val="0079BF"/>
                </a:solidFill>
                <a:latin typeface="Helvetica Neue"/>
                <a:ea typeface="Helvetica Neue"/>
                <a:cs typeface="Helvetica Neue"/>
                <a:sym typeface="Helvetica Neue"/>
              </a:rPr>
              <a:t>Management Microservices</a:t>
            </a:r>
            <a:endParaRPr b="0" i="0" sz="10000" u="none" cap="none" strike="noStrike">
              <a:solidFill>
                <a:srgbClr val="0079BF"/>
              </a:solidFill>
              <a:latin typeface="Helvetica Neue"/>
              <a:ea typeface="Helvetica Neue"/>
              <a:cs typeface="Helvetica Neue"/>
              <a:sym typeface="Helvetica Neue"/>
            </a:endParaRPr>
          </a:p>
        </p:txBody>
      </p:sp>
      <p:sp>
        <p:nvSpPr>
          <p:cNvPr id="38" name="Google Shape;38;p1"/>
          <p:cNvSpPr txBox="1"/>
          <p:nvPr/>
        </p:nvSpPr>
        <p:spPr>
          <a:xfrm>
            <a:off x="1795790" y="8295495"/>
            <a:ext cx="11871552" cy="284166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VTI ACADEMY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Author: </a:t>
            </a:r>
            <a:r>
              <a:rPr b="1" i="0" lang="en-US" sz="5000" u="sng" cap="none" strike="noStrike">
                <a:solidFill>
                  <a:srgbClr val="0079BF"/>
                </a:solidFill>
                <a:latin typeface="Arial"/>
                <a:ea typeface="Arial"/>
                <a:cs typeface="Arial"/>
                <a:sym typeface="Arial"/>
              </a:rPr>
              <a:t>namviet0710@gmail.com</a:t>
            </a:r>
            <a:endParaRPr b="1" i="0" sz="5000" u="none" cap="none" strike="noStrike">
              <a:solidFill>
                <a:srgbClr val="0079BF"/>
              </a:solidFill>
              <a:latin typeface="Arial"/>
              <a:ea typeface="Arial"/>
              <a:cs typeface="Arial"/>
              <a:sym typeface="Arial"/>
            </a:endParaRPr>
          </a:p>
          <a:p>
            <a:pPr indent="0" lvl="0" marL="0" marR="0" rtl="0" algn="l">
              <a:lnSpc>
                <a:spcPct val="100000"/>
              </a:lnSpc>
              <a:spcBef>
                <a:spcPts val="1000"/>
              </a:spcBef>
              <a:spcAft>
                <a:spcPts val="0"/>
              </a:spcAft>
              <a:buClr>
                <a:srgbClr val="0079BF"/>
              </a:buClr>
              <a:buSzPts val="3000"/>
              <a:buFont typeface="Arial"/>
              <a:buNone/>
            </a:pPr>
            <a:r>
              <a:rPr b="1" i="0" lang="en-US" sz="5000" u="none" cap="none" strike="noStrike">
                <a:solidFill>
                  <a:srgbClr val="0079BF"/>
                </a:solidFill>
                <a:latin typeface="Arial"/>
                <a:ea typeface="Arial"/>
                <a:cs typeface="Arial"/>
                <a:sym typeface="Arial"/>
              </a:rPr>
              <a:t>February 2024</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sp>
        <p:nvSpPr>
          <p:cNvPr id="43" name="Google Shape;43;p2"/>
          <p:cNvSpPr txBox="1"/>
          <p:nvPr>
            <p:ph type="title"/>
          </p:nvPr>
        </p:nvSpPr>
        <p:spPr>
          <a:xfrm>
            <a:off x="1845217" y="357188"/>
            <a:ext cx="15794390" cy="1710326"/>
          </a:xfrm>
          <a:prstGeom prst="rect">
            <a:avLst/>
          </a:prstGeom>
          <a:noFill/>
          <a:ln>
            <a:noFill/>
          </a:ln>
        </p:spPr>
        <p:txBody>
          <a:bodyPr anchorCtr="0" anchor="ctr" bIns="71425" lIns="71425" spcFirstLastPara="1" rIns="71425" wrap="square" tIns="71425">
            <a:normAutofit/>
          </a:bodyPr>
          <a:lstStyle/>
          <a:p>
            <a:pPr indent="0" lvl="0" marL="0" rtl="0" algn="l">
              <a:lnSpc>
                <a:spcPct val="100000"/>
              </a:lnSpc>
              <a:spcBef>
                <a:spcPts val="0"/>
              </a:spcBef>
              <a:spcAft>
                <a:spcPts val="0"/>
              </a:spcAft>
              <a:buClr>
                <a:srgbClr val="0079BF"/>
              </a:buClr>
              <a:buSzPts val="8200"/>
              <a:buFont typeface="Calibri"/>
              <a:buNone/>
            </a:pPr>
            <a:r>
              <a:rPr lang="en-US">
                <a:solidFill>
                  <a:srgbClr val="0079BF"/>
                </a:solidFill>
                <a:latin typeface="Calibri"/>
                <a:ea typeface="Calibri"/>
                <a:cs typeface="Calibri"/>
                <a:sym typeface="Calibri"/>
              </a:rPr>
              <a:t>Agenda</a:t>
            </a:r>
            <a:endParaRPr/>
          </a:p>
        </p:txBody>
      </p:sp>
      <p:sp>
        <p:nvSpPr>
          <p:cNvPr id="44" name="Google Shape;44;p2"/>
          <p:cNvSpPr/>
          <p:nvPr/>
        </p:nvSpPr>
        <p:spPr>
          <a:xfrm>
            <a:off x="8898777" y="13198291"/>
            <a:ext cx="6688049"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lt1"/>
              </a:buClr>
              <a:buSzPts val="2200"/>
              <a:buFont typeface="Meiryo"/>
              <a:buNone/>
            </a:pPr>
            <a:r>
              <a:rPr b="0" i="0" lang="en-US" sz="2200" u="none" cap="none" strike="noStrike">
                <a:solidFill>
                  <a:schemeClr val="lt1"/>
                </a:solidFill>
                <a:latin typeface="Meiryo"/>
                <a:ea typeface="Meiryo"/>
                <a:cs typeface="Meiryo"/>
                <a:sym typeface="Meiryo"/>
              </a:rPr>
              <a:t>Copyright </a:t>
            </a:r>
            <a:r>
              <a:rPr b="0" i="1" lang="en-US" sz="2200" u="none" cap="none" strike="noStrike">
                <a:solidFill>
                  <a:schemeClr val="lt1"/>
                </a:solidFill>
                <a:latin typeface="Meiryo"/>
                <a:ea typeface="Meiryo"/>
                <a:cs typeface="Meiryo"/>
                <a:sym typeface="Meiryo"/>
              </a:rPr>
              <a:t>© </a:t>
            </a:r>
            <a:r>
              <a:rPr b="0" i="0" lang="en-US" sz="2200" u="none" cap="none" strike="noStrike">
                <a:solidFill>
                  <a:schemeClr val="lt1"/>
                </a:solidFill>
                <a:latin typeface="Meiryo"/>
                <a:ea typeface="Meiryo"/>
                <a:cs typeface="Meiryo"/>
                <a:sym typeface="Meiryo"/>
              </a:rPr>
              <a:t>VTI Academy All Rights Reserved </a:t>
            </a:r>
            <a:endParaRPr b="0" i="0" sz="1400" u="none" cap="none" strike="noStrike">
              <a:solidFill>
                <a:srgbClr val="000000"/>
              </a:solidFill>
              <a:latin typeface="Arial"/>
              <a:ea typeface="Arial"/>
              <a:cs typeface="Arial"/>
              <a:sym typeface="Arial"/>
            </a:endParaRPr>
          </a:p>
        </p:txBody>
      </p:sp>
      <p:sp>
        <p:nvSpPr>
          <p:cNvPr id="45" name="Google Shape;45;p2"/>
          <p:cNvSpPr txBox="1"/>
          <p:nvPr/>
        </p:nvSpPr>
        <p:spPr>
          <a:xfrm>
            <a:off x="1845217" y="2402496"/>
            <a:ext cx="21401314" cy="9329058"/>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Introduction Eureka Discovery Service</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Build Eureka Service</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Enable Discovery Client Auth Service </a:t>
            </a:r>
            <a:endParaRPr b="0" i="0" sz="6600" u="none" cap="none" strike="noStrike">
              <a:solidFill>
                <a:srgbClr val="000000"/>
              </a:solidFill>
              <a:latin typeface="Arial"/>
              <a:ea typeface="Arial"/>
              <a:cs typeface="Arial"/>
              <a:sym typeface="Arial"/>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Enable Discovery Client Account Service</a:t>
            </a:r>
            <a:endParaRPr/>
          </a:p>
          <a:p>
            <a:pPr indent="-342900" lvl="0" marL="342900" marR="0" rtl="0" algn="l">
              <a:lnSpc>
                <a:spcPct val="100000"/>
              </a:lnSpc>
              <a:spcBef>
                <a:spcPts val="0"/>
              </a:spcBef>
              <a:spcAft>
                <a:spcPts val="0"/>
              </a:spcAft>
              <a:buClr>
                <a:srgbClr val="000000"/>
              </a:buClr>
              <a:buSzPts val="3960"/>
              <a:buFont typeface="Noto Sans Symbols"/>
              <a:buChar char="❑"/>
            </a:pPr>
            <a:r>
              <a:rPr b="0" i="0" lang="en-US" sz="6600" u="none" cap="none" strike="noStrike">
                <a:solidFill>
                  <a:srgbClr val="000000"/>
                </a:solidFill>
                <a:latin typeface="Arial"/>
                <a:ea typeface="Arial"/>
                <a:cs typeface="Arial"/>
                <a:sym typeface="Arial"/>
              </a:rPr>
              <a:t> Enable Discovery Client Department Service</a:t>
            </a:r>
            <a:endParaRPr b="0" i="0" sz="66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 name="Shape 49"/>
        <p:cNvGrpSpPr/>
        <p:nvPr/>
      </p:nvGrpSpPr>
      <p:grpSpPr>
        <a:xfrm>
          <a:off x="0" y="0"/>
          <a:ext cx="0" cy="0"/>
          <a:chOff x="0" y="0"/>
          <a:chExt cx="0" cy="0"/>
        </a:xfrm>
      </p:grpSpPr>
      <p:sp>
        <p:nvSpPr>
          <p:cNvPr id="50" name="Google Shape;50;p18"/>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51" name="Google Shape;51;p18"/>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Introduction Eureka Discovery Service</a:t>
            </a:r>
            <a:endParaRPr b="1" i="0" sz="3600" u="none" cap="none" strike="noStrike">
              <a:solidFill>
                <a:srgbClr val="0070C0"/>
              </a:solidFill>
              <a:latin typeface="Roboto Condensed"/>
              <a:ea typeface="Roboto Condensed"/>
              <a:cs typeface="Roboto Condensed"/>
              <a:sym typeface="Roboto Condensed"/>
            </a:endParaRPr>
          </a:p>
        </p:txBody>
      </p:sp>
      <p:pic>
        <p:nvPicPr>
          <p:cNvPr id="52" name="Google Shape;52;p18"/>
          <p:cNvPicPr preferRelativeResize="0"/>
          <p:nvPr/>
        </p:nvPicPr>
        <p:blipFill rotWithShape="1">
          <a:blip r:embed="rId3">
            <a:alphaModFix/>
          </a:blip>
          <a:srcRect b="0" l="0" r="0" t="0"/>
          <a:stretch/>
        </p:blipFill>
        <p:spPr>
          <a:xfrm>
            <a:off x="12770581" y="1976089"/>
            <a:ext cx="10056054" cy="9763804"/>
          </a:xfrm>
          <a:prstGeom prst="rect">
            <a:avLst/>
          </a:prstGeom>
          <a:noFill/>
          <a:ln>
            <a:noFill/>
          </a:ln>
        </p:spPr>
      </p:pic>
      <p:sp>
        <p:nvSpPr>
          <p:cNvPr id="53" name="Google Shape;53;p18"/>
          <p:cNvSpPr txBox="1"/>
          <p:nvPr/>
        </p:nvSpPr>
        <p:spPr>
          <a:xfrm>
            <a:off x="1464276" y="2534447"/>
            <a:ext cx="10449000" cy="95124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chemeClr val="dk1"/>
                </a:solidFill>
                <a:latin typeface="Roboto Condensed"/>
                <a:ea typeface="Roboto Condensed"/>
                <a:cs typeface="Roboto Condensed"/>
                <a:sym typeface="Roboto Condensed"/>
              </a:rPr>
              <a:t>1.1 </a:t>
            </a:r>
            <a:r>
              <a:rPr b="1" i="0" lang="en-US" sz="3600" u="none" cap="none" strike="noStrike">
                <a:solidFill>
                  <a:schemeClr val="dk1"/>
                </a:solidFill>
                <a:latin typeface="Arial"/>
                <a:ea typeface="Arial"/>
                <a:cs typeface="Arial"/>
                <a:sym typeface="Arial"/>
              </a:rPr>
              <a:t>Service Registry</a:t>
            </a:r>
            <a:endParaRPr sz="1800"/>
          </a:p>
          <a:p>
            <a:pPr indent="-482600" lvl="0" marL="457200" marR="0" rtl="0" algn="l">
              <a:lnSpc>
                <a:spcPct val="100000"/>
              </a:lnSpc>
              <a:spcBef>
                <a:spcPts val="0"/>
              </a:spcBef>
              <a:spcAft>
                <a:spcPts val="0"/>
              </a:spcAft>
              <a:buClr>
                <a:srgbClr val="000000"/>
              </a:buClr>
              <a:buSzPts val="3600"/>
              <a:buFont typeface="Arial"/>
              <a:buChar char="•"/>
            </a:pPr>
            <a:r>
              <a:rPr b="0" i="0" lang="en-US" sz="3600" u="none" cap="none" strike="noStrike">
                <a:solidFill>
                  <a:schemeClr val="dk1"/>
                </a:solidFill>
                <a:highlight>
                  <a:srgbClr val="FFFFFF"/>
                </a:highlight>
                <a:latin typeface="Roboto Condensed"/>
                <a:ea typeface="Roboto Condensed"/>
                <a:cs typeface="Roboto Condensed"/>
                <a:sym typeface="Roboto Condensed"/>
              </a:rPr>
              <a:t>Quá trình xây dựng một ứng dụng theo kiểu Microservices sẽ có nhiều thử thách và một trong những thử thách đó là làm thế nào quản lý các service được tạo ra, bao gồm việc bảo trì, mở rộng và khả năng high availability của chúng. Ứng dụng càng lớn thì việc quản lý các service này sẽ lại càng khó khăn hơn.</a:t>
            </a:r>
            <a:endParaRPr sz="1800"/>
          </a:p>
          <a:p>
            <a:pPr indent="-482600" lvl="0" marL="457200" marR="0" rtl="0" algn="l">
              <a:lnSpc>
                <a:spcPct val="100000"/>
              </a:lnSpc>
              <a:spcBef>
                <a:spcPts val="0"/>
              </a:spcBef>
              <a:spcAft>
                <a:spcPts val="0"/>
              </a:spcAft>
              <a:buClr>
                <a:srgbClr val="000000"/>
              </a:buClr>
              <a:buSzPts val="3600"/>
              <a:buFont typeface="Arial"/>
              <a:buChar char="•"/>
            </a:pPr>
            <a:r>
              <a:rPr b="0" i="0" lang="en-US" sz="3600" u="none" cap="none" strike="noStrike">
                <a:solidFill>
                  <a:schemeClr val="dk1"/>
                </a:solidFill>
                <a:highlight>
                  <a:srgbClr val="FFFFFF"/>
                </a:highlight>
                <a:latin typeface="Roboto Condensed"/>
                <a:ea typeface="Roboto Condensed"/>
                <a:cs typeface="Roboto Condensed"/>
                <a:sym typeface="Roboto Condensed"/>
              </a:rPr>
              <a:t>Để giải quyết vấn đề này, người ta đã giới thiệu một khái niệm gọi là Service registration and discovery, nhằm định nghĩa một service, nơi có thể dùng để cho các service đăng ký và quản lý thông tin của chúng.</a:t>
            </a:r>
            <a:endParaRPr sz="1800"/>
          </a:p>
          <a:p>
            <a:pPr indent="-482600" lvl="0" marL="457200" marR="0" rtl="0" algn="l">
              <a:lnSpc>
                <a:spcPct val="100000"/>
              </a:lnSpc>
              <a:spcBef>
                <a:spcPts val="0"/>
              </a:spcBef>
              <a:spcAft>
                <a:spcPts val="0"/>
              </a:spcAft>
              <a:buClr>
                <a:srgbClr val="000000"/>
              </a:buClr>
              <a:buSzPts val="3600"/>
              <a:buFont typeface="Arial"/>
              <a:buChar char="•"/>
            </a:pPr>
            <a:r>
              <a:rPr b="0" i="0" lang="en-US" sz="3600" u="none" cap="none" strike="noStrike">
                <a:solidFill>
                  <a:schemeClr val="dk1"/>
                </a:solidFill>
                <a:highlight>
                  <a:srgbClr val="FFFFFF"/>
                </a:highlight>
                <a:latin typeface="Roboto Condensed"/>
                <a:ea typeface="Roboto Condensed"/>
                <a:cs typeface="Roboto Condensed"/>
                <a:sym typeface="Roboto Condensed"/>
              </a:rPr>
              <a:t>Service Discovery cũng tương tự như DNS (Domain Name Service). Thay vì phải sử dụng địa chỉ IP khó nhớ hoặc có thể thay đổi, các client, thiết bị, dịch vụ sẽ tìm thấy nhau bằng tên dễ nhớ và có một dịch vụ chung để chuyển tên dễ nhớ thành địa chỉ IP.</a:t>
            </a:r>
            <a:endParaRPr b="1" i="0" sz="3600" u="none" cap="none" strike="noStrike">
              <a:solidFill>
                <a:schemeClr val="dk1"/>
              </a:solidFill>
              <a:latin typeface="Roboto Condensed"/>
              <a:ea typeface="Roboto Condensed"/>
              <a:cs typeface="Roboto Condensed"/>
              <a:sym typeface="Roboto Condense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9"/>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59" name="Google Shape;59;p19"/>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Introduction Eureka Discovery Service</a:t>
            </a:r>
            <a:endParaRPr b="1" i="0" sz="3600" u="none" cap="none" strike="noStrike">
              <a:solidFill>
                <a:srgbClr val="0070C0"/>
              </a:solidFill>
              <a:latin typeface="Roboto Condensed"/>
              <a:ea typeface="Roboto Condensed"/>
              <a:cs typeface="Roboto Condensed"/>
              <a:sym typeface="Roboto Condensed"/>
            </a:endParaRPr>
          </a:p>
        </p:txBody>
      </p:sp>
      <p:sp>
        <p:nvSpPr>
          <p:cNvPr id="60" name="Google Shape;60;p19"/>
          <p:cNvSpPr txBox="1"/>
          <p:nvPr/>
        </p:nvSpPr>
        <p:spPr>
          <a:xfrm>
            <a:off x="1464276" y="2534447"/>
            <a:ext cx="10449000" cy="6526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800" u="none" cap="none" strike="noStrike">
                <a:solidFill>
                  <a:schemeClr val="dk1"/>
                </a:solidFill>
                <a:latin typeface="Roboto Condensed"/>
                <a:ea typeface="Roboto Condensed"/>
                <a:cs typeface="Roboto Condensed"/>
                <a:sym typeface="Roboto Condensed"/>
              </a:rPr>
              <a:t>1.2 Eureka Discovery Service</a:t>
            </a:r>
            <a:endParaRPr b="1" i="0" sz="3800" u="none" cap="none" strike="noStrike">
              <a:solidFill>
                <a:schemeClr val="dk1"/>
              </a:solidFill>
              <a:latin typeface="Arial"/>
              <a:ea typeface="Arial"/>
              <a:cs typeface="Arial"/>
              <a:sym typeface="Arial"/>
            </a:endParaRPr>
          </a:p>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highlight>
                  <a:srgbClr val="FFFFFF"/>
                </a:highlight>
                <a:latin typeface="Roboto Condensed"/>
                <a:ea typeface="Roboto Condensed"/>
                <a:cs typeface="Roboto Condensed"/>
                <a:sym typeface="Roboto Condensed"/>
              </a:rPr>
              <a:t>Eureka discovery service chính là một service registry do Netflix phát triển và cung cấp và là một OSS.</a:t>
            </a:r>
            <a:endParaRPr b="0" i="0" sz="3800" u="none" cap="none" strike="noStrike">
              <a:solidFill>
                <a:schemeClr val="dk1"/>
              </a:solidFill>
              <a:highlight>
                <a:srgbClr val="FFFFFF"/>
              </a:highlight>
              <a:latin typeface="Roboto Condensed"/>
              <a:ea typeface="Roboto Condensed"/>
              <a:cs typeface="Roboto Condensed"/>
              <a:sym typeface="Roboto Condensed"/>
            </a:endParaRPr>
          </a:p>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highlight>
                  <a:srgbClr val="FFFFFF"/>
                </a:highlight>
                <a:latin typeface="Roboto Condensed"/>
                <a:ea typeface="Roboto Condensed"/>
                <a:cs typeface="Roboto Condensed"/>
                <a:sym typeface="Roboto Condensed"/>
              </a:rPr>
              <a:t>Eureka server là nơi quản lý tập trung tất cả các service trong hệ thống còn mỗi service con là một eureka client.</a:t>
            </a:r>
            <a:endParaRPr sz="3600"/>
          </a:p>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rgbClr val="24292F"/>
                </a:solidFill>
                <a:highlight>
                  <a:srgbClr val="FFFFFF"/>
                </a:highlight>
                <a:latin typeface="Roboto Condensed"/>
                <a:ea typeface="Roboto Condensed"/>
                <a:cs typeface="Roboto Condensed"/>
                <a:sym typeface="Roboto Condensed"/>
              </a:rPr>
              <a:t>Mỗi service bật lên, cần kết nối đến eureka server để đăng ký địa chỉ IP, cổng, tên service, đồng thời lấy danh sách của service khác về. Như thế mọi service sẽ biết đến nhau và giao tiếp với nhau.</a:t>
            </a:r>
            <a:endParaRPr b="1" i="0" sz="3800" u="none" cap="none" strike="noStrike">
              <a:solidFill>
                <a:schemeClr val="dk1"/>
              </a:solidFill>
              <a:latin typeface="Roboto Condensed"/>
              <a:ea typeface="Roboto Condensed"/>
              <a:cs typeface="Roboto Condensed"/>
              <a:sym typeface="Roboto Condensed"/>
            </a:endParaRPr>
          </a:p>
        </p:txBody>
      </p:sp>
      <p:pic>
        <p:nvPicPr>
          <p:cNvPr id="61" name="Google Shape;61;p19"/>
          <p:cNvPicPr preferRelativeResize="0"/>
          <p:nvPr/>
        </p:nvPicPr>
        <p:blipFill rotWithShape="1">
          <a:blip r:embed="rId3">
            <a:alphaModFix/>
          </a:blip>
          <a:srcRect b="0" l="0" r="0" t="0"/>
          <a:stretch/>
        </p:blipFill>
        <p:spPr>
          <a:xfrm>
            <a:off x="12341956" y="2543289"/>
            <a:ext cx="10505347" cy="862942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20"/>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67" name="Google Shape;67;p20"/>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Introduction Eureka Discovery Service</a:t>
            </a:r>
            <a:endParaRPr b="1" i="0" sz="3600" u="none" cap="none" strike="noStrike">
              <a:solidFill>
                <a:srgbClr val="0070C0"/>
              </a:solidFill>
              <a:latin typeface="Roboto Condensed"/>
              <a:ea typeface="Roboto Condensed"/>
              <a:cs typeface="Roboto Condensed"/>
              <a:sym typeface="Roboto Condensed"/>
            </a:endParaRPr>
          </a:p>
        </p:txBody>
      </p:sp>
      <p:sp>
        <p:nvSpPr>
          <p:cNvPr id="68" name="Google Shape;68;p20"/>
          <p:cNvSpPr txBox="1"/>
          <p:nvPr/>
        </p:nvSpPr>
        <p:spPr>
          <a:xfrm>
            <a:off x="1464273" y="2534450"/>
            <a:ext cx="21395700" cy="1262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800" u="none" cap="none" strike="noStrike">
                <a:solidFill>
                  <a:schemeClr val="dk1"/>
                </a:solidFill>
                <a:latin typeface="Roboto Condensed"/>
                <a:ea typeface="Roboto Condensed"/>
                <a:cs typeface="Roboto Condensed"/>
                <a:sym typeface="Roboto Condensed"/>
              </a:rPr>
              <a:t>1.2 Eureka Discovery Service</a:t>
            </a:r>
            <a:endParaRPr b="1" i="0" sz="3800" u="none" cap="none" strike="noStrike">
              <a:solidFill>
                <a:schemeClr val="dk1"/>
              </a:solidFill>
              <a:latin typeface="Arial"/>
              <a:ea typeface="Arial"/>
              <a:cs typeface="Arial"/>
              <a:sym typeface="Arial"/>
            </a:endParaRPr>
          </a:p>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highlight>
                  <a:srgbClr val="FFFFFF"/>
                </a:highlight>
                <a:latin typeface="Roboto Condensed"/>
                <a:ea typeface="Roboto Condensed"/>
                <a:cs typeface="Roboto Condensed"/>
                <a:sym typeface="Roboto Condensed"/>
              </a:rPr>
              <a:t>Ví dụ khai báo service với Eureka discovery service</a:t>
            </a:r>
            <a:endParaRPr b="1" i="0" sz="3800" u="none" cap="none" strike="noStrike">
              <a:solidFill>
                <a:schemeClr val="dk1"/>
              </a:solidFill>
              <a:latin typeface="Roboto Condensed"/>
              <a:ea typeface="Roboto Condensed"/>
              <a:cs typeface="Roboto Condensed"/>
              <a:sym typeface="Roboto Condensed"/>
            </a:endParaRPr>
          </a:p>
        </p:txBody>
      </p:sp>
      <p:pic>
        <p:nvPicPr>
          <p:cNvPr id="69" name="Google Shape;69;p20"/>
          <p:cNvPicPr preferRelativeResize="0"/>
          <p:nvPr/>
        </p:nvPicPr>
        <p:blipFill rotWithShape="1">
          <a:blip r:embed="rId3">
            <a:alphaModFix/>
          </a:blip>
          <a:srcRect b="0" l="0" r="0" t="0"/>
          <a:stretch/>
        </p:blipFill>
        <p:spPr>
          <a:xfrm>
            <a:off x="6074810" y="3796540"/>
            <a:ext cx="12234378" cy="787473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21"/>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75" name="Google Shape;75;p21"/>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1</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Introduction Eureka Discovery Service</a:t>
            </a:r>
            <a:endParaRPr b="1" i="0" sz="3600" u="none" cap="none" strike="noStrike">
              <a:solidFill>
                <a:srgbClr val="0070C0"/>
              </a:solidFill>
              <a:latin typeface="Roboto Condensed"/>
              <a:ea typeface="Roboto Condensed"/>
              <a:cs typeface="Roboto Condensed"/>
              <a:sym typeface="Roboto Condensed"/>
            </a:endParaRPr>
          </a:p>
        </p:txBody>
      </p:sp>
      <p:sp>
        <p:nvSpPr>
          <p:cNvPr id="76" name="Google Shape;76;p21"/>
          <p:cNvSpPr txBox="1"/>
          <p:nvPr/>
        </p:nvSpPr>
        <p:spPr>
          <a:xfrm>
            <a:off x="1464273" y="2534450"/>
            <a:ext cx="21431400" cy="1262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800" u="none" cap="none" strike="noStrike">
                <a:solidFill>
                  <a:schemeClr val="dk1"/>
                </a:solidFill>
                <a:latin typeface="Roboto Condensed"/>
                <a:ea typeface="Roboto Condensed"/>
                <a:cs typeface="Roboto Condensed"/>
                <a:sym typeface="Roboto Condensed"/>
              </a:rPr>
              <a:t>1.2 Eureka Discovery Service</a:t>
            </a:r>
            <a:endParaRPr b="1" i="0" sz="3800" u="none" cap="none" strike="noStrike">
              <a:solidFill>
                <a:schemeClr val="dk1"/>
              </a:solidFill>
              <a:latin typeface="Arial"/>
              <a:ea typeface="Arial"/>
              <a:cs typeface="Arial"/>
              <a:sym typeface="Arial"/>
            </a:endParaRPr>
          </a:p>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highlight>
                  <a:srgbClr val="FFFFFF"/>
                </a:highlight>
                <a:latin typeface="Roboto Condensed"/>
                <a:ea typeface="Roboto Condensed"/>
                <a:cs typeface="Roboto Condensed"/>
                <a:sym typeface="Roboto Condensed"/>
              </a:rPr>
              <a:t>Ví dụ khai báo service với Eureka discovery service</a:t>
            </a:r>
            <a:endParaRPr b="1" i="0" sz="3800" u="none" cap="none" strike="noStrike">
              <a:solidFill>
                <a:schemeClr val="dk1"/>
              </a:solidFill>
              <a:latin typeface="Roboto Condensed"/>
              <a:ea typeface="Roboto Condensed"/>
              <a:cs typeface="Roboto Condensed"/>
              <a:sym typeface="Roboto Condensed"/>
            </a:endParaRPr>
          </a:p>
        </p:txBody>
      </p:sp>
      <p:pic>
        <p:nvPicPr>
          <p:cNvPr id="77" name="Google Shape;77;p21"/>
          <p:cNvPicPr preferRelativeResize="0"/>
          <p:nvPr/>
        </p:nvPicPr>
        <p:blipFill rotWithShape="1">
          <a:blip r:embed="rId3">
            <a:alphaModFix/>
          </a:blip>
          <a:srcRect b="0" l="0" r="0" t="0"/>
          <a:stretch/>
        </p:blipFill>
        <p:spPr>
          <a:xfrm>
            <a:off x="4080050" y="4120025"/>
            <a:ext cx="16223900" cy="8131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2"/>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83" name="Google Shape;83;p22"/>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Xây dựng  Eureka Discovery Service</a:t>
            </a:r>
            <a:endParaRPr b="1" i="0" sz="3600" u="none" cap="none" strike="noStrike">
              <a:solidFill>
                <a:srgbClr val="0070C0"/>
              </a:solidFill>
              <a:latin typeface="Roboto Condensed"/>
              <a:ea typeface="Roboto Condensed"/>
              <a:cs typeface="Roboto Condensed"/>
              <a:sym typeface="Roboto Condensed"/>
            </a:endParaRPr>
          </a:p>
        </p:txBody>
      </p:sp>
      <p:sp>
        <p:nvSpPr>
          <p:cNvPr id="84" name="Google Shape;84;p22"/>
          <p:cNvSpPr txBox="1"/>
          <p:nvPr/>
        </p:nvSpPr>
        <p:spPr>
          <a:xfrm>
            <a:off x="1464277" y="2472891"/>
            <a:ext cx="81441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highlight>
                  <a:srgbClr val="FFFFFF"/>
                </a:highlight>
                <a:latin typeface="Roboto Condensed"/>
                <a:ea typeface="Roboto Condensed"/>
                <a:cs typeface="Roboto Condensed"/>
                <a:sym typeface="Roboto Condensed"/>
              </a:rPr>
              <a:t>Khai báo các dependencies</a:t>
            </a:r>
            <a:endParaRPr b="0" i="0" sz="3800" u="none" cap="none" strike="noStrike">
              <a:solidFill>
                <a:schemeClr val="dk1"/>
              </a:solidFill>
              <a:latin typeface="Roboto Condensed"/>
              <a:ea typeface="Roboto Condensed"/>
              <a:cs typeface="Roboto Condensed"/>
              <a:sym typeface="Roboto Condensed"/>
            </a:endParaRPr>
          </a:p>
        </p:txBody>
      </p:sp>
      <p:pic>
        <p:nvPicPr>
          <p:cNvPr id="85" name="Google Shape;85;p22"/>
          <p:cNvPicPr preferRelativeResize="0"/>
          <p:nvPr/>
        </p:nvPicPr>
        <p:blipFill rotWithShape="1">
          <a:blip r:embed="rId3">
            <a:alphaModFix/>
          </a:blip>
          <a:srcRect b="2620" l="0" r="0" t="-2620"/>
          <a:stretch/>
        </p:blipFill>
        <p:spPr>
          <a:xfrm>
            <a:off x="14066050" y="1400175"/>
            <a:ext cx="8579648" cy="10915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3"/>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91" name="Google Shape;91;p23"/>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Xây dựng  Eureka Discovery Service</a:t>
            </a:r>
            <a:endParaRPr b="1" i="0" sz="3600" u="none" cap="none" strike="noStrike">
              <a:solidFill>
                <a:srgbClr val="0070C0"/>
              </a:solidFill>
              <a:latin typeface="Roboto Condensed"/>
              <a:ea typeface="Roboto Condensed"/>
              <a:cs typeface="Roboto Condensed"/>
              <a:sym typeface="Roboto Condensed"/>
            </a:endParaRPr>
          </a:p>
        </p:txBody>
      </p:sp>
      <p:sp>
        <p:nvSpPr>
          <p:cNvPr id="92" name="Google Shape;92;p23"/>
          <p:cNvSpPr txBox="1"/>
          <p:nvPr/>
        </p:nvSpPr>
        <p:spPr>
          <a:xfrm>
            <a:off x="1464268" y="2472900"/>
            <a:ext cx="213243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highlight>
                  <a:srgbClr val="FFFFFF"/>
                </a:highlight>
                <a:latin typeface="Roboto Condensed"/>
                <a:ea typeface="Roboto Condensed"/>
                <a:cs typeface="Roboto Condensed"/>
                <a:sym typeface="Roboto Condensed"/>
              </a:rPr>
              <a:t>Khai name và port trong file properties</a:t>
            </a:r>
            <a:endParaRPr b="0" i="0" sz="3800" u="none" cap="none" strike="noStrike">
              <a:solidFill>
                <a:schemeClr val="dk1"/>
              </a:solidFill>
              <a:latin typeface="Roboto Condensed"/>
              <a:ea typeface="Roboto Condensed"/>
              <a:cs typeface="Roboto Condensed"/>
              <a:sym typeface="Roboto Condensed"/>
            </a:endParaRPr>
          </a:p>
        </p:txBody>
      </p:sp>
      <p:pic>
        <p:nvPicPr>
          <p:cNvPr id="93" name="Google Shape;93;p23"/>
          <p:cNvPicPr preferRelativeResize="0"/>
          <p:nvPr/>
        </p:nvPicPr>
        <p:blipFill rotWithShape="1">
          <a:blip r:embed="rId3">
            <a:alphaModFix/>
          </a:blip>
          <a:srcRect b="18610" l="-13089" r="13090" t="-18610"/>
          <a:stretch/>
        </p:blipFill>
        <p:spPr>
          <a:xfrm>
            <a:off x="7141847" y="4015400"/>
            <a:ext cx="10100299" cy="6716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4"/>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99" name="Google Shape;99;p24"/>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Xây dựng  Eureka Discovery Service</a:t>
            </a:r>
            <a:endParaRPr b="1" i="0" sz="3600" u="none" cap="none" strike="noStrike">
              <a:solidFill>
                <a:srgbClr val="0070C0"/>
              </a:solidFill>
              <a:latin typeface="Roboto Condensed"/>
              <a:ea typeface="Roboto Condensed"/>
              <a:cs typeface="Roboto Condensed"/>
              <a:sym typeface="Roboto Condensed"/>
            </a:endParaRPr>
          </a:p>
        </p:txBody>
      </p:sp>
      <p:sp>
        <p:nvSpPr>
          <p:cNvPr id="100" name="Google Shape;100;p24"/>
          <p:cNvSpPr txBox="1"/>
          <p:nvPr/>
        </p:nvSpPr>
        <p:spPr>
          <a:xfrm>
            <a:off x="1464277" y="2472891"/>
            <a:ext cx="81441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highlight>
                  <a:srgbClr val="FFFFFF"/>
                </a:highlight>
                <a:latin typeface="Roboto Condensed"/>
                <a:ea typeface="Roboto Condensed"/>
                <a:cs typeface="Roboto Condensed"/>
                <a:sym typeface="Roboto Condensed"/>
              </a:rPr>
              <a:t>Enable eureka server</a:t>
            </a:r>
            <a:endParaRPr b="0" i="0" sz="3800" u="none" cap="none" strike="noStrike">
              <a:solidFill>
                <a:schemeClr val="dk1"/>
              </a:solidFill>
              <a:latin typeface="Roboto Condensed"/>
              <a:ea typeface="Roboto Condensed"/>
              <a:cs typeface="Roboto Condensed"/>
              <a:sym typeface="Roboto Condensed"/>
            </a:endParaRPr>
          </a:p>
        </p:txBody>
      </p:sp>
      <p:pic>
        <p:nvPicPr>
          <p:cNvPr id="101" name="Google Shape;101;p24"/>
          <p:cNvPicPr preferRelativeResize="0"/>
          <p:nvPr/>
        </p:nvPicPr>
        <p:blipFill rotWithShape="1">
          <a:blip r:embed="rId3">
            <a:alphaModFix/>
          </a:blip>
          <a:srcRect b="0" l="0" r="0" t="0"/>
          <a:stretch/>
        </p:blipFill>
        <p:spPr>
          <a:xfrm>
            <a:off x="3340834" y="3995151"/>
            <a:ext cx="17702350" cy="740847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5"/>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107" name="Google Shape;107;p25"/>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Xây dựng  Eureka Discovery Service</a:t>
            </a:r>
            <a:endParaRPr b="1" i="0" sz="3600" u="none" cap="none" strike="noStrike">
              <a:solidFill>
                <a:srgbClr val="0070C0"/>
              </a:solidFill>
              <a:latin typeface="Roboto Condensed"/>
              <a:ea typeface="Roboto Condensed"/>
              <a:cs typeface="Roboto Condensed"/>
              <a:sym typeface="Roboto Condensed"/>
            </a:endParaRPr>
          </a:p>
        </p:txBody>
      </p:sp>
      <p:sp>
        <p:nvSpPr>
          <p:cNvPr id="108" name="Google Shape;108;p25"/>
          <p:cNvSpPr txBox="1"/>
          <p:nvPr/>
        </p:nvSpPr>
        <p:spPr>
          <a:xfrm>
            <a:off x="1464277" y="2472891"/>
            <a:ext cx="81441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highlight>
                  <a:srgbClr val="FFFFFF"/>
                </a:highlight>
                <a:latin typeface="Roboto Condensed"/>
                <a:ea typeface="Roboto Condensed"/>
                <a:cs typeface="Roboto Condensed"/>
                <a:sym typeface="Roboto Condensed"/>
              </a:rPr>
              <a:t>Đóng gói ứng dụng với maven</a:t>
            </a:r>
            <a:endParaRPr b="0" i="0" sz="3800" u="none" cap="none" strike="noStrike">
              <a:solidFill>
                <a:schemeClr val="dk1"/>
              </a:solidFill>
              <a:latin typeface="Roboto Condensed"/>
              <a:ea typeface="Roboto Condensed"/>
              <a:cs typeface="Roboto Condensed"/>
              <a:sym typeface="Roboto Condensed"/>
            </a:endParaRPr>
          </a:p>
        </p:txBody>
      </p:sp>
      <p:pic>
        <p:nvPicPr>
          <p:cNvPr id="109" name="Google Shape;109;p25"/>
          <p:cNvPicPr preferRelativeResize="0"/>
          <p:nvPr/>
        </p:nvPicPr>
        <p:blipFill rotWithShape="1">
          <a:blip r:embed="rId3">
            <a:alphaModFix/>
          </a:blip>
          <a:srcRect b="0" l="0" r="0" t="0"/>
          <a:stretch/>
        </p:blipFill>
        <p:spPr>
          <a:xfrm>
            <a:off x="8537378" y="2592775"/>
            <a:ext cx="14286900" cy="96914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6"/>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115" name="Google Shape;115;p26"/>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2</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Xây dựng  Eureka Discovery Service</a:t>
            </a:r>
            <a:endParaRPr b="1" i="0" sz="3600" u="none" cap="none" strike="noStrike">
              <a:solidFill>
                <a:srgbClr val="0070C0"/>
              </a:solidFill>
              <a:latin typeface="Roboto Condensed"/>
              <a:ea typeface="Roboto Condensed"/>
              <a:cs typeface="Roboto Condensed"/>
              <a:sym typeface="Roboto Condensed"/>
            </a:endParaRPr>
          </a:p>
        </p:txBody>
      </p:sp>
      <p:sp>
        <p:nvSpPr>
          <p:cNvPr id="116" name="Google Shape;116;p26"/>
          <p:cNvSpPr txBox="1"/>
          <p:nvPr/>
        </p:nvSpPr>
        <p:spPr>
          <a:xfrm>
            <a:off x="1464277" y="2472891"/>
            <a:ext cx="109857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highlight>
                  <a:srgbClr val="FFFFFF"/>
                </a:highlight>
                <a:latin typeface="Roboto Condensed"/>
                <a:ea typeface="Roboto Condensed"/>
                <a:cs typeface="Roboto Condensed"/>
                <a:sym typeface="Roboto Condensed"/>
              </a:rPr>
              <a:t>Run container với Dockerfile và docker-compose.yml</a:t>
            </a:r>
            <a:endParaRPr b="0" i="0" sz="3800" u="none" cap="none" strike="noStrike">
              <a:solidFill>
                <a:schemeClr val="dk1"/>
              </a:solidFill>
              <a:latin typeface="Roboto Condensed"/>
              <a:ea typeface="Roboto Condensed"/>
              <a:cs typeface="Roboto Condensed"/>
              <a:sym typeface="Roboto Condensed"/>
            </a:endParaRPr>
          </a:p>
        </p:txBody>
      </p:sp>
      <p:pic>
        <p:nvPicPr>
          <p:cNvPr id="117" name="Google Shape;117;p26"/>
          <p:cNvPicPr preferRelativeResize="0"/>
          <p:nvPr/>
        </p:nvPicPr>
        <p:blipFill rotWithShape="1">
          <a:blip r:embed="rId3">
            <a:alphaModFix/>
          </a:blip>
          <a:srcRect b="0" l="0" r="0" t="0"/>
          <a:stretch/>
        </p:blipFill>
        <p:spPr>
          <a:xfrm>
            <a:off x="3118227" y="3642140"/>
            <a:ext cx="18147527" cy="863895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7"/>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123" name="Google Shape;123;p27"/>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Enable Account Service</a:t>
            </a:r>
            <a:endParaRPr b="1" i="0" sz="3600" u="none" cap="none" strike="noStrike">
              <a:solidFill>
                <a:srgbClr val="0070C0"/>
              </a:solidFill>
              <a:latin typeface="Roboto Condensed"/>
              <a:ea typeface="Roboto Condensed"/>
              <a:cs typeface="Roboto Condensed"/>
              <a:sym typeface="Roboto Condensed"/>
            </a:endParaRPr>
          </a:p>
        </p:txBody>
      </p:sp>
      <p:sp>
        <p:nvSpPr>
          <p:cNvPr id="124" name="Google Shape;124;p27"/>
          <p:cNvSpPr txBox="1"/>
          <p:nvPr/>
        </p:nvSpPr>
        <p:spPr>
          <a:xfrm>
            <a:off x="1464277" y="2472891"/>
            <a:ext cx="94017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highlight>
                  <a:srgbClr val="FFFFFF"/>
                </a:highlight>
                <a:latin typeface="Roboto Condensed"/>
                <a:ea typeface="Roboto Condensed"/>
                <a:cs typeface="Roboto Condensed"/>
                <a:sym typeface="Roboto Condensed"/>
              </a:rPr>
              <a:t>Add thư viện eureka client trong file pom.xml</a:t>
            </a:r>
            <a:endParaRPr b="0" i="0" sz="3800" u="none" cap="none" strike="noStrike">
              <a:solidFill>
                <a:schemeClr val="dk1"/>
              </a:solidFill>
              <a:latin typeface="Roboto Condensed"/>
              <a:ea typeface="Roboto Condensed"/>
              <a:cs typeface="Roboto Condensed"/>
              <a:sym typeface="Roboto Condensed"/>
            </a:endParaRPr>
          </a:p>
        </p:txBody>
      </p:sp>
      <p:pic>
        <p:nvPicPr>
          <p:cNvPr id="125" name="Google Shape;125;p27"/>
          <p:cNvPicPr preferRelativeResize="0"/>
          <p:nvPr/>
        </p:nvPicPr>
        <p:blipFill rotWithShape="1">
          <a:blip r:embed="rId3">
            <a:alphaModFix/>
          </a:blip>
          <a:srcRect b="0" l="0" r="0" t="0"/>
          <a:stretch/>
        </p:blipFill>
        <p:spPr>
          <a:xfrm>
            <a:off x="4628849" y="3411916"/>
            <a:ext cx="15126321" cy="874455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8"/>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131" name="Google Shape;131;p28"/>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Enable Account Service</a:t>
            </a:r>
            <a:endParaRPr b="1" i="0" sz="3600" u="none" cap="none" strike="noStrike">
              <a:solidFill>
                <a:srgbClr val="0070C0"/>
              </a:solidFill>
              <a:latin typeface="Roboto Condensed"/>
              <a:ea typeface="Roboto Condensed"/>
              <a:cs typeface="Roboto Condensed"/>
              <a:sym typeface="Roboto Condensed"/>
            </a:endParaRPr>
          </a:p>
        </p:txBody>
      </p:sp>
      <p:sp>
        <p:nvSpPr>
          <p:cNvPr id="132" name="Google Shape;132;p28"/>
          <p:cNvSpPr txBox="1"/>
          <p:nvPr/>
        </p:nvSpPr>
        <p:spPr>
          <a:xfrm>
            <a:off x="1464277" y="2472891"/>
            <a:ext cx="81441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highlight>
                  <a:srgbClr val="FFFFFF"/>
                </a:highlight>
                <a:latin typeface="Roboto Condensed"/>
                <a:ea typeface="Roboto Condensed"/>
                <a:cs typeface="Roboto Condensed"/>
                <a:sym typeface="Roboto Condensed"/>
              </a:rPr>
              <a:t>Enable discovery client</a:t>
            </a:r>
            <a:endParaRPr b="0" i="0" sz="3800" u="none" cap="none" strike="noStrike">
              <a:solidFill>
                <a:schemeClr val="dk1"/>
              </a:solidFill>
              <a:latin typeface="Roboto Condensed"/>
              <a:ea typeface="Roboto Condensed"/>
              <a:cs typeface="Roboto Condensed"/>
              <a:sym typeface="Roboto Condensed"/>
            </a:endParaRPr>
          </a:p>
        </p:txBody>
      </p:sp>
      <p:pic>
        <p:nvPicPr>
          <p:cNvPr id="133" name="Google Shape;133;p28"/>
          <p:cNvPicPr preferRelativeResize="0"/>
          <p:nvPr/>
        </p:nvPicPr>
        <p:blipFill rotWithShape="1">
          <a:blip r:embed="rId3">
            <a:alphaModFix/>
          </a:blip>
          <a:srcRect b="0" l="0" r="0" t="0"/>
          <a:stretch/>
        </p:blipFill>
        <p:spPr>
          <a:xfrm>
            <a:off x="5170074" y="4105275"/>
            <a:ext cx="14043860" cy="7010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9"/>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139" name="Google Shape;139;p29"/>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Enable Account Service</a:t>
            </a:r>
            <a:endParaRPr b="1" i="0" sz="3600" u="none" cap="none" strike="noStrike">
              <a:solidFill>
                <a:srgbClr val="0070C0"/>
              </a:solidFill>
              <a:latin typeface="Roboto Condensed"/>
              <a:ea typeface="Roboto Condensed"/>
              <a:cs typeface="Roboto Condensed"/>
              <a:sym typeface="Roboto Condensed"/>
            </a:endParaRPr>
          </a:p>
        </p:txBody>
      </p:sp>
      <p:sp>
        <p:nvSpPr>
          <p:cNvPr id="140" name="Google Shape;140;p29"/>
          <p:cNvSpPr txBox="1"/>
          <p:nvPr/>
        </p:nvSpPr>
        <p:spPr>
          <a:xfrm>
            <a:off x="1464277" y="2472891"/>
            <a:ext cx="81441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highlight>
                  <a:srgbClr val="FFFFFF"/>
                </a:highlight>
                <a:latin typeface="Roboto Condensed"/>
                <a:ea typeface="Roboto Condensed"/>
                <a:cs typeface="Roboto Condensed"/>
                <a:sym typeface="Roboto Condensed"/>
              </a:rPr>
              <a:t>Enable discovery client</a:t>
            </a:r>
            <a:endParaRPr b="0" i="0" sz="3800" u="none" cap="none" strike="noStrike">
              <a:solidFill>
                <a:schemeClr val="dk1"/>
              </a:solidFill>
              <a:latin typeface="Roboto Condensed"/>
              <a:ea typeface="Roboto Condensed"/>
              <a:cs typeface="Roboto Condensed"/>
              <a:sym typeface="Roboto Condensed"/>
            </a:endParaRPr>
          </a:p>
        </p:txBody>
      </p:sp>
      <p:pic>
        <p:nvPicPr>
          <p:cNvPr id="141" name="Google Shape;141;p29"/>
          <p:cNvPicPr preferRelativeResize="0"/>
          <p:nvPr/>
        </p:nvPicPr>
        <p:blipFill rotWithShape="1">
          <a:blip r:embed="rId3">
            <a:alphaModFix/>
          </a:blip>
          <a:srcRect b="-3869" l="0" r="0" t="3870"/>
          <a:stretch/>
        </p:blipFill>
        <p:spPr>
          <a:xfrm>
            <a:off x="3739257" y="3411917"/>
            <a:ext cx="16905479" cy="92364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30"/>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147" name="Google Shape;147;p30"/>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Enable Account Service</a:t>
            </a:r>
            <a:endParaRPr b="1" i="0" sz="3600" u="none" cap="none" strike="noStrike">
              <a:solidFill>
                <a:srgbClr val="0070C0"/>
              </a:solidFill>
              <a:latin typeface="Roboto Condensed"/>
              <a:ea typeface="Roboto Condensed"/>
              <a:cs typeface="Roboto Condensed"/>
              <a:sym typeface="Roboto Condensed"/>
            </a:endParaRPr>
          </a:p>
        </p:txBody>
      </p:sp>
      <p:sp>
        <p:nvSpPr>
          <p:cNvPr id="148" name="Google Shape;148;p30"/>
          <p:cNvSpPr txBox="1"/>
          <p:nvPr/>
        </p:nvSpPr>
        <p:spPr>
          <a:xfrm>
            <a:off x="1464277" y="2472891"/>
            <a:ext cx="81441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latin typeface="Roboto Condensed"/>
                <a:ea typeface="Roboto Condensed"/>
                <a:cs typeface="Roboto Condensed"/>
                <a:sym typeface="Roboto Condensed"/>
              </a:rPr>
              <a:t>Viết Dockerfile và docker-compose.yml</a:t>
            </a:r>
            <a:endParaRPr sz="3800"/>
          </a:p>
        </p:txBody>
      </p:sp>
      <p:pic>
        <p:nvPicPr>
          <p:cNvPr id="149" name="Google Shape;149;p30"/>
          <p:cNvPicPr preferRelativeResize="0"/>
          <p:nvPr/>
        </p:nvPicPr>
        <p:blipFill rotWithShape="1">
          <a:blip r:embed="rId3">
            <a:alphaModFix/>
          </a:blip>
          <a:srcRect b="0" l="0" r="0" t="0"/>
          <a:stretch/>
        </p:blipFill>
        <p:spPr>
          <a:xfrm>
            <a:off x="2857497" y="3855367"/>
            <a:ext cx="18669000" cy="79914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31"/>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155" name="Google Shape;155;p31"/>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Enable Account Service</a:t>
            </a:r>
            <a:endParaRPr b="1" i="0" sz="3600" u="none" cap="none" strike="noStrike">
              <a:solidFill>
                <a:srgbClr val="0070C0"/>
              </a:solidFill>
              <a:latin typeface="Roboto Condensed"/>
              <a:ea typeface="Roboto Condensed"/>
              <a:cs typeface="Roboto Condensed"/>
              <a:sym typeface="Roboto Condensed"/>
            </a:endParaRPr>
          </a:p>
        </p:txBody>
      </p:sp>
      <p:sp>
        <p:nvSpPr>
          <p:cNvPr id="156" name="Google Shape;156;p31"/>
          <p:cNvSpPr txBox="1"/>
          <p:nvPr/>
        </p:nvSpPr>
        <p:spPr>
          <a:xfrm>
            <a:off x="1464277" y="2472891"/>
            <a:ext cx="10019100" cy="661800"/>
          </a:xfrm>
          <a:prstGeom prst="rect">
            <a:avLst/>
          </a:prstGeom>
          <a:noFill/>
          <a:ln>
            <a:noFill/>
          </a:ln>
        </p:spPr>
        <p:txBody>
          <a:bodyPr anchorCtr="0" anchor="t" bIns="45700" lIns="91425" spcFirstLastPara="1" rIns="91425" wrap="square" tIns="45700">
            <a:spAutoFit/>
          </a:bodyPr>
          <a:lstStyle/>
          <a:p>
            <a:pPr indent="-488950" lvl="0" marL="457200" marR="0" rtl="0" algn="l">
              <a:lnSpc>
                <a:spcPct val="100000"/>
              </a:lnSpc>
              <a:spcBef>
                <a:spcPts val="0"/>
              </a:spcBef>
              <a:spcAft>
                <a:spcPts val="0"/>
              </a:spcAft>
              <a:buClr>
                <a:srgbClr val="000000"/>
              </a:buClr>
              <a:buSzPts val="3700"/>
              <a:buFont typeface="Arial"/>
              <a:buChar char="•"/>
            </a:pPr>
            <a:r>
              <a:rPr b="0" i="0" lang="en-US" sz="3700" u="none" cap="none" strike="noStrike">
                <a:solidFill>
                  <a:schemeClr val="dk1"/>
                </a:solidFill>
                <a:latin typeface="Roboto Condensed"/>
                <a:ea typeface="Roboto Condensed"/>
                <a:cs typeface="Roboto Condensed"/>
                <a:sym typeface="Roboto Condensed"/>
              </a:rPr>
              <a:t>Tạo mysql service dung chung cho cả hệ thống</a:t>
            </a:r>
            <a:endParaRPr b="0" i="0" sz="3700" u="none" cap="none" strike="noStrike">
              <a:solidFill>
                <a:schemeClr val="dk1"/>
              </a:solidFill>
              <a:latin typeface="Roboto Condensed"/>
              <a:ea typeface="Roboto Condensed"/>
              <a:cs typeface="Roboto Condensed"/>
              <a:sym typeface="Roboto Condensed"/>
            </a:endParaRPr>
          </a:p>
        </p:txBody>
      </p:sp>
      <p:pic>
        <p:nvPicPr>
          <p:cNvPr id="157" name="Google Shape;157;p31"/>
          <p:cNvPicPr preferRelativeResize="0"/>
          <p:nvPr/>
        </p:nvPicPr>
        <p:blipFill rotWithShape="1">
          <a:blip r:embed="rId3">
            <a:alphaModFix/>
          </a:blip>
          <a:srcRect b="0" l="0" r="0" t="0"/>
          <a:stretch/>
        </p:blipFill>
        <p:spPr>
          <a:xfrm>
            <a:off x="3302660" y="3735228"/>
            <a:ext cx="17778692" cy="7819717"/>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2"/>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163" name="Google Shape;163;p32"/>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3</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Enable Account Service</a:t>
            </a:r>
            <a:endParaRPr b="1" i="0" sz="3600" u="none" cap="none" strike="noStrike">
              <a:solidFill>
                <a:srgbClr val="0070C0"/>
              </a:solidFill>
              <a:latin typeface="Roboto Condensed"/>
              <a:ea typeface="Roboto Condensed"/>
              <a:cs typeface="Roboto Condensed"/>
              <a:sym typeface="Roboto Condensed"/>
            </a:endParaRPr>
          </a:p>
        </p:txBody>
      </p:sp>
      <p:sp>
        <p:nvSpPr>
          <p:cNvPr id="164" name="Google Shape;164;p32"/>
          <p:cNvSpPr txBox="1"/>
          <p:nvPr/>
        </p:nvSpPr>
        <p:spPr>
          <a:xfrm>
            <a:off x="1464270" y="2472900"/>
            <a:ext cx="208968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latin typeface="Roboto Condensed"/>
                <a:ea typeface="Roboto Condensed"/>
                <a:cs typeface="Roboto Condensed"/>
                <a:sym typeface="Roboto Condensed"/>
              </a:rPr>
              <a:t>Run các container kiểm tra eureka server</a:t>
            </a:r>
            <a:endParaRPr sz="3800"/>
          </a:p>
        </p:txBody>
      </p:sp>
      <p:pic>
        <p:nvPicPr>
          <p:cNvPr id="165" name="Google Shape;165;p32"/>
          <p:cNvPicPr preferRelativeResize="0"/>
          <p:nvPr/>
        </p:nvPicPr>
        <p:blipFill rotWithShape="1">
          <a:blip r:embed="rId3">
            <a:alphaModFix/>
          </a:blip>
          <a:srcRect b="0" l="0" r="0" t="0"/>
          <a:stretch/>
        </p:blipFill>
        <p:spPr>
          <a:xfrm>
            <a:off x="3588325" y="3057900"/>
            <a:ext cx="17207350" cy="93365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3"/>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171" name="Google Shape;171;p33"/>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Enable Auth Service</a:t>
            </a:r>
            <a:endParaRPr b="1" i="0" sz="3600" u="none" cap="none" strike="noStrike">
              <a:solidFill>
                <a:srgbClr val="0070C0"/>
              </a:solidFill>
              <a:latin typeface="Roboto Condensed"/>
              <a:ea typeface="Roboto Condensed"/>
              <a:cs typeface="Roboto Condensed"/>
              <a:sym typeface="Roboto Condensed"/>
            </a:endParaRPr>
          </a:p>
        </p:txBody>
      </p:sp>
      <p:sp>
        <p:nvSpPr>
          <p:cNvPr id="172" name="Google Shape;172;p33"/>
          <p:cNvSpPr txBox="1"/>
          <p:nvPr/>
        </p:nvSpPr>
        <p:spPr>
          <a:xfrm>
            <a:off x="1464274" y="2472900"/>
            <a:ext cx="208956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highlight>
                  <a:srgbClr val="FFFFFF"/>
                </a:highlight>
                <a:latin typeface="Roboto Condensed"/>
                <a:ea typeface="Roboto Condensed"/>
                <a:cs typeface="Roboto Condensed"/>
                <a:sym typeface="Roboto Condensed"/>
              </a:rPr>
              <a:t>Add thư viện eureka client trong file pom.xml giống account service</a:t>
            </a:r>
            <a:endParaRPr b="0" i="0" sz="3800" u="none" cap="none" strike="noStrike">
              <a:solidFill>
                <a:schemeClr val="dk1"/>
              </a:solidFill>
              <a:latin typeface="Roboto Condensed"/>
              <a:ea typeface="Roboto Condensed"/>
              <a:cs typeface="Roboto Condensed"/>
              <a:sym typeface="Roboto Condensed"/>
            </a:endParaRPr>
          </a:p>
        </p:txBody>
      </p:sp>
      <p:pic>
        <p:nvPicPr>
          <p:cNvPr id="173" name="Google Shape;173;p33"/>
          <p:cNvPicPr preferRelativeResize="0"/>
          <p:nvPr/>
        </p:nvPicPr>
        <p:blipFill rotWithShape="1">
          <a:blip r:embed="rId3">
            <a:alphaModFix/>
          </a:blip>
          <a:srcRect b="0" l="0" r="0" t="0"/>
          <a:stretch/>
        </p:blipFill>
        <p:spPr>
          <a:xfrm>
            <a:off x="4628849" y="3411916"/>
            <a:ext cx="15126321" cy="8744557"/>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4"/>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179" name="Google Shape;179;p34"/>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Enable Auth Service</a:t>
            </a:r>
            <a:endParaRPr b="1" i="0" sz="3600" u="none" cap="none" strike="noStrike">
              <a:solidFill>
                <a:srgbClr val="0070C0"/>
              </a:solidFill>
              <a:latin typeface="Roboto Condensed"/>
              <a:ea typeface="Roboto Condensed"/>
              <a:cs typeface="Roboto Condensed"/>
              <a:sym typeface="Roboto Condensed"/>
            </a:endParaRPr>
          </a:p>
        </p:txBody>
      </p:sp>
      <p:sp>
        <p:nvSpPr>
          <p:cNvPr id="180" name="Google Shape;180;p34"/>
          <p:cNvSpPr txBox="1"/>
          <p:nvPr/>
        </p:nvSpPr>
        <p:spPr>
          <a:xfrm>
            <a:off x="1464277" y="2472891"/>
            <a:ext cx="81441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latin typeface="Roboto Condensed"/>
                <a:ea typeface="Roboto Condensed"/>
                <a:cs typeface="Roboto Condensed"/>
                <a:sym typeface="Roboto Condensed"/>
              </a:rPr>
              <a:t>Viết Dockerfile và docker-compose.yml</a:t>
            </a:r>
            <a:endParaRPr sz="3800"/>
          </a:p>
        </p:txBody>
      </p:sp>
      <p:pic>
        <p:nvPicPr>
          <p:cNvPr id="181" name="Google Shape;181;p34"/>
          <p:cNvPicPr preferRelativeResize="0"/>
          <p:nvPr/>
        </p:nvPicPr>
        <p:blipFill rotWithShape="1">
          <a:blip r:embed="rId3">
            <a:alphaModFix/>
          </a:blip>
          <a:srcRect b="0" l="0" r="0" t="0"/>
          <a:stretch/>
        </p:blipFill>
        <p:spPr>
          <a:xfrm>
            <a:off x="2678606" y="3936200"/>
            <a:ext cx="19026808" cy="76962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5"/>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187" name="Google Shape;187;p35"/>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4</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Enable Auth Service</a:t>
            </a:r>
            <a:endParaRPr b="1" i="0" sz="3600" u="none" cap="none" strike="noStrike">
              <a:solidFill>
                <a:srgbClr val="0070C0"/>
              </a:solidFill>
              <a:latin typeface="Roboto Condensed"/>
              <a:ea typeface="Roboto Condensed"/>
              <a:cs typeface="Roboto Condensed"/>
              <a:sym typeface="Roboto Condensed"/>
            </a:endParaRPr>
          </a:p>
        </p:txBody>
      </p:sp>
      <p:sp>
        <p:nvSpPr>
          <p:cNvPr id="188" name="Google Shape;188;p35"/>
          <p:cNvSpPr txBox="1"/>
          <p:nvPr/>
        </p:nvSpPr>
        <p:spPr>
          <a:xfrm>
            <a:off x="1464276" y="2472891"/>
            <a:ext cx="3535200" cy="1893300"/>
          </a:xfrm>
          <a:prstGeom prst="rect">
            <a:avLst/>
          </a:prstGeom>
          <a:noFill/>
          <a:ln>
            <a:noFill/>
          </a:ln>
        </p:spPr>
        <p:txBody>
          <a:bodyPr anchorCtr="0" anchor="t" bIns="45700" lIns="91425" spcFirstLastPara="1" rIns="91425" wrap="square" tIns="45700">
            <a:spAutoFit/>
          </a:bodyPr>
          <a:lstStyle/>
          <a:p>
            <a:pPr indent="-501650" lvl="0" marL="457200" marR="0" rtl="0" algn="l">
              <a:lnSpc>
                <a:spcPct val="100000"/>
              </a:lnSpc>
              <a:spcBef>
                <a:spcPts val="0"/>
              </a:spcBef>
              <a:spcAft>
                <a:spcPts val="0"/>
              </a:spcAft>
              <a:buClr>
                <a:srgbClr val="000000"/>
              </a:buClr>
              <a:buSzPts val="3900"/>
              <a:buFont typeface="Arial"/>
              <a:buChar char="•"/>
            </a:pPr>
            <a:r>
              <a:rPr b="0" i="0" lang="en-US" sz="3900" u="none" cap="none" strike="noStrike">
                <a:solidFill>
                  <a:schemeClr val="dk1"/>
                </a:solidFill>
                <a:latin typeface="Roboto Condensed"/>
                <a:ea typeface="Roboto Condensed"/>
                <a:cs typeface="Roboto Condensed"/>
                <a:sym typeface="Roboto Condensed"/>
              </a:rPr>
              <a:t>Run container kiểm tra eureka server</a:t>
            </a:r>
            <a:endParaRPr sz="2100"/>
          </a:p>
        </p:txBody>
      </p:sp>
      <p:pic>
        <p:nvPicPr>
          <p:cNvPr id="189" name="Google Shape;189;p35"/>
          <p:cNvPicPr preferRelativeResize="0"/>
          <p:nvPr/>
        </p:nvPicPr>
        <p:blipFill rotWithShape="1">
          <a:blip r:embed="rId3">
            <a:alphaModFix/>
          </a:blip>
          <a:srcRect b="0" l="0" r="0" t="0"/>
          <a:stretch/>
        </p:blipFill>
        <p:spPr>
          <a:xfrm>
            <a:off x="5237513" y="2210965"/>
            <a:ext cx="17361230" cy="101680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6"/>
          <p:cNvSpPr txBox="1"/>
          <p:nvPr/>
        </p:nvSpPr>
        <p:spPr>
          <a:xfrm>
            <a:off x="1200149" y="571498"/>
            <a:ext cx="10449055" cy="731209"/>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1" i="0" lang="en-US" sz="6000" u="none" cap="none" strike="noStrike">
                <a:solidFill>
                  <a:srgbClr val="0079BF"/>
                </a:solidFill>
                <a:latin typeface="Roboto Condensed"/>
                <a:ea typeface="Roboto Condensed"/>
                <a:cs typeface="Roboto Condensed"/>
                <a:sym typeface="Roboto Condensed"/>
              </a:rPr>
              <a:t>Implement Microservices</a:t>
            </a:r>
            <a:endParaRPr b="1" i="0" sz="6000" u="none" cap="none" strike="noStrike">
              <a:solidFill>
                <a:srgbClr val="4F81BD"/>
              </a:solidFill>
              <a:latin typeface="Roboto Condensed"/>
              <a:ea typeface="Roboto Condensed"/>
              <a:cs typeface="Roboto Condensed"/>
              <a:sym typeface="Roboto Condensed"/>
            </a:endParaRPr>
          </a:p>
        </p:txBody>
      </p:sp>
      <p:sp>
        <p:nvSpPr>
          <p:cNvPr id="195" name="Google Shape;195;p36"/>
          <p:cNvSpPr txBox="1"/>
          <p:nvPr/>
        </p:nvSpPr>
        <p:spPr>
          <a:xfrm>
            <a:off x="1200149" y="1564634"/>
            <a:ext cx="10449055"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79BF"/>
                </a:solidFill>
                <a:latin typeface="Roboto Condensed"/>
                <a:ea typeface="Roboto Condensed"/>
                <a:cs typeface="Roboto Condensed"/>
                <a:sym typeface="Roboto Condensed"/>
              </a:rPr>
              <a:t>5</a:t>
            </a:r>
            <a:r>
              <a:rPr b="1" i="0" lang="en-US" sz="3600" u="none" cap="none" strike="noStrike">
                <a:solidFill>
                  <a:srgbClr val="000000"/>
                </a:solidFill>
                <a:latin typeface="Roboto Condensed"/>
                <a:ea typeface="Roboto Condensed"/>
                <a:cs typeface="Roboto Condensed"/>
                <a:sym typeface="Roboto Condensed"/>
              </a:rPr>
              <a:t>. </a:t>
            </a:r>
            <a:r>
              <a:rPr b="1" i="0" lang="en-US" sz="3600" u="none" cap="none" strike="noStrike">
                <a:solidFill>
                  <a:srgbClr val="0070C0"/>
                </a:solidFill>
                <a:latin typeface="Arial"/>
                <a:ea typeface="Arial"/>
                <a:cs typeface="Arial"/>
                <a:sym typeface="Arial"/>
              </a:rPr>
              <a:t>Enable Department Service</a:t>
            </a:r>
            <a:endParaRPr b="1" i="0" sz="3600" u="none" cap="none" strike="noStrike">
              <a:solidFill>
                <a:srgbClr val="0070C0"/>
              </a:solidFill>
              <a:latin typeface="Roboto Condensed"/>
              <a:ea typeface="Roboto Condensed"/>
              <a:cs typeface="Roboto Condensed"/>
              <a:sym typeface="Roboto Condensed"/>
            </a:endParaRPr>
          </a:p>
        </p:txBody>
      </p:sp>
      <p:sp>
        <p:nvSpPr>
          <p:cNvPr id="196" name="Google Shape;196;p36"/>
          <p:cNvSpPr txBox="1"/>
          <p:nvPr/>
        </p:nvSpPr>
        <p:spPr>
          <a:xfrm>
            <a:off x="1464277" y="2472891"/>
            <a:ext cx="10019100" cy="677100"/>
          </a:xfrm>
          <a:prstGeom prst="rect">
            <a:avLst/>
          </a:prstGeom>
          <a:noFill/>
          <a:ln>
            <a:noFill/>
          </a:ln>
        </p:spPr>
        <p:txBody>
          <a:bodyPr anchorCtr="0" anchor="t" bIns="45700" lIns="91425" spcFirstLastPara="1" rIns="91425" wrap="square" tIns="45700">
            <a:spAutoFit/>
          </a:bodyPr>
          <a:lstStyle/>
          <a:p>
            <a:pPr indent="-495300" lvl="0" marL="457200" marR="0" rtl="0" algn="l">
              <a:lnSpc>
                <a:spcPct val="100000"/>
              </a:lnSpc>
              <a:spcBef>
                <a:spcPts val="0"/>
              </a:spcBef>
              <a:spcAft>
                <a:spcPts val="0"/>
              </a:spcAft>
              <a:buClr>
                <a:srgbClr val="000000"/>
              </a:buClr>
              <a:buSzPts val="3800"/>
              <a:buFont typeface="Arial"/>
              <a:buChar char="•"/>
            </a:pPr>
            <a:r>
              <a:rPr b="0" i="0" lang="en-US" sz="3800" u="none" cap="none" strike="noStrike">
                <a:solidFill>
                  <a:schemeClr val="dk1"/>
                </a:solidFill>
                <a:latin typeface="Roboto Condensed"/>
                <a:ea typeface="Roboto Condensed"/>
                <a:cs typeface="Roboto Condensed"/>
                <a:sym typeface="Roboto Condensed"/>
              </a:rPr>
              <a:t>Tương tự như account service và auth service</a:t>
            </a:r>
            <a:endParaRPr b="0" i="0" sz="3800" u="none" cap="none" strike="noStrike">
              <a:solidFill>
                <a:schemeClr val="dk1"/>
              </a:solidFill>
              <a:latin typeface="Roboto Condensed"/>
              <a:ea typeface="Roboto Condensed"/>
              <a:cs typeface="Roboto Condensed"/>
              <a:sym typeface="Roboto Condensed"/>
            </a:endParaRPr>
          </a:p>
        </p:txBody>
      </p:sp>
    </p:spTree>
  </p:cSld>
  <p:clrMapOvr>
    <a:masterClrMapping/>
  </p:clrMapOvr>
</p:sld>
</file>

<file path=ppt/theme/theme1.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Nguyen Anh Quan (VTI.GA)</dc:creator>
</cp:coreProperties>
</file>