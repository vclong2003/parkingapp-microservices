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13716000" cx="24384000"/>
  <p:notesSz cx="6797675" cy="9929800"/>
  <p:embeddedFontLst>
    <p:embeddedFont>
      <p:font typeface="Roboto Condensed"/>
      <p:regular r:id="rId36"/>
      <p:bold r:id="rId37"/>
      <p:italic r:id="rId38"/>
      <p:boldItalic r:id="rId39"/>
    </p:embeddedFont>
    <p:embeddedFont>
      <p:font typeface="Helvetica Neue"/>
      <p:regular r:id="rId40"/>
      <p:bold r:id="rId41"/>
      <p:italic r:id="rId42"/>
      <p:boldItalic r:id="rId43"/>
    </p:embeddedFont>
    <p:embeddedFont>
      <p:font typeface="Helvetica Neue Light"/>
      <p:regular r:id="rId44"/>
      <p:bold r:id="rId45"/>
      <p:italic r:id="rId46"/>
      <p:boldItalic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48" roundtripDataSignature="AMtx7mj9mdH8e3Y4Mwo8RIVrKCvPa+0F6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HelveticaNeue-regular.fntdata"/><Relationship Id="rId20" Type="http://schemas.openxmlformats.org/officeDocument/2006/relationships/slide" Target="slides/slide15.xml"/><Relationship Id="rId42" Type="http://schemas.openxmlformats.org/officeDocument/2006/relationships/font" Target="fonts/HelveticaNeue-italic.fntdata"/><Relationship Id="rId41" Type="http://schemas.openxmlformats.org/officeDocument/2006/relationships/font" Target="fonts/HelveticaNeue-bold.fntdata"/><Relationship Id="rId22" Type="http://schemas.openxmlformats.org/officeDocument/2006/relationships/slide" Target="slides/slide17.xml"/><Relationship Id="rId44" Type="http://schemas.openxmlformats.org/officeDocument/2006/relationships/font" Target="fonts/HelveticaNeueLight-regular.fntdata"/><Relationship Id="rId21" Type="http://schemas.openxmlformats.org/officeDocument/2006/relationships/slide" Target="slides/slide16.xml"/><Relationship Id="rId43" Type="http://schemas.openxmlformats.org/officeDocument/2006/relationships/font" Target="fonts/HelveticaNeue-boldItalic.fntdata"/><Relationship Id="rId24" Type="http://schemas.openxmlformats.org/officeDocument/2006/relationships/slide" Target="slides/slide19.xml"/><Relationship Id="rId46" Type="http://schemas.openxmlformats.org/officeDocument/2006/relationships/font" Target="fonts/HelveticaNeueLight-italic.fntdata"/><Relationship Id="rId23" Type="http://schemas.openxmlformats.org/officeDocument/2006/relationships/slide" Target="slides/slide18.xml"/><Relationship Id="rId45" Type="http://schemas.openxmlformats.org/officeDocument/2006/relationships/font" Target="fonts/HelveticaNeueLight-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customschemas.google.com/relationships/presentationmetadata" Target="metadata"/><Relationship Id="rId25" Type="http://schemas.openxmlformats.org/officeDocument/2006/relationships/slide" Target="slides/slide20.xml"/><Relationship Id="rId47" Type="http://schemas.openxmlformats.org/officeDocument/2006/relationships/font" Target="fonts/HelveticaNeueLight-boldItalic.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RobotoCondensed-bold.fntdata"/><Relationship Id="rId14" Type="http://schemas.openxmlformats.org/officeDocument/2006/relationships/slide" Target="slides/slide9.xml"/><Relationship Id="rId36" Type="http://schemas.openxmlformats.org/officeDocument/2006/relationships/font" Target="fonts/RobotoCondensed-regular.fntdata"/><Relationship Id="rId17" Type="http://schemas.openxmlformats.org/officeDocument/2006/relationships/slide" Target="slides/slide12.xml"/><Relationship Id="rId39" Type="http://schemas.openxmlformats.org/officeDocument/2006/relationships/font" Target="fonts/RobotoCondensed-boldItalic.fntdata"/><Relationship Id="rId16" Type="http://schemas.openxmlformats.org/officeDocument/2006/relationships/slide" Target="slides/slide11.xml"/><Relationship Id="rId38" Type="http://schemas.openxmlformats.org/officeDocument/2006/relationships/font" Target="fonts/RobotoCondense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 name="Google Shape;56;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 name="Google Shape;64;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1" name="Google Shape;71;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8" name="Google Shape;78;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6" name="Google Shape;86;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4" name="Google Shape;94;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2" name="Google Shape;102;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0" name="Google Shape;110;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8" name="Google Shape;118;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6" name="Google Shape;126;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4" name="Google Shape;134;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2" name="Google Shape;142;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0" name="Google Shape;150;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3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8" name="Google Shape;158;p3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3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6" name="Google Shape;166;p3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4" name="Google Shape;174;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2" name="Google Shape;182;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0" name="Google Shape;190;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3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8" name="Google Shape;198;p3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3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06" name="Google Shape;206;p3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3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14" name="Google Shape;214;p3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4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22" name="Google Shape;222;p4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4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0" name="Google Shape;230;p4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4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38" name="Google Shape;238;p4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4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46" name="Google Shape;246;p4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54" name="Google Shape;254;p4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4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262" name="Google Shape;262;p4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3865537" y="4112944"/>
            <a:ext cx="16391223" cy="284166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Roboto Condensed"/>
                <a:ea typeface="Roboto Condensed"/>
                <a:cs typeface="Roboto Condensed"/>
                <a:sym typeface="Roboto Condensed"/>
              </a:rPr>
              <a:t>API Gateway &amp; Centralized </a:t>
            </a:r>
            <a:endParaRPr/>
          </a:p>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Roboto Condensed"/>
                <a:ea typeface="Roboto Condensed"/>
                <a:cs typeface="Roboto Condensed"/>
                <a:sym typeface="Roboto Condensed"/>
              </a:rPr>
              <a:t>Configuation</a:t>
            </a:r>
            <a:endParaRPr b="0" i="0" sz="10000" u="none" cap="none" strike="noStrike">
              <a:solidFill>
                <a:srgbClr val="0079BF"/>
              </a:solidFill>
              <a:latin typeface="Roboto Condensed"/>
              <a:ea typeface="Roboto Condensed"/>
              <a:cs typeface="Roboto Condensed"/>
              <a:sym typeface="Roboto Condensed"/>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2402496"/>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Introduction API Gateway</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Build API Gateway With Spring Cloud</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What Is Centralized Configuration? </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Why Should Centralized Configuration?</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Implement Centralized Congiguration With Spring Cloud Server Config</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51" name="Google Shape;51;p18"/>
          <p:cNvSpPr txBox="1"/>
          <p:nvPr/>
        </p:nvSpPr>
        <p:spPr>
          <a:xfrm>
            <a:off x="1200149" y="1564634"/>
            <a:ext cx="10449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800" u="none" cap="none" strike="noStrike">
                <a:solidFill>
                  <a:srgbClr val="0079BF"/>
                </a:solidFill>
                <a:latin typeface="Roboto Condensed"/>
                <a:ea typeface="Roboto Condensed"/>
                <a:cs typeface="Roboto Condensed"/>
                <a:sym typeface="Roboto Condensed"/>
              </a:rPr>
              <a:t>1</a:t>
            </a:r>
            <a:r>
              <a:rPr b="1" i="0" lang="en-US" sz="3800" u="none" cap="none" strike="noStrike">
                <a:solidFill>
                  <a:srgbClr val="000000"/>
                </a:solidFill>
                <a:latin typeface="Roboto Condensed"/>
                <a:ea typeface="Roboto Condensed"/>
                <a:cs typeface="Roboto Condensed"/>
                <a:sym typeface="Roboto Condensed"/>
              </a:rPr>
              <a:t>. </a:t>
            </a:r>
            <a:r>
              <a:rPr b="1" i="0" lang="en-US" sz="3800" u="none" cap="none" strike="noStrike">
                <a:solidFill>
                  <a:srgbClr val="0070C0"/>
                </a:solidFill>
                <a:latin typeface="Arial"/>
                <a:ea typeface="Arial"/>
                <a:cs typeface="Arial"/>
                <a:sym typeface="Arial"/>
              </a:rPr>
              <a:t>Introduction API Gateway</a:t>
            </a:r>
            <a:endParaRPr b="1" i="0" sz="3800" u="none" cap="none" strike="noStrike">
              <a:solidFill>
                <a:srgbClr val="0070C0"/>
              </a:solidFill>
              <a:latin typeface="Roboto Condensed"/>
              <a:ea typeface="Roboto Condensed"/>
              <a:cs typeface="Roboto Condensed"/>
              <a:sym typeface="Roboto Condensed"/>
            </a:endParaRPr>
          </a:p>
        </p:txBody>
      </p:sp>
      <p:sp>
        <p:nvSpPr>
          <p:cNvPr id="52" name="Google Shape;52;p18"/>
          <p:cNvSpPr txBox="1"/>
          <p:nvPr/>
        </p:nvSpPr>
        <p:spPr>
          <a:xfrm>
            <a:off x="1428552" y="2909847"/>
            <a:ext cx="8678400" cy="789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900" u="none" cap="none" strike="noStrike">
                <a:solidFill>
                  <a:schemeClr val="dk1"/>
                </a:solidFill>
                <a:latin typeface="Roboto Condensed"/>
                <a:ea typeface="Roboto Condensed"/>
                <a:cs typeface="Roboto Condensed"/>
                <a:sym typeface="Roboto Condensed"/>
              </a:rPr>
              <a:t>1.1 API gateway là gì?</a:t>
            </a:r>
            <a:endParaRPr b="1" i="0" sz="3900" u="none" cap="none" strike="noStrike">
              <a:solidFill>
                <a:schemeClr val="dk1"/>
              </a:solidFill>
              <a:latin typeface="Arial"/>
              <a:ea typeface="Arial"/>
              <a:cs typeface="Arial"/>
              <a:sym typeface="Arial"/>
            </a:endParaRPr>
          </a:p>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API là viết tắt của Application Program Interface. API Gateway là một công cụ quản lý API nằm giữa các máy khách (client) và nhóm các backend service. </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API gate way chính là cổng vào của một hệ thống microservices.</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API gateway hoạt động như một reverse proxy, tiếp nhận tất cả các request thông qua API từ phía client, điều hướng chúng đến các API cụ thể trên các services phía sau.</a:t>
            </a:r>
            <a:endParaRPr b="0" i="0" sz="3900" u="none" cap="none" strike="noStrike">
              <a:solidFill>
                <a:schemeClr val="dk1"/>
              </a:solidFill>
              <a:highlight>
                <a:srgbClr val="FFFFFF"/>
              </a:highlight>
              <a:latin typeface="Roboto Condensed"/>
              <a:ea typeface="Roboto Condensed"/>
              <a:cs typeface="Roboto Condensed"/>
              <a:sym typeface="Roboto Condensed"/>
            </a:endParaRPr>
          </a:p>
          <a:p>
            <a:pPr indent="-254000" lvl="0" marL="457200" marR="0" rtl="0" algn="l">
              <a:lnSpc>
                <a:spcPct val="100000"/>
              </a:lnSpc>
              <a:spcBef>
                <a:spcPts val="0"/>
              </a:spcBef>
              <a:spcAft>
                <a:spcPts val="0"/>
              </a:spcAft>
              <a:buClr>
                <a:srgbClr val="000000"/>
              </a:buClr>
              <a:buSzPts val="3200"/>
              <a:buFont typeface="Arial"/>
              <a:buNone/>
            </a:pPr>
            <a:r>
              <a:t/>
            </a:r>
            <a:endParaRPr b="1" i="0" sz="3900" u="none" cap="none" strike="noStrike">
              <a:solidFill>
                <a:schemeClr val="dk1"/>
              </a:solidFill>
              <a:latin typeface="Roboto Condensed"/>
              <a:ea typeface="Roboto Condensed"/>
              <a:cs typeface="Roboto Condensed"/>
              <a:sym typeface="Roboto Condensed"/>
            </a:endParaRPr>
          </a:p>
        </p:txBody>
      </p:sp>
      <p:pic>
        <p:nvPicPr>
          <p:cNvPr id="53" name="Google Shape;53;p18"/>
          <p:cNvPicPr preferRelativeResize="0"/>
          <p:nvPr/>
        </p:nvPicPr>
        <p:blipFill rotWithShape="1">
          <a:blip r:embed="rId3">
            <a:alphaModFix/>
          </a:blip>
          <a:srcRect b="0" l="0" r="0" t="0"/>
          <a:stretch/>
        </p:blipFill>
        <p:spPr>
          <a:xfrm>
            <a:off x="10472163" y="2596652"/>
            <a:ext cx="13286154" cy="852268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59" name="Google Shape;59;p19"/>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60" name="Google Shape;60;p19"/>
          <p:cNvSpPr txBox="1"/>
          <p:nvPr/>
        </p:nvSpPr>
        <p:spPr>
          <a:xfrm>
            <a:off x="1464275" y="2534449"/>
            <a:ext cx="8763000" cy="951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Roboto Condensed"/>
                <a:ea typeface="Roboto Condensed"/>
                <a:cs typeface="Roboto Condensed"/>
                <a:sym typeface="Roboto Condensed"/>
              </a:rPr>
              <a:t>1.2 Các thành phần của API gateway</a:t>
            </a:r>
            <a:endParaRPr sz="1800"/>
          </a:p>
          <a:p>
            <a:pPr indent="0" lvl="0" marL="0" marR="0" rtl="0" algn="l">
              <a:lnSpc>
                <a:spcPct val="100000"/>
              </a:lnSpc>
              <a:spcBef>
                <a:spcPts val="0"/>
              </a:spcBef>
              <a:spcAft>
                <a:spcPts val="0"/>
              </a:spcAft>
              <a:buNone/>
            </a:pPr>
            <a:r>
              <a:t/>
            </a:r>
            <a:endParaRPr b="1" i="0" sz="3600" u="none" cap="none" strike="noStrike">
              <a:solidFill>
                <a:schemeClr val="dk1"/>
              </a:solidFill>
              <a:latin typeface="Arial"/>
              <a:ea typeface="Arial"/>
              <a:cs typeface="Arial"/>
              <a:sym typeface="Arial"/>
            </a:endParaRPr>
          </a:p>
          <a:p>
            <a:pPr indent="-228600" lvl="2"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Bảo mật (Security)</a:t>
            </a:r>
            <a:endParaRPr sz="1800"/>
          </a:p>
          <a:p>
            <a:pPr indent="0" lvl="2" marL="0" marR="0" rtl="0" algn="l">
              <a:lnSpc>
                <a:spcPct val="100000"/>
              </a:lnSpc>
              <a:spcBef>
                <a:spcPts val="0"/>
              </a:spcBef>
              <a:spcAft>
                <a:spcPts val="0"/>
              </a:spcAft>
              <a:buClr>
                <a:srgbClr val="000000"/>
              </a:buClr>
              <a:buSzPts val="3200"/>
              <a:buFont typeface="Arial"/>
              <a:buNone/>
            </a:pPr>
            <a:r>
              <a:t/>
            </a:r>
            <a:endParaRPr b="0" i="0" sz="3600" u="none" cap="none" strike="noStrike">
              <a:solidFill>
                <a:srgbClr val="212529"/>
              </a:solidFill>
              <a:highlight>
                <a:srgbClr val="FFFFFF"/>
              </a:highlight>
              <a:latin typeface="Roboto Condensed"/>
              <a:ea typeface="Roboto Condensed"/>
              <a:cs typeface="Roboto Condensed"/>
              <a:sym typeface="Roboto Condensed"/>
            </a:endParaRPr>
          </a:p>
          <a:p>
            <a:pPr indent="-228600" lvl="0"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Bộ nhớ đệm (Caching)</a:t>
            </a:r>
            <a:endParaRPr sz="1800"/>
          </a:p>
          <a:p>
            <a:pPr indent="0" lvl="0" marL="0" marR="0" rtl="0" algn="l">
              <a:lnSpc>
                <a:spcPct val="100000"/>
              </a:lnSpc>
              <a:spcBef>
                <a:spcPts val="0"/>
              </a:spcBef>
              <a:spcAft>
                <a:spcPts val="0"/>
              </a:spcAft>
              <a:buClr>
                <a:srgbClr val="000000"/>
              </a:buClr>
              <a:buSzPts val="3200"/>
              <a:buFont typeface="Arial"/>
              <a:buNone/>
            </a:pPr>
            <a:r>
              <a:t/>
            </a:r>
            <a:endParaRPr b="0" i="0" sz="3600" u="none" cap="none" strike="noStrike">
              <a:solidFill>
                <a:srgbClr val="212529"/>
              </a:solidFill>
              <a:highlight>
                <a:srgbClr val="FFFFFF"/>
              </a:highlight>
              <a:latin typeface="Roboto Condensed"/>
              <a:ea typeface="Roboto Condensed"/>
              <a:cs typeface="Roboto Condensed"/>
              <a:sym typeface="Roboto Condensed"/>
            </a:endParaRPr>
          </a:p>
          <a:p>
            <a:pPr indent="-228600" lvl="0"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Thành phần và tiến trình API (API composition and processing)</a:t>
            </a:r>
            <a:endParaRPr sz="1800"/>
          </a:p>
          <a:p>
            <a:pPr indent="0" lvl="0" marL="0" marR="0" rtl="0" algn="l">
              <a:lnSpc>
                <a:spcPct val="100000"/>
              </a:lnSpc>
              <a:spcBef>
                <a:spcPts val="0"/>
              </a:spcBef>
              <a:spcAft>
                <a:spcPts val="0"/>
              </a:spcAft>
              <a:buClr>
                <a:srgbClr val="000000"/>
              </a:buClr>
              <a:buSzPts val="3200"/>
              <a:buFont typeface="Arial"/>
              <a:buNone/>
            </a:pPr>
            <a:r>
              <a:t/>
            </a:r>
            <a:endParaRPr b="0" i="0" sz="3600" u="none" cap="none" strike="noStrike">
              <a:solidFill>
                <a:srgbClr val="212529"/>
              </a:solidFill>
              <a:highlight>
                <a:srgbClr val="FFFFFF"/>
              </a:highlight>
              <a:latin typeface="Roboto Condensed"/>
              <a:ea typeface="Roboto Condensed"/>
              <a:cs typeface="Roboto Condensed"/>
              <a:sym typeface="Roboto Condensed"/>
            </a:endParaRPr>
          </a:p>
          <a:p>
            <a:pPr indent="-228600" lvl="0"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Quản lý hạn mức truy cập (Managing access quotas)</a:t>
            </a:r>
            <a:endParaRPr sz="1800"/>
          </a:p>
          <a:p>
            <a:pPr indent="0" lvl="0" marL="0" marR="0" rtl="0" algn="l">
              <a:lnSpc>
                <a:spcPct val="100000"/>
              </a:lnSpc>
              <a:spcBef>
                <a:spcPts val="0"/>
              </a:spcBef>
              <a:spcAft>
                <a:spcPts val="0"/>
              </a:spcAft>
              <a:buClr>
                <a:srgbClr val="000000"/>
              </a:buClr>
              <a:buSzPts val="3200"/>
              <a:buFont typeface="Arial"/>
              <a:buNone/>
            </a:pPr>
            <a:r>
              <a:t/>
            </a:r>
            <a:endParaRPr b="0" i="0" sz="3600" u="none" cap="none" strike="noStrike">
              <a:solidFill>
                <a:srgbClr val="212529"/>
              </a:solidFill>
              <a:highlight>
                <a:srgbClr val="FFFFFF"/>
              </a:highlight>
              <a:latin typeface="Roboto Condensed"/>
              <a:ea typeface="Roboto Condensed"/>
              <a:cs typeface="Roboto Condensed"/>
              <a:sym typeface="Roboto Condensed"/>
            </a:endParaRPr>
          </a:p>
          <a:p>
            <a:pPr indent="-228600" lvl="0"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Theo dõi tình trạng API (API health monitoring)</a:t>
            </a:r>
            <a:endParaRPr sz="1800"/>
          </a:p>
          <a:p>
            <a:pPr indent="0" lvl="0" marL="0" marR="0" rtl="0" algn="l">
              <a:lnSpc>
                <a:spcPct val="100000"/>
              </a:lnSpc>
              <a:spcBef>
                <a:spcPts val="0"/>
              </a:spcBef>
              <a:spcAft>
                <a:spcPts val="0"/>
              </a:spcAft>
              <a:buClr>
                <a:srgbClr val="000000"/>
              </a:buClr>
              <a:buSzPts val="3200"/>
              <a:buFont typeface="Arial"/>
              <a:buNone/>
            </a:pPr>
            <a:r>
              <a:t/>
            </a:r>
            <a:endParaRPr b="0" i="0" sz="3600" u="none" cap="none" strike="noStrike">
              <a:solidFill>
                <a:srgbClr val="212529"/>
              </a:solidFill>
              <a:highlight>
                <a:srgbClr val="FFFFFF"/>
              </a:highlight>
              <a:latin typeface="Roboto Condensed"/>
              <a:ea typeface="Roboto Condensed"/>
              <a:cs typeface="Roboto Condensed"/>
              <a:sym typeface="Roboto Condensed"/>
            </a:endParaRPr>
          </a:p>
          <a:p>
            <a:pPr indent="-228600" lvl="0"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Lập phiên bản (Versioning)</a:t>
            </a:r>
            <a:endParaRPr sz="1800"/>
          </a:p>
          <a:p>
            <a:pPr indent="0" lvl="0" marL="0" marR="0" rtl="0" algn="l">
              <a:lnSpc>
                <a:spcPct val="100000"/>
              </a:lnSpc>
              <a:spcBef>
                <a:spcPts val="0"/>
              </a:spcBef>
              <a:spcAft>
                <a:spcPts val="0"/>
              </a:spcAft>
              <a:buClr>
                <a:srgbClr val="000000"/>
              </a:buClr>
              <a:buSzPts val="3200"/>
              <a:buFont typeface="Arial"/>
              <a:buNone/>
            </a:pPr>
            <a:r>
              <a:t/>
            </a:r>
            <a:endParaRPr b="0" i="0" sz="3600" u="none" cap="none" strike="noStrike">
              <a:solidFill>
                <a:srgbClr val="212529"/>
              </a:solidFill>
              <a:highlight>
                <a:srgbClr val="FFFFFF"/>
              </a:highlight>
              <a:latin typeface="Roboto Condensed"/>
              <a:ea typeface="Roboto Condensed"/>
              <a:cs typeface="Roboto Condensed"/>
              <a:sym typeface="Roboto Condensed"/>
            </a:endParaRPr>
          </a:p>
          <a:p>
            <a:pPr indent="-228600" lvl="0" marL="0" marR="0" rtl="0" algn="l">
              <a:lnSpc>
                <a:spcPct val="100000"/>
              </a:lnSpc>
              <a:spcBef>
                <a:spcPts val="0"/>
              </a:spcBef>
              <a:spcAft>
                <a:spcPts val="0"/>
              </a:spcAft>
              <a:buClr>
                <a:srgbClr val="000000"/>
              </a:buClr>
              <a:buSzPts val="3600"/>
              <a:buFont typeface="Arial"/>
              <a:buChar char="•"/>
            </a:pPr>
            <a:r>
              <a:rPr b="0" i="0" lang="en-US" sz="3600" u="none" cap="none" strike="noStrike">
                <a:solidFill>
                  <a:srgbClr val="212529"/>
                </a:solidFill>
                <a:highlight>
                  <a:srgbClr val="FFFFFF"/>
                </a:highlight>
                <a:latin typeface="Roboto Condensed"/>
                <a:ea typeface="Roboto Condensed"/>
                <a:cs typeface="Roboto Condensed"/>
                <a:sym typeface="Roboto Condensed"/>
              </a:rPr>
              <a:t> Định tuyến (Routing)</a:t>
            </a:r>
            <a:endParaRPr b="1" i="0" sz="3600" u="none" cap="none" strike="noStrike">
              <a:solidFill>
                <a:schemeClr val="dk1"/>
              </a:solidFill>
              <a:latin typeface="Roboto Condensed"/>
              <a:ea typeface="Roboto Condensed"/>
              <a:cs typeface="Roboto Condensed"/>
              <a:sym typeface="Roboto Condensed"/>
            </a:endParaRPr>
          </a:p>
        </p:txBody>
      </p:sp>
      <p:pic>
        <p:nvPicPr>
          <p:cNvPr id="61" name="Google Shape;61;p19"/>
          <p:cNvPicPr preferRelativeResize="0"/>
          <p:nvPr/>
        </p:nvPicPr>
        <p:blipFill rotWithShape="1">
          <a:blip r:embed="rId3">
            <a:alphaModFix/>
          </a:blip>
          <a:srcRect b="0" l="0" r="0" t="0"/>
          <a:stretch/>
        </p:blipFill>
        <p:spPr>
          <a:xfrm>
            <a:off x="10678533" y="3593962"/>
            <a:ext cx="11444857" cy="701307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67" name="Google Shape;67;p20"/>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68" name="Google Shape;68;p20"/>
          <p:cNvSpPr txBox="1"/>
          <p:nvPr/>
        </p:nvSpPr>
        <p:spPr>
          <a:xfrm>
            <a:off x="1464275" y="2534450"/>
            <a:ext cx="21395700" cy="7896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900" u="none" cap="none" strike="noStrike">
                <a:solidFill>
                  <a:schemeClr val="dk1"/>
                </a:solidFill>
                <a:latin typeface="Roboto Condensed"/>
                <a:ea typeface="Roboto Condensed"/>
                <a:cs typeface="Roboto Condensed"/>
                <a:sym typeface="Roboto Condensed"/>
              </a:rPr>
              <a:t>1.3 Ưu điểm của API Gateway</a:t>
            </a:r>
            <a:endParaRPr b="1" i="0" sz="3900" u="none" cap="none" strike="noStrike">
              <a:solidFill>
                <a:schemeClr val="dk1"/>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1" i="0" sz="3900" u="none" cap="none" strike="noStrike">
              <a:solidFill>
                <a:schemeClr val="dk1"/>
              </a:solidFill>
              <a:latin typeface="Arial"/>
              <a:ea typeface="Arial"/>
              <a:cs typeface="Arial"/>
              <a:sym typeface="Arial"/>
            </a:endParaRPr>
          </a:p>
          <a:p>
            <a:pPr indent="-247650" lvl="0" marL="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 Ưu điểm quan trọng nhất của API Gateway là nó đóng gói cấu trúc bên trong của ứng dụng.</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247650" lvl="0" marL="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 Thay vì yêu cầu một dịch vụ cụ thể, máy khách giao tiếp trực tiếp với API Gateway.</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247650" lvl="0" marL="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 Làm giảm số lượng các roundtrip giữa máy khách và ứng dụng.</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247650" lvl="0" marL="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 Đơn giản hóa mã nguồn phía các client.</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247650" lvl="0" marL="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 Vừa làm cho ứng dụng hiệu quả hơn, vừa giúp giảm lỗi.</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900" u="none" cap="none" strike="noStrike">
              <a:solidFill>
                <a:srgbClr val="212529"/>
              </a:solidFill>
              <a:highlight>
                <a:srgbClr val="FFFFFF"/>
              </a:highlight>
              <a:latin typeface="Roboto Condensed"/>
              <a:ea typeface="Roboto Condensed"/>
              <a:cs typeface="Roboto Condensed"/>
              <a:sym typeface="Roboto Condensed"/>
            </a:endParaRPr>
          </a:p>
          <a:p>
            <a:pPr indent="-247650" lvl="0" marL="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 Cung cấp cho từng loại máy khách một API cụ thể.</a:t>
            </a:r>
            <a:endParaRPr b="1" i="0" sz="3900" u="none" cap="none" strike="noStrike">
              <a:solidFill>
                <a:schemeClr val="dk1"/>
              </a:solidFill>
              <a:latin typeface="Roboto Condensed"/>
              <a:ea typeface="Roboto Condensed"/>
              <a:cs typeface="Roboto Condensed"/>
              <a:sym typeface="Roboto Condense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2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74" name="Google Shape;74;p21"/>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75" name="Google Shape;75;p21"/>
          <p:cNvSpPr txBox="1"/>
          <p:nvPr/>
        </p:nvSpPr>
        <p:spPr>
          <a:xfrm>
            <a:off x="1464275" y="2534450"/>
            <a:ext cx="20895600" cy="5941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800" u="none" cap="none" strike="noStrike">
                <a:solidFill>
                  <a:schemeClr val="dk1"/>
                </a:solidFill>
                <a:latin typeface="Roboto Condensed"/>
                <a:ea typeface="Roboto Condensed"/>
                <a:cs typeface="Roboto Condensed"/>
                <a:sym typeface="Roboto Condensed"/>
              </a:rPr>
              <a:t>1.3 Nhược điểm của API Gateway</a:t>
            </a:r>
            <a:endParaRPr b="1" i="0" sz="3800" u="none" cap="none" strike="noStrike">
              <a:solidFill>
                <a:schemeClr val="dk1"/>
              </a:solidFill>
              <a:latin typeface="Roboto Condensed"/>
              <a:ea typeface="Roboto Condensed"/>
              <a:cs typeface="Roboto Condensed"/>
              <a:sym typeface="Roboto Condensed"/>
            </a:endParaRPr>
          </a:p>
          <a:p>
            <a:pPr indent="0" lvl="0" marL="0" marR="0" rtl="0" algn="l">
              <a:lnSpc>
                <a:spcPct val="100000"/>
              </a:lnSpc>
              <a:spcBef>
                <a:spcPts val="0"/>
              </a:spcBef>
              <a:spcAft>
                <a:spcPts val="0"/>
              </a:spcAft>
              <a:buNone/>
            </a:pPr>
            <a:r>
              <a:t/>
            </a:r>
            <a:endParaRPr b="1" i="0" sz="3800" u="none" cap="none" strike="noStrike">
              <a:solidFill>
                <a:schemeClr val="dk1"/>
              </a:solidFill>
              <a:latin typeface="Arial"/>
              <a:ea typeface="Arial"/>
              <a:cs typeface="Arial"/>
              <a:sym typeface="Arial"/>
            </a:endParaRPr>
          </a:p>
          <a:p>
            <a:pPr indent="-241300" lvl="0" marL="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 Tăng thêm thời gian phản hồi của ứng dụng.</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241300" lvl="0" marL="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 Tăng thêm độ phức tạp của hệ thống, tăng thêm tác nhân gây lỗi.</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241300" lvl="0" marL="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 Có thể gây ra tình trạn nghẽ cổ chai.</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241300" lvl="0" marL="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 Tốn thêm chi phí.</a:t>
            </a:r>
            <a:endParaRPr b="0" i="0" sz="3800" u="none" cap="none" strike="noStrike">
              <a:solidFill>
                <a:srgbClr val="212529"/>
              </a:solidFill>
              <a:highlight>
                <a:srgbClr val="FFFFFF"/>
              </a:highlight>
              <a:latin typeface="Roboto Condensed"/>
              <a:ea typeface="Roboto Condensed"/>
              <a:cs typeface="Roboto Condensed"/>
              <a:sym typeface="Roboto Condensed"/>
            </a:endParaRPr>
          </a:p>
          <a:p>
            <a:pPr indent="0" lvl="0" marL="0" marR="0" rtl="0" algn="l">
              <a:lnSpc>
                <a:spcPct val="100000"/>
              </a:lnSpc>
              <a:spcBef>
                <a:spcPts val="0"/>
              </a:spcBef>
              <a:spcAft>
                <a:spcPts val="0"/>
              </a:spcAft>
              <a:buClr>
                <a:srgbClr val="000000"/>
              </a:buClr>
              <a:buSzPts val="3200"/>
              <a:buFont typeface="Arial"/>
              <a:buNone/>
            </a:pPr>
            <a:r>
              <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2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81" name="Google Shape;81;p22"/>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82" name="Google Shape;82;p22"/>
          <p:cNvSpPr txBox="1"/>
          <p:nvPr/>
        </p:nvSpPr>
        <p:spPr>
          <a:xfrm>
            <a:off x="1464274" y="2534450"/>
            <a:ext cx="93228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Tạo project và add các dependencies</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83" name="Google Shape;83;p22"/>
          <p:cNvPicPr preferRelativeResize="0"/>
          <p:nvPr/>
        </p:nvPicPr>
        <p:blipFill rotWithShape="1">
          <a:blip r:embed="rId3">
            <a:alphaModFix/>
          </a:blip>
          <a:srcRect b="0" l="7516" r="14753" t="0"/>
          <a:stretch/>
        </p:blipFill>
        <p:spPr>
          <a:xfrm>
            <a:off x="11893601" y="1559400"/>
            <a:ext cx="9966299" cy="1059720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2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89" name="Google Shape;89;p23"/>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90" name="Google Shape;90;p23"/>
          <p:cNvSpPr txBox="1"/>
          <p:nvPr/>
        </p:nvSpPr>
        <p:spPr>
          <a:xfrm>
            <a:off x="1464278" y="2534447"/>
            <a:ext cx="56253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Tạo JWT Util</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91" name="Google Shape;91;p23"/>
          <p:cNvPicPr preferRelativeResize="0"/>
          <p:nvPr/>
        </p:nvPicPr>
        <p:blipFill rotWithShape="1">
          <a:blip r:embed="rId3">
            <a:alphaModFix/>
          </a:blip>
          <a:srcRect b="0" l="0" r="0" t="0"/>
          <a:stretch/>
        </p:blipFill>
        <p:spPr>
          <a:xfrm>
            <a:off x="9242070" y="1564621"/>
            <a:ext cx="13181611" cy="1108966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97" name="Google Shape;97;p24"/>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98" name="Google Shape;98;p24"/>
          <p:cNvSpPr txBox="1"/>
          <p:nvPr/>
        </p:nvSpPr>
        <p:spPr>
          <a:xfrm>
            <a:off x="1464278" y="2534447"/>
            <a:ext cx="4085700" cy="1893300"/>
          </a:xfrm>
          <a:prstGeom prst="rect">
            <a:avLst/>
          </a:prstGeom>
          <a:noFill/>
          <a:ln>
            <a:noFill/>
          </a:ln>
        </p:spPr>
        <p:txBody>
          <a:bodyPr anchorCtr="0" anchor="t" bIns="45700" lIns="91425" spcFirstLastPara="1" rIns="91425" wrap="square" tIns="45700">
            <a:spAutoFit/>
          </a:bodyPr>
          <a:lstStyle/>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Tạo Authentication Filter</a:t>
            </a:r>
            <a:endParaRPr b="0" i="0" sz="39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99" name="Google Shape;99;p24"/>
          <p:cNvPicPr preferRelativeResize="0"/>
          <p:nvPr/>
        </p:nvPicPr>
        <p:blipFill rotWithShape="1">
          <a:blip r:embed="rId3">
            <a:alphaModFix/>
          </a:blip>
          <a:srcRect b="0" l="0" r="0" t="0"/>
          <a:stretch/>
        </p:blipFill>
        <p:spPr>
          <a:xfrm>
            <a:off x="6544450" y="1971665"/>
            <a:ext cx="16409987" cy="97726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05" name="Google Shape;105;p25"/>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06" name="Google Shape;106;p25"/>
          <p:cNvSpPr txBox="1"/>
          <p:nvPr/>
        </p:nvSpPr>
        <p:spPr>
          <a:xfrm>
            <a:off x="1464278" y="2534447"/>
            <a:ext cx="4085700" cy="184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Tạo Authentication Filter</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07" name="Google Shape;107;p25"/>
          <p:cNvPicPr preferRelativeResize="0"/>
          <p:nvPr/>
        </p:nvPicPr>
        <p:blipFill rotWithShape="1">
          <a:blip r:embed="rId3">
            <a:alphaModFix/>
          </a:blip>
          <a:srcRect b="0" l="0" r="0" t="0"/>
          <a:stretch/>
        </p:blipFill>
        <p:spPr>
          <a:xfrm>
            <a:off x="7516012" y="1960940"/>
            <a:ext cx="14873288" cy="1035444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13" name="Google Shape;113;p26"/>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14" name="Google Shape;114;p26"/>
          <p:cNvSpPr txBox="1"/>
          <p:nvPr/>
        </p:nvSpPr>
        <p:spPr>
          <a:xfrm>
            <a:off x="1464278" y="2534447"/>
            <a:ext cx="4085700" cy="184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Tạo Authentication Filter</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15" name="Google Shape;115;p26"/>
          <p:cNvPicPr preferRelativeResize="0"/>
          <p:nvPr/>
        </p:nvPicPr>
        <p:blipFill rotWithShape="1">
          <a:blip r:embed="rId3">
            <a:alphaModFix/>
          </a:blip>
          <a:srcRect b="0" l="0" r="0" t="0"/>
          <a:stretch/>
        </p:blipFill>
        <p:spPr>
          <a:xfrm>
            <a:off x="7516012" y="2210965"/>
            <a:ext cx="14873288" cy="103544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21" name="Google Shape;121;p27"/>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22" name="Google Shape;122;p27"/>
          <p:cNvSpPr txBox="1"/>
          <p:nvPr/>
        </p:nvSpPr>
        <p:spPr>
          <a:xfrm>
            <a:off x="1464278" y="2534447"/>
            <a:ext cx="5000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Setup Gateway Config</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23" name="Google Shape;123;p27"/>
          <p:cNvPicPr preferRelativeResize="0"/>
          <p:nvPr/>
        </p:nvPicPr>
        <p:blipFill rotWithShape="1">
          <a:blip r:embed="rId3">
            <a:alphaModFix/>
          </a:blip>
          <a:srcRect b="0" l="0" r="0" t="0"/>
          <a:stretch/>
        </p:blipFill>
        <p:spPr>
          <a:xfrm>
            <a:off x="8120050" y="1564625"/>
            <a:ext cx="15182850" cy="108036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29" name="Google Shape;129;p28"/>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30" name="Google Shape;130;p28"/>
          <p:cNvSpPr txBox="1"/>
          <p:nvPr/>
        </p:nvSpPr>
        <p:spPr>
          <a:xfrm>
            <a:off x="1464278" y="2534447"/>
            <a:ext cx="5000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Xử lý Exception</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31" name="Google Shape;131;p28"/>
          <p:cNvPicPr preferRelativeResize="0"/>
          <p:nvPr/>
        </p:nvPicPr>
        <p:blipFill rotWithShape="1">
          <a:blip r:embed="rId3">
            <a:alphaModFix/>
          </a:blip>
          <a:srcRect b="0" l="0" r="0" t="0"/>
          <a:stretch/>
        </p:blipFill>
        <p:spPr>
          <a:xfrm>
            <a:off x="1582737" y="3584574"/>
            <a:ext cx="22421062" cy="8404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37" name="Google Shape;137;p29"/>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38" name="Google Shape;138;p29"/>
          <p:cNvSpPr txBox="1"/>
          <p:nvPr/>
        </p:nvSpPr>
        <p:spPr>
          <a:xfrm>
            <a:off x="1464278" y="2534447"/>
            <a:ext cx="5000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Xử lý Error</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39" name="Google Shape;139;p29"/>
          <p:cNvPicPr preferRelativeResize="0"/>
          <p:nvPr/>
        </p:nvPicPr>
        <p:blipFill rotWithShape="1">
          <a:blip r:embed="rId3">
            <a:alphaModFix/>
          </a:blip>
          <a:srcRect b="0" l="0" r="0" t="0"/>
          <a:stretch/>
        </p:blipFill>
        <p:spPr>
          <a:xfrm>
            <a:off x="5480050" y="2747814"/>
            <a:ext cx="14560550" cy="822037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45" name="Google Shape;145;p30"/>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46" name="Google Shape;146;p30"/>
          <p:cNvSpPr txBox="1"/>
          <p:nvPr/>
        </p:nvSpPr>
        <p:spPr>
          <a:xfrm>
            <a:off x="1464278" y="2534447"/>
            <a:ext cx="8429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Viết Dockerfile và docker-compose.yml</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47" name="Google Shape;147;p30"/>
          <p:cNvPicPr preferRelativeResize="0"/>
          <p:nvPr/>
        </p:nvPicPr>
        <p:blipFill rotWithShape="1">
          <a:blip r:embed="rId3">
            <a:alphaModFix/>
          </a:blip>
          <a:srcRect b="0" l="0" r="0" t="0"/>
          <a:stretch/>
        </p:blipFill>
        <p:spPr>
          <a:xfrm>
            <a:off x="1464278" y="3576637"/>
            <a:ext cx="21406880" cy="79295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53" name="Google Shape;153;p31"/>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Setup API Gateway</a:t>
            </a:r>
            <a:endParaRPr b="1" i="0" sz="3600" u="none" cap="none" strike="noStrike">
              <a:solidFill>
                <a:srgbClr val="0070C0"/>
              </a:solidFill>
              <a:latin typeface="Roboto Condensed"/>
              <a:ea typeface="Roboto Condensed"/>
              <a:cs typeface="Roboto Condensed"/>
              <a:sym typeface="Roboto Condensed"/>
            </a:endParaRPr>
          </a:p>
        </p:txBody>
      </p:sp>
      <p:sp>
        <p:nvSpPr>
          <p:cNvPr id="154" name="Google Shape;154;p31"/>
          <p:cNvSpPr txBox="1"/>
          <p:nvPr/>
        </p:nvSpPr>
        <p:spPr>
          <a:xfrm>
            <a:off x="1464275" y="2534450"/>
            <a:ext cx="186453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Chạy docker-compose.yml và kiểm tra dịch vụ API-GATEWAY trên Eureka Server</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55" name="Google Shape;155;p31"/>
          <p:cNvPicPr preferRelativeResize="0"/>
          <p:nvPr/>
        </p:nvPicPr>
        <p:blipFill rotWithShape="1">
          <a:blip r:embed="rId3">
            <a:alphaModFix/>
          </a:blip>
          <a:srcRect b="0" l="-1319" r="1320" t="0"/>
          <a:stretch/>
        </p:blipFill>
        <p:spPr>
          <a:xfrm>
            <a:off x="4080043" y="3356415"/>
            <a:ext cx="16223911" cy="883973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61" name="Google Shape;161;p32"/>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Centralize Configuration là gì?</a:t>
            </a:r>
            <a:endParaRPr b="1" i="0" sz="3600" u="none" cap="none" strike="noStrike">
              <a:solidFill>
                <a:srgbClr val="0070C0"/>
              </a:solidFill>
              <a:latin typeface="Roboto Condensed"/>
              <a:ea typeface="Roboto Condensed"/>
              <a:cs typeface="Roboto Condensed"/>
              <a:sym typeface="Roboto Condensed"/>
            </a:endParaRPr>
          </a:p>
        </p:txBody>
      </p:sp>
      <p:sp>
        <p:nvSpPr>
          <p:cNvPr id="162" name="Google Shape;162;p32"/>
          <p:cNvSpPr txBox="1"/>
          <p:nvPr/>
        </p:nvSpPr>
        <p:spPr>
          <a:xfrm>
            <a:off x="1464275" y="2534450"/>
            <a:ext cx="13180500" cy="9204600"/>
          </a:xfrm>
          <a:prstGeom prst="rect">
            <a:avLst/>
          </a:prstGeom>
          <a:noFill/>
          <a:ln>
            <a:noFill/>
          </a:ln>
        </p:spPr>
        <p:txBody>
          <a:bodyPr anchorCtr="0" anchor="t" bIns="45700" lIns="91425" spcFirstLastPara="1" rIns="91425" wrap="square" tIns="45700">
            <a:spAutoFit/>
          </a:bodyPr>
          <a:lstStyle/>
          <a:p>
            <a:pPr indent="-488950" lvl="0" marL="457200" marR="0" rtl="0" algn="l">
              <a:lnSpc>
                <a:spcPct val="100000"/>
              </a:lnSpc>
              <a:spcBef>
                <a:spcPts val="0"/>
              </a:spcBef>
              <a:spcAft>
                <a:spcPts val="0"/>
              </a:spcAft>
              <a:buClr>
                <a:srgbClr val="000000"/>
              </a:buClr>
              <a:buSzPts val="3700"/>
              <a:buFont typeface="Arial"/>
              <a:buChar char="•"/>
            </a:pPr>
            <a:r>
              <a:rPr b="0" i="0" lang="en-US" sz="3700" u="none" cap="none" strike="noStrike">
                <a:solidFill>
                  <a:srgbClr val="212529"/>
                </a:solidFill>
                <a:highlight>
                  <a:srgbClr val="FFFFFF"/>
                </a:highlight>
                <a:latin typeface="Roboto Condensed"/>
                <a:ea typeface="Roboto Condensed"/>
                <a:cs typeface="Roboto Condensed"/>
                <a:sym typeface="Roboto Condensed"/>
              </a:rPr>
              <a:t>Kiến trúc icroservices là một cách tiếp cận phổ biến để xây dựng và triển khai các ứng dụng lớn, phức tạp. Nó liên quan đến việc chia một ứng dụng nguyên khối thành các thành phần nhỏ hơn, độc lập hơn để có thể phát triển, thử nghiệm và triển khai độc lập. Cách tiếp cận này mang lại một số lợi ích, bao gồm khả năng mở rộng được cải thiện, triển khai nhanh hơn và bảo trì dễ dàng hơn. Tuy nhiên, nó cũng đưa ra những thách thức mới, chẳng hạn như quản lý cấu hình trên nhiều dịch vụ.</a:t>
            </a:r>
            <a:endParaRPr sz="1900"/>
          </a:p>
          <a:p>
            <a:pPr indent="-488950" lvl="0" marL="457200" marR="0" rtl="0" algn="l">
              <a:lnSpc>
                <a:spcPct val="100000"/>
              </a:lnSpc>
              <a:spcBef>
                <a:spcPts val="0"/>
              </a:spcBef>
              <a:spcAft>
                <a:spcPts val="0"/>
              </a:spcAft>
              <a:buClr>
                <a:srgbClr val="000000"/>
              </a:buClr>
              <a:buSzPts val="3700"/>
              <a:buFont typeface="Arial"/>
              <a:buChar char="•"/>
            </a:pPr>
            <a:r>
              <a:rPr b="0" i="0" lang="en-US" sz="3700" u="none" cap="none" strike="noStrike">
                <a:solidFill>
                  <a:srgbClr val="212529"/>
                </a:solidFill>
                <a:highlight>
                  <a:srgbClr val="FFFFFF"/>
                </a:highlight>
                <a:latin typeface="Roboto Condensed"/>
                <a:ea typeface="Roboto Condensed"/>
                <a:cs typeface="Roboto Condensed"/>
                <a:sym typeface="Roboto Condensed"/>
              </a:rPr>
              <a:t>Trong kiến trúc microservices, mỗi dịch vụ có cấu hình riêng và ta thường sử dụng máy chủ cấu hình tập trung để quản lý các cấu hình này. Điều này cho phép chúng ta có thể lưu trữ cấu hình ở một vị trí duy nhất, giúp quản lý và cập nhật dễ dàng hơn. Đây chính là ý nghĩa của thuật ngữ </a:t>
            </a:r>
            <a:r>
              <a:rPr b="1" i="0" lang="en-US" sz="3700" u="none" cap="none" strike="noStrike">
                <a:solidFill>
                  <a:srgbClr val="212529"/>
                </a:solidFill>
                <a:highlight>
                  <a:srgbClr val="FFFFFF"/>
                </a:highlight>
                <a:latin typeface="Roboto Condensed"/>
                <a:ea typeface="Roboto Condensed"/>
                <a:cs typeface="Roboto Condensed"/>
                <a:sym typeface="Roboto Condensed"/>
              </a:rPr>
              <a:t>Centralize Configuration</a:t>
            </a:r>
            <a:r>
              <a:rPr b="0" i="0" lang="en-US" sz="3700" u="none" cap="none" strike="noStrike">
                <a:solidFill>
                  <a:srgbClr val="212529"/>
                </a:solidFill>
                <a:highlight>
                  <a:srgbClr val="FFFFFF"/>
                </a:highlight>
                <a:latin typeface="Roboto Condensed"/>
                <a:ea typeface="Roboto Condensed"/>
                <a:cs typeface="Roboto Condensed"/>
                <a:sym typeface="Roboto Condensed"/>
              </a:rPr>
              <a:t>. </a:t>
            </a:r>
            <a:endParaRPr sz="1900"/>
          </a:p>
          <a:p>
            <a:pPr indent="-488950" lvl="0" marL="457200" marR="0" rtl="0" algn="l">
              <a:lnSpc>
                <a:spcPct val="100000"/>
              </a:lnSpc>
              <a:spcBef>
                <a:spcPts val="0"/>
              </a:spcBef>
              <a:spcAft>
                <a:spcPts val="0"/>
              </a:spcAft>
              <a:buClr>
                <a:srgbClr val="000000"/>
              </a:buClr>
              <a:buSzPts val="3700"/>
              <a:buFont typeface="Arial"/>
              <a:buChar char="•"/>
            </a:pPr>
            <a:r>
              <a:rPr b="0" i="0" lang="en-US" sz="3700" u="none" cap="none" strike="noStrike">
                <a:solidFill>
                  <a:srgbClr val="212529"/>
                </a:solidFill>
                <a:highlight>
                  <a:srgbClr val="FFFFFF"/>
                </a:highlight>
                <a:latin typeface="Roboto Condensed"/>
                <a:ea typeface="Roboto Condensed"/>
                <a:cs typeface="Roboto Condensed"/>
                <a:sym typeface="Roboto Condensed"/>
              </a:rPr>
              <a:t>Máy chủ cấu hình tập trung có thể được truy cập bởi tất cả các vi dịch vụ và các thay đổi về cấu hình sẽ được tự động truyền đến tất cả các dịch vụ.</a:t>
            </a:r>
            <a:endParaRPr b="0" i="0" sz="37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63" name="Google Shape;163;p32"/>
          <p:cNvPicPr preferRelativeResize="0"/>
          <p:nvPr/>
        </p:nvPicPr>
        <p:blipFill rotWithShape="1">
          <a:blip r:embed="rId3">
            <a:alphaModFix/>
          </a:blip>
          <a:srcRect b="0" l="0" r="0" t="0"/>
          <a:stretch/>
        </p:blipFill>
        <p:spPr>
          <a:xfrm>
            <a:off x="15876574" y="4506814"/>
            <a:ext cx="7895492" cy="470236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69" name="Google Shape;169;p33"/>
          <p:cNvSpPr txBox="1"/>
          <p:nvPr/>
        </p:nvSpPr>
        <p:spPr>
          <a:xfrm>
            <a:off x="1200149" y="1564634"/>
            <a:ext cx="12135000" cy="677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800" u="none" cap="none" strike="noStrike">
                <a:solidFill>
                  <a:srgbClr val="0079BF"/>
                </a:solidFill>
                <a:latin typeface="Roboto Condensed"/>
                <a:ea typeface="Roboto Condensed"/>
                <a:cs typeface="Roboto Condensed"/>
                <a:sym typeface="Roboto Condensed"/>
              </a:rPr>
              <a:t>3</a:t>
            </a:r>
            <a:r>
              <a:rPr b="1" i="0" lang="en-US" sz="3800" u="none" cap="none" strike="noStrike">
                <a:solidFill>
                  <a:srgbClr val="000000"/>
                </a:solidFill>
                <a:latin typeface="Roboto Condensed"/>
                <a:ea typeface="Roboto Condensed"/>
                <a:cs typeface="Roboto Condensed"/>
                <a:sym typeface="Roboto Condensed"/>
              </a:rPr>
              <a:t>. </a:t>
            </a:r>
            <a:r>
              <a:rPr b="1" i="0" lang="en-US" sz="3800" u="none" cap="none" strike="noStrike">
                <a:solidFill>
                  <a:srgbClr val="0070C0"/>
                </a:solidFill>
                <a:latin typeface="Roboto Condensed"/>
                <a:ea typeface="Roboto Condensed"/>
                <a:cs typeface="Roboto Condensed"/>
                <a:sym typeface="Roboto Condensed"/>
              </a:rPr>
              <a:t>Tại sao cần triển khai </a:t>
            </a:r>
            <a:r>
              <a:rPr b="1" i="0" lang="en-US" sz="3800" u="none" cap="none" strike="noStrike">
                <a:solidFill>
                  <a:srgbClr val="0070C0"/>
                </a:solidFill>
                <a:latin typeface="Arial"/>
                <a:ea typeface="Arial"/>
                <a:cs typeface="Arial"/>
                <a:sym typeface="Arial"/>
              </a:rPr>
              <a:t>Centralize Configuration?</a:t>
            </a:r>
            <a:endParaRPr b="1" i="0" sz="3800" u="none" cap="none" strike="noStrike">
              <a:solidFill>
                <a:srgbClr val="0070C0"/>
              </a:solidFill>
              <a:latin typeface="Roboto Condensed"/>
              <a:ea typeface="Roboto Condensed"/>
              <a:cs typeface="Roboto Condensed"/>
              <a:sym typeface="Roboto Condensed"/>
            </a:endParaRPr>
          </a:p>
        </p:txBody>
      </p:sp>
      <p:sp>
        <p:nvSpPr>
          <p:cNvPr id="170" name="Google Shape;170;p33"/>
          <p:cNvSpPr txBox="1"/>
          <p:nvPr/>
        </p:nvSpPr>
        <p:spPr>
          <a:xfrm>
            <a:off x="1553690" y="2646947"/>
            <a:ext cx="11197500" cy="4894800"/>
          </a:xfrm>
          <a:prstGeom prst="rect">
            <a:avLst/>
          </a:prstGeom>
          <a:noFill/>
          <a:ln>
            <a:noFill/>
          </a:ln>
        </p:spPr>
        <p:txBody>
          <a:bodyPr anchorCtr="0" anchor="t" bIns="45700" lIns="91425" spcFirstLastPara="1" rIns="91425" wrap="square" tIns="45700">
            <a:spAutoFit/>
          </a:bodyPr>
          <a:lstStyle/>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Trong kiến trúc microservices, mỗi dịch vụ đều có cấu hình chẳng hạn thông tin kết nối CSDL, thông tin vị trí các nguồn dữ liệu khác...Thông thường ta hay lưu thông tin cấu hình này gắn liền với từng service nên khi cần thay đổi một thông tin cấu hình nào đó sẽ phải đi vào từng service thể làm điều đó.</a:t>
            </a:r>
            <a:endParaRPr sz="2100"/>
          </a:p>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Centralize Configuration ra đời giúp việc quản lý cấu hình tập trung thuận tiện cho việc thay đổi và quản lý.</a:t>
            </a:r>
            <a:endParaRPr b="0" i="0" sz="39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71" name="Google Shape;171;p33"/>
          <p:cNvPicPr preferRelativeResize="0"/>
          <p:nvPr/>
        </p:nvPicPr>
        <p:blipFill rotWithShape="1">
          <a:blip r:embed="rId3">
            <a:alphaModFix/>
          </a:blip>
          <a:srcRect b="0" l="0" r="0" t="0"/>
          <a:stretch/>
        </p:blipFill>
        <p:spPr>
          <a:xfrm>
            <a:off x="13460138" y="2646953"/>
            <a:ext cx="9370174" cy="542173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77" name="Google Shape;177;p34"/>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178" name="Google Shape;178;p34"/>
          <p:cNvSpPr txBox="1"/>
          <p:nvPr/>
        </p:nvSpPr>
        <p:spPr>
          <a:xfrm>
            <a:off x="1464275" y="2534449"/>
            <a:ext cx="5736600" cy="184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12529"/>
                </a:solidFill>
                <a:highlight>
                  <a:srgbClr val="FFFFFF"/>
                </a:highlight>
                <a:latin typeface="Roboto Condensed"/>
                <a:ea typeface="Roboto Condensed"/>
                <a:cs typeface="Roboto Condensed"/>
                <a:sym typeface="Roboto Condensed"/>
              </a:rPr>
              <a:t>Tạo project mới và add thêm các dependencies.</a:t>
            </a:r>
            <a:endParaRPr sz="2000"/>
          </a:p>
          <a:p>
            <a:pPr indent="-254000" lvl="0" marL="457200" marR="0" rtl="0" algn="l">
              <a:lnSpc>
                <a:spcPct val="100000"/>
              </a:lnSpc>
              <a:spcBef>
                <a:spcPts val="0"/>
              </a:spcBef>
              <a:spcAft>
                <a:spcPts val="0"/>
              </a:spcAft>
              <a:buClr>
                <a:srgbClr val="000000"/>
              </a:buClr>
              <a:buSzPts val="3200"/>
              <a:buFont typeface="Arial"/>
              <a:buNone/>
            </a:pPr>
            <a:r>
              <a:t/>
            </a:r>
            <a:endParaRPr b="0" i="0" sz="38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79" name="Google Shape;179;p34"/>
          <p:cNvPicPr preferRelativeResize="0"/>
          <p:nvPr/>
        </p:nvPicPr>
        <p:blipFill rotWithShape="1">
          <a:blip r:embed="rId3">
            <a:alphaModFix/>
          </a:blip>
          <a:srcRect b="0" l="0" r="0" t="0"/>
          <a:stretch/>
        </p:blipFill>
        <p:spPr>
          <a:xfrm>
            <a:off x="7929575" y="2396975"/>
            <a:ext cx="14894701" cy="9783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85" name="Google Shape;185;p35"/>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186" name="Google Shape;186;p35"/>
          <p:cNvSpPr txBox="1"/>
          <p:nvPr/>
        </p:nvSpPr>
        <p:spPr>
          <a:xfrm>
            <a:off x="1464274" y="2534450"/>
            <a:ext cx="9001200" cy="1939500"/>
          </a:xfrm>
          <a:prstGeom prst="rect">
            <a:avLst/>
          </a:prstGeom>
          <a:noFill/>
          <a:ln>
            <a:noFill/>
          </a:ln>
        </p:spPr>
        <p:txBody>
          <a:bodyPr anchorCtr="0" anchor="t" bIns="45700" lIns="91425" spcFirstLastPara="1" rIns="91425" wrap="square" tIns="45700">
            <a:spAutoFit/>
          </a:bodyPr>
          <a:lstStyle/>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Tạo thư mục config nằm trong folder resources.</a:t>
            </a:r>
            <a:endParaRPr sz="2200"/>
          </a:p>
          <a:p>
            <a:pPr indent="-254000" lvl="0" marL="457200" marR="0" rtl="0" algn="l">
              <a:lnSpc>
                <a:spcPct val="100000"/>
              </a:lnSpc>
              <a:spcBef>
                <a:spcPts val="0"/>
              </a:spcBef>
              <a:spcAft>
                <a:spcPts val="0"/>
              </a:spcAft>
              <a:buClr>
                <a:srgbClr val="000000"/>
              </a:buClr>
              <a:buSzPts val="3200"/>
              <a:buFont typeface="Arial"/>
              <a:buNone/>
            </a:pPr>
            <a:r>
              <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87" name="Google Shape;187;p35"/>
          <p:cNvPicPr preferRelativeResize="0"/>
          <p:nvPr/>
        </p:nvPicPr>
        <p:blipFill rotWithShape="1">
          <a:blip r:embed="rId3">
            <a:alphaModFix/>
          </a:blip>
          <a:srcRect b="0" l="0" r="0" t="0"/>
          <a:stretch/>
        </p:blipFill>
        <p:spPr>
          <a:xfrm>
            <a:off x="11807012" y="2396972"/>
            <a:ext cx="10310812" cy="8125057"/>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6"/>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193" name="Google Shape;193;p36"/>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194" name="Google Shape;194;p36"/>
          <p:cNvSpPr txBox="1"/>
          <p:nvPr/>
        </p:nvSpPr>
        <p:spPr>
          <a:xfrm>
            <a:off x="1464274" y="2534450"/>
            <a:ext cx="9144300" cy="1939500"/>
          </a:xfrm>
          <a:prstGeom prst="rect">
            <a:avLst/>
          </a:prstGeom>
          <a:noFill/>
          <a:ln>
            <a:noFill/>
          </a:ln>
        </p:spPr>
        <p:txBody>
          <a:bodyPr anchorCtr="0" anchor="t" bIns="45700" lIns="91425" spcFirstLastPara="1" rIns="91425" wrap="square" tIns="45700">
            <a:spAutoFit/>
          </a:bodyPr>
          <a:lstStyle/>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Tạo thư mục config nằm trong folder resources.</a:t>
            </a:r>
            <a:endParaRPr sz="2200"/>
          </a:p>
          <a:p>
            <a:pPr indent="0" lvl="0" marL="203200" marR="0" rtl="0" algn="l">
              <a:lnSpc>
                <a:spcPct val="100000"/>
              </a:lnSpc>
              <a:spcBef>
                <a:spcPts val="0"/>
              </a:spcBef>
              <a:spcAft>
                <a:spcPts val="0"/>
              </a:spcAft>
              <a:buClr>
                <a:srgbClr val="000000"/>
              </a:buClr>
              <a:buSzPts val="3200"/>
              <a:buFont typeface="Arial"/>
              <a:buNone/>
            </a:pPr>
            <a:r>
              <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195" name="Google Shape;195;p36"/>
          <p:cNvPicPr preferRelativeResize="0"/>
          <p:nvPr/>
        </p:nvPicPr>
        <p:blipFill rotWithShape="1">
          <a:blip r:embed="rId3">
            <a:alphaModFix/>
          </a:blip>
          <a:srcRect b="0" l="0" r="0" t="0"/>
          <a:stretch/>
        </p:blipFill>
        <p:spPr>
          <a:xfrm>
            <a:off x="11199812" y="2396972"/>
            <a:ext cx="10310812" cy="8125057"/>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01" name="Google Shape;201;p37"/>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202" name="Google Shape;202;p37"/>
          <p:cNvSpPr txBox="1"/>
          <p:nvPr/>
        </p:nvSpPr>
        <p:spPr>
          <a:xfrm>
            <a:off x="1464274" y="2439450"/>
            <a:ext cx="7251000" cy="1893300"/>
          </a:xfrm>
          <a:prstGeom prst="rect">
            <a:avLst/>
          </a:prstGeom>
          <a:noFill/>
          <a:ln>
            <a:noFill/>
          </a:ln>
        </p:spPr>
        <p:txBody>
          <a:bodyPr anchorCtr="0" anchor="t" bIns="45700" lIns="91425" spcFirstLastPara="1" rIns="91425" wrap="square" tIns="45700">
            <a:spAutoFit/>
          </a:bodyPr>
          <a:lstStyle/>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rgbClr val="212529"/>
                </a:solidFill>
                <a:highlight>
                  <a:srgbClr val="FFFFFF"/>
                </a:highlight>
                <a:latin typeface="Roboto Condensed"/>
                <a:ea typeface="Roboto Condensed"/>
                <a:cs typeface="Roboto Condensed"/>
                <a:sym typeface="Roboto Condensed"/>
              </a:rPr>
              <a:t>Enable Config Server và add thêm bootstrap dependency.</a:t>
            </a:r>
            <a:endParaRPr sz="2100"/>
          </a:p>
          <a:p>
            <a:pPr indent="-254000" lvl="0" marL="457200" marR="0" rtl="0" algn="l">
              <a:lnSpc>
                <a:spcPct val="100000"/>
              </a:lnSpc>
              <a:spcBef>
                <a:spcPts val="0"/>
              </a:spcBef>
              <a:spcAft>
                <a:spcPts val="0"/>
              </a:spcAft>
              <a:buClr>
                <a:srgbClr val="000000"/>
              </a:buClr>
              <a:buSzPts val="3200"/>
              <a:buFont typeface="Arial"/>
              <a:buNone/>
            </a:pPr>
            <a:r>
              <a:t/>
            </a:r>
            <a:endParaRPr b="0" i="0" sz="39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03" name="Google Shape;203;p37"/>
          <p:cNvPicPr preferRelativeResize="0"/>
          <p:nvPr/>
        </p:nvPicPr>
        <p:blipFill rotWithShape="1">
          <a:blip r:embed="rId3">
            <a:alphaModFix/>
          </a:blip>
          <a:srcRect b="0" l="0" r="0" t="0"/>
          <a:stretch/>
        </p:blipFill>
        <p:spPr>
          <a:xfrm>
            <a:off x="8986825" y="2396964"/>
            <a:ext cx="13462163" cy="990494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8"/>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09" name="Google Shape;209;p38"/>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210" name="Google Shape;210;p38"/>
          <p:cNvSpPr txBox="1"/>
          <p:nvPr/>
        </p:nvSpPr>
        <p:spPr>
          <a:xfrm>
            <a:off x="1464274" y="2439450"/>
            <a:ext cx="7215300" cy="1939500"/>
          </a:xfrm>
          <a:prstGeom prst="rect">
            <a:avLst/>
          </a:prstGeom>
          <a:noFill/>
          <a:ln>
            <a:noFill/>
          </a:ln>
        </p:spPr>
        <p:txBody>
          <a:bodyPr anchorCtr="0" anchor="t" bIns="45700" lIns="91425" spcFirstLastPara="1" rIns="91425" wrap="square" tIns="45700">
            <a:spAutoFit/>
          </a:bodyPr>
          <a:lstStyle/>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Tạo file bootstrap.properties trong thư mục resources.</a:t>
            </a:r>
            <a:endParaRPr sz="2200"/>
          </a:p>
          <a:p>
            <a:pPr indent="-254000" lvl="0" marL="457200" marR="0" rtl="0" algn="l">
              <a:lnSpc>
                <a:spcPct val="100000"/>
              </a:lnSpc>
              <a:spcBef>
                <a:spcPts val="0"/>
              </a:spcBef>
              <a:spcAft>
                <a:spcPts val="0"/>
              </a:spcAft>
              <a:buClr>
                <a:srgbClr val="000000"/>
              </a:buClr>
              <a:buSzPts val="3200"/>
              <a:buFont typeface="Arial"/>
              <a:buNone/>
            </a:pPr>
            <a:r>
              <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11" name="Google Shape;211;p38"/>
          <p:cNvPicPr preferRelativeResize="0"/>
          <p:nvPr/>
        </p:nvPicPr>
        <p:blipFill rotWithShape="1">
          <a:blip r:embed="rId3">
            <a:alphaModFix/>
          </a:blip>
          <a:srcRect b="0" l="0" r="0" t="0"/>
          <a:stretch/>
        </p:blipFill>
        <p:spPr>
          <a:xfrm>
            <a:off x="8941106" y="2396975"/>
            <a:ext cx="13468350" cy="720176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9"/>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17" name="Google Shape;217;p39"/>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218" name="Google Shape;218;p39"/>
          <p:cNvSpPr txBox="1"/>
          <p:nvPr/>
        </p:nvSpPr>
        <p:spPr>
          <a:xfrm>
            <a:off x="1464275" y="2439450"/>
            <a:ext cx="11430300" cy="1323600"/>
          </a:xfrm>
          <a:prstGeom prst="rect">
            <a:avLst/>
          </a:prstGeom>
          <a:noFill/>
          <a:ln>
            <a:noFill/>
          </a:ln>
        </p:spPr>
        <p:txBody>
          <a:bodyPr anchorCtr="0" anchor="t" bIns="45700" lIns="91425" spcFirstLastPara="1" rIns="91425" wrap="square" tIns="45700">
            <a:spAutoFit/>
          </a:bodyPr>
          <a:lstStyle/>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Chạy lệnh maven package để đóng gói ứng dụng.</a:t>
            </a:r>
            <a:endParaRPr sz="2200"/>
          </a:p>
          <a:p>
            <a:pPr indent="-254000" lvl="0" marL="457200" marR="0" rtl="0" algn="l">
              <a:lnSpc>
                <a:spcPct val="100000"/>
              </a:lnSpc>
              <a:spcBef>
                <a:spcPts val="0"/>
              </a:spcBef>
              <a:spcAft>
                <a:spcPts val="0"/>
              </a:spcAft>
              <a:buClr>
                <a:srgbClr val="000000"/>
              </a:buClr>
              <a:buSzPts val="3200"/>
              <a:buFont typeface="Arial"/>
              <a:buNone/>
            </a:pPr>
            <a:r>
              <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19" name="Google Shape;219;p39"/>
          <p:cNvPicPr preferRelativeResize="0"/>
          <p:nvPr/>
        </p:nvPicPr>
        <p:blipFill rotWithShape="1">
          <a:blip r:embed="rId3">
            <a:alphaModFix/>
          </a:blip>
          <a:srcRect b="0" l="0" r="0" t="0"/>
          <a:stretch/>
        </p:blipFill>
        <p:spPr>
          <a:xfrm>
            <a:off x="13141457" y="1912223"/>
            <a:ext cx="9191501" cy="1020819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25" name="Google Shape;225;p40"/>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226" name="Google Shape;226;p40"/>
          <p:cNvSpPr txBox="1"/>
          <p:nvPr/>
        </p:nvSpPr>
        <p:spPr>
          <a:xfrm>
            <a:off x="1464278" y="2439447"/>
            <a:ext cx="7750974" cy="584775"/>
          </a:xfrm>
          <a:prstGeom prst="rect">
            <a:avLst/>
          </a:prstGeom>
          <a:noFill/>
          <a:ln>
            <a:noFill/>
          </a:ln>
        </p:spPr>
        <p:txBody>
          <a:bodyPr anchorCtr="0" anchor="t"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3200"/>
              <a:buFont typeface="Arial"/>
              <a:buChar char="•"/>
            </a:pPr>
            <a:r>
              <a:rPr b="0" i="0" lang="en-US" sz="3200" u="none" cap="none" strike="noStrike">
                <a:solidFill>
                  <a:srgbClr val="212529"/>
                </a:solidFill>
                <a:highlight>
                  <a:srgbClr val="FFFFFF"/>
                </a:highlight>
                <a:latin typeface="Roboto Condensed"/>
                <a:ea typeface="Roboto Condensed"/>
                <a:cs typeface="Roboto Condensed"/>
                <a:sym typeface="Roboto Condensed"/>
              </a:rPr>
              <a:t>Viết Dockerfile và docker-compose.yml</a:t>
            </a:r>
            <a:endParaRPr b="0" i="0" sz="32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27" name="Google Shape;227;p40"/>
          <p:cNvPicPr preferRelativeResize="0"/>
          <p:nvPr/>
        </p:nvPicPr>
        <p:blipFill rotWithShape="1">
          <a:blip r:embed="rId3">
            <a:alphaModFix/>
          </a:blip>
          <a:srcRect b="0" l="0" r="0" t="0"/>
          <a:stretch/>
        </p:blipFill>
        <p:spPr>
          <a:xfrm>
            <a:off x="1606784" y="3457579"/>
            <a:ext cx="20935950" cy="86296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33" name="Google Shape;233;p41"/>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Triển khai Spring Cloud Config Server</a:t>
            </a:r>
            <a:endParaRPr/>
          </a:p>
        </p:txBody>
      </p:sp>
      <p:sp>
        <p:nvSpPr>
          <p:cNvPr id="234" name="Google Shape;234;p41"/>
          <p:cNvSpPr txBox="1"/>
          <p:nvPr/>
        </p:nvSpPr>
        <p:spPr>
          <a:xfrm>
            <a:off x="1464272" y="2439450"/>
            <a:ext cx="20395500" cy="738900"/>
          </a:xfrm>
          <a:prstGeom prst="rect">
            <a:avLst/>
          </a:prstGeom>
          <a:noFill/>
          <a:ln>
            <a:noFill/>
          </a:ln>
        </p:spPr>
        <p:txBody>
          <a:bodyPr anchorCtr="0" anchor="t" bIns="45700" lIns="91425" spcFirstLastPara="1" rIns="91425" wrap="square" tIns="45700">
            <a:spAutoFit/>
          </a:bodyPr>
          <a:lstStyle/>
          <a:p>
            <a:pPr indent="-520700" lvl="0" marL="457200" marR="0" rtl="0" algn="l">
              <a:lnSpc>
                <a:spcPct val="100000"/>
              </a:lnSpc>
              <a:spcBef>
                <a:spcPts val="0"/>
              </a:spcBef>
              <a:spcAft>
                <a:spcPts val="0"/>
              </a:spcAft>
              <a:buClr>
                <a:srgbClr val="000000"/>
              </a:buClr>
              <a:buSzPts val="4200"/>
              <a:buFont typeface="Arial"/>
              <a:buChar char="•"/>
            </a:pPr>
            <a:r>
              <a:rPr b="0" i="0" lang="en-US" sz="4200" u="none" cap="none" strike="noStrike">
                <a:solidFill>
                  <a:srgbClr val="212529"/>
                </a:solidFill>
                <a:highlight>
                  <a:srgbClr val="FFFFFF"/>
                </a:highlight>
                <a:latin typeface="Roboto Condensed"/>
                <a:ea typeface="Roboto Condensed"/>
                <a:cs typeface="Roboto Condensed"/>
                <a:sym typeface="Roboto Condensed"/>
              </a:rPr>
              <a:t>Run container Config-Service với docker-compose.yml</a:t>
            </a:r>
            <a:endParaRPr b="0" i="0" sz="42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35" name="Google Shape;235;p41"/>
          <p:cNvPicPr preferRelativeResize="0"/>
          <p:nvPr/>
        </p:nvPicPr>
        <p:blipFill rotWithShape="1">
          <a:blip r:embed="rId3">
            <a:alphaModFix/>
          </a:blip>
          <a:srcRect b="0" l="0" r="0" t="0"/>
          <a:stretch/>
        </p:blipFill>
        <p:spPr>
          <a:xfrm>
            <a:off x="2886080" y="3835462"/>
            <a:ext cx="18611850" cy="83343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41" name="Google Shape;241;p42"/>
          <p:cNvSpPr txBox="1"/>
          <p:nvPr/>
        </p:nvSpPr>
        <p:spPr>
          <a:xfrm>
            <a:off x="1200149" y="1564634"/>
            <a:ext cx="133352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Tích hợp servie con nhận config từ Config Server</a:t>
            </a:r>
            <a:endParaRPr/>
          </a:p>
        </p:txBody>
      </p:sp>
      <p:sp>
        <p:nvSpPr>
          <p:cNvPr id="242" name="Google Shape;242;p42"/>
          <p:cNvSpPr txBox="1"/>
          <p:nvPr/>
        </p:nvSpPr>
        <p:spPr>
          <a:xfrm>
            <a:off x="1464272" y="2439450"/>
            <a:ext cx="205026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212529"/>
                </a:solidFill>
                <a:highlight>
                  <a:srgbClr val="FFFFFF"/>
                </a:highlight>
                <a:latin typeface="Roboto Condensed"/>
                <a:ea typeface="Roboto Condensed"/>
                <a:cs typeface="Roboto Condensed"/>
                <a:sym typeface="Roboto Condensed"/>
              </a:rPr>
              <a:t>5.1 Áp dụng cấu hình tập trung cho account-service</a:t>
            </a:r>
            <a:endParaRPr sz="2200"/>
          </a:p>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Thêm bootstrap dependencies vào file pom.xml</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43" name="Google Shape;243;p42"/>
          <p:cNvPicPr preferRelativeResize="0"/>
          <p:nvPr/>
        </p:nvPicPr>
        <p:blipFill rotWithShape="1">
          <a:blip r:embed="rId3">
            <a:alphaModFix/>
          </a:blip>
          <a:srcRect b="0" l="1152" r="1143" t="0"/>
          <a:stretch/>
        </p:blipFill>
        <p:spPr>
          <a:xfrm>
            <a:off x="6369750" y="3991525"/>
            <a:ext cx="11703949" cy="81120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3"/>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49" name="Google Shape;249;p43"/>
          <p:cNvSpPr txBox="1"/>
          <p:nvPr/>
        </p:nvSpPr>
        <p:spPr>
          <a:xfrm>
            <a:off x="1200149" y="1564634"/>
            <a:ext cx="13335248"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Tích hợp servie con nhận config từ Config Server</a:t>
            </a:r>
            <a:endParaRPr/>
          </a:p>
        </p:txBody>
      </p:sp>
      <p:sp>
        <p:nvSpPr>
          <p:cNvPr id="250" name="Google Shape;250;p43"/>
          <p:cNvSpPr txBox="1"/>
          <p:nvPr/>
        </p:nvSpPr>
        <p:spPr>
          <a:xfrm>
            <a:off x="1464275" y="2439450"/>
            <a:ext cx="214671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212529"/>
                </a:solidFill>
                <a:highlight>
                  <a:srgbClr val="FFFFFF"/>
                </a:highlight>
                <a:latin typeface="Roboto Condensed"/>
                <a:ea typeface="Roboto Condensed"/>
                <a:cs typeface="Roboto Condensed"/>
                <a:sym typeface="Roboto Condensed"/>
              </a:rPr>
              <a:t>5.1 Áp dụng cấu hình tập trung cho account-service</a:t>
            </a:r>
            <a:endParaRPr sz="2200"/>
          </a:p>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Comment cá thông tin cấu hình CSDL để sử dụng từ cấu hình trập trung trên config-service</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51" name="Google Shape;251;p43"/>
          <p:cNvPicPr preferRelativeResize="0"/>
          <p:nvPr/>
        </p:nvPicPr>
        <p:blipFill rotWithShape="1">
          <a:blip r:embed="rId3">
            <a:alphaModFix/>
          </a:blip>
          <a:srcRect b="0" l="0" r="0" t="0"/>
          <a:stretch/>
        </p:blipFill>
        <p:spPr>
          <a:xfrm>
            <a:off x="1892533" y="3763047"/>
            <a:ext cx="19866616" cy="87471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4"/>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57" name="Google Shape;257;p44"/>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Tích hợp servie con nhận config từ Config Server</a:t>
            </a:r>
            <a:endParaRPr/>
          </a:p>
        </p:txBody>
      </p:sp>
      <p:sp>
        <p:nvSpPr>
          <p:cNvPr id="258" name="Google Shape;258;p44"/>
          <p:cNvSpPr txBox="1"/>
          <p:nvPr/>
        </p:nvSpPr>
        <p:spPr>
          <a:xfrm>
            <a:off x="1547398" y="2305975"/>
            <a:ext cx="20348100" cy="1323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000" u="none" cap="none" strike="noStrike">
                <a:solidFill>
                  <a:srgbClr val="212529"/>
                </a:solidFill>
                <a:highlight>
                  <a:srgbClr val="FFFFFF"/>
                </a:highlight>
                <a:latin typeface="Roboto Condensed"/>
                <a:ea typeface="Roboto Condensed"/>
                <a:cs typeface="Roboto Condensed"/>
                <a:sym typeface="Roboto Condensed"/>
              </a:rPr>
              <a:t>5.1 Áp dụng cấu hình tập trung cho account-service</a:t>
            </a:r>
            <a:endParaRPr sz="2200"/>
          </a:p>
          <a:p>
            <a:pPr indent="-508000" lvl="0" marL="457200" marR="0" rtl="0" algn="l">
              <a:lnSpc>
                <a:spcPct val="100000"/>
              </a:lnSpc>
              <a:spcBef>
                <a:spcPts val="0"/>
              </a:spcBef>
              <a:spcAft>
                <a:spcPts val="0"/>
              </a:spcAft>
              <a:buClr>
                <a:srgbClr val="000000"/>
              </a:buClr>
              <a:buSzPts val="4000"/>
              <a:buFont typeface="Arial"/>
              <a:buChar char="•"/>
            </a:pPr>
            <a:r>
              <a:rPr b="0" i="0" lang="en-US" sz="4000" u="none" cap="none" strike="noStrike">
                <a:solidFill>
                  <a:srgbClr val="212529"/>
                </a:solidFill>
                <a:highlight>
                  <a:srgbClr val="FFFFFF"/>
                </a:highlight>
                <a:latin typeface="Roboto Condensed"/>
                <a:ea typeface="Roboto Condensed"/>
                <a:cs typeface="Roboto Condensed"/>
                <a:sym typeface="Roboto Condensed"/>
              </a:rPr>
              <a:t>Run container account-service với docker-compose.yml</a:t>
            </a:r>
            <a:endParaRPr b="0" i="0" sz="4000" u="none" cap="none" strike="noStrike">
              <a:solidFill>
                <a:srgbClr val="212529"/>
              </a:solidFill>
              <a:highlight>
                <a:srgbClr val="FFFFFF"/>
              </a:highlight>
              <a:latin typeface="Roboto Condensed"/>
              <a:ea typeface="Roboto Condensed"/>
              <a:cs typeface="Roboto Condensed"/>
              <a:sym typeface="Roboto Condensed"/>
            </a:endParaRPr>
          </a:p>
        </p:txBody>
      </p:sp>
      <p:pic>
        <p:nvPicPr>
          <p:cNvPr id="259" name="Google Shape;259;p44"/>
          <p:cNvPicPr preferRelativeResize="0"/>
          <p:nvPr/>
        </p:nvPicPr>
        <p:blipFill rotWithShape="1">
          <a:blip r:embed="rId3">
            <a:alphaModFix/>
          </a:blip>
          <a:srcRect b="0" l="0" r="0" t="0"/>
          <a:stretch/>
        </p:blipFill>
        <p:spPr>
          <a:xfrm>
            <a:off x="2886080" y="4085412"/>
            <a:ext cx="18611850" cy="83343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5"/>
          <p:cNvSpPr txBox="1"/>
          <p:nvPr/>
        </p:nvSpPr>
        <p:spPr>
          <a:xfrm>
            <a:off x="1200148" y="571499"/>
            <a:ext cx="15610743" cy="807136"/>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0079BF"/>
              </a:buClr>
              <a:buSzPts val="4400"/>
              <a:buFont typeface="Helvetica Neue"/>
              <a:buNone/>
            </a:pPr>
            <a:r>
              <a:rPr b="1" i="0" lang="en-US" sz="6000" u="none" cap="none" strike="noStrike">
                <a:solidFill>
                  <a:srgbClr val="0079BF"/>
                </a:solidFill>
                <a:latin typeface="Helvetica Neue"/>
                <a:ea typeface="Helvetica Neue"/>
                <a:cs typeface="Helvetica Neue"/>
                <a:sym typeface="Helvetica Neue"/>
              </a:rPr>
              <a:t>API Gateway &amp; Centralized Configuation</a:t>
            </a:r>
            <a:endParaRPr b="1" i="0" sz="6000" u="none" cap="none" strike="noStrike">
              <a:solidFill>
                <a:srgbClr val="4F81BD"/>
              </a:solidFill>
              <a:latin typeface="Roboto Condensed"/>
              <a:ea typeface="Roboto Condensed"/>
              <a:cs typeface="Roboto Condensed"/>
              <a:sym typeface="Roboto Condensed"/>
            </a:endParaRPr>
          </a:p>
        </p:txBody>
      </p:sp>
      <p:sp>
        <p:nvSpPr>
          <p:cNvPr id="265" name="Google Shape;265;p45"/>
          <p:cNvSpPr txBox="1"/>
          <p:nvPr/>
        </p:nvSpPr>
        <p:spPr>
          <a:xfrm>
            <a:off x="1200149" y="1564634"/>
            <a:ext cx="12134851"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Roboto Condensed"/>
                <a:ea typeface="Roboto Condensed"/>
                <a:cs typeface="Roboto Condensed"/>
                <a:sym typeface="Roboto Condensed"/>
              </a:rPr>
              <a:t>Tích hợp servie con nhận config từ Config Server</a:t>
            </a:r>
            <a:endParaRPr/>
          </a:p>
        </p:txBody>
      </p:sp>
      <p:sp>
        <p:nvSpPr>
          <p:cNvPr id="266" name="Google Shape;266;p45"/>
          <p:cNvSpPr txBox="1"/>
          <p:nvPr/>
        </p:nvSpPr>
        <p:spPr>
          <a:xfrm>
            <a:off x="1547397" y="2305975"/>
            <a:ext cx="20026800" cy="723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4100" u="none" cap="none" strike="noStrike">
                <a:solidFill>
                  <a:srgbClr val="212529"/>
                </a:solidFill>
                <a:highlight>
                  <a:srgbClr val="FFFFFF"/>
                </a:highlight>
                <a:latin typeface="Roboto Condensed"/>
                <a:ea typeface="Roboto Condensed"/>
                <a:cs typeface="Roboto Condensed"/>
                <a:sym typeface="Roboto Condensed"/>
              </a:rPr>
              <a:t>5.2 Tương tự áp dụng cấu hình tập trung cho các dịch vụ còn lại</a:t>
            </a:r>
            <a:endParaRPr sz="2300"/>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