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57" r:id="rId3"/>
    <p:sldId id="268" r:id="rId4"/>
    <p:sldId id="349" r:id="rId5"/>
    <p:sldId id="350" r:id="rId6"/>
    <p:sldId id="351" r:id="rId7"/>
    <p:sldId id="352" r:id="rId8"/>
    <p:sldId id="353" r:id="rId9"/>
    <p:sldId id="354" r:id="rId10"/>
    <p:sldId id="355" r:id="rId11"/>
    <p:sldId id="356" r:id="rId12"/>
    <p:sldId id="359" r:id="rId13"/>
    <p:sldId id="360" r:id="rId14"/>
    <p:sldId id="361" r:id="rId15"/>
    <p:sldId id="358" r:id="rId16"/>
    <p:sldId id="357" r:id="rId17"/>
    <p:sldId id="362" r:id="rId18"/>
    <p:sldId id="363" r:id="rId19"/>
    <p:sldId id="364" r:id="rId20"/>
    <p:sldId id="366" r:id="rId21"/>
    <p:sldId id="367" r:id="rId22"/>
    <p:sldId id="370" r:id="rId23"/>
    <p:sldId id="371" r:id="rId24"/>
    <p:sldId id="372" r:id="rId25"/>
    <p:sldId id="369" r:id="rId26"/>
    <p:sldId id="368" r:id="rId27"/>
    <p:sldId id="373" r:id="rId28"/>
    <p:sldId id="374" r:id="rId29"/>
    <p:sldId id="375" r:id="rId30"/>
    <p:sldId id="376" r:id="rId31"/>
    <p:sldId id="377" r:id="rId32"/>
    <p:sldId id="378" r:id="rId33"/>
  </p:sldIdLst>
  <p:sldSz cx="24384000" cy="13716000"/>
  <p:notesSz cx="6797675" cy="9929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1" roundtripDataSignature="AMtx7mjs085yzzlXE3f0C5X3//xYLaW4u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1" autoAdjust="0"/>
    <p:restoredTop sz="96283" autoAdjust="0"/>
  </p:normalViewPr>
  <p:slideViewPr>
    <p:cSldViewPr snapToGrid="0">
      <p:cViewPr>
        <p:scale>
          <a:sx n="66" d="100"/>
          <a:sy n="66" d="100"/>
        </p:scale>
        <p:origin x="1056" y="7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72"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06357" y="4716661"/>
            <a:ext cx="4984962" cy="446841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extLst>
      <p:ext uri="{BB962C8B-B14F-4D97-AF65-F5344CB8AC3E}">
        <p14:creationId xmlns:p14="http://schemas.microsoft.com/office/powerpoint/2010/main" val="26737769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 name="Google Shape;33;p1:notes"/>
          <p:cNvSpPr txBox="1">
            <a:spLocks noGrp="1"/>
          </p:cNvSpPr>
          <p:nvPr>
            <p:ph type="body" idx="1"/>
          </p:nvPr>
        </p:nvSpPr>
        <p:spPr>
          <a:xfrm>
            <a:off x="906357" y="4716661"/>
            <a:ext cx="4984962" cy="4468416"/>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lang="vi-VN" dirty="0"/>
          </a:p>
        </p:txBody>
      </p:sp>
    </p:spTree>
    <p:extLst>
      <p:ext uri="{BB962C8B-B14F-4D97-AF65-F5344CB8AC3E}">
        <p14:creationId xmlns:p14="http://schemas.microsoft.com/office/powerpoint/2010/main" val="1609121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 name="Google Shape;41;p2:notes"/>
          <p:cNvSpPr txBox="1">
            <a:spLocks noGrp="1"/>
          </p:cNvSpPr>
          <p:nvPr>
            <p:ph type="body" idx="1"/>
          </p:nvPr>
        </p:nvSpPr>
        <p:spPr>
          <a:xfrm>
            <a:off x="906357" y="4716661"/>
            <a:ext cx="4984962" cy="4468416"/>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34209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6473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358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787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5216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526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2918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5117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6094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3081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7288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7885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4673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851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5308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03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7097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3147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291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7016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1007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9139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766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6527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9293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14782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66480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77395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9954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8636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9216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r="100000" b="100000"/>
          </a:path>
          <a:tileRect l="-100000" t="-100000"/>
        </a:gra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2"/>
        <p:cNvGrpSpPr/>
        <p:nvPr/>
      </p:nvGrpSpPr>
      <p:grpSpPr>
        <a:xfrm>
          <a:off x="0" y="0"/>
          <a:ext cx="0" cy="0"/>
          <a:chOff x="0" y="0"/>
          <a:chExt cx="0" cy="0"/>
        </a:xfrm>
      </p:grpSpPr>
      <p:pic>
        <p:nvPicPr>
          <p:cNvPr id="13" name="Google Shape;13;p14" descr="A screenshot of a cell phone&#10;&#10;Description automatically generated"/>
          <p:cNvPicPr preferRelativeResize="0"/>
          <p:nvPr/>
        </p:nvPicPr>
        <p:blipFill rotWithShape="1">
          <a:blip r:embed="rId2">
            <a:alphaModFix/>
          </a:blip>
          <a:srcRect/>
          <a:stretch/>
        </p:blipFill>
        <p:spPr>
          <a:xfrm>
            <a:off x="0" y="0"/>
            <a:ext cx="24384000" cy="13716000"/>
          </a:xfrm>
          <a:prstGeom prst="rect">
            <a:avLst/>
          </a:prstGeom>
          <a:noFill/>
          <a:ln>
            <a:noFill/>
          </a:ln>
        </p:spPr>
      </p:pic>
      <p:sp>
        <p:nvSpPr>
          <p:cNvPr id="14" name="Google Shape;14;p14"/>
          <p:cNvSpPr txBox="1">
            <a:spLocks noGrp="1"/>
          </p:cNvSpPr>
          <p:nvPr>
            <p:ph type="title"/>
          </p:nvPr>
        </p:nvSpPr>
        <p:spPr>
          <a:xfrm>
            <a:off x="1845217" y="357188"/>
            <a:ext cx="15794390" cy="1710326"/>
          </a:xfrm>
          <a:prstGeom prst="rect">
            <a:avLst/>
          </a:prstGeom>
          <a:noFill/>
          <a:ln>
            <a:noFill/>
          </a:ln>
        </p:spPr>
        <p:txBody>
          <a:bodyPr spcFirstLastPara="1" wrap="square" lIns="71425" tIns="71425" rIns="71425" bIns="71425" anchor="ctr" anchorCtr="0">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14"/>
          <p:cNvSpPr txBox="1">
            <a:spLocks noGrp="1"/>
          </p:cNvSpPr>
          <p:nvPr>
            <p:ph type="sldNum" idx="12"/>
          </p:nvPr>
        </p:nvSpPr>
        <p:spPr>
          <a:xfrm>
            <a:off x="8820083" y="13156977"/>
            <a:ext cx="6743833" cy="482823"/>
          </a:xfrm>
          <a:prstGeom prst="rect">
            <a:avLst/>
          </a:prstGeom>
          <a:noFill/>
          <a:ln>
            <a:noFill/>
          </a:ln>
        </p:spPr>
        <p:txBody>
          <a:bodyPr spcFirstLastPara="1" wrap="square" lIns="71425" tIns="71425" rIns="71425" bIns="71425" anchor="t" anchorCtr="0">
            <a:spAutoFit/>
          </a:bodyPr>
          <a:lstStyle>
            <a:lvl1pPr marL="0" lvl="0"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1pPr>
            <a:lvl2pPr marL="0" lvl="1"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2pPr>
            <a:lvl3pPr marL="0" lvl="2"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3pPr>
            <a:lvl4pPr marL="0" lvl="3"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4pPr>
            <a:lvl5pPr marL="0" lvl="4"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5pPr>
            <a:lvl6pPr marL="0" lvl="5"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6pPr>
            <a:lvl7pPr marL="0" lvl="6"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7pPr>
            <a:lvl8pPr marL="0" lvl="7"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8pPr>
            <a:lvl9pPr marL="0" lvl="8"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9pPr>
          </a:lstStyle>
          <a:p>
            <a:pPr marL="0" lvl="0" indent="0" algn="ctr" rtl="0">
              <a:spcBef>
                <a:spcPts val="0"/>
              </a:spcBef>
              <a:spcAft>
                <a:spcPts val="0"/>
              </a:spcAft>
              <a:buNone/>
            </a:pPr>
            <a:r>
              <a:rPr lang="en-US"/>
              <a:t>Copyright </a:t>
            </a:r>
            <a:r>
              <a:rPr lang="en-US" i="1"/>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w="19050" cap="flat" cmpd="sng">
            <a:solidFill>
              <a:srgbClr val="3C5A99"/>
            </a:solidFill>
            <a:prstDash val="solid"/>
            <a:miter lim="800000"/>
            <a:headEnd type="none" w="sm" len="sm"/>
            <a:tailEnd type="none" w="sm" len="sm"/>
          </a:ln>
        </p:spPr>
      </p:cxnSp>
      <p:sp>
        <p:nvSpPr>
          <p:cNvPr id="18" name="Google Shape;18;p15"/>
          <p:cNvSpPr/>
          <p:nvPr/>
        </p:nvSpPr>
        <p:spPr>
          <a:xfrm>
            <a:off x="0" y="12670972"/>
            <a:ext cx="24384001" cy="1045028"/>
          </a:xfrm>
          <a:prstGeom prst="rect">
            <a:avLst/>
          </a:prstGeom>
          <a:solidFill>
            <a:srgbClr val="3C5A99"/>
          </a:soli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3600"/>
              <a:buFont typeface="Helvetica Neue"/>
              <a:buNone/>
            </a:pPr>
            <a:endParaRPr sz="3600" b="1" i="0" u="none" strike="noStrike" cap="non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spcFirstLastPara="1" wrap="square" lIns="182850" tIns="91400" rIns="182850" bIns="91400" anchor="t" anchorCtr="0">
            <a:noAutofit/>
          </a:bodyPr>
          <a:lstStyle/>
          <a:p>
            <a:pPr marL="0" marR="0" lvl="0" indent="0" algn="ctr" rtl="0">
              <a:lnSpc>
                <a:spcPct val="100000"/>
              </a:lnSpc>
              <a:spcBef>
                <a:spcPts val="0"/>
              </a:spcBef>
              <a:spcAft>
                <a:spcPts val="0"/>
              </a:spcAft>
              <a:buClr>
                <a:schemeClr val="lt1"/>
              </a:buClr>
              <a:buSzPts val="3200"/>
              <a:buFont typeface="Helvetica Neue"/>
              <a:buNone/>
            </a:pPr>
            <a:r>
              <a:rPr lang="en-US" sz="3200" b="1" i="0" u="none" strike="noStrike" cap="none">
                <a:solidFill>
                  <a:schemeClr val="lt1"/>
                </a:solidFill>
                <a:latin typeface="Helvetica Neue"/>
                <a:ea typeface="Helvetica Neue"/>
                <a:cs typeface="Helvetica Neue"/>
                <a:sym typeface="Helvetica Neue"/>
              </a:rPr>
              <a:t>Copyright </a:t>
            </a:r>
            <a:r>
              <a:rPr lang="en-US" sz="3200" b="1" i="1" u="none" strike="noStrike" cap="none">
                <a:solidFill>
                  <a:schemeClr val="lt1"/>
                </a:solidFill>
                <a:latin typeface="Helvetica Neue"/>
                <a:ea typeface="Helvetica Neue"/>
                <a:cs typeface="Helvetica Neue"/>
                <a:sym typeface="Helvetica Neue"/>
              </a:rPr>
              <a:t>© </a:t>
            </a:r>
            <a:r>
              <a:rPr lang="en-US" sz="3200" b="1" i="0" u="none" strike="noStrike" cap="none">
                <a:solidFill>
                  <a:schemeClr val="lt1"/>
                </a:solidFill>
                <a:latin typeface="Helvetica Neue"/>
                <a:ea typeface="Helvetica Neue"/>
                <a:cs typeface="Helvetica Neue"/>
                <a:sym typeface="Helvetica Neue"/>
              </a:rPr>
              <a:t>VTI Academy All Right Reserved </a:t>
            </a:r>
            <a:endParaRPr sz="3200" b="1" i="0" u="none" strike="noStrike" cap="non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w="19050" cap="flat" cmpd="sng">
            <a:solidFill>
              <a:srgbClr val="FFC000"/>
            </a:solidFill>
            <a:prstDash val="solid"/>
            <a:miter lim="800000"/>
            <a:headEnd type="none" w="sm" len="sm"/>
            <a:tailEnd type="none" w="sm" len="sm"/>
          </a:ln>
        </p:spPr>
      </p:cxnSp>
      <p:cxnSp>
        <p:nvCxnSpPr>
          <p:cNvPr id="21" name="Google Shape;21;p15"/>
          <p:cNvCxnSpPr/>
          <p:nvPr/>
        </p:nvCxnSpPr>
        <p:spPr>
          <a:xfrm>
            <a:off x="0" y="12670972"/>
            <a:ext cx="24384001" cy="0"/>
          </a:xfrm>
          <a:prstGeom prst="straightConnector1">
            <a:avLst/>
          </a:prstGeom>
          <a:noFill/>
          <a:ln w="19050" cap="flat" cmpd="sng">
            <a:solidFill>
              <a:srgbClr val="FFC000"/>
            </a:solidFill>
            <a:prstDash val="solid"/>
            <a:miter lim="800000"/>
            <a:headEnd type="none" w="sm" len="sm"/>
            <a:tailEnd type="none" w="sm" len="sm"/>
          </a:ln>
        </p:spPr>
      </p:cxnSp>
      <p:pic>
        <p:nvPicPr>
          <p:cNvPr id="22" name="Google Shape;22;p15" descr="A picture containing drawing&#10;&#10;Description automatically generated"/>
          <p:cNvPicPr preferRelativeResize="0"/>
          <p:nvPr/>
        </p:nvPicPr>
        <p:blipFill rotWithShape="1">
          <a:blip r:embed="rId2">
            <a:alphaModFix/>
          </a:blip>
          <a:srcRect/>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r="100000" b="100000"/>
          </a:path>
          <a:tileRect l="-100000" t="-100000"/>
        </a:gradFill>
        <a:effectLst/>
      </p:bgPr>
    </p:bg>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1845217" y="357188"/>
            <a:ext cx="18701657" cy="1710326"/>
          </a:xfrm>
          <a:prstGeom prst="rect">
            <a:avLst/>
          </a:prstGeom>
          <a:noFill/>
          <a:ln>
            <a:noFill/>
          </a:ln>
        </p:spPr>
        <p:txBody>
          <a:bodyPr spcFirstLastPara="1" wrap="square" lIns="71425" tIns="71425" rIns="71425" bIns="71425" anchor="ctr" anchorCtr="0">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5" name="Google Shape;25;p16"/>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9pPr>
          </a:lstStyle>
          <a:p>
            <a:endParaRPr/>
          </a:p>
        </p:txBody>
      </p:sp>
      <p:sp>
        <p:nvSpPr>
          <p:cNvPr id="26" name="Google Shape;26;p16"/>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9pPr>
          </a:lstStyle>
          <a:p>
            <a:endParaRPr/>
          </a:p>
        </p:txBody>
      </p:sp>
      <p:sp>
        <p:nvSpPr>
          <p:cNvPr id="27" name="Google Shape;27;p16"/>
          <p:cNvSpPr txBox="1">
            <a:spLocks noGrp="1"/>
          </p:cNvSpPr>
          <p:nvPr>
            <p:ph type="sldNum" idx="12"/>
          </p:nvPr>
        </p:nvSpPr>
        <p:spPr>
          <a:xfrm>
            <a:off x="11962817" y="13073062"/>
            <a:ext cx="448840" cy="482823"/>
          </a:xfrm>
          <a:prstGeom prst="rect">
            <a:avLst/>
          </a:prstGeom>
          <a:noFill/>
          <a:ln>
            <a:noFill/>
          </a:ln>
        </p:spPr>
        <p:txBody>
          <a:bodyPr spcFirstLastPara="1" wrap="square" lIns="71425" tIns="71425" rIns="71425" bIns="71425" anchor="t" anchorCtr="0">
            <a:spAutoFit/>
          </a:bodyPr>
          <a:lstStyle>
            <a:lvl1pPr marL="0" lvl="0" indent="0" algn="ctr">
              <a:lnSpc>
                <a:spcPct val="100000"/>
              </a:lnSpc>
              <a:spcBef>
                <a:spcPts val="0"/>
              </a:spcBef>
              <a:spcAft>
                <a:spcPts val="0"/>
              </a:spcAft>
              <a:buClr>
                <a:srgbClr val="000000"/>
              </a:buClr>
              <a:buSzPts val="2200"/>
              <a:buFont typeface="Helvetica Neue Light"/>
              <a:buNone/>
              <a:defRPr/>
            </a:lvl1pPr>
            <a:lvl2pPr marL="0" lvl="1" indent="0" algn="ctr">
              <a:lnSpc>
                <a:spcPct val="100000"/>
              </a:lnSpc>
              <a:spcBef>
                <a:spcPts val="0"/>
              </a:spcBef>
              <a:spcAft>
                <a:spcPts val="0"/>
              </a:spcAft>
              <a:buClr>
                <a:srgbClr val="000000"/>
              </a:buClr>
              <a:buSzPts val="2200"/>
              <a:buFont typeface="Helvetica Neue Light"/>
              <a:buNone/>
              <a:defRPr/>
            </a:lvl2pPr>
            <a:lvl3pPr marL="0" lvl="2" indent="0" algn="ctr">
              <a:lnSpc>
                <a:spcPct val="100000"/>
              </a:lnSpc>
              <a:spcBef>
                <a:spcPts val="0"/>
              </a:spcBef>
              <a:spcAft>
                <a:spcPts val="0"/>
              </a:spcAft>
              <a:buClr>
                <a:srgbClr val="000000"/>
              </a:buClr>
              <a:buSzPts val="2200"/>
              <a:buFont typeface="Helvetica Neue Light"/>
              <a:buNone/>
              <a:defRPr/>
            </a:lvl3pPr>
            <a:lvl4pPr marL="0" lvl="3" indent="0" algn="ctr">
              <a:lnSpc>
                <a:spcPct val="100000"/>
              </a:lnSpc>
              <a:spcBef>
                <a:spcPts val="0"/>
              </a:spcBef>
              <a:spcAft>
                <a:spcPts val="0"/>
              </a:spcAft>
              <a:buClr>
                <a:srgbClr val="000000"/>
              </a:buClr>
              <a:buSzPts val="2200"/>
              <a:buFont typeface="Helvetica Neue Light"/>
              <a:buNone/>
              <a:defRPr/>
            </a:lvl4pPr>
            <a:lvl5pPr marL="0" lvl="4" indent="0" algn="ctr">
              <a:lnSpc>
                <a:spcPct val="100000"/>
              </a:lnSpc>
              <a:spcBef>
                <a:spcPts val="0"/>
              </a:spcBef>
              <a:spcAft>
                <a:spcPts val="0"/>
              </a:spcAft>
              <a:buClr>
                <a:srgbClr val="000000"/>
              </a:buClr>
              <a:buSzPts val="2200"/>
              <a:buFont typeface="Helvetica Neue Light"/>
              <a:buNone/>
              <a:defRPr/>
            </a:lvl5pPr>
            <a:lvl6pPr marL="0" lvl="5" indent="0" algn="ctr">
              <a:lnSpc>
                <a:spcPct val="100000"/>
              </a:lnSpc>
              <a:spcBef>
                <a:spcPts val="0"/>
              </a:spcBef>
              <a:spcAft>
                <a:spcPts val="0"/>
              </a:spcAft>
              <a:buClr>
                <a:srgbClr val="000000"/>
              </a:buClr>
              <a:buSzPts val="2200"/>
              <a:buFont typeface="Helvetica Neue Light"/>
              <a:buNone/>
              <a:defRPr/>
            </a:lvl6pPr>
            <a:lvl7pPr marL="0" lvl="6" indent="0" algn="ctr">
              <a:lnSpc>
                <a:spcPct val="100000"/>
              </a:lnSpc>
              <a:spcBef>
                <a:spcPts val="0"/>
              </a:spcBef>
              <a:spcAft>
                <a:spcPts val="0"/>
              </a:spcAft>
              <a:buClr>
                <a:srgbClr val="000000"/>
              </a:buClr>
              <a:buSzPts val="2200"/>
              <a:buFont typeface="Helvetica Neue Light"/>
              <a:buNone/>
              <a:defRPr/>
            </a:lvl7pPr>
            <a:lvl8pPr marL="0" lvl="7" indent="0" algn="ctr">
              <a:lnSpc>
                <a:spcPct val="100000"/>
              </a:lnSpc>
              <a:spcBef>
                <a:spcPts val="0"/>
              </a:spcBef>
              <a:spcAft>
                <a:spcPts val="0"/>
              </a:spcAft>
              <a:buClr>
                <a:srgbClr val="000000"/>
              </a:buClr>
              <a:buSzPts val="2200"/>
              <a:buFont typeface="Helvetica Neue Light"/>
              <a:buNone/>
              <a:defRPr/>
            </a:lvl8pPr>
            <a:lvl9pPr marL="0" lvl="8" indent="0" algn="ctr">
              <a:lnSpc>
                <a:spcPct val="100000"/>
              </a:lnSpc>
              <a:spcBef>
                <a:spcPts val="0"/>
              </a:spcBef>
              <a:spcAft>
                <a:spcPts val="0"/>
              </a:spcAft>
              <a:buClr>
                <a:srgbClr val="000000"/>
              </a:buClr>
              <a:buSzPts val="2200"/>
              <a:buFont typeface="Helvetica Neue Light"/>
              <a:buNone/>
              <a:defRPr/>
            </a:lvl9pPr>
          </a:lstStyle>
          <a:p>
            <a:pPr marL="0" lvl="0" indent="0" algn="ctr" rtl="0">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w="38100" cap="rnd" cmpd="sng">
            <a:solidFill>
              <a:srgbClr val="057BBA">
                <a:alpha val="80000"/>
              </a:srgbClr>
            </a:solidFill>
            <a:prstDash val="solid"/>
            <a:round/>
            <a:headEnd type="none" w="sm" len="sm"/>
            <a:tailEnd type="none" w="sm" len="sm"/>
          </a:ln>
        </p:spPr>
      </p:cxnSp>
      <p:pic>
        <p:nvPicPr>
          <p:cNvPr id="29" name="Google Shape;29;p16" descr="A close up of a sign&#10;&#10;Description automatically generated"/>
          <p:cNvPicPr preferRelativeResize="0"/>
          <p:nvPr/>
        </p:nvPicPr>
        <p:blipFill rotWithShape="1">
          <a:blip r:embed="rId2">
            <a:alphaModFix/>
          </a:blip>
          <a:srcRect/>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r="100000" b="100000"/>
          </a:path>
          <a:tileRect l="-100000" t="-100000"/>
        </a:gradFill>
        <a:effectLst/>
      </p:bgPr>
    </p:bg>
    <p:spTree>
      <p:nvGrpSpPr>
        <p:cNvPr id="1"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387453" y="357187"/>
            <a:ext cx="15609095" cy="3036095"/>
          </a:xfrm>
          <a:prstGeom prst="rect">
            <a:avLst/>
          </a:prstGeom>
          <a:noFill/>
          <a:ln>
            <a:noFill/>
          </a:ln>
        </p:spPr>
        <p:txBody>
          <a:bodyPr spcFirstLastPara="1" wrap="square" lIns="71425" tIns="71425" rIns="71425" bIns="71425" anchor="ctr" anchorCtr="0">
            <a:normAutofit/>
          </a:bodyPr>
          <a:lstStyle>
            <a:lvl1pPr marR="0" lvl="0"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12"/>
          <p:cNvSpPr txBox="1">
            <a:spLocks noGrp="1"/>
          </p:cNvSpPr>
          <p:nvPr>
            <p:ph type="body" idx="1"/>
          </p:nvPr>
        </p:nvSpPr>
        <p:spPr>
          <a:xfrm>
            <a:off x="4387453" y="3643312"/>
            <a:ext cx="15609095" cy="8840392"/>
          </a:xfrm>
          <a:prstGeom prst="rect">
            <a:avLst/>
          </a:prstGeom>
          <a:noFill/>
          <a:ln>
            <a:noFill/>
          </a:ln>
        </p:spPr>
        <p:txBody>
          <a:bodyPr spcFirstLastPara="1" wrap="square" lIns="71425" tIns="71425" rIns="71425" bIns="71425" anchor="ctr" anchorCtr="0">
            <a:normAutofit/>
          </a:bodyPr>
          <a:lstStyle>
            <a:lvl1pPr marL="457200" marR="0" lvl="0"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1pPr>
            <a:lvl2pPr marL="914400" marR="0" lvl="1"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2pPr>
            <a:lvl3pPr marL="1371600" marR="0" lvl="2"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3pPr>
            <a:lvl4pPr marL="1828800" marR="0" lvl="3"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4pPr>
            <a:lvl5pPr marL="2286000" marR="0" lvl="4"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5pPr>
            <a:lvl6pPr marL="2743200" marR="0" lvl="5"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6pPr>
            <a:lvl7pPr marL="3200400" marR="0" lvl="6"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7pPr>
            <a:lvl8pPr marL="3657600" marR="0" lvl="7"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8pPr>
            <a:lvl9pPr marL="4114800" marR="0" lvl="8"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12"/>
          <p:cNvSpPr txBox="1">
            <a:spLocks noGrp="1"/>
          </p:cNvSpPr>
          <p:nvPr>
            <p:ph type="sldNum" idx="12"/>
          </p:nvPr>
        </p:nvSpPr>
        <p:spPr>
          <a:xfrm>
            <a:off x="11954103" y="13073062"/>
            <a:ext cx="466269" cy="477671"/>
          </a:xfrm>
          <a:prstGeom prst="rect">
            <a:avLst/>
          </a:prstGeom>
          <a:noFill/>
          <a:ln>
            <a:noFill/>
          </a:ln>
        </p:spPr>
        <p:txBody>
          <a:bodyPr spcFirstLastPara="1" wrap="square" lIns="71425" tIns="71425" rIns="71425" bIns="71425" anchor="t" anchorCtr="0">
            <a:spAutoFit/>
          </a:bodyPr>
          <a:lstStyle>
            <a:lvl1pPr marL="0" marR="0" lvl="0"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izflycloud.vn/tin-tuc/sonarqube-la-gi-20220328141426879.htm"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9000/"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hyperlink" Target="http://localhost:9000/"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pic>
        <p:nvPicPr>
          <p:cNvPr id="35" name="Google Shape;35;p1" descr="A picture containing drawing&#10;&#10;Description automatically generated"/>
          <p:cNvPicPr preferRelativeResize="0"/>
          <p:nvPr/>
        </p:nvPicPr>
        <p:blipFill rotWithShape="1">
          <a:blip r:embed="rId3">
            <a:alphaModFix/>
          </a:blip>
          <a:srcRect/>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9BF"/>
              </a:buClr>
              <a:buSzPts val="3100"/>
              <a:buFont typeface="Helvetica Neue"/>
              <a:buNone/>
            </a:pPr>
            <a:r>
              <a:rPr lang="en-US" sz="3100" b="1" i="0" u="none" strike="noStrike" cap="none">
                <a:solidFill>
                  <a:srgbClr val="0079BF"/>
                </a:solidFill>
                <a:latin typeface="Helvetica Neue"/>
                <a:ea typeface="Helvetica Neue"/>
                <a:cs typeface="Helvetica Neue"/>
                <a:sym typeface="Helvetica Neue"/>
              </a:rPr>
              <a:t>WAY TO ENTERPRISE</a:t>
            </a:r>
            <a:endParaRPr/>
          </a:p>
        </p:txBody>
      </p:sp>
      <p:sp>
        <p:nvSpPr>
          <p:cNvPr id="37" name="Google Shape;37;p1"/>
          <p:cNvSpPr txBox="1"/>
          <p:nvPr/>
        </p:nvSpPr>
        <p:spPr>
          <a:xfrm>
            <a:off x="1959429" y="3853744"/>
            <a:ext cx="20876821" cy="418255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79BF"/>
              </a:buClr>
              <a:buSzPts val="4400"/>
              <a:buFont typeface="Helvetica Neue"/>
              <a:buNone/>
            </a:pPr>
            <a:r>
              <a:rPr lang="en-US" sz="9600" i="0" u="none" strike="noStrike" cap="none">
                <a:solidFill>
                  <a:srgbClr val="0079BF"/>
                </a:solidFill>
                <a:latin typeface="RobotoCondensed"/>
                <a:ea typeface="Helvetica Neue"/>
                <a:cs typeface="Helvetica Neue"/>
                <a:sym typeface="Helvetica Neue"/>
              </a:rPr>
              <a:t>Manage code quality and safety</a:t>
            </a:r>
            <a:endParaRPr sz="9600" i="0" u="none" strike="noStrike" cap="none" dirty="0">
              <a:solidFill>
                <a:srgbClr val="0079BF"/>
              </a:solidFill>
              <a:latin typeface="RobotoCondensed"/>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9BF"/>
              </a:buClr>
              <a:buSzPts val="3000"/>
              <a:buFont typeface="Arial"/>
              <a:buNone/>
            </a:pPr>
            <a:r>
              <a:rPr lang="en-US" sz="5000" b="1" i="0" u="none" strike="noStrike" cap="none">
                <a:solidFill>
                  <a:srgbClr val="0079BF"/>
                </a:solidFill>
                <a:latin typeface="Arial"/>
                <a:ea typeface="Arial"/>
                <a:cs typeface="Arial"/>
                <a:sym typeface="Arial"/>
              </a:rPr>
              <a:t>VTI ACADEMY</a:t>
            </a:r>
            <a:endParaRPr/>
          </a:p>
          <a:p>
            <a:pPr marL="0" marR="0" lvl="0" indent="0" algn="l" rtl="0">
              <a:lnSpc>
                <a:spcPct val="100000"/>
              </a:lnSpc>
              <a:spcBef>
                <a:spcPts val="1000"/>
              </a:spcBef>
              <a:spcAft>
                <a:spcPts val="0"/>
              </a:spcAft>
              <a:buClr>
                <a:srgbClr val="0079BF"/>
              </a:buClr>
              <a:buSzPts val="3000"/>
              <a:buFont typeface="Arial"/>
              <a:buNone/>
            </a:pPr>
            <a:r>
              <a:rPr lang="en-US" sz="5000" b="1" i="0" u="none" strike="noStrike" cap="none">
                <a:solidFill>
                  <a:srgbClr val="0079BF"/>
                </a:solidFill>
                <a:latin typeface="Arial"/>
                <a:ea typeface="Arial"/>
                <a:cs typeface="Arial"/>
                <a:sym typeface="Arial"/>
              </a:rPr>
              <a:t>Author: </a:t>
            </a:r>
            <a:r>
              <a:rPr lang="en-US" sz="5000" b="1" u="sng">
                <a:solidFill>
                  <a:srgbClr val="0079BF"/>
                </a:solidFill>
              </a:rPr>
              <a:t>namviet0710@gmail.com</a:t>
            </a:r>
            <a:endParaRPr sz="5000" b="1" i="0" u="none" strike="noStrike" cap="none">
              <a:solidFill>
                <a:srgbClr val="0079BF"/>
              </a:solidFill>
              <a:latin typeface="Arial"/>
              <a:ea typeface="Arial"/>
              <a:cs typeface="Arial"/>
              <a:sym typeface="Arial"/>
            </a:endParaRPr>
          </a:p>
          <a:p>
            <a:pPr marL="0" marR="0" lvl="0" indent="0" algn="l" rtl="0">
              <a:lnSpc>
                <a:spcPct val="100000"/>
              </a:lnSpc>
              <a:spcBef>
                <a:spcPts val="1000"/>
              </a:spcBef>
              <a:spcAft>
                <a:spcPts val="0"/>
              </a:spcAft>
              <a:buClr>
                <a:srgbClr val="0079BF"/>
              </a:buClr>
              <a:buSzPts val="3000"/>
              <a:buFont typeface="Arial"/>
              <a:buNone/>
            </a:pPr>
            <a:r>
              <a:rPr lang="en-US" sz="5000" b="1">
                <a:solidFill>
                  <a:srgbClr val="0079BF"/>
                </a:solidFill>
              </a:rPr>
              <a:t>February</a:t>
            </a:r>
            <a:r>
              <a:rPr lang="en-US" sz="5000" b="1" i="0" u="none" strike="noStrike" cap="none">
                <a:solidFill>
                  <a:srgbClr val="0079BF"/>
                </a:solidFill>
                <a:latin typeface="Arial"/>
                <a:ea typeface="Arial"/>
                <a:cs typeface="Arial"/>
                <a:sym typeface="Arial"/>
              </a:rPr>
              <a:t>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txBox="1">
            <a:spLocks noGrp="1"/>
          </p:cNvSpPr>
          <p:nvPr>
            <p:ph type="title"/>
          </p:nvPr>
        </p:nvSpPr>
        <p:spPr>
          <a:xfrm>
            <a:off x="1845217" y="357188"/>
            <a:ext cx="15794390" cy="1710326"/>
          </a:xfrm>
          <a:prstGeom prst="rect">
            <a:avLst/>
          </a:prstGeom>
          <a:noFill/>
          <a:ln>
            <a:noFill/>
          </a:ln>
        </p:spPr>
        <p:txBody>
          <a:bodyPr spcFirstLastPara="1" wrap="square" lIns="71425" tIns="71425" rIns="71425" bIns="71425" anchor="ctr" anchorCtr="0">
            <a:normAutofit/>
          </a:bodyPr>
          <a:lstStyle/>
          <a:p>
            <a:pPr marL="0" lvl="0" indent="0" algn="l" rtl="0">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200"/>
              <a:buFont typeface="Meiryo"/>
              <a:buNone/>
            </a:pPr>
            <a:r>
              <a:rPr lang="en-US" sz="2200" b="0" i="0" u="none" strike="noStrike" cap="none">
                <a:solidFill>
                  <a:schemeClr val="lt1"/>
                </a:solidFill>
                <a:latin typeface="Meiryo"/>
                <a:ea typeface="Meiryo"/>
                <a:cs typeface="Meiryo"/>
                <a:sym typeface="Meiryo"/>
              </a:rPr>
              <a:t>Copyright </a:t>
            </a:r>
            <a:r>
              <a:rPr lang="en-US" sz="2200" b="0" i="1" u="none" strike="noStrike" cap="none">
                <a:solidFill>
                  <a:schemeClr val="lt1"/>
                </a:solidFill>
                <a:latin typeface="Meiryo"/>
                <a:ea typeface="Meiryo"/>
                <a:cs typeface="Meiryo"/>
                <a:sym typeface="Meiryo"/>
              </a:rPr>
              <a:t>© </a:t>
            </a:r>
            <a:r>
              <a:rPr lang="en-US" sz="2200" b="0" i="0" u="none" strike="noStrike" cap="none">
                <a:solidFill>
                  <a:schemeClr val="lt1"/>
                </a:solidFill>
                <a:latin typeface="Meiryo"/>
                <a:ea typeface="Meiryo"/>
                <a:cs typeface="Meiryo"/>
                <a:sym typeface="Meiryo"/>
              </a:rPr>
              <a:t>VTI Academy All Rights Reserved </a:t>
            </a:r>
            <a:endParaRPr/>
          </a:p>
        </p:txBody>
      </p:sp>
      <p:sp>
        <p:nvSpPr>
          <p:cNvPr id="45" name="Google Shape;45;p2"/>
          <p:cNvSpPr txBox="1"/>
          <p:nvPr/>
        </p:nvSpPr>
        <p:spPr>
          <a:xfrm>
            <a:off x="1845217" y="2402496"/>
            <a:ext cx="21401314" cy="45849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3960"/>
              <a:buFont typeface="Noto Sans Symbols"/>
              <a:buChar char="❑"/>
            </a:pPr>
            <a:r>
              <a:rPr lang="en-US" sz="6600" b="0" i="0" u="none" strike="noStrike" cap="none">
                <a:solidFill>
                  <a:srgbClr val="000000"/>
                </a:solidFill>
                <a:latin typeface="Arial"/>
                <a:ea typeface="Arial"/>
                <a:cs typeface="Arial"/>
                <a:sym typeface="Arial"/>
              </a:rPr>
              <a:t> </a:t>
            </a:r>
            <a:r>
              <a:rPr lang="en-US" sz="6600"/>
              <a:t>Sonarqube</a:t>
            </a:r>
            <a:r>
              <a:rPr lang="en-US" sz="6600" b="0" i="0" u="none" strike="noStrike" cap="none">
                <a:solidFill>
                  <a:srgbClr val="000000"/>
                </a:solidFill>
                <a:latin typeface="Arial"/>
                <a:ea typeface="Arial"/>
                <a:cs typeface="Arial"/>
                <a:sym typeface="Arial"/>
              </a:rPr>
              <a:t> Introduction</a:t>
            </a:r>
          </a:p>
          <a:p>
            <a:pPr marL="342900" indent="-342900">
              <a:buSzPts val="3960"/>
              <a:buFont typeface="Noto Sans Symbols"/>
              <a:buChar char="❑"/>
            </a:pPr>
            <a:r>
              <a:rPr lang="en-US" sz="6600"/>
              <a:t> </a:t>
            </a:r>
            <a:r>
              <a:rPr lang="en-US" sz="6600">
                <a:latin typeface="RobotoCondensed"/>
              </a:rPr>
              <a:t>Install Sonarquebe</a:t>
            </a:r>
            <a:endParaRPr lang="en-US" sz="6600" b="0" i="0" u="none" strike="noStrike" cap="none">
              <a:solidFill>
                <a:srgbClr val="000000"/>
              </a:solidFill>
              <a:latin typeface="Arial"/>
              <a:ea typeface="Arial"/>
              <a:cs typeface="Arial"/>
              <a:sym typeface="Arial"/>
            </a:endParaRPr>
          </a:p>
          <a:p>
            <a:pPr marL="342900" indent="-342900">
              <a:buSzPts val="3960"/>
              <a:buFont typeface="Noto Sans Symbols"/>
              <a:buChar char="❑"/>
            </a:pPr>
            <a:r>
              <a:rPr lang="en-US" sz="6600"/>
              <a:t> </a:t>
            </a:r>
            <a:r>
              <a:rPr lang="en-US" sz="6600">
                <a:latin typeface="RobotoCondensed"/>
              </a:rPr>
              <a:t>Implement Sonarqube</a:t>
            </a:r>
          </a:p>
          <a:p>
            <a:pPr marL="342900" indent="-342900">
              <a:buSzPts val="3960"/>
              <a:buFont typeface="Noto Sans Symbols"/>
              <a:buChar char="❑"/>
            </a:pPr>
            <a:r>
              <a:rPr lang="en-US" sz="6600" b="0" i="0">
                <a:solidFill>
                  <a:srgbClr val="202124"/>
                </a:solidFill>
                <a:effectLst/>
                <a:highlight>
                  <a:srgbClr val="FFFFFF"/>
                </a:highlight>
                <a:latin typeface="RobotoCondensed"/>
              </a:rPr>
              <a:t> Sonarlint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Sonarqube Introduction</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9708028" cy="9571851"/>
          </a:xfrm>
          <a:prstGeom prst="rect">
            <a:avLst/>
          </a:prstGeom>
          <a:noFill/>
        </p:spPr>
        <p:txBody>
          <a:bodyPr wrap="square">
            <a:spAutoFit/>
          </a:bodyPr>
          <a:lstStyle/>
          <a:p>
            <a:pPr algn="l"/>
            <a:r>
              <a:rPr lang="en-US" sz="3200" b="1" i="0">
                <a:solidFill>
                  <a:schemeClr val="tx1"/>
                </a:solidFill>
                <a:effectLst/>
                <a:latin typeface="RobotoCondensed"/>
              </a:rPr>
              <a:t>1.1 Giới thiệu về sonarqube</a:t>
            </a:r>
            <a:endParaRPr lang="en-US" sz="3200" b="1">
              <a:solidFill>
                <a:schemeClr val="tx1"/>
              </a:solidFill>
              <a:effectLst/>
            </a:endParaRPr>
          </a:p>
          <a:p>
            <a:pPr marL="571500" indent="-571500" algn="l">
              <a:buFont typeface="Arial" panose="020B0604020202020204" pitchFamily="34" charset="0"/>
              <a:buChar char="•"/>
            </a:pPr>
            <a:r>
              <a:rPr lang="vi-VN" sz="3200" b="1" i="0" strike="noStrike">
                <a:solidFill>
                  <a:schemeClr val="tx1"/>
                </a:solidFill>
                <a:effectLst/>
                <a:highlight>
                  <a:srgbClr val="FFFFFF"/>
                </a:highlight>
                <a:latin typeface="Roboto" panose="02000000000000000000" pitchFamily="2" charset="0"/>
                <a:hlinkClick r:id="rId3" tooltip="Sonarqube">
                  <a:extLst>
                    <a:ext uri="{A12FA001-AC4F-418D-AE19-62706E023703}">
                      <ahyp:hlinkClr xmlns:ahyp="http://schemas.microsoft.com/office/drawing/2018/hyperlinkcolor" val="tx"/>
                    </a:ext>
                  </a:extLst>
                </a:hlinkClick>
              </a:rPr>
              <a:t>Sonarqube</a:t>
            </a:r>
            <a:r>
              <a:rPr lang="vi-VN" sz="4000" b="0" i="0">
                <a:solidFill>
                  <a:srgbClr val="212529"/>
                </a:solidFill>
                <a:effectLst/>
                <a:highlight>
                  <a:srgbClr val="FFFFFF"/>
                </a:highlight>
                <a:latin typeface="Roboto" panose="02000000000000000000" pitchFamily="2" charset="0"/>
              </a:rPr>
              <a:t> </a:t>
            </a:r>
            <a:r>
              <a:rPr lang="vi-VN" sz="3200" b="0" i="0">
                <a:solidFill>
                  <a:srgbClr val="212529"/>
                </a:solidFill>
                <a:effectLst/>
                <a:highlight>
                  <a:srgbClr val="FFFFFF"/>
                </a:highlight>
                <a:latin typeface="RobotoCondensed"/>
              </a:rPr>
              <a:t>là một nền tảng mã nguồn mở được phát triển từ mười năm trước bởi SonarSource với mục đích kiểm tra chất lượng code, review dự án bằng cách phân tích code để phát hiện các đoạn code không tốt, code lỗi hay những lỗ hổng bảo mật.</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Sonarqube được viết bằng ngôn ngữ Java nhưng nó có thể hỗ trợ vô số các ngôn ngữ lập trình khác nhau như Ruby, PHP, Java, Javascript, C#, C/C++, Go, Kotlin, ABAP, VB6, Python, Swift, HTML, CSS, XML, PL/SQL, VB.NET, RPG, Flex, COBOL, Objective-C,...</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Sonarqube thông qua plugin SonarLint được tích hợp vào các công cụ phát triển Visual Studio, Eclipse, IntelliJ IDEA và nhiều công cụ khác như Active Directory, LDAP, GitHup,...</a:t>
            </a:r>
          </a:p>
          <a:p>
            <a:pPr marL="457200" indent="-457200" algn="l" fontAlgn="base">
              <a:buFont typeface="Arial" panose="020B0604020202020204" pitchFamily="34" charset="0"/>
              <a:buChar char="•"/>
            </a:pPr>
            <a:endParaRPr lang="en-US" sz="3200" b="0" i="0">
              <a:solidFill>
                <a:srgbClr val="161616"/>
              </a:solidFill>
              <a:effectLst/>
              <a:highlight>
                <a:srgbClr val="FFFFFF"/>
              </a:highlight>
              <a:latin typeface="RobotoCondensed"/>
            </a:endParaRPr>
          </a:p>
          <a:p>
            <a:pPr marL="457200" indent="-457200" algn="l">
              <a:buFont typeface="Arial" panose="020B0604020202020204" pitchFamily="34" charset="0"/>
              <a:buChar char="•"/>
            </a:pPr>
            <a:endParaRPr lang="vi-VN" sz="3200" b="1" i="0">
              <a:solidFill>
                <a:schemeClr val="tx1"/>
              </a:solidFill>
              <a:effectLst/>
              <a:latin typeface="RobotoCondensed"/>
            </a:endParaRPr>
          </a:p>
        </p:txBody>
      </p:sp>
      <p:pic>
        <p:nvPicPr>
          <p:cNvPr id="8" name="Picture 7">
            <a:extLst>
              <a:ext uri="{FF2B5EF4-FFF2-40B4-BE49-F238E27FC236}">
                <a16:creationId xmlns:a16="http://schemas.microsoft.com/office/drawing/2014/main" id="{29C2864E-8794-ECCC-26D9-7178409FB00B}"/>
              </a:ext>
            </a:extLst>
          </p:cNvPr>
          <p:cNvPicPr>
            <a:picLocks noChangeAspect="1"/>
          </p:cNvPicPr>
          <p:nvPr/>
        </p:nvPicPr>
        <p:blipFill>
          <a:blip r:embed="rId4"/>
          <a:stretch>
            <a:fillRect/>
          </a:stretch>
        </p:blipFill>
        <p:spPr>
          <a:xfrm>
            <a:off x="11172306" y="3008278"/>
            <a:ext cx="12449694" cy="7699443"/>
          </a:xfrm>
          <a:prstGeom prst="rect">
            <a:avLst/>
          </a:prstGeom>
        </p:spPr>
      </p:pic>
    </p:spTree>
    <p:extLst>
      <p:ext uri="{BB962C8B-B14F-4D97-AF65-F5344CB8AC3E}">
        <p14:creationId xmlns:p14="http://schemas.microsoft.com/office/powerpoint/2010/main" val="1408661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Sonarqube Introduction</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0727723" cy="9448740"/>
          </a:xfrm>
          <a:prstGeom prst="rect">
            <a:avLst/>
          </a:prstGeom>
          <a:noFill/>
        </p:spPr>
        <p:txBody>
          <a:bodyPr wrap="square">
            <a:spAutoFit/>
          </a:bodyPr>
          <a:lstStyle/>
          <a:p>
            <a:pPr algn="l"/>
            <a:r>
              <a:rPr lang="en-US" sz="3200" b="1" i="0">
                <a:solidFill>
                  <a:schemeClr val="tx1"/>
                </a:solidFill>
                <a:effectLst/>
                <a:latin typeface="RobotoCondensed"/>
              </a:rPr>
              <a:t>1.1 Lợi ích của sonarqube</a:t>
            </a:r>
            <a:endParaRPr lang="en-US" sz="3200" b="1">
              <a:solidFill>
                <a:schemeClr val="tx1"/>
              </a:solidFill>
              <a:effectLst/>
            </a:endParaRP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Sonarqube có thể kiểm tra chất lượng mã một cách liên tục với các báo cáo chi tiết về các </a:t>
            </a:r>
            <a:r>
              <a:rPr lang="en-US" sz="3200" b="0" i="0">
                <a:solidFill>
                  <a:srgbClr val="212529"/>
                </a:solidFill>
                <a:effectLst/>
                <a:highlight>
                  <a:srgbClr val="FFFFFF"/>
                </a:highlight>
                <a:latin typeface="RobotoCondensed"/>
              </a:rPr>
              <a:t>unit test</a:t>
            </a:r>
            <a:r>
              <a:rPr lang="vi-VN" sz="3200" b="0" i="0">
                <a:solidFill>
                  <a:srgbClr val="212529"/>
                </a:solidFill>
                <a:effectLst/>
                <a:highlight>
                  <a:srgbClr val="FFFFFF"/>
                </a:highlight>
                <a:latin typeface="RobotoCondensed"/>
              </a:rPr>
              <a:t>, tiêu chuẩn</a:t>
            </a:r>
            <a:r>
              <a:rPr lang="en-US" sz="3200" b="0" i="0">
                <a:solidFill>
                  <a:srgbClr val="212529"/>
                </a:solidFill>
                <a:effectLst/>
                <a:highlight>
                  <a:srgbClr val="FFFFFF"/>
                </a:highlight>
                <a:latin typeface="RobotoCondensed"/>
              </a:rPr>
              <a:t> coding</a:t>
            </a:r>
            <a:r>
              <a:rPr lang="vi-VN" sz="3200" b="0" i="0">
                <a:solidFill>
                  <a:srgbClr val="212529"/>
                </a:solidFill>
                <a:effectLst/>
                <a:highlight>
                  <a:srgbClr val="FFFFFF"/>
                </a:highlight>
                <a:latin typeface="RobotoCondensed"/>
              </a:rPr>
              <a:t>, lỗ hổng bảo mật, độ phủ</a:t>
            </a:r>
            <a:r>
              <a:rPr lang="en-US" sz="3200" b="0" i="0">
                <a:solidFill>
                  <a:srgbClr val="212529"/>
                </a:solidFill>
                <a:effectLst/>
                <a:highlight>
                  <a:srgbClr val="FFFFFF"/>
                </a:highlight>
                <a:latin typeface="RobotoCondensed"/>
              </a:rPr>
              <a:t> của unit test</a:t>
            </a:r>
            <a:r>
              <a:rPr lang="vi-VN" sz="3200" b="0" i="0">
                <a:solidFill>
                  <a:srgbClr val="212529"/>
                </a:solidFill>
                <a:effectLst/>
                <a:highlight>
                  <a:srgbClr val="FFFFFF"/>
                </a:highlight>
                <a:latin typeface="RobotoCondensed"/>
              </a:rPr>
              <a:t>.</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Sonarqube</a:t>
            </a:r>
            <a:r>
              <a:rPr lang="vi-VN" sz="3200" b="0" i="0">
                <a:solidFill>
                  <a:srgbClr val="212529"/>
                </a:solidFill>
                <a:effectLst/>
                <a:highlight>
                  <a:srgbClr val="FFFFFF"/>
                </a:highlight>
                <a:latin typeface="RobotoCondensed"/>
              </a:rPr>
              <a:t> giúp các lập trình viên có thể dễ dàng kiểm tra mức độ hiệu quả của mã code để nhanh chóng cảnh báo và đưa ra gợi ý chỉnh sửa ngay khi phát hiện lỗi </a:t>
            </a:r>
            <a:r>
              <a:rPr lang="en-US" sz="3200" b="0" i="0">
                <a:solidFill>
                  <a:srgbClr val="212529"/>
                </a:solidFill>
                <a:effectLst/>
                <a:highlight>
                  <a:srgbClr val="FFFFFF"/>
                </a:highlight>
                <a:latin typeface="RobotoCondensed"/>
              </a:rPr>
              <a:t>hoặc </a:t>
            </a:r>
            <a:r>
              <a:rPr lang="vi-VN" sz="3200" b="0" i="0">
                <a:solidFill>
                  <a:srgbClr val="212529"/>
                </a:solidFill>
                <a:effectLst/>
                <a:highlight>
                  <a:srgbClr val="FFFFFF"/>
                </a:highlight>
                <a:latin typeface="RobotoCondensed"/>
              </a:rPr>
              <a:t>vi phạm hay nguy cơ vi phạm những nguyên tắc chuẩn chung.</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Sonarqube giúp hình thành thói quen cho các lập trình viên và hạn chế tối đa các lỗi có thể xảy ra trong quá trình code.</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Sonarqube giúp giải quyết các vấn đề về quản lý chất lượng code, dirty code, code smell, technical debt hay những lỗ hổng bảo mật cho các dự án nhất là khi dự án đó có sự tham gia của đông đảo các thành viên với các trình độ, kinh nghiệm khác nhau.</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Sonarqube hỗ trợ báo cáo duplicated code, unit tests, comments, code coverage,...</a:t>
            </a:r>
          </a:p>
        </p:txBody>
      </p:sp>
      <p:pic>
        <p:nvPicPr>
          <p:cNvPr id="3" name="Picture 2">
            <a:extLst>
              <a:ext uri="{FF2B5EF4-FFF2-40B4-BE49-F238E27FC236}">
                <a16:creationId xmlns:a16="http://schemas.microsoft.com/office/drawing/2014/main" id="{6FDD39BF-2721-BC57-7999-3FEB580B5E16}"/>
              </a:ext>
            </a:extLst>
          </p:cNvPr>
          <p:cNvPicPr>
            <a:picLocks noChangeAspect="1"/>
          </p:cNvPicPr>
          <p:nvPr/>
        </p:nvPicPr>
        <p:blipFill>
          <a:blip r:embed="rId3"/>
          <a:stretch>
            <a:fillRect/>
          </a:stretch>
        </p:blipFill>
        <p:spPr>
          <a:xfrm>
            <a:off x="13110203" y="2697303"/>
            <a:ext cx="8602639" cy="8602639"/>
          </a:xfrm>
          <a:prstGeom prst="rect">
            <a:avLst/>
          </a:prstGeom>
        </p:spPr>
      </p:pic>
    </p:spTree>
    <p:extLst>
      <p:ext uri="{BB962C8B-B14F-4D97-AF65-F5344CB8AC3E}">
        <p14:creationId xmlns:p14="http://schemas.microsoft.com/office/powerpoint/2010/main" val="387121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Sonarqube Introduction</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20599856" cy="7971413"/>
          </a:xfrm>
          <a:prstGeom prst="rect">
            <a:avLst/>
          </a:prstGeom>
          <a:noFill/>
        </p:spPr>
        <p:txBody>
          <a:bodyPr wrap="square">
            <a:spAutoFit/>
          </a:bodyPr>
          <a:lstStyle/>
          <a:p>
            <a:pPr algn="l"/>
            <a:r>
              <a:rPr lang="en-US" sz="3200" b="1" i="0">
                <a:solidFill>
                  <a:schemeClr val="tx1"/>
                </a:solidFill>
                <a:effectLst/>
                <a:latin typeface="RobotoCondensed"/>
              </a:rPr>
              <a:t>1.3 Các tính năng nổi bật của sonarqube</a:t>
            </a:r>
            <a:endParaRPr lang="en-US" sz="3200" b="1">
              <a:solidFill>
                <a:schemeClr val="tx1"/>
              </a:solidFill>
              <a:effectLst/>
            </a:endParaRPr>
          </a:p>
          <a:p>
            <a:pPr marL="571500" indent="-571500" algn="l">
              <a:buFont typeface="Arial" panose="020B0604020202020204" pitchFamily="34" charset="0"/>
              <a:buChar char="•"/>
            </a:pP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b="0" i="0">
                <a:solidFill>
                  <a:srgbClr val="212529"/>
                </a:solidFill>
                <a:effectLst/>
                <a:highlight>
                  <a:srgbClr val="FFFFFF"/>
                </a:highlight>
                <a:latin typeface="Roboto" panose="02000000000000000000" pitchFamily="2" charset="0"/>
              </a:rPr>
              <a:t>Sonarqube hỗ trợ các nhà phát triển trong việc đảm bảo chất lượng mã của họ bằng cách dựa trên những quy tắc mặc định để phân tích mã nguồn.</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 panose="02000000000000000000" pitchFamily="2" charset="0"/>
              </a:rPr>
              <a:t>Các quy tắc được đưa ra dựa trên các lỗi tiềm ẩn, mức độ phức tạp của mã, phạm vi kiểm tra, trùng lặp mã,.. Mức độ chất lượng của mã code sẽ phụ thuộc vào các quy tắc có sẵn.</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 panose="02000000000000000000" pitchFamily="2" charset="0"/>
              </a:rPr>
              <a:t>Cổng chất lượng được sử dụng để thiết lập các giá trị tối đa và tối thiểu cho các số liệu chính. Chẳng hạn, xếp hạng bảo mật của dữ liệu không được kém hơn A hay mức độ phủ</a:t>
            </a:r>
            <a:r>
              <a:rPr lang="en-US" sz="3200" b="0" i="0">
                <a:solidFill>
                  <a:srgbClr val="212529"/>
                </a:solidFill>
                <a:effectLst/>
                <a:highlight>
                  <a:srgbClr val="FFFFFF"/>
                </a:highlight>
                <a:latin typeface="Roboto" panose="02000000000000000000" pitchFamily="2" charset="0"/>
              </a:rPr>
              <a:t> unit test</a:t>
            </a:r>
            <a:r>
              <a:rPr lang="vi-VN" sz="3200" b="0" i="0">
                <a:solidFill>
                  <a:srgbClr val="212529"/>
                </a:solidFill>
                <a:effectLst/>
                <a:highlight>
                  <a:srgbClr val="FFFFFF"/>
                </a:highlight>
                <a:latin typeface="Roboto" panose="02000000000000000000" pitchFamily="2" charset="0"/>
              </a:rPr>
              <a:t> mã code phải trên 80%. Mức độ chất lượng và cổng chất lượng có thể được chỉ định tuỳ biến cho từng dự án khác nhau.</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 panose="02000000000000000000" pitchFamily="2" charset="0"/>
              </a:rPr>
              <a:t>Kết quả phân tích mã code sẽ được lưu trữ trên cơ sở dữ liệu. Người dùng có thể thông qua giao diện web để truy cập vào kết quả đó. Sonarqube </a:t>
            </a:r>
            <a:r>
              <a:rPr lang="en-US" sz="3200" b="0" i="0">
                <a:solidFill>
                  <a:srgbClr val="212529"/>
                </a:solidFill>
                <a:effectLst/>
                <a:highlight>
                  <a:srgbClr val="FFFFFF"/>
                </a:highlight>
                <a:latin typeface="Roboto" panose="02000000000000000000" pitchFamily="2" charset="0"/>
              </a:rPr>
              <a:t>có thể </a:t>
            </a:r>
            <a:r>
              <a:rPr lang="vi-VN" sz="3200" b="0" i="0">
                <a:solidFill>
                  <a:srgbClr val="212529"/>
                </a:solidFill>
                <a:effectLst/>
                <a:highlight>
                  <a:srgbClr val="FFFFFF"/>
                </a:highlight>
                <a:latin typeface="Roboto" panose="02000000000000000000" pitchFamily="2" charset="0"/>
              </a:rPr>
              <a:t>được tích hợp vào </a:t>
            </a:r>
            <a:r>
              <a:rPr lang="en-US" sz="3200" b="0" i="0">
                <a:solidFill>
                  <a:srgbClr val="212529"/>
                </a:solidFill>
                <a:effectLst/>
                <a:highlight>
                  <a:srgbClr val="FFFFFF"/>
                </a:highlight>
                <a:latin typeface="Roboto" panose="02000000000000000000" pitchFamily="2" charset="0"/>
              </a:rPr>
              <a:t>quy trình</a:t>
            </a:r>
            <a:r>
              <a:rPr lang="vi-VN" sz="3200" b="0" i="0">
                <a:solidFill>
                  <a:srgbClr val="212529"/>
                </a:solidFill>
                <a:effectLst/>
                <a:highlight>
                  <a:srgbClr val="FFFFFF"/>
                </a:highlight>
                <a:latin typeface="Roboto" panose="02000000000000000000" pitchFamily="2" charset="0"/>
              </a:rPr>
              <a:t> CD/CI sẽ giúp hỗ trợ quá trình phát triển </a:t>
            </a:r>
            <a:r>
              <a:rPr lang="en-US" sz="3200" b="0" i="0">
                <a:solidFill>
                  <a:srgbClr val="212529"/>
                </a:solidFill>
                <a:effectLst/>
                <a:highlight>
                  <a:srgbClr val="FFFFFF"/>
                </a:highlight>
                <a:latin typeface="Roboto" panose="02000000000000000000" pitchFamily="2" charset="0"/>
              </a:rPr>
              <a:t>và đưa lên môi trường production </a:t>
            </a:r>
            <a:r>
              <a:rPr lang="vi-VN" sz="3200" b="0" i="0">
                <a:solidFill>
                  <a:srgbClr val="212529"/>
                </a:solidFill>
                <a:effectLst/>
                <a:highlight>
                  <a:srgbClr val="FFFFFF"/>
                </a:highlight>
                <a:latin typeface="Roboto" panose="02000000000000000000" pitchFamily="2" charset="0"/>
              </a:rPr>
              <a:t>một cách tự động.</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 panose="02000000000000000000" pitchFamily="2" charset="0"/>
              </a:rPr>
              <a:t>Sonarqube hỗ trợ hơn 27 ngôn ngữ lập trình trong việc phân tích mã. Với cấu trúc mô đun, công cụ phân tích dễ dàng được mở rộng bằng cách sử dụng plugin.</a:t>
            </a:r>
          </a:p>
          <a:p>
            <a:pPr marL="457200" indent="-457200" algn="l" fontAlgn="base">
              <a:buFont typeface="Arial" panose="020B0604020202020204" pitchFamily="34" charset="0"/>
              <a:buChar char="•"/>
            </a:pPr>
            <a:endParaRPr lang="en-US" sz="3200" b="0" i="0">
              <a:solidFill>
                <a:srgbClr val="161616"/>
              </a:solidFill>
              <a:effectLst/>
              <a:highlight>
                <a:srgbClr val="FFFFFF"/>
              </a:highlight>
              <a:latin typeface="RobotoCondensed"/>
            </a:endParaRPr>
          </a:p>
          <a:p>
            <a:pPr marL="457200" indent="-457200" algn="l">
              <a:buFont typeface="Arial" panose="020B0604020202020204" pitchFamily="34" charset="0"/>
              <a:buChar char="•"/>
            </a:pPr>
            <a:endParaRPr lang="vi-VN" sz="3200" b="1" i="0">
              <a:solidFill>
                <a:schemeClr val="tx1"/>
              </a:solidFill>
              <a:effectLst/>
              <a:latin typeface="RobotoCondensed"/>
            </a:endParaRPr>
          </a:p>
        </p:txBody>
      </p:sp>
    </p:spTree>
    <p:extLst>
      <p:ext uri="{BB962C8B-B14F-4D97-AF65-F5344CB8AC3E}">
        <p14:creationId xmlns:p14="http://schemas.microsoft.com/office/powerpoint/2010/main" val="63099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20599856"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.1 Tìm docker image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Truy cập vào trang hub.</a:t>
            </a:r>
            <a:r>
              <a:rPr lang="en-US" sz="3200">
                <a:solidFill>
                  <a:srgbClr val="212529"/>
                </a:solidFill>
                <a:highlight>
                  <a:srgbClr val="FFFFFF"/>
                </a:highlight>
                <a:latin typeface="Roboto" panose="02000000000000000000" pitchFamily="2" charset="0"/>
              </a:rPr>
              <a:t>docker.com</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8EE5B8B1-4296-5517-53A2-7769F73A9DB7}"/>
              </a:ext>
            </a:extLst>
          </p:cNvPr>
          <p:cNvPicPr>
            <a:picLocks noChangeAspect="1"/>
          </p:cNvPicPr>
          <p:nvPr/>
        </p:nvPicPr>
        <p:blipFill>
          <a:blip r:embed="rId3"/>
          <a:stretch>
            <a:fillRect/>
          </a:stretch>
        </p:blipFill>
        <p:spPr>
          <a:xfrm>
            <a:off x="1615440" y="4114418"/>
            <a:ext cx="19959884" cy="6736461"/>
          </a:xfrm>
          <a:prstGeom prst="rect">
            <a:avLst/>
          </a:prstGeom>
        </p:spPr>
      </p:pic>
    </p:spTree>
    <p:extLst>
      <p:ext uri="{BB962C8B-B14F-4D97-AF65-F5344CB8AC3E}">
        <p14:creationId xmlns:p14="http://schemas.microsoft.com/office/powerpoint/2010/main" val="1569519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20599856"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.1 Tìm docker image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Chọn vào tab tags tìm bản lts-community chọn copy</a:t>
            </a:r>
            <a:endParaRPr lang="vi-VN" sz="3200" b="0" i="0">
              <a:solidFill>
                <a:srgbClr val="212529"/>
              </a:solidFill>
              <a:effectLst/>
              <a:highlight>
                <a:srgbClr val="FFFFFF"/>
              </a:highlight>
              <a:latin typeface="Roboto" panose="02000000000000000000" pitchFamily="2" charset="0"/>
            </a:endParaRPr>
          </a:p>
        </p:txBody>
      </p:sp>
      <p:pic>
        <p:nvPicPr>
          <p:cNvPr id="4" name="Picture 3">
            <a:extLst>
              <a:ext uri="{FF2B5EF4-FFF2-40B4-BE49-F238E27FC236}">
                <a16:creationId xmlns:a16="http://schemas.microsoft.com/office/drawing/2014/main" id="{5338C956-24E1-0960-CBDC-7D91082D11C0}"/>
              </a:ext>
            </a:extLst>
          </p:cNvPr>
          <p:cNvPicPr>
            <a:picLocks noChangeAspect="1"/>
          </p:cNvPicPr>
          <p:nvPr/>
        </p:nvPicPr>
        <p:blipFill>
          <a:blip r:embed="rId3"/>
          <a:stretch>
            <a:fillRect/>
          </a:stretch>
        </p:blipFill>
        <p:spPr>
          <a:xfrm>
            <a:off x="1852244" y="4533709"/>
            <a:ext cx="14306550" cy="6867525"/>
          </a:xfrm>
          <a:prstGeom prst="rect">
            <a:avLst/>
          </a:prstGeom>
        </p:spPr>
      </p:pic>
    </p:spTree>
    <p:extLst>
      <p:ext uri="{BB962C8B-B14F-4D97-AF65-F5344CB8AC3E}">
        <p14:creationId xmlns:p14="http://schemas.microsoft.com/office/powerpoint/2010/main" val="201959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20599856"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a:t>
            </a:r>
            <a:r>
              <a:rPr lang="en-US" sz="3200" b="1">
                <a:solidFill>
                  <a:schemeClr val="tx1"/>
                </a:solidFill>
                <a:latin typeface="RobotoCondensed"/>
              </a:rPr>
              <a:t>2</a:t>
            </a:r>
            <a:r>
              <a:rPr lang="en-US" sz="3200" b="1" i="0">
                <a:solidFill>
                  <a:schemeClr val="tx1"/>
                </a:solidFill>
                <a:effectLst/>
                <a:latin typeface="RobotoCondensed"/>
              </a:rPr>
              <a:t> Pull &amp; Run sonarqube từ docker image </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 panose="02000000000000000000" pitchFamily="2" charset="0"/>
              </a:rPr>
              <a:t>Chạy câu lệnh: docker pull sonarqube:lts-community</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3768F740-9CBE-933F-9A74-8C9644368FCC}"/>
              </a:ext>
            </a:extLst>
          </p:cNvPr>
          <p:cNvPicPr>
            <a:picLocks noChangeAspect="1"/>
          </p:cNvPicPr>
          <p:nvPr/>
        </p:nvPicPr>
        <p:blipFill>
          <a:blip r:embed="rId3"/>
          <a:stretch>
            <a:fillRect/>
          </a:stretch>
        </p:blipFill>
        <p:spPr>
          <a:xfrm>
            <a:off x="1561338" y="3935147"/>
            <a:ext cx="13068300" cy="6457950"/>
          </a:xfrm>
          <a:prstGeom prst="rect">
            <a:avLst/>
          </a:prstGeom>
        </p:spPr>
      </p:pic>
    </p:spTree>
    <p:extLst>
      <p:ext uri="{BB962C8B-B14F-4D97-AF65-F5344CB8AC3E}">
        <p14:creationId xmlns:p14="http://schemas.microsoft.com/office/powerpoint/2010/main" val="2914675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20599856"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a:t>
            </a:r>
            <a:r>
              <a:rPr lang="en-US" sz="3200" b="1">
                <a:solidFill>
                  <a:schemeClr val="tx1"/>
                </a:solidFill>
                <a:latin typeface="RobotoCondensed"/>
              </a:rPr>
              <a:t>2</a:t>
            </a:r>
            <a:r>
              <a:rPr lang="en-US" sz="3200" b="1" i="0">
                <a:solidFill>
                  <a:schemeClr val="tx1"/>
                </a:solidFill>
                <a:effectLst/>
                <a:latin typeface="RobotoCondensed"/>
              </a:rPr>
              <a:t> Pull &amp; Run sonarqube từ docker image </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 panose="02000000000000000000" pitchFamily="2" charset="0"/>
              </a:rPr>
              <a:t>Tiếp tục chạy câu lệnh: docker run –p 9000:9000 sonarqube:lts-community</a:t>
            </a:r>
            <a:endParaRPr lang="vi-VN" sz="3200" b="0" i="0">
              <a:solidFill>
                <a:srgbClr val="212529"/>
              </a:solidFill>
              <a:effectLst/>
              <a:highlight>
                <a:srgbClr val="FFFFFF"/>
              </a:highlight>
              <a:latin typeface="Roboto" panose="02000000000000000000" pitchFamily="2" charset="0"/>
            </a:endParaRPr>
          </a:p>
        </p:txBody>
      </p:sp>
      <p:pic>
        <p:nvPicPr>
          <p:cNvPr id="8" name="Picture 7">
            <a:extLst>
              <a:ext uri="{FF2B5EF4-FFF2-40B4-BE49-F238E27FC236}">
                <a16:creationId xmlns:a16="http://schemas.microsoft.com/office/drawing/2014/main" id="{373BB04F-878B-B55F-70C5-824BD11ED0CF}"/>
              </a:ext>
            </a:extLst>
          </p:cNvPr>
          <p:cNvPicPr>
            <a:picLocks noChangeAspect="1"/>
          </p:cNvPicPr>
          <p:nvPr/>
        </p:nvPicPr>
        <p:blipFill>
          <a:blip r:embed="rId3"/>
          <a:stretch>
            <a:fillRect/>
          </a:stretch>
        </p:blipFill>
        <p:spPr>
          <a:xfrm>
            <a:off x="1626870" y="4152103"/>
            <a:ext cx="13449300" cy="7029450"/>
          </a:xfrm>
          <a:prstGeom prst="rect">
            <a:avLst/>
          </a:prstGeom>
        </p:spPr>
      </p:pic>
    </p:spTree>
    <p:extLst>
      <p:ext uri="{BB962C8B-B14F-4D97-AF65-F5344CB8AC3E}">
        <p14:creationId xmlns:p14="http://schemas.microsoft.com/office/powerpoint/2010/main" val="2568588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20599856"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a:t>
            </a:r>
            <a:r>
              <a:rPr lang="en-US" sz="3200" b="1">
                <a:solidFill>
                  <a:schemeClr val="tx1"/>
                </a:solidFill>
                <a:latin typeface="RobotoCondensed"/>
              </a:rPr>
              <a:t>2</a:t>
            </a:r>
            <a:r>
              <a:rPr lang="en-US" sz="3200" b="1" i="0">
                <a:solidFill>
                  <a:schemeClr val="tx1"/>
                </a:solidFill>
                <a:effectLst/>
                <a:latin typeface="RobotoCondensed"/>
              </a:rPr>
              <a:t> Pull &amp; Run sonarqube từ docker image </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Kiểm tra sonarqube container trên docker desktop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B73310CC-02F5-0989-18D0-62BC2A2D9A5E}"/>
              </a:ext>
            </a:extLst>
          </p:cNvPr>
          <p:cNvPicPr>
            <a:picLocks noChangeAspect="1"/>
          </p:cNvPicPr>
          <p:nvPr/>
        </p:nvPicPr>
        <p:blipFill>
          <a:blip r:embed="rId3"/>
          <a:stretch>
            <a:fillRect/>
          </a:stretch>
        </p:blipFill>
        <p:spPr>
          <a:xfrm>
            <a:off x="1572768" y="4090606"/>
            <a:ext cx="15849600" cy="5705475"/>
          </a:xfrm>
          <a:prstGeom prst="rect">
            <a:avLst/>
          </a:prstGeom>
        </p:spPr>
      </p:pic>
    </p:spTree>
    <p:extLst>
      <p:ext uri="{BB962C8B-B14F-4D97-AF65-F5344CB8AC3E}">
        <p14:creationId xmlns:p14="http://schemas.microsoft.com/office/powerpoint/2010/main" val="2956732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5872747"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Truy cập đường dẫn </a:t>
            </a:r>
            <a:r>
              <a:rPr lang="en-US" sz="3200" b="0" i="0">
                <a:solidFill>
                  <a:srgbClr val="212529"/>
                </a:solidFill>
                <a:effectLst/>
                <a:highlight>
                  <a:srgbClr val="FFFFFF"/>
                </a:highlight>
                <a:latin typeface="Roboto" panose="02000000000000000000" pitchFamily="2" charset="0"/>
                <a:hlinkClick r:id="rId3"/>
              </a:rPr>
              <a:t>http://localhost:9000</a:t>
            </a:r>
            <a:r>
              <a:rPr lang="en-US" sz="3200" b="0" i="0">
                <a:solidFill>
                  <a:srgbClr val="212529"/>
                </a:solidFill>
                <a:effectLst/>
                <a:highlight>
                  <a:srgbClr val="FFFFFF"/>
                </a:highlight>
                <a:latin typeface="Roboto" panose="02000000000000000000" pitchFamily="2" charset="0"/>
              </a:rPr>
              <a:t> với username và password cùng là admin </a:t>
            </a:r>
            <a:endParaRPr lang="vi-VN" sz="3200" b="0" i="0">
              <a:solidFill>
                <a:srgbClr val="212529"/>
              </a:solidFill>
              <a:effectLst/>
              <a:highlight>
                <a:srgbClr val="FFFFFF"/>
              </a:highlight>
              <a:latin typeface="Roboto" panose="02000000000000000000" pitchFamily="2" charset="0"/>
            </a:endParaRPr>
          </a:p>
        </p:txBody>
      </p:sp>
      <p:pic>
        <p:nvPicPr>
          <p:cNvPr id="4" name="Picture 3">
            <a:extLst>
              <a:ext uri="{FF2B5EF4-FFF2-40B4-BE49-F238E27FC236}">
                <a16:creationId xmlns:a16="http://schemas.microsoft.com/office/drawing/2014/main" id="{005B8661-414D-AE1C-5B86-07EE0731BBE2}"/>
              </a:ext>
            </a:extLst>
          </p:cNvPr>
          <p:cNvPicPr>
            <a:picLocks noChangeAspect="1"/>
          </p:cNvPicPr>
          <p:nvPr/>
        </p:nvPicPr>
        <p:blipFill>
          <a:blip r:embed="rId4"/>
          <a:stretch>
            <a:fillRect/>
          </a:stretch>
        </p:blipFill>
        <p:spPr>
          <a:xfrm>
            <a:off x="1464277" y="4675632"/>
            <a:ext cx="15782925" cy="4876800"/>
          </a:xfrm>
          <a:prstGeom prst="rect">
            <a:avLst/>
          </a:prstGeom>
        </p:spPr>
      </p:pic>
    </p:spTree>
    <p:extLst>
      <p:ext uri="{BB962C8B-B14F-4D97-AF65-F5344CB8AC3E}">
        <p14:creationId xmlns:p14="http://schemas.microsoft.com/office/powerpoint/2010/main" val="1137062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5872747"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Truy cập đường dẫn </a:t>
            </a:r>
            <a:r>
              <a:rPr lang="en-US" sz="3200" b="0" i="0">
                <a:solidFill>
                  <a:srgbClr val="212529"/>
                </a:solidFill>
                <a:effectLst/>
                <a:highlight>
                  <a:srgbClr val="FFFFFF"/>
                </a:highlight>
                <a:latin typeface="Roboto" panose="02000000000000000000" pitchFamily="2" charset="0"/>
                <a:hlinkClick r:id="rId3"/>
              </a:rPr>
              <a:t>http://localhost:9000</a:t>
            </a:r>
            <a:r>
              <a:rPr lang="en-US" sz="3200" b="0" i="0">
                <a:solidFill>
                  <a:srgbClr val="212529"/>
                </a:solidFill>
                <a:effectLst/>
                <a:highlight>
                  <a:srgbClr val="FFFFFF"/>
                </a:highlight>
                <a:latin typeface="Roboto" panose="02000000000000000000" pitchFamily="2" charset="0"/>
              </a:rPr>
              <a:t> với username và password cùng là admin </a:t>
            </a:r>
            <a:endParaRPr lang="vi-VN" sz="3200" b="0" i="0">
              <a:solidFill>
                <a:srgbClr val="212529"/>
              </a:solidFill>
              <a:effectLst/>
              <a:highlight>
                <a:srgbClr val="FFFFFF"/>
              </a:highlight>
              <a:latin typeface="Roboto" panose="02000000000000000000" pitchFamily="2" charset="0"/>
            </a:endParaRPr>
          </a:p>
        </p:txBody>
      </p:sp>
      <p:pic>
        <p:nvPicPr>
          <p:cNvPr id="4" name="Picture 3">
            <a:extLst>
              <a:ext uri="{FF2B5EF4-FFF2-40B4-BE49-F238E27FC236}">
                <a16:creationId xmlns:a16="http://schemas.microsoft.com/office/drawing/2014/main" id="{005B8661-414D-AE1C-5B86-07EE0731BBE2}"/>
              </a:ext>
            </a:extLst>
          </p:cNvPr>
          <p:cNvPicPr>
            <a:picLocks noChangeAspect="1"/>
          </p:cNvPicPr>
          <p:nvPr/>
        </p:nvPicPr>
        <p:blipFill>
          <a:blip r:embed="rId4"/>
          <a:stretch>
            <a:fillRect/>
          </a:stretch>
        </p:blipFill>
        <p:spPr>
          <a:xfrm>
            <a:off x="1464277" y="4675632"/>
            <a:ext cx="15782925" cy="4876800"/>
          </a:xfrm>
          <a:prstGeom prst="rect">
            <a:avLst/>
          </a:prstGeom>
        </p:spPr>
      </p:pic>
    </p:spTree>
    <p:extLst>
      <p:ext uri="{BB962C8B-B14F-4D97-AF65-F5344CB8AC3E}">
        <p14:creationId xmlns:p14="http://schemas.microsoft.com/office/powerpoint/2010/main" val="3515726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6226315"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Đặt lại password vào màn hình create project chọn Manually(project chạy ở máy local)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6F6C3744-4EDD-DD19-6F3C-87B81298E24E}"/>
              </a:ext>
            </a:extLst>
          </p:cNvPr>
          <p:cNvPicPr>
            <a:picLocks noChangeAspect="1"/>
          </p:cNvPicPr>
          <p:nvPr/>
        </p:nvPicPr>
        <p:blipFill>
          <a:blip r:embed="rId3"/>
          <a:stretch>
            <a:fillRect/>
          </a:stretch>
        </p:blipFill>
        <p:spPr>
          <a:xfrm>
            <a:off x="1580388" y="4204525"/>
            <a:ext cx="14169124" cy="7134035"/>
          </a:xfrm>
          <a:prstGeom prst="rect">
            <a:avLst/>
          </a:prstGeom>
        </p:spPr>
      </p:pic>
    </p:spTree>
    <p:extLst>
      <p:ext uri="{BB962C8B-B14F-4D97-AF65-F5344CB8AC3E}">
        <p14:creationId xmlns:p14="http://schemas.microsoft.com/office/powerpoint/2010/main" val="1412891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9301259"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Khai báo project name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5CD7B03E-E53E-1FF6-FA91-7AB9BF90F1AF}"/>
              </a:ext>
            </a:extLst>
          </p:cNvPr>
          <p:cNvPicPr>
            <a:picLocks noChangeAspect="1"/>
          </p:cNvPicPr>
          <p:nvPr/>
        </p:nvPicPr>
        <p:blipFill>
          <a:blip r:embed="rId3"/>
          <a:stretch>
            <a:fillRect/>
          </a:stretch>
        </p:blipFill>
        <p:spPr>
          <a:xfrm>
            <a:off x="11821667" y="2396964"/>
            <a:ext cx="8636351" cy="9014748"/>
          </a:xfrm>
          <a:prstGeom prst="rect">
            <a:avLst/>
          </a:prstGeom>
        </p:spPr>
      </p:pic>
    </p:spTree>
    <p:extLst>
      <p:ext uri="{BB962C8B-B14F-4D97-AF65-F5344CB8AC3E}">
        <p14:creationId xmlns:p14="http://schemas.microsoft.com/office/powerpoint/2010/main" val="3210324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4573250"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Chọn Locally – project chạy ở máy local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EA1180F3-AFA4-9493-9FBE-715A8D0479DE}"/>
              </a:ext>
            </a:extLst>
          </p:cNvPr>
          <p:cNvPicPr>
            <a:picLocks noChangeAspect="1"/>
          </p:cNvPicPr>
          <p:nvPr/>
        </p:nvPicPr>
        <p:blipFill>
          <a:blip r:embed="rId3"/>
          <a:stretch>
            <a:fillRect/>
          </a:stretch>
        </p:blipFill>
        <p:spPr>
          <a:xfrm>
            <a:off x="1464277" y="4129468"/>
            <a:ext cx="14573250" cy="7724775"/>
          </a:xfrm>
          <a:prstGeom prst="rect">
            <a:avLst/>
          </a:prstGeom>
        </p:spPr>
      </p:pic>
    </p:spTree>
    <p:extLst>
      <p:ext uri="{BB962C8B-B14F-4D97-AF65-F5344CB8AC3E}">
        <p14:creationId xmlns:p14="http://schemas.microsoft.com/office/powerpoint/2010/main" val="607732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2129803"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Genarate token: Expires in chọn no expiration rồi click generate </a:t>
            </a:r>
            <a:endParaRPr lang="vi-VN" sz="3200" b="0" i="0">
              <a:solidFill>
                <a:srgbClr val="212529"/>
              </a:solidFill>
              <a:effectLst/>
              <a:highlight>
                <a:srgbClr val="FFFFFF"/>
              </a:highlight>
              <a:latin typeface="Roboto" panose="02000000000000000000" pitchFamily="2" charset="0"/>
            </a:endParaRPr>
          </a:p>
        </p:txBody>
      </p:sp>
      <p:pic>
        <p:nvPicPr>
          <p:cNvPr id="4" name="Picture 3">
            <a:extLst>
              <a:ext uri="{FF2B5EF4-FFF2-40B4-BE49-F238E27FC236}">
                <a16:creationId xmlns:a16="http://schemas.microsoft.com/office/drawing/2014/main" id="{B0D3B1C0-605B-EC3B-CC53-00FDE9C3B970}"/>
              </a:ext>
            </a:extLst>
          </p:cNvPr>
          <p:cNvPicPr>
            <a:picLocks noChangeAspect="1"/>
          </p:cNvPicPr>
          <p:nvPr/>
        </p:nvPicPr>
        <p:blipFill>
          <a:blip r:embed="rId3"/>
          <a:stretch>
            <a:fillRect/>
          </a:stretch>
        </p:blipFill>
        <p:spPr>
          <a:xfrm>
            <a:off x="1575054" y="4319968"/>
            <a:ext cx="11772900" cy="7343775"/>
          </a:xfrm>
          <a:prstGeom prst="rect">
            <a:avLst/>
          </a:prstGeom>
        </p:spPr>
      </p:pic>
    </p:spTree>
    <p:extLst>
      <p:ext uri="{BB962C8B-B14F-4D97-AF65-F5344CB8AC3E}">
        <p14:creationId xmlns:p14="http://schemas.microsoft.com/office/powerpoint/2010/main" val="4002392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2129803"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Lưu lại mã token theo tên project và chọn continue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8A23F772-1621-14AC-71B7-6C80267084AB}"/>
              </a:ext>
            </a:extLst>
          </p:cNvPr>
          <p:cNvPicPr>
            <a:picLocks noChangeAspect="1"/>
          </p:cNvPicPr>
          <p:nvPr/>
        </p:nvPicPr>
        <p:blipFill>
          <a:blip r:embed="rId3"/>
          <a:stretch>
            <a:fillRect/>
          </a:stretch>
        </p:blipFill>
        <p:spPr>
          <a:xfrm>
            <a:off x="1582674" y="4191952"/>
            <a:ext cx="15049500" cy="5819775"/>
          </a:xfrm>
          <a:prstGeom prst="rect">
            <a:avLst/>
          </a:prstGeom>
        </p:spPr>
      </p:pic>
    </p:spTree>
    <p:extLst>
      <p:ext uri="{BB962C8B-B14F-4D97-AF65-F5344CB8AC3E}">
        <p14:creationId xmlns:p14="http://schemas.microsoft.com/office/powerpoint/2010/main" val="1221273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3751339"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Chọn công cụ build project tương ứng với project ở local(ở đây là maven)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4869C52B-DF6A-93D2-1FFA-6A046F904F12}"/>
              </a:ext>
            </a:extLst>
          </p:cNvPr>
          <p:cNvPicPr>
            <a:picLocks noChangeAspect="1"/>
          </p:cNvPicPr>
          <p:nvPr/>
        </p:nvPicPr>
        <p:blipFill>
          <a:blip r:embed="rId3"/>
          <a:stretch>
            <a:fillRect/>
          </a:stretch>
        </p:blipFill>
        <p:spPr>
          <a:xfrm>
            <a:off x="1581912" y="4269295"/>
            <a:ext cx="16002000" cy="6372225"/>
          </a:xfrm>
          <a:prstGeom prst="rect">
            <a:avLst/>
          </a:prstGeom>
        </p:spPr>
      </p:pic>
    </p:spTree>
    <p:extLst>
      <p:ext uri="{BB962C8B-B14F-4D97-AF65-F5344CB8AC3E}">
        <p14:creationId xmlns:p14="http://schemas.microsoft.com/office/powerpoint/2010/main" val="4179434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Install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2129803" cy="1077218"/>
          </a:xfrm>
          <a:prstGeom prst="rect">
            <a:avLst/>
          </a:prstGeom>
          <a:noFill/>
        </p:spPr>
        <p:txBody>
          <a:bodyPr wrap="square">
            <a:spAutoFit/>
          </a:bodyPr>
          <a:lstStyle/>
          <a:p>
            <a:pPr algn="l"/>
            <a:r>
              <a:rPr lang="en-US" sz="3200" b="1">
                <a:solidFill>
                  <a:schemeClr val="tx1"/>
                </a:solidFill>
                <a:latin typeface="RobotoCondensed"/>
              </a:rPr>
              <a:t>2</a:t>
            </a:r>
            <a:r>
              <a:rPr lang="en-US" sz="3200" b="1" i="0">
                <a:solidFill>
                  <a:schemeClr val="tx1"/>
                </a:solidFill>
                <a:effectLst/>
                <a:latin typeface="RobotoCondensed"/>
              </a:rPr>
              <a:t>.3 Đăng ký project quét mã với sonarqube</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Sonarqube tự động generate câu lệnh với maven, click Copy </a:t>
            </a:r>
            <a:endParaRPr lang="vi-VN" sz="3200" b="0" i="0">
              <a:solidFill>
                <a:srgbClr val="212529"/>
              </a:solidFill>
              <a:effectLst/>
              <a:highlight>
                <a:srgbClr val="FFFFFF"/>
              </a:highlight>
              <a:latin typeface="Roboto" panose="02000000000000000000" pitchFamily="2" charset="0"/>
            </a:endParaRPr>
          </a:p>
        </p:txBody>
      </p:sp>
      <p:pic>
        <p:nvPicPr>
          <p:cNvPr id="3" name="Picture 2">
            <a:extLst>
              <a:ext uri="{FF2B5EF4-FFF2-40B4-BE49-F238E27FC236}">
                <a16:creationId xmlns:a16="http://schemas.microsoft.com/office/drawing/2014/main" id="{370AFB21-D39E-ED80-F1F3-7BABC838AE55}"/>
              </a:ext>
            </a:extLst>
          </p:cNvPr>
          <p:cNvPicPr>
            <a:picLocks noChangeAspect="1"/>
          </p:cNvPicPr>
          <p:nvPr/>
        </p:nvPicPr>
        <p:blipFill>
          <a:blip r:embed="rId3"/>
          <a:stretch>
            <a:fillRect/>
          </a:stretch>
        </p:blipFill>
        <p:spPr>
          <a:xfrm>
            <a:off x="1585531" y="4037457"/>
            <a:ext cx="15897225" cy="7372350"/>
          </a:xfrm>
          <a:prstGeom prst="rect">
            <a:avLst/>
          </a:prstGeom>
        </p:spPr>
      </p:pic>
    </p:spTree>
    <p:extLst>
      <p:ext uri="{BB962C8B-B14F-4D97-AF65-F5344CB8AC3E}">
        <p14:creationId xmlns:p14="http://schemas.microsoft.com/office/powerpoint/2010/main" val="1050188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9185923" cy="3539430"/>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.1 Chạy sonarqube quét project</a:t>
            </a:r>
            <a:endParaRPr lang="vi-VN" sz="3200" b="0" i="0">
              <a:solidFill>
                <a:srgbClr val="212529"/>
              </a:solidFill>
              <a:effectLst/>
              <a:highlight>
                <a:srgbClr val="FFFFFF"/>
              </a:highlight>
              <a:latin typeface="RobotoCondensed"/>
            </a:endParaRPr>
          </a:p>
          <a:p>
            <a:pPr marL="457200" indent="-457200">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Chạy lệnh: </a:t>
            </a:r>
          </a:p>
          <a:p>
            <a:r>
              <a:rPr lang="en-US" sz="3200" b="0" i="0">
                <a:solidFill>
                  <a:srgbClr val="212529"/>
                </a:solidFill>
                <a:effectLst/>
                <a:highlight>
                  <a:srgbClr val="FFFFFF"/>
                </a:highlight>
                <a:latin typeface="Roboto" panose="02000000000000000000" pitchFamily="2" charset="0"/>
              </a:rPr>
              <a:t>	mvn clean verify sonar:sonar  </a:t>
            </a:r>
          </a:p>
          <a:p>
            <a:r>
              <a:rPr lang="en-US" sz="3200">
                <a:solidFill>
                  <a:srgbClr val="212529"/>
                </a:solidFill>
                <a:highlight>
                  <a:srgbClr val="FFFFFF"/>
                </a:highlight>
                <a:latin typeface="Roboto" panose="02000000000000000000" pitchFamily="2" charset="0"/>
              </a:rPr>
              <a:t>	</a:t>
            </a:r>
            <a:r>
              <a:rPr lang="en-US" sz="3200" b="0" i="0">
                <a:solidFill>
                  <a:srgbClr val="212529"/>
                </a:solidFill>
                <a:effectLst/>
                <a:highlight>
                  <a:srgbClr val="FFFFFF"/>
                </a:highlight>
                <a:latin typeface="Roboto" panose="02000000000000000000" pitchFamily="2" charset="0"/>
              </a:rPr>
              <a:t>-Dsonar.projectKey=account-service </a:t>
            </a:r>
          </a:p>
          <a:p>
            <a:r>
              <a:rPr lang="en-US" sz="3200" b="0" i="0">
                <a:solidFill>
                  <a:srgbClr val="212529"/>
                </a:solidFill>
                <a:effectLst/>
                <a:highlight>
                  <a:srgbClr val="FFFFFF"/>
                </a:highlight>
                <a:latin typeface="Roboto" panose="02000000000000000000" pitchFamily="2" charset="0"/>
              </a:rPr>
              <a:t>	-Dsonar.host.url=http://localhost:9000 </a:t>
            </a:r>
          </a:p>
          <a:p>
            <a:r>
              <a:rPr lang="en-US" sz="3200">
                <a:solidFill>
                  <a:srgbClr val="212529"/>
                </a:solidFill>
                <a:highlight>
                  <a:srgbClr val="FFFFFF"/>
                </a:highlight>
                <a:latin typeface="Roboto" panose="02000000000000000000" pitchFamily="2" charset="0"/>
              </a:rPr>
              <a:t>	</a:t>
            </a:r>
            <a:r>
              <a:rPr lang="en-US" sz="3200" b="0" i="0">
                <a:solidFill>
                  <a:srgbClr val="212529"/>
                </a:solidFill>
                <a:effectLst/>
                <a:highlight>
                  <a:srgbClr val="FFFFFF"/>
                </a:highlight>
                <a:latin typeface="Roboto" panose="02000000000000000000" pitchFamily="2" charset="0"/>
              </a:rPr>
              <a:t>-Dsonar.login=sqp_d795efaa1865eb4eb492161f98c3387db9b23b4e</a:t>
            </a:r>
          </a:p>
          <a:p>
            <a:pPr marL="457200" indent="-457200">
              <a:buFont typeface="Arial" panose="020B0604020202020204" pitchFamily="34" charset="0"/>
              <a:buChar char="•"/>
            </a:pPr>
            <a:r>
              <a:rPr lang="en-US" sz="3200">
                <a:solidFill>
                  <a:srgbClr val="212529"/>
                </a:solidFill>
                <a:highlight>
                  <a:srgbClr val="FFFFFF"/>
                </a:highlight>
                <a:latin typeface="Roboto" panose="02000000000000000000" pitchFamily="2" charset="0"/>
              </a:rPr>
              <a:t>Chờ kết quả build success như bên dưới:</a:t>
            </a:r>
            <a:endParaRPr lang="en-US" sz="4000" b="0">
              <a:solidFill>
                <a:srgbClr val="F8F8F2"/>
              </a:solidFill>
              <a:effectLst/>
              <a:highlight>
                <a:srgbClr val="282A36"/>
              </a:highlight>
              <a:latin typeface="Consolas" panose="020B0609020204030204" pitchFamily="49" charset="0"/>
            </a:endParaRPr>
          </a:p>
        </p:txBody>
      </p:sp>
      <p:pic>
        <p:nvPicPr>
          <p:cNvPr id="3" name="Picture 2">
            <a:extLst>
              <a:ext uri="{FF2B5EF4-FFF2-40B4-BE49-F238E27FC236}">
                <a16:creationId xmlns:a16="http://schemas.microsoft.com/office/drawing/2014/main" id="{EB7E54C1-97B9-FA2D-ED6C-8DD28CF6C002}"/>
              </a:ext>
            </a:extLst>
          </p:cNvPr>
          <p:cNvPicPr>
            <a:picLocks noChangeAspect="1"/>
          </p:cNvPicPr>
          <p:nvPr/>
        </p:nvPicPr>
        <p:blipFill>
          <a:blip r:embed="rId3"/>
          <a:stretch>
            <a:fillRect/>
          </a:stretch>
        </p:blipFill>
        <p:spPr>
          <a:xfrm>
            <a:off x="1655635" y="6755154"/>
            <a:ext cx="14803350" cy="5241774"/>
          </a:xfrm>
          <a:prstGeom prst="rect">
            <a:avLst/>
          </a:prstGeom>
        </p:spPr>
      </p:pic>
    </p:spTree>
    <p:extLst>
      <p:ext uri="{BB962C8B-B14F-4D97-AF65-F5344CB8AC3E}">
        <p14:creationId xmlns:p14="http://schemas.microsoft.com/office/powerpoint/2010/main" val="979914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7618763" cy="6986528"/>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.2 Dashboard kết quả từ sonarqube</a:t>
            </a:r>
          </a:p>
          <a:p>
            <a:pPr marL="457200" indent="-457200" algn="l">
              <a:buFont typeface="Arial" panose="020B0604020202020204" pitchFamily="34" charset="0"/>
              <a:buChar char="•"/>
            </a:pPr>
            <a:r>
              <a:rPr lang="en-US" sz="3200" b="0" i="0">
                <a:solidFill>
                  <a:srgbClr val="212529"/>
                </a:solidFill>
                <a:effectLst/>
                <a:highlight>
                  <a:srgbClr val="FFFFFF"/>
                </a:highlight>
                <a:latin typeface="RobotoCondensed"/>
              </a:rPr>
              <a:t>Bugs: số bug tồn tại</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Vulnerabilities: Lỗ hổng code có thể dẫn đến nguy cơ tiềm ẩn về bảo mật, có thể bị tấn công phải khắc phục ngay lập tức</a:t>
            </a:r>
          </a:p>
          <a:p>
            <a:pPr marL="457200" indent="-457200" algn="l">
              <a:buFont typeface="Arial" panose="020B0604020202020204" pitchFamily="34" charset="0"/>
              <a:buChar char="•"/>
            </a:pPr>
            <a:r>
              <a:rPr lang="en-US" sz="3200" b="0" i="0">
                <a:solidFill>
                  <a:srgbClr val="212529"/>
                </a:solidFill>
                <a:effectLst/>
                <a:highlight>
                  <a:srgbClr val="FFFFFF"/>
                </a:highlight>
                <a:latin typeface="RobotoCondensed"/>
              </a:rPr>
              <a:t>Security Hotspots: Đánh dấu những đoạn mã nhạy cảm về bảo mật và xem xét có cần thay thế hay không</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Code Smells: Mã xấu</a:t>
            </a:r>
          </a:p>
          <a:p>
            <a:pPr marL="457200" indent="-457200" algn="l">
              <a:buFont typeface="Arial" panose="020B0604020202020204" pitchFamily="34" charset="0"/>
              <a:buChar char="•"/>
            </a:pPr>
            <a:r>
              <a:rPr lang="en-US" sz="3200" b="0" i="0">
                <a:solidFill>
                  <a:srgbClr val="212529"/>
                </a:solidFill>
                <a:effectLst/>
                <a:highlight>
                  <a:srgbClr val="FFFFFF"/>
                </a:highlight>
                <a:latin typeface="RobotoCondensed"/>
              </a:rPr>
              <a:t>Coverage: Phần trăm code được bao phủ bởi unit test</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Duplications: Phần trăm code bị trùng lặp</a:t>
            </a:r>
            <a:endParaRPr lang="vi-VN" sz="3200" b="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F77DC498-2256-C556-B216-65D652377180}"/>
              </a:ext>
            </a:extLst>
          </p:cNvPr>
          <p:cNvPicPr>
            <a:picLocks noChangeAspect="1"/>
          </p:cNvPicPr>
          <p:nvPr/>
        </p:nvPicPr>
        <p:blipFill>
          <a:blip r:embed="rId3"/>
          <a:stretch>
            <a:fillRect/>
          </a:stretch>
        </p:blipFill>
        <p:spPr>
          <a:xfrm>
            <a:off x="9547573" y="2826834"/>
            <a:ext cx="13935075" cy="7991475"/>
          </a:xfrm>
          <a:prstGeom prst="rect">
            <a:avLst/>
          </a:prstGeom>
        </p:spPr>
      </p:pic>
    </p:spTree>
    <p:extLst>
      <p:ext uri="{BB962C8B-B14F-4D97-AF65-F5344CB8AC3E}">
        <p14:creationId xmlns:p14="http://schemas.microsoft.com/office/powerpoint/2010/main" val="1990301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6700009" cy="1569660"/>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.3 Kiểm tra kết quả code smells</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Chọn tab Overrall Code rồ click number code smells</a:t>
            </a:r>
            <a:endParaRPr lang="en-US" sz="3200" b="0" i="0">
              <a:solidFill>
                <a:srgbClr val="212529"/>
              </a:solidFill>
              <a:effectLst/>
              <a:highlight>
                <a:srgbClr val="FFFFFF"/>
              </a:highlight>
              <a:latin typeface="RobotoCondensed"/>
            </a:endParaRPr>
          </a:p>
        </p:txBody>
      </p:sp>
      <p:pic>
        <p:nvPicPr>
          <p:cNvPr id="3" name="Picture 2">
            <a:extLst>
              <a:ext uri="{FF2B5EF4-FFF2-40B4-BE49-F238E27FC236}">
                <a16:creationId xmlns:a16="http://schemas.microsoft.com/office/drawing/2014/main" id="{72ACEBA3-058C-7CEC-8812-82F3B27712D1}"/>
              </a:ext>
            </a:extLst>
          </p:cNvPr>
          <p:cNvPicPr>
            <a:picLocks noChangeAspect="1"/>
          </p:cNvPicPr>
          <p:nvPr/>
        </p:nvPicPr>
        <p:blipFill>
          <a:blip r:embed="rId3"/>
          <a:stretch>
            <a:fillRect/>
          </a:stretch>
        </p:blipFill>
        <p:spPr>
          <a:xfrm>
            <a:off x="9083040" y="2534447"/>
            <a:ext cx="13649325" cy="8286750"/>
          </a:xfrm>
          <a:prstGeom prst="rect">
            <a:avLst/>
          </a:prstGeom>
        </p:spPr>
      </p:pic>
    </p:spTree>
    <p:extLst>
      <p:ext uri="{BB962C8B-B14F-4D97-AF65-F5344CB8AC3E}">
        <p14:creationId xmlns:p14="http://schemas.microsoft.com/office/powerpoint/2010/main" val="1478690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4096852" cy="1077218"/>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.3 Kiểm tra kết quả code smells</a:t>
            </a:r>
          </a:p>
          <a:p>
            <a:pPr marL="457200" indent="-457200" algn="l">
              <a:buFont typeface="Arial" panose="020B0604020202020204" pitchFamily="34" charset="0"/>
              <a:buChar char="•"/>
            </a:pPr>
            <a:r>
              <a:rPr lang="en-US" sz="3200" b="0" i="0">
                <a:solidFill>
                  <a:srgbClr val="212529"/>
                </a:solidFill>
                <a:effectLst/>
                <a:highlight>
                  <a:srgbClr val="FFFFFF"/>
                </a:highlight>
                <a:latin typeface="RobotoCondensed"/>
              </a:rPr>
              <a:t>Danh sách các lỗi code smells, bấm vào một lỗi để xem thông tin chi tiết</a:t>
            </a:r>
          </a:p>
        </p:txBody>
      </p:sp>
      <p:pic>
        <p:nvPicPr>
          <p:cNvPr id="4" name="Picture 3">
            <a:extLst>
              <a:ext uri="{FF2B5EF4-FFF2-40B4-BE49-F238E27FC236}">
                <a16:creationId xmlns:a16="http://schemas.microsoft.com/office/drawing/2014/main" id="{AC0413CC-8C52-FF26-757A-ABA9DCFBEDD6}"/>
              </a:ext>
            </a:extLst>
          </p:cNvPr>
          <p:cNvPicPr>
            <a:picLocks noChangeAspect="1"/>
          </p:cNvPicPr>
          <p:nvPr/>
        </p:nvPicPr>
        <p:blipFill>
          <a:blip r:embed="rId3"/>
          <a:stretch>
            <a:fillRect/>
          </a:stretch>
        </p:blipFill>
        <p:spPr>
          <a:xfrm>
            <a:off x="1707328" y="4280632"/>
            <a:ext cx="13649325" cy="8039100"/>
          </a:xfrm>
          <a:prstGeom prst="rect">
            <a:avLst/>
          </a:prstGeom>
        </p:spPr>
      </p:pic>
    </p:spTree>
    <p:extLst>
      <p:ext uri="{BB962C8B-B14F-4D97-AF65-F5344CB8AC3E}">
        <p14:creationId xmlns:p14="http://schemas.microsoft.com/office/powerpoint/2010/main" val="2021253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3.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4096852" cy="1077218"/>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.3 Kiểm tra kết quả code smells</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Thông tin chi tiết cho một lỗi code smells</a:t>
            </a:r>
            <a:endParaRPr lang="en-US" sz="3200" b="0" i="0">
              <a:solidFill>
                <a:srgbClr val="212529"/>
              </a:solidFill>
              <a:effectLst/>
              <a:highlight>
                <a:srgbClr val="FFFFFF"/>
              </a:highlight>
              <a:latin typeface="RobotoCondensed"/>
            </a:endParaRPr>
          </a:p>
        </p:txBody>
      </p:sp>
      <p:pic>
        <p:nvPicPr>
          <p:cNvPr id="3" name="Picture 2">
            <a:extLst>
              <a:ext uri="{FF2B5EF4-FFF2-40B4-BE49-F238E27FC236}">
                <a16:creationId xmlns:a16="http://schemas.microsoft.com/office/drawing/2014/main" id="{E1F57613-979E-905E-A4E1-E09BB8C4C40C}"/>
              </a:ext>
            </a:extLst>
          </p:cNvPr>
          <p:cNvPicPr>
            <a:picLocks noChangeAspect="1"/>
          </p:cNvPicPr>
          <p:nvPr/>
        </p:nvPicPr>
        <p:blipFill>
          <a:blip r:embed="rId3"/>
          <a:stretch>
            <a:fillRect/>
          </a:stretch>
        </p:blipFill>
        <p:spPr>
          <a:xfrm>
            <a:off x="1607004" y="3935147"/>
            <a:ext cx="15489011" cy="8384718"/>
          </a:xfrm>
          <a:prstGeom prst="rect">
            <a:avLst/>
          </a:prstGeom>
        </p:spPr>
      </p:pic>
    </p:spTree>
    <p:extLst>
      <p:ext uri="{BB962C8B-B14F-4D97-AF65-F5344CB8AC3E}">
        <p14:creationId xmlns:p14="http://schemas.microsoft.com/office/powerpoint/2010/main" val="789489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7618763" cy="1569660"/>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.4 Test sonarqube detect bugs</a:t>
            </a:r>
          </a:p>
          <a:p>
            <a:pPr marL="457200" indent="-457200" algn="l">
              <a:buFont typeface="Arial" panose="020B0604020202020204" pitchFamily="34" charset="0"/>
              <a:buChar char="•"/>
            </a:pPr>
            <a:r>
              <a:rPr lang="en-US" sz="3200" i="0">
                <a:solidFill>
                  <a:schemeClr val="tx1"/>
                </a:solidFill>
                <a:effectLst/>
                <a:latin typeface="RobotoCondensed"/>
              </a:rPr>
              <a:t>Th</a:t>
            </a:r>
            <a:r>
              <a:rPr lang="en-US" sz="3200">
                <a:solidFill>
                  <a:schemeClr val="tx1"/>
                </a:solidFill>
                <a:latin typeface="RobotoCondensed"/>
              </a:rPr>
              <a:t>êm đoạn code sau</a:t>
            </a:r>
            <a:endParaRPr lang="en-US" sz="3200" i="0">
              <a:solidFill>
                <a:schemeClr val="tx1"/>
              </a:solidFill>
              <a:effectLst/>
              <a:latin typeface="RobotoCondensed"/>
            </a:endParaRPr>
          </a:p>
          <a:p>
            <a:pPr marL="457200" indent="-457200" algn="l">
              <a:buFont typeface="Arial" panose="020B0604020202020204" pitchFamily="34" charset="0"/>
              <a:buChar char="•"/>
            </a:pPr>
            <a:endParaRPr lang="en-US" sz="3200" b="0" i="0">
              <a:solidFill>
                <a:srgbClr val="212529"/>
              </a:solidFill>
              <a:effectLst/>
              <a:highlight>
                <a:srgbClr val="FFFFFF"/>
              </a:highlight>
              <a:latin typeface="RobotoCondensed"/>
            </a:endParaRPr>
          </a:p>
        </p:txBody>
      </p:sp>
      <p:pic>
        <p:nvPicPr>
          <p:cNvPr id="3" name="Picture 2">
            <a:extLst>
              <a:ext uri="{FF2B5EF4-FFF2-40B4-BE49-F238E27FC236}">
                <a16:creationId xmlns:a16="http://schemas.microsoft.com/office/drawing/2014/main" id="{0F14464A-702E-262C-FD80-9196F4EA02BF}"/>
              </a:ext>
            </a:extLst>
          </p:cNvPr>
          <p:cNvPicPr>
            <a:picLocks noChangeAspect="1"/>
          </p:cNvPicPr>
          <p:nvPr/>
        </p:nvPicPr>
        <p:blipFill>
          <a:blip r:embed="rId3"/>
          <a:stretch>
            <a:fillRect/>
          </a:stretch>
        </p:blipFill>
        <p:spPr>
          <a:xfrm>
            <a:off x="1464277" y="4508813"/>
            <a:ext cx="18806530" cy="6394977"/>
          </a:xfrm>
          <a:prstGeom prst="rect">
            <a:avLst/>
          </a:prstGeom>
        </p:spPr>
      </p:pic>
    </p:spTree>
    <p:extLst>
      <p:ext uri="{BB962C8B-B14F-4D97-AF65-F5344CB8AC3E}">
        <p14:creationId xmlns:p14="http://schemas.microsoft.com/office/powerpoint/2010/main" val="706521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534447"/>
            <a:ext cx="19185923" cy="3539430"/>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.5 Chạy sonarqube quét lại project</a:t>
            </a:r>
            <a:endParaRPr lang="vi-VN" sz="3200" b="0" i="0">
              <a:solidFill>
                <a:srgbClr val="212529"/>
              </a:solidFill>
              <a:effectLst/>
              <a:highlight>
                <a:srgbClr val="FFFFFF"/>
              </a:highlight>
              <a:latin typeface="RobotoCondensed"/>
            </a:endParaRPr>
          </a:p>
          <a:p>
            <a:pPr marL="457200" indent="-457200">
              <a:buFont typeface="Arial" panose="020B0604020202020204" pitchFamily="34" charset="0"/>
              <a:buChar char="•"/>
            </a:pPr>
            <a:r>
              <a:rPr lang="en-US" sz="3200" b="0" i="0">
                <a:solidFill>
                  <a:srgbClr val="212529"/>
                </a:solidFill>
                <a:effectLst/>
                <a:highlight>
                  <a:srgbClr val="FFFFFF"/>
                </a:highlight>
                <a:latin typeface="Roboto" panose="02000000000000000000" pitchFamily="2" charset="0"/>
              </a:rPr>
              <a:t>Chạy lệnh: </a:t>
            </a:r>
          </a:p>
          <a:p>
            <a:r>
              <a:rPr lang="en-US" sz="3200" b="0" i="0">
                <a:solidFill>
                  <a:srgbClr val="212529"/>
                </a:solidFill>
                <a:effectLst/>
                <a:highlight>
                  <a:srgbClr val="FFFFFF"/>
                </a:highlight>
                <a:latin typeface="Roboto" panose="02000000000000000000" pitchFamily="2" charset="0"/>
              </a:rPr>
              <a:t>	mvn clean verify sonar:sonar  </a:t>
            </a:r>
          </a:p>
          <a:p>
            <a:r>
              <a:rPr lang="en-US" sz="3200">
                <a:solidFill>
                  <a:srgbClr val="212529"/>
                </a:solidFill>
                <a:highlight>
                  <a:srgbClr val="FFFFFF"/>
                </a:highlight>
                <a:latin typeface="Roboto" panose="02000000000000000000" pitchFamily="2" charset="0"/>
              </a:rPr>
              <a:t>	</a:t>
            </a:r>
            <a:r>
              <a:rPr lang="en-US" sz="3200" b="0" i="0">
                <a:solidFill>
                  <a:srgbClr val="212529"/>
                </a:solidFill>
                <a:effectLst/>
                <a:highlight>
                  <a:srgbClr val="FFFFFF"/>
                </a:highlight>
                <a:latin typeface="Roboto" panose="02000000000000000000" pitchFamily="2" charset="0"/>
              </a:rPr>
              <a:t>-Dsonar.projectKey=account-service </a:t>
            </a:r>
          </a:p>
          <a:p>
            <a:r>
              <a:rPr lang="en-US" sz="3200" b="0" i="0">
                <a:solidFill>
                  <a:srgbClr val="212529"/>
                </a:solidFill>
                <a:effectLst/>
                <a:highlight>
                  <a:srgbClr val="FFFFFF"/>
                </a:highlight>
                <a:latin typeface="Roboto" panose="02000000000000000000" pitchFamily="2" charset="0"/>
              </a:rPr>
              <a:t>	-Dsonar.host.url=http://localhost:9000 </a:t>
            </a:r>
          </a:p>
          <a:p>
            <a:r>
              <a:rPr lang="en-US" sz="3200">
                <a:solidFill>
                  <a:srgbClr val="212529"/>
                </a:solidFill>
                <a:highlight>
                  <a:srgbClr val="FFFFFF"/>
                </a:highlight>
                <a:latin typeface="Roboto" panose="02000000000000000000" pitchFamily="2" charset="0"/>
              </a:rPr>
              <a:t>	</a:t>
            </a:r>
            <a:r>
              <a:rPr lang="en-US" sz="3200" b="0" i="0">
                <a:solidFill>
                  <a:srgbClr val="212529"/>
                </a:solidFill>
                <a:effectLst/>
                <a:highlight>
                  <a:srgbClr val="FFFFFF"/>
                </a:highlight>
                <a:latin typeface="Roboto" panose="02000000000000000000" pitchFamily="2" charset="0"/>
              </a:rPr>
              <a:t>-Dsonar.login=sqp_d795efaa1865eb4eb492161f98c3387db9b23b4e</a:t>
            </a:r>
          </a:p>
          <a:p>
            <a:pPr marL="457200" indent="-457200">
              <a:buFont typeface="Arial" panose="020B0604020202020204" pitchFamily="34" charset="0"/>
              <a:buChar char="•"/>
            </a:pPr>
            <a:r>
              <a:rPr lang="en-US" sz="3200">
                <a:solidFill>
                  <a:srgbClr val="212529"/>
                </a:solidFill>
                <a:highlight>
                  <a:srgbClr val="FFFFFF"/>
                </a:highlight>
                <a:latin typeface="Roboto" panose="02000000000000000000" pitchFamily="2" charset="0"/>
              </a:rPr>
              <a:t>Chờ kết quả build success như bên dưới:</a:t>
            </a:r>
            <a:endParaRPr lang="en-US" sz="4000" b="0">
              <a:solidFill>
                <a:srgbClr val="F8F8F2"/>
              </a:solidFill>
              <a:effectLst/>
              <a:highlight>
                <a:srgbClr val="282A36"/>
              </a:highlight>
              <a:latin typeface="Consolas" panose="020B0609020204030204" pitchFamily="49" charset="0"/>
            </a:endParaRPr>
          </a:p>
        </p:txBody>
      </p:sp>
      <p:pic>
        <p:nvPicPr>
          <p:cNvPr id="3" name="Picture 2">
            <a:extLst>
              <a:ext uri="{FF2B5EF4-FFF2-40B4-BE49-F238E27FC236}">
                <a16:creationId xmlns:a16="http://schemas.microsoft.com/office/drawing/2014/main" id="{EB7E54C1-97B9-FA2D-ED6C-8DD28CF6C002}"/>
              </a:ext>
            </a:extLst>
          </p:cNvPr>
          <p:cNvPicPr>
            <a:picLocks noChangeAspect="1"/>
          </p:cNvPicPr>
          <p:nvPr/>
        </p:nvPicPr>
        <p:blipFill>
          <a:blip r:embed="rId3"/>
          <a:stretch>
            <a:fillRect/>
          </a:stretch>
        </p:blipFill>
        <p:spPr>
          <a:xfrm>
            <a:off x="1655635" y="6755154"/>
            <a:ext cx="14803350" cy="5241774"/>
          </a:xfrm>
          <a:prstGeom prst="rect">
            <a:avLst/>
          </a:prstGeom>
        </p:spPr>
      </p:pic>
    </p:spTree>
    <p:extLst>
      <p:ext uri="{BB962C8B-B14F-4D97-AF65-F5344CB8AC3E}">
        <p14:creationId xmlns:p14="http://schemas.microsoft.com/office/powerpoint/2010/main" val="1929393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6254379" cy="1077218"/>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.5 Chạy sonarqube quét lại project</a:t>
            </a:r>
          </a:p>
          <a:p>
            <a:pPr marL="457200" indent="-457200" algn="l">
              <a:buFont typeface="Arial" panose="020B0604020202020204" pitchFamily="34" charset="0"/>
              <a:buChar char="•"/>
            </a:pPr>
            <a:r>
              <a:rPr lang="en-US" sz="3200">
                <a:solidFill>
                  <a:schemeClr val="tx1"/>
                </a:solidFill>
                <a:highlight>
                  <a:srgbClr val="FFFFFF"/>
                </a:highlight>
                <a:latin typeface="RobotoCondensed"/>
              </a:rPr>
              <a:t>Kết quả phát hiện bug mới phát sinh</a:t>
            </a:r>
            <a:endParaRPr lang="vi-VN"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9CD79FA7-4606-0057-6A49-039223CD2E6B}"/>
              </a:ext>
            </a:extLst>
          </p:cNvPr>
          <p:cNvPicPr>
            <a:picLocks noChangeAspect="1"/>
          </p:cNvPicPr>
          <p:nvPr/>
        </p:nvPicPr>
        <p:blipFill>
          <a:blip r:embed="rId3"/>
          <a:stretch>
            <a:fillRect/>
          </a:stretch>
        </p:blipFill>
        <p:spPr>
          <a:xfrm>
            <a:off x="1602301" y="3838294"/>
            <a:ext cx="16116225" cy="8549239"/>
          </a:xfrm>
          <a:prstGeom prst="rect">
            <a:avLst/>
          </a:prstGeom>
        </p:spPr>
      </p:pic>
    </p:spTree>
    <p:extLst>
      <p:ext uri="{BB962C8B-B14F-4D97-AF65-F5344CB8AC3E}">
        <p14:creationId xmlns:p14="http://schemas.microsoft.com/office/powerpoint/2010/main" val="365126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3</a:t>
            </a:r>
            <a:r>
              <a:rPr lang="en-US" sz="3600" b="1" i="0">
                <a:solidFill>
                  <a:srgbClr val="0070C0"/>
                </a:solidFill>
                <a:effectLst/>
                <a:latin typeface="RobotoCondensed"/>
              </a:rPr>
              <a:t>. Implement Sonarqube</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6254379" cy="1077218"/>
          </a:xfrm>
          <a:prstGeom prst="rect">
            <a:avLst/>
          </a:prstGeom>
          <a:noFill/>
        </p:spPr>
        <p:txBody>
          <a:bodyPr wrap="square">
            <a:spAutoFit/>
          </a:bodyPr>
          <a:lstStyle/>
          <a:p>
            <a:pPr algn="l"/>
            <a:r>
              <a:rPr lang="en-US" sz="3200" b="1">
                <a:solidFill>
                  <a:schemeClr val="tx1"/>
                </a:solidFill>
                <a:latin typeface="RobotoCondensed"/>
              </a:rPr>
              <a:t>3</a:t>
            </a:r>
            <a:r>
              <a:rPr lang="en-US" sz="3200" b="1" i="0">
                <a:solidFill>
                  <a:schemeClr val="tx1"/>
                </a:solidFill>
                <a:effectLst/>
                <a:latin typeface="RobotoCondensed"/>
              </a:rPr>
              <a:t>.5 Chạy sonarqube quét lại project</a:t>
            </a:r>
          </a:p>
          <a:p>
            <a:pPr marL="457200" indent="-457200" algn="l">
              <a:buFont typeface="Arial" panose="020B0604020202020204" pitchFamily="34" charset="0"/>
              <a:buChar char="•"/>
            </a:pPr>
            <a:r>
              <a:rPr lang="en-US" sz="3200" i="0">
                <a:solidFill>
                  <a:schemeClr val="tx1"/>
                </a:solidFill>
                <a:effectLst/>
                <a:highlight>
                  <a:srgbClr val="FFFFFF"/>
                </a:highlight>
                <a:latin typeface="RobotoCondensed"/>
              </a:rPr>
              <a:t>Bấm vào chi tiết để xem bug</a:t>
            </a:r>
            <a:endParaRPr lang="vi-VN" sz="3200" i="0">
              <a:solidFill>
                <a:srgbClr val="212529"/>
              </a:solidFill>
              <a:effectLst/>
              <a:highlight>
                <a:srgbClr val="FFFFFF"/>
              </a:highlight>
              <a:latin typeface="RobotoCondensed"/>
            </a:endParaRPr>
          </a:p>
        </p:txBody>
      </p:sp>
      <p:pic>
        <p:nvPicPr>
          <p:cNvPr id="2" name="Picture 1">
            <a:extLst>
              <a:ext uri="{FF2B5EF4-FFF2-40B4-BE49-F238E27FC236}">
                <a16:creationId xmlns:a16="http://schemas.microsoft.com/office/drawing/2014/main" id="{62360905-6701-B20A-4033-D762E178C73C}"/>
              </a:ext>
            </a:extLst>
          </p:cNvPr>
          <p:cNvPicPr>
            <a:picLocks noChangeAspect="1"/>
          </p:cNvPicPr>
          <p:nvPr/>
        </p:nvPicPr>
        <p:blipFill>
          <a:blip r:embed="rId3"/>
          <a:stretch>
            <a:fillRect/>
          </a:stretch>
        </p:blipFill>
        <p:spPr>
          <a:xfrm>
            <a:off x="1738553" y="4145531"/>
            <a:ext cx="15954032" cy="7620899"/>
          </a:xfrm>
          <a:prstGeom prst="rect">
            <a:avLst/>
          </a:prstGeom>
        </p:spPr>
      </p:pic>
    </p:spTree>
    <p:extLst>
      <p:ext uri="{BB962C8B-B14F-4D97-AF65-F5344CB8AC3E}">
        <p14:creationId xmlns:p14="http://schemas.microsoft.com/office/powerpoint/2010/main" val="2801795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4. Sonarlint</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403821"/>
            <a:ext cx="8245779" cy="7971413"/>
          </a:xfrm>
          <a:prstGeom prst="rect">
            <a:avLst/>
          </a:prstGeom>
          <a:noFill/>
        </p:spPr>
        <p:txBody>
          <a:bodyPr wrap="square">
            <a:spAutoFit/>
          </a:bodyPr>
          <a:lstStyle/>
          <a:p>
            <a:pPr algn="l"/>
            <a:r>
              <a:rPr lang="en-US" sz="3200" b="1" i="0">
                <a:solidFill>
                  <a:schemeClr val="tx1"/>
                </a:solidFill>
                <a:effectLst/>
                <a:latin typeface="RobotoCondensed"/>
              </a:rPr>
              <a:t>4.</a:t>
            </a:r>
            <a:r>
              <a:rPr lang="en-US" sz="3200" b="1">
                <a:solidFill>
                  <a:schemeClr val="tx1"/>
                </a:solidFill>
                <a:latin typeface="RobotoCondensed"/>
              </a:rPr>
              <a:t>1</a:t>
            </a:r>
            <a:r>
              <a:rPr lang="en-US" sz="3200" b="1" i="0">
                <a:solidFill>
                  <a:schemeClr val="tx1"/>
                </a:solidFill>
                <a:effectLst/>
                <a:latin typeface="RobotoCondensed"/>
              </a:rPr>
              <a:t> Sonarlint là gì?</a:t>
            </a: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SonarLint là một plugin giúp </a:t>
            </a:r>
            <a:r>
              <a:rPr lang="en-US" sz="3200" i="0">
                <a:solidFill>
                  <a:srgbClr val="212529"/>
                </a:solidFill>
                <a:effectLst/>
                <a:highlight>
                  <a:srgbClr val="FFFFFF"/>
                </a:highlight>
                <a:latin typeface="RobotoCondensed"/>
              </a:rPr>
              <a:t>các nhà</a:t>
            </a:r>
            <a:r>
              <a:rPr lang="vi-VN" sz="3200" i="0">
                <a:solidFill>
                  <a:srgbClr val="212529"/>
                </a:solidFill>
                <a:effectLst/>
                <a:highlight>
                  <a:srgbClr val="FFFFFF"/>
                </a:highlight>
                <a:latin typeface="RobotoCondensed"/>
              </a:rPr>
              <a:t> phát hiện và khắc phục các vấn đề về chất lượng khi viết code. Nó cung cấp thông tin cho </a:t>
            </a:r>
            <a:r>
              <a:rPr lang="en-US" sz="3200" i="0">
                <a:solidFill>
                  <a:srgbClr val="212529"/>
                </a:solidFill>
                <a:effectLst/>
                <a:highlight>
                  <a:srgbClr val="FFFFFF"/>
                </a:highlight>
                <a:latin typeface="RobotoCondensed"/>
              </a:rPr>
              <a:t>người lập trình</a:t>
            </a:r>
            <a:r>
              <a:rPr lang="vi-VN" sz="3200" i="0">
                <a:solidFill>
                  <a:srgbClr val="212529"/>
                </a:solidFill>
                <a:effectLst/>
                <a:highlight>
                  <a:srgbClr val="FFFFFF"/>
                </a:highlight>
                <a:latin typeface="RobotoCondensed"/>
              </a:rPr>
              <a:t> hiểu các vấn đề được tìm thấy và giải thích tại sao nó là một vấn đề. </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Đối với các lập trình </a:t>
            </a:r>
            <a:r>
              <a:rPr lang="en-US" sz="3200" i="0">
                <a:solidFill>
                  <a:srgbClr val="212529"/>
                </a:solidFill>
                <a:effectLst/>
                <a:highlight>
                  <a:srgbClr val="FFFFFF"/>
                </a:highlight>
                <a:latin typeface="RobotoCondensed"/>
              </a:rPr>
              <a:t>mới </a:t>
            </a:r>
            <a:r>
              <a:rPr lang="vi-VN" sz="3200" i="0">
                <a:solidFill>
                  <a:srgbClr val="212529"/>
                </a:solidFill>
                <a:effectLst/>
                <a:highlight>
                  <a:srgbClr val="FFFFFF"/>
                </a:highlight>
                <a:latin typeface="RobotoCondensed"/>
              </a:rPr>
              <a:t>hay </a:t>
            </a:r>
            <a:r>
              <a:rPr lang="en-US" sz="3200" i="0">
                <a:solidFill>
                  <a:srgbClr val="212529"/>
                </a:solidFill>
                <a:effectLst/>
                <a:highlight>
                  <a:srgbClr val="FFFFFF"/>
                </a:highlight>
                <a:latin typeface="RobotoCondensed"/>
              </a:rPr>
              <a:t>những người </a:t>
            </a:r>
            <a:r>
              <a:rPr lang="vi-VN" sz="3200" i="0">
                <a:solidFill>
                  <a:srgbClr val="212529"/>
                </a:solidFill>
                <a:effectLst/>
                <a:highlight>
                  <a:srgbClr val="FFFFFF"/>
                </a:highlight>
                <a:latin typeface="RobotoCondensed"/>
              </a:rPr>
              <a:t>đã có kinh nghiệm </a:t>
            </a:r>
            <a:r>
              <a:rPr lang="en-US" sz="3200" i="0">
                <a:solidFill>
                  <a:srgbClr val="212529"/>
                </a:solidFill>
                <a:effectLst/>
                <a:highlight>
                  <a:srgbClr val="FFFFFF"/>
                </a:highlight>
                <a:latin typeface="RobotoCondensed"/>
              </a:rPr>
              <a:t>thì đều </a:t>
            </a:r>
            <a:r>
              <a:rPr lang="vi-VN" sz="3200" i="0">
                <a:solidFill>
                  <a:srgbClr val="212529"/>
                </a:solidFill>
                <a:effectLst/>
                <a:highlight>
                  <a:srgbClr val="FFFFFF"/>
                </a:highlight>
                <a:latin typeface="RobotoCondensed"/>
              </a:rPr>
              <a:t>nên sử dụng plugin này để </a:t>
            </a:r>
            <a:r>
              <a:rPr lang="en-US" sz="3200" i="0">
                <a:solidFill>
                  <a:srgbClr val="212529"/>
                </a:solidFill>
                <a:effectLst/>
                <a:highlight>
                  <a:srgbClr val="FFFFFF"/>
                </a:highlight>
                <a:latin typeface="RobotoCondensed"/>
              </a:rPr>
              <a:t>tiết kiệm thời gian fix bug</a:t>
            </a:r>
            <a:r>
              <a:rPr lang="vi-VN" sz="3200" i="0">
                <a:solidFill>
                  <a:srgbClr val="212529"/>
                </a:solidFill>
                <a:effectLst/>
                <a:highlight>
                  <a:srgbClr val="FFFFFF"/>
                </a:highlight>
                <a:latin typeface="RobotoCondensed"/>
              </a:rPr>
              <a:t> </a:t>
            </a:r>
            <a:r>
              <a:rPr lang="en-US" sz="3200" i="0">
                <a:solidFill>
                  <a:srgbClr val="212529"/>
                </a:solidFill>
                <a:effectLst/>
                <a:highlight>
                  <a:srgbClr val="FFFFFF"/>
                </a:highlight>
                <a:latin typeface="RobotoCondensed"/>
              </a:rPr>
              <a:t>cũng như</a:t>
            </a:r>
            <a:r>
              <a:rPr lang="vi-VN" sz="3200" i="0">
                <a:solidFill>
                  <a:srgbClr val="212529"/>
                </a:solidFill>
                <a:effectLst/>
                <a:highlight>
                  <a:srgbClr val="FFFFFF"/>
                </a:highlight>
                <a:latin typeface="RobotoCondensed"/>
              </a:rPr>
              <a:t> viết mã tốt hơn.</a:t>
            </a: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Đối với các dự án, nên áp dụng SonarLint vào dự án như một phần trong checklist để giảm thiểu thời gian review code, tránh các lỗi không cần thiết, nâng cao chất lượng dự án.</a:t>
            </a:r>
          </a:p>
        </p:txBody>
      </p:sp>
      <p:pic>
        <p:nvPicPr>
          <p:cNvPr id="4" name="Picture 3">
            <a:extLst>
              <a:ext uri="{FF2B5EF4-FFF2-40B4-BE49-F238E27FC236}">
                <a16:creationId xmlns:a16="http://schemas.microsoft.com/office/drawing/2014/main" id="{E5365CFA-7A6E-EBF9-D8D6-1F54CFD7C36C}"/>
              </a:ext>
            </a:extLst>
          </p:cNvPr>
          <p:cNvPicPr>
            <a:picLocks noChangeAspect="1"/>
          </p:cNvPicPr>
          <p:nvPr/>
        </p:nvPicPr>
        <p:blipFill>
          <a:blip r:embed="rId3"/>
          <a:stretch>
            <a:fillRect/>
          </a:stretch>
        </p:blipFill>
        <p:spPr>
          <a:xfrm>
            <a:off x="10493828" y="2960527"/>
            <a:ext cx="12192000" cy="6858000"/>
          </a:xfrm>
          <a:prstGeom prst="rect">
            <a:avLst/>
          </a:prstGeom>
        </p:spPr>
      </p:pic>
    </p:spTree>
    <p:extLst>
      <p:ext uri="{BB962C8B-B14F-4D97-AF65-F5344CB8AC3E}">
        <p14:creationId xmlns:p14="http://schemas.microsoft.com/office/powerpoint/2010/main" val="2210016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4. Sonarlint</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403821"/>
            <a:ext cx="11874351" cy="1569660"/>
          </a:xfrm>
          <a:prstGeom prst="rect">
            <a:avLst/>
          </a:prstGeom>
          <a:noFill/>
        </p:spPr>
        <p:txBody>
          <a:bodyPr wrap="square">
            <a:spAutoFit/>
          </a:bodyPr>
          <a:lstStyle/>
          <a:p>
            <a:pPr algn="l"/>
            <a:r>
              <a:rPr lang="en-US" sz="3200" b="1" i="0">
                <a:solidFill>
                  <a:schemeClr val="tx1"/>
                </a:solidFill>
                <a:effectLst/>
                <a:latin typeface="RobotoCondensed"/>
              </a:rPr>
              <a:t>4.2 </a:t>
            </a:r>
            <a:r>
              <a:rPr lang="en-US" sz="3200" b="1">
                <a:solidFill>
                  <a:schemeClr val="tx1"/>
                </a:solidFill>
                <a:latin typeface="RobotoCondensed"/>
              </a:rPr>
              <a:t>Cài đặt</a:t>
            </a:r>
            <a:r>
              <a:rPr lang="en-US" sz="3200" b="1" i="0">
                <a:solidFill>
                  <a:schemeClr val="tx1"/>
                </a:solidFill>
                <a:effectLst/>
                <a:latin typeface="RobotoCondensed"/>
              </a:rPr>
              <a:t> Sonarlint plugin vào VS Code?</a:t>
            </a:r>
          </a:p>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Vào extension tìm kiếm với từ khóa sonarlint, chọn plugin rồi bấm install</a:t>
            </a:r>
            <a:endParaRPr lang="vi-VN" sz="3200" i="0">
              <a:solidFill>
                <a:srgbClr val="212529"/>
              </a:solidFill>
              <a:effectLst/>
              <a:highlight>
                <a:srgbClr val="FFFFFF"/>
              </a:highlight>
              <a:latin typeface="RobotoCondensed"/>
            </a:endParaRPr>
          </a:p>
        </p:txBody>
      </p:sp>
      <p:pic>
        <p:nvPicPr>
          <p:cNvPr id="3" name="Picture 2">
            <a:extLst>
              <a:ext uri="{FF2B5EF4-FFF2-40B4-BE49-F238E27FC236}">
                <a16:creationId xmlns:a16="http://schemas.microsoft.com/office/drawing/2014/main" id="{AC44EC01-9A30-8878-E877-C02E29D4A661}"/>
              </a:ext>
            </a:extLst>
          </p:cNvPr>
          <p:cNvPicPr>
            <a:picLocks noChangeAspect="1"/>
          </p:cNvPicPr>
          <p:nvPr/>
        </p:nvPicPr>
        <p:blipFill>
          <a:blip r:embed="rId3"/>
          <a:stretch>
            <a:fillRect/>
          </a:stretch>
        </p:blipFill>
        <p:spPr>
          <a:xfrm>
            <a:off x="1615622" y="4416878"/>
            <a:ext cx="16059286" cy="6135008"/>
          </a:xfrm>
          <a:prstGeom prst="rect">
            <a:avLst/>
          </a:prstGeom>
        </p:spPr>
      </p:pic>
    </p:spTree>
    <p:extLst>
      <p:ext uri="{BB962C8B-B14F-4D97-AF65-F5344CB8AC3E}">
        <p14:creationId xmlns:p14="http://schemas.microsoft.com/office/powerpoint/2010/main" val="593888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4. Sonarlint</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403821"/>
            <a:ext cx="11874351" cy="1569660"/>
          </a:xfrm>
          <a:prstGeom prst="rect">
            <a:avLst/>
          </a:prstGeom>
          <a:noFill/>
        </p:spPr>
        <p:txBody>
          <a:bodyPr wrap="square">
            <a:spAutoFit/>
          </a:bodyPr>
          <a:lstStyle/>
          <a:p>
            <a:pPr algn="l"/>
            <a:r>
              <a:rPr lang="en-US" sz="3200" b="1" i="0">
                <a:solidFill>
                  <a:schemeClr val="tx1"/>
                </a:solidFill>
                <a:effectLst/>
                <a:latin typeface="RobotoCondensed"/>
              </a:rPr>
              <a:t>4.2 </a:t>
            </a:r>
            <a:r>
              <a:rPr lang="en-US" sz="3200" b="1">
                <a:solidFill>
                  <a:schemeClr val="tx1"/>
                </a:solidFill>
                <a:latin typeface="RobotoCondensed"/>
              </a:rPr>
              <a:t>Cài đặt</a:t>
            </a:r>
            <a:r>
              <a:rPr lang="en-US" sz="3200" b="1" i="0">
                <a:solidFill>
                  <a:schemeClr val="tx1"/>
                </a:solidFill>
                <a:effectLst/>
                <a:latin typeface="RobotoCondensed"/>
              </a:rPr>
              <a:t> Sonarlint plugin vào VS Code?</a:t>
            </a:r>
          </a:p>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Di chuyển con trỏ đến vị trí có lỗi chọn quick fix sẽ thấy biể tượng sonarlint, chọn open description để xem mô tả lỗi</a:t>
            </a:r>
            <a:endParaRPr lang="vi-VN"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F0F71D6E-9513-E11D-9AF5-4F40710B15D0}"/>
              </a:ext>
            </a:extLst>
          </p:cNvPr>
          <p:cNvPicPr>
            <a:picLocks noChangeAspect="1"/>
          </p:cNvPicPr>
          <p:nvPr/>
        </p:nvPicPr>
        <p:blipFill>
          <a:blip r:embed="rId3"/>
          <a:stretch>
            <a:fillRect/>
          </a:stretch>
        </p:blipFill>
        <p:spPr>
          <a:xfrm>
            <a:off x="1604736" y="4726441"/>
            <a:ext cx="15659100" cy="6962775"/>
          </a:xfrm>
          <a:prstGeom prst="rect">
            <a:avLst/>
          </a:prstGeom>
        </p:spPr>
      </p:pic>
    </p:spTree>
    <p:extLst>
      <p:ext uri="{BB962C8B-B14F-4D97-AF65-F5344CB8AC3E}">
        <p14:creationId xmlns:p14="http://schemas.microsoft.com/office/powerpoint/2010/main" val="2154255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rgbClr val="0079BF"/>
              </a:buClr>
              <a:buSzPts val="4400"/>
              <a:buFont typeface="Helvetica Neue"/>
              <a:buNone/>
            </a:pPr>
            <a:r>
              <a:rPr lang="en-US" sz="6000" b="1" i="0" u="none" strike="noStrike" cap="none">
                <a:solidFill>
                  <a:srgbClr val="0079BF"/>
                </a:solidFill>
                <a:latin typeface="RobotoCondensed"/>
                <a:ea typeface="Helvetica Neue"/>
                <a:cs typeface="Helvetica Neue"/>
                <a:sym typeface="Helvetica Neue"/>
              </a:rPr>
              <a:t>Manage code quality and safety</a:t>
            </a:r>
            <a:endParaRPr lang="en-US" sz="6000" b="1" i="0" u="none" strike="noStrike" cap="none" dirty="0">
              <a:solidFill>
                <a:srgbClr val="4F81BD"/>
              </a:solidFill>
              <a:latin typeface="RobotoCondensed"/>
              <a:ea typeface="Roboto" panose="02000000000000000000" pitchFamily="2" charset="0"/>
              <a:cs typeface="Roboto" panose="02000000000000000000" pitchFamily="2" charset="0"/>
              <a:sym typeface="Arial"/>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4. Sonarlint</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403821"/>
            <a:ext cx="11874351" cy="1569660"/>
          </a:xfrm>
          <a:prstGeom prst="rect">
            <a:avLst/>
          </a:prstGeom>
          <a:noFill/>
        </p:spPr>
        <p:txBody>
          <a:bodyPr wrap="square">
            <a:spAutoFit/>
          </a:bodyPr>
          <a:lstStyle/>
          <a:p>
            <a:pPr algn="l"/>
            <a:r>
              <a:rPr lang="en-US" sz="3200" b="1" i="0">
                <a:solidFill>
                  <a:schemeClr val="tx1"/>
                </a:solidFill>
                <a:effectLst/>
                <a:latin typeface="RobotoCondensed"/>
              </a:rPr>
              <a:t>4.2 </a:t>
            </a:r>
            <a:r>
              <a:rPr lang="en-US" sz="3200" b="1">
                <a:solidFill>
                  <a:schemeClr val="tx1"/>
                </a:solidFill>
                <a:latin typeface="RobotoCondensed"/>
              </a:rPr>
              <a:t>Cài đặt</a:t>
            </a:r>
            <a:r>
              <a:rPr lang="en-US" sz="3200" b="1" i="0">
                <a:solidFill>
                  <a:schemeClr val="tx1"/>
                </a:solidFill>
                <a:effectLst/>
                <a:latin typeface="RobotoCondensed"/>
              </a:rPr>
              <a:t> Sonarlint plugin vào VS Code?</a:t>
            </a:r>
          </a:p>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Sonarlint sẽ mô tả về vấn đề đang gặp phải và gợi ý cách để fix nó</a:t>
            </a:r>
            <a:endParaRPr lang="vi-VN"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BFB9A6F3-855C-2C6B-39AD-893C51C5BF55}"/>
              </a:ext>
            </a:extLst>
          </p:cNvPr>
          <p:cNvPicPr>
            <a:picLocks noChangeAspect="1"/>
          </p:cNvPicPr>
          <p:nvPr/>
        </p:nvPicPr>
        <p:blipFill>
          <a:blip r:embed="rId3"/>
          <a:stretch>
            <a:fillRect/>
          </a:stretch>
        </p:blipFill>
        <p:spPr>
          <a:xfrm>
            <a:off x="1632024" y="4713515"/>
            <a:ext cx="21119951" cy="7086600"/>
          </a:xfrm>
          <a:prstGeom prst="rect">
            <a:avLst/>
          </a:prstGeom>
        </p:spPr>
      </p:pic>
    </p:spTree>
    <p:extLst>
      <p:ext uri="{BB962C8B-B14F-4D97-AF65-F5344CB8AC3E}">
        <p14:creationId xmlns:p14="http://schemas.microsoft.com/office/powerpoint/2010/main" val="1547637103"/>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20341</TotalTime>
  <Words>1678</Words>
  <Application>Microsoft Office PowerPoint</Application>
  <PresentationFormat>Custom</PresentationFormat>
  <Paragraphs>159</Paragraphs>
  <Slides>32</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Meiryo</vt:lpstr>
      <vt:lpstr>Arial</vt:lpstr>
      <vt:lpstr>Calibri</vt:lpstr>
      <vt:lpstr>Consolas</vt:lpstr>
      <vt:lpstr>Helvetica Neue</vt:lpstr>
      <vt:lpstr>Helvetica Neue Light</vt:lpstr>
      <vt:lpstr>Noto Sans Symbols</vt:lpstr>
      <vt:lpstr>Roboto</vt:lpstr>
      <vt:lpstr>RobotoCondensed</vt:lpstr>
      <vt:lpstr>White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Anh Quan (VTI.GA)</dc:creator>
  <cp:lastModifiedBy>Nam. Phạm Viết -  FS</cp:lastModifiedBy>
  <cp:revision>344</cp:revision>
  <dcterms:modified xsi:type="dcterms:W3CDTF">2024-06-01T01:52:37Z</dcterms:modified>
</cp:coreProperties>
</file>