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6858000" cx="12192000"/>
  <p:notesSz cx="6858000" cy="9144000"/>
  <p:embeddedFontLst>
    <p:embeddedFont>
      <p:font typeface="Tahoma"/>
      <p:regular r:id="rId28"/>
      <p:bold r:id="rId29"/>
    </p:embeddedFont>
    <p:embeddedFont>
      <p:font typeface="Helvetica Neue"/>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34" roundtripDataSignature="AMtx7mjiu7OmIlsFyE50DctrmU8uf9IKX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9F78507-A0AE-4410-8D6C-CD3A2707372D}">
  <a:tblStyle styleId="{09F78507-A0AE-4410-8D6C-CD3A2707372D}"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Tahoma-regular.fntdata"/><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Tahoma-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HelveticaNeue-bold.fntdata"/><Relationship Id="rId30" Type="http://schemas.openxmlformats.org/officeDocument/2006/relationships/font" Target="fonts/HelveticaNeue-regular.fntdata"/><Relationship Id="rId11" Type="http://schemas.openxmlformats.org/officeDocument/2006/relationships/slide" Target="slides/slide5.xml"/><Relationship Id="rId33" Type="http://schemas.openxmlformats.org/officeDocument/2006/relationships/font" Target="fonts/HelveticaNeue-boldItalic.fntdata"/><Relationship Id="rId10" Type="http://schemas.openxmlformats.org/officeDocument/2006/relationships/slide" Target="slides/slide4.xml"/><Relationship Id="rId32" Type="http://schemas.openxmlformats.org/officeDocument/2006/relationships/font" Target="fonts/HelveticaNeue-italic.fntdata"/><Relationship Id="rId13" Type="http://schemas.openxmlformats.org/officeDocument/2006/relationships/slide" Target="slides/slide7.xml"/><Relationship Id="rId12" Type="http://schemas.openxmlformats.org/officeDocument/2006/relationships/slide" Target="slides/slide6.xml"/><Relationship Id="rId34" Type="http://customschemas.google.com/relationships/presentationmetadata" Target="meta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 name="Google Shape;4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7" name="Google Shape;57;p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8" name="Google Shape;58;p2: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5" name="Google Shape;65;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6" name="Google Shape;66;p3: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f080f7e13d_0_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3" name="Google Shape;73;g2f080f7e13d_0_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74" name="Google Shape;74;g2f080f7e13d_0_3: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1" name="Google Shape;81;p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Arial"/>
                <a:ea typeface="Arial"/>
                <a:cs typeface="Arial"/>
                <a:sym typeface="Arial"/>
              </a:rPr>
              <a:t>Lệnh </a:t>
            </a:r>
            <a:r>
              <a:rPr lang="en-US"/>
              <a:t>rpm</a:t>
            </a:r>
            <a:r>
              <a:rPr b="0" i="0" lang="en-US" sz="1200">
                <a:solidFill>
                  <a:schemeClr val="dk1"/>
                </a:solidFill>
                <a:latin typeface="Arial"/>
                <a:ea typeface="Arial"/>
                <a:cs typeface="Arial"/>
                <a:sym typeface="Arial"/>
              </a:rPr>
              <a:t> (Red Hat Package Manager) là một công cụ quản lý gói phần mềm dòng lệnh trong các hệ thống dựa trên RPM, như CentOS và Fedora. Bạn phải biết tên chính xác của gói để thực hiện các thao tác, và nó không quản lý tự động các phụ thuộc.</a:t>
            </a:r>
            <a:endParaRPr/>
          </a:p>
          <a:p>
            <a:pPr indent="-171450" lvl="0" marL="171450" rtl="0" algn="l">
              <a:spcBef>
                <a:spcPts val="360"/>
              </a:spcBef>
              <a:spcAft>
                <a:spcPts val="0"/>
              </a:spcAft>
              <a:buClr>
                <a:schemeClr val="dk1"/>
              </a:buClr>
              <a:buSzPts val="1200"/>
              <a:buFont typeface="Arial"/>
              <a:buChar char="-"/>
            </a:pPr>
            <a:r>
              <a:rPr b="0" i="0" lang="en-US" sz="1200">
                <a:solidFill>
                  <a:schemeClr val="dk1"/>
                </a:solidFill>
                <a:latin typeface="Arial"/>
                <a:ea typeface="Arial"/>
                <a:cs typeface="Arial"/>
                <a:sym typeface="Arial"/>
              </a:rPr>
              <a:t>Lệnh </a:t>
            </a:r>
            <a:r>
              <a:rPr lang="en-US"/>
              <a:t>yum</a:t>
            </a:r>
            <a:r>
              <a:rPr b="0" i="0" lang="en-US" sz="1200">
                <a:solidFill>
                  <a:schemeClr val="dk1"/>
                </a:solidFill>
                <a:latin typeface="Arial"/>
                <a:ea typeface="Arial"/>
                <a:cs typeface="Arial"/>
                <a:sym typeface="Arial"/>
              </a:rPr>
              <a:t> là một công cụ quản lý gói (package manager) trong các hệ thống dựa trên Red Hat, như CentOS và Fedora Linux. </a:t>
            </a:r>
            <a:r>
              <a:rPr lang="en-US"/>
              <a:t>yum</a:t>
            </a:r>
            <a:r>
              <a:rPr b="0" i="0" lang="en-US" sz="1200">
                <a:solidFill>
                  <a:schemeClr val="dk1"/>
                </a:solidFill>
                <a:latin typeface="Arial"/>
                <a:ea typeface="Arial"/>
                <a:cs typeface="Arial"/>
                <a:sym typeface="Arial"/>
              </a:rPr>
              <a:t> cho phép bạn quản lý việc cài đặt, cập nhật và gỡ bỏ các gói phần mềm trên hệ thống của bạn. </a:t>
            </a:r>
            <a:r>
              <a:rPr lang="en-US"/>
              <a:t>yum</a:t>
            </a:r>
            <a:r>
              <a:rPr b="0" i="0" lang="en-US" sz="1200">
                <a:solidFill>
                  <a:schemeClr val="dk1"/>
                </a:solidFill>
                <a:latin typeface="Arial"/>
                <a:ea typeface="Arial"/>
                <a:cs typeface="Arial"/>
                <a:sym typeface="Arial"/>
              </a:rPr>
              <a:t> có khả năng quản lý phụ thuộc tự động. Điều này có nghĩa là khi bạn cài đặt một gói, </a:t>
            </a:r>
            <a:r>
              <a:rPr lang="en-US"/>
              <a:t>yum</a:t>
            </a:r>
            <a:r>
              <a:rPr b="0" i="0" lang="en-US" sz="1200">
                <a:solidFill>
                  <a:schemeClr val="dk1"/>
                </a:solidFill>
                <a:latin typeface="Arial"/>
                <a:ea typeface="Arial"/>
                <a:cs typeface="Arial"/>
                <a:sym typeface="Arial"/>
              </a:rPr>
              <a:t> sẽ tự động tải và cài đặt các gói phụ thuộc mà gói đó cần.</a:t>
            </a:r>
            <a:endParaRPr/>
          </a:p>
          <a:p>
            <a:pPr indent="-171450" lvl="0" marL="171450" rtl="0" algn="l">
              <a:spcBef>
                <a:spcPts val="360"/>
              </a:spcBef>
              <a:spcAft>
                <a:spcPts val="0"/>
              </a:spcAft>
              <a:buClr>
                <a:schemeClr val="dk1"/>
              </a:buClr>
              <a:buSzPts val="1200"/>
              <a:buFont typeface="Arial"/>
              <a:buChar char="-"/>
            </a:pPr>
            <a:r>
              <a:rPr b="0" i="0" lang="en-US" sz="1200">
                <a:solidFill>
                  <a:schemeClr val="dk1"/>
                </a:solidFill>
                <a:latin typeface="Arial"/>
                <a:ea typeface="Arial"/>
                <a:cs typeface="Arial"/>
                <a:sym typeface="Arial"/>
              </a:rPr>
              <a:t>Tóm lại, </a:t>
            </a:r>
            <a:r>
              <a:rPr lang="en-US"/>
              <a:t>rpm</a:t>
            </a:r>
            <a:r>
              <a:rPr b="0" i="0" lang="en-US" sz="1200">
                <a:solidFill>
                  <a:schemeClr val="dk1"/>
                </a:solidFill>
                <a:latin typeface="Arial"/>
                <a:ea typeface="Arial"/>
                <a:cs typeface="Arial"/>
                <a:sym typeface="Arial"/>
              </a:rPr>
              <a:t> là công cụ cơ bản dành cho việc quản lý gói, trong khi </a:t>
            </a:r>
            <a:r>
              <a:rPr lang="en-US"/>
              <a:t>yum</a:t>
            </a:r>
            <a:r>
              <a:rPr b="0" i="0" lang="en-US" sz="1200">
                <a:solidFill>
                  <a:schemeClr val="dk1"/>
                </a:solidFill>
                <a:latin typeface="Arial"/>
                <a:ea typeface="Arial"/>
                <a:cs typeface="Arial"/>
                <a:sym typeface="Arial"/>
              </a:rPr>
              <a:t> là một công cụ cao cấp hơn giúp quản lý gói và phụ thuộc một cách thuận tiện và tự động hơn. Trong thực tế, nếu bạn sử dụng CentOS hoặc Fedora, </a:t>
            </a:r>
            <a:r>
              <a:rPr lang="en-US"/>
              <a:t>yum</a:t>
            </a:r>
            <a:r>
              <a:rPr b="0" i="0" lang="en-US" sz="1200">
                <a:solidFill>
                  <a:schemeClr val="dk1"/>
                </a:solidFill>
                <a:latin typeface="Arial"/>
                <a:ea typeface="Arial"/>
                <a:cs typeface="Arial"/>
                <a:sym typeface="Arial"/>
              </a:rPr>
              <a:t> thường là công cụ được ưa chuộng hơn cho việc quản lý gói.</a:t>
            </a:r>
            <a:endParaRPr b="0" i="0" sz="1200">
              <a:solidFill>
                <a:schemeClr val="dk1"/>
              </a:solidFill>
              <a:latin typeface="Arial"/>
              <a:ea typeface="Arial"/>
              <a:cs typeface="Arial"/>
              <a:sym typeface="Arial"/>
            </a:endParaRPr>
          </a:p>
          <a:p>
            <a:pPr indent="0" lvl="0" marL="0" rtl="0" algn="l">
              <a:spcBef>
                <a:spcPts val="360"/>
              </a:spcBef>
              <a:spcAft>
                <a:spcPts val="0"/>
              </a:spcAft>
              <a:buNone/>
            </a:pPr>
            <a:r>
              <a:rPr b="0" i="1" lang="en-US" sz="1200">
                <a:solidFill>
                  <a:schemeClr val="dk1"/>
                </a:solidFill>
                <a:latin typeface="Arial"/>
                <a:ea typeface="Arial"/>
                <a:cs typeface="Arial"/>
                <a:sym typeface="Arial"/>
              </a:rPr>
              <a:t>Ví dụ: 	</a:t>
            </a:r>
            <a:r>
              <a:rPr b="0" i="0" lang="en-US" sz="1200">
                <a:solidFill>
                  <a:schemeClr val="dk1"/>
                </a:solidFill>
                <a:latin typeface="Arial"/>
                <a:ea typeface="Arial"/>
                <a:cs typeface="Arial"/>
                <a:sym typeface="Arial"/>
              </a:rPr>
              <a:t>Khi sử dụng rpm, bạn sẽ cài đặt một gói bằng lệnh rpm -i package.rpm.</a:t>
            </a:r>
            <a:endParaRPr/>
          </a:p>
          <a:p>
            <a:pPr indent="0" lvl="0" marL="0" rtl="0" algn="l">
              <a:spcBef>
                <a:spcPts val="360"/>
              </a:spcBef>
              <a:spcAft>
                <a:spcPts val="0"/>
              </a:spcAft>
              <a:buNone/>
            </a:pPr>
            <a:r>
              <a:rPr b="0" i="0" lang="en-US" sz="1200">
                <a:solidFill>
                  <a:schemeClr val="dk1"/>
                </a:solidFill>
                <a:latin typeface="Arial"/>
                <a:ea typeface="Arial"/>
                <a:cs typeface="Arial"/>
                <a:sym typeface="Arial"/>
              </a:rPr>
              <a:t>	Khi sử dụng yum, bạn sẽ cài đặt một gói bằng lệnh yum install package.</a:t>
            </a:r>
            <a:endParaRPr/>
          </a:p>
          <a:p>
            <a:pPr indent="-171450" lvl="0" marL="171450" rtl="0" algn="l">
              <a:spcBef>
                <a:spcPts val="360"/>
              </a:spcBef>
              <a:spcAft>
                <a:spcPts val="0"/>
              </a:spcAft>
              <a:buClr>
                <a:schemeClr val="dk1"/>
              </a:buClr>
              <a:buSzPts val="1200"/>
              <a:buFont typeface="Arial"/>
              <a:buChar char="-"/>
            </a:pPr>
            <a:r>
              <a:rPr lang="en-US"/>
              <a:t>urpmi</a:t>
            </a:r>
            <a:r>
              <a:rPr b="0" i="0" lang="en-US" sz="1200">
                <a:solidFill>
                  <a:schemeClr val="dk1"/>
                </a:solidFill>
                <a:latin typeface="Arial"/>
                <a:ea typeface="Arial"/>
                <a:cs typeface="Arial"/>
                <a:sym typeface="Arial"/>
              </a:rPr>
              <a:t> là một công cụ quản lý gói phần mềm dành riêng cho các hệ thống dựa trên Mandriva (và các phiên bản tương tự như Mageia) Linux.</a:t>
            </a:r>
            <a:endParaRPr b="0" i="0" sz="1200">
              <a:solidFill>
                <a:schemeClr val="dk1"/>
              </a:solidFill>
              <a:latin typeface="Arial"/>
              <a:ea typeface="Arial"/>
              <a:cs typeface="Arial"/>
              <a:sym typeface="Arial"/>
            </a:endParaRPr>
          </a:p>
          <a:p>
            <a:pPr indent="-95250" lvl="0" marL="171450" rtl="0" algn="l">
              <a:spcBef>
                <a:spcPts val="360"/>
              </a:spcBef>
              <a:spcAft>
                <a:spcPts val="0"/>
              </a:spcAft>
              <a:buClr>
                <a:schemeClr val="dk1"/>
              </a:buClr>
              <a:buSzPts val="1200"/>
              <a:buFont typeface="Arial"/>
              <a:buNone/>
            </a:pPr>
            <a:r>
              <a:t/>
            </a:r>
            <a:endParaRPr b="0" i="1" sz="1200">
              <a:solidFill>
                <a:schemeClr val="dk1"/>
              </a:solidFill>
              <a:latin typeface="Arial"/>
              <a:ea typeface="Arial"/>
              <a:cs typeface="Arial"/>
              <a:sym typeface="Arial"/>
            </a:endParaRPr>
          </a:p>
          <a:p>
            <a:pPr indent="-171450" lvl="0" marL="171450" rtl="0" algn="l">
              <a:spcBef>
                <a:spcPts val="360"/>
              </a:spcBef>
              <a:spcAft>
                <a:spcPts val="0"/>
              </a:spcAft>
              <a:buClr>
                <a:schemeClr val="dk1"/>
              </a:buClr>
              <a:buSzPts val="1200"/>
              <a:buFont typeface="Arial"/>
              <a:buChar char="-"/>
            </a:pPr>
            <a:r>
              <a:rPr lang="en-US"/>
              <a:t>Dpkg (Debian Package Manager)</a:t>
            </a:r>
            <a:r>
              <a:rPr b="0" i="0" lang="en-US" sz="1200">
                <a:solidFill>
                  <a:schemeClr val="dk1"/>
                </a:solidFill>
                <a:latin typeface="Arial"/>
                <a:ea typeface="Arial"/>
                <a:cs typeface="Arial"/>
                <a:sym typeface="Arial"/>
              </a:rPr>
              <a:t> là một công cụ quản lý gói (package manager) trong các hệ thống dựa trên Debian, như Ubuntu và Debian Linux. </a:t>
            </a:r>
            <a:r>
              <a:rPr lang="en-US"/>
              <a:t>dpkg</a:t>
            </a:r>
            <a:r>
              <a:rPr b="0" i="0" lang="en-US" sz="1200">
                <a:solidFill>
                  <a:schemeClr val="dk1"/>
                </a:solidFill>
                <a:latin typeface="Arial"/>
                <a:ea typeface="Arial"/>
                <a:cs typeface="Arial"/>
                <a:sym typeface="Arial"/>
              </a:rPr>
              <a:t> cho phép bạn quản lý việc cài đặt, cập nhật, và gỡ bỏ các gói phần mềm trên hệ thống của bạn. </a:t>
            </a:r>
            <a:endParaRPr b="0" i="0" sz="1200">
              <a:solidFill>
                <a:schemeClr val="dk1"/>
              </a:solidFill>
              <a:latin typeface="Arial"/>
              <a:ea typeface="Arial"/>
              <a:cs typeface="Arial"/>
              <a:sym typeface="Arial"/>
            </a:endParaRPr>
          </a:p>
          <a:p>
            <a:pPr indent="-171450" lvl="0" marL="171450" rtl="0" algn="l">
              <a:spcBef>
                <a:spcPts val="360"/>
              </a:spcBef>
              <a:spcAft>
                <a:spcPts val="0"/>
              </a:spcAft>
              <a:buClr>
                <a:schemeClr val="dk1"/>
              </a:buClr>
              <a:buSzPts val="1200"/>
              <a:buFont typeface="Arial"/>
              <a:buChar char="-"/>
            </a:pPr>
            <a:r>
              <a:rPr b="0" i="0" lang="en-US" sz="1200">
                <a:solidFill>
                  <a:schemeClr val="dk1"/>
                </a:solidFill>
                <a:latin typeface="Arial"/>
                <a:ea typeface="Arial"/>
                <a:cs typeface="Arial"/>
                <a:sym typeface="Arial"/>
              </a:rPr>
              <a:t>Lệnh </a:t>
            </a:r>
            <a:r>
              <a:rPr lang="en-US"/>
              <a:t>apt</a:t>
            </a:r>
            <a:r>
              <a:rPr b="0" i="0" lang="en-US" sz="1200">
                <a:solidFill>
                  <a:schemeClr val="dk1"/>
                </a:solidFill>
                <a:latin typeface="Arial"/>
                <a:ea typeface="Arial"/>
                <a:cs typeface="Arial"/>
                <a:sym typeface="Arial"/>
              </a:rPr>
              <a:t> là một công cụ quản lý gói phần mềm dòng lệnh trong các hệ thống dựa trên Debian như Debian và Ubuntu. </a:t>
            </a:r>
            <a:r>
              <a:rPr lang="en-US"/>
              <a:t>apt</a:t>
            </a:r>
            <a:r>
              <a:rPr b="0" i="0" lang="en-US" sz="1200">
                <a:solidFill>
                  <a:schemeClr val="dk1"/>
                </a:solidFill>
                <a:latin typeface="Arial"/>
                <a:ea typeface="Arial"/>
                <a:cs typeface="Arial"/>
                <a:sym typeface="Arial"/>
              </a:rPr>
              <a:t> (Advanced Package Tool) cung cấp một cách thuận tiện để cài đặt, gỡ bỏ, cập nhật và quản lý các gói phần mềm trên hệ thống của bạn. </a:t>
            </a:r>
            <a:r>
              <a:rPr lang="en-US"/>
              <a:t>apt</a:t>
            </a:r>
            <a:r>
              <a:rPr b="0" i="0" lang="en-US" sz="1200">
                <a:solidFill>
                  <a:schemeClr val="dk1"/>
                </a:solidFill>
                <a:latin typeface="Arial"/>
                <a:ea typeface="Arial"/>
                <a:cs typeface="Arial"/>
                <a:sym typeface="Arial"/>
              </a:rPr>
              <a:t> tự động quản lý các phụ thuộc và tải các gói phụ thuộc một cách tự động từ kho lưu trữ, </a:t>
            </a:r>
            <a:endParaRPr b="0" i="0" sz="1200">
              <a:solidFill>
                <a:schemeClr val="dk1"/>
              </a:solidFill>
              <a:latin typeface="Arial"/>
              <a:ea typeface="Arial"/>
              <a:cs typeface="Arial"/>
              <a:sym typeface="Arial"/>
            </a:endParaRPr>
          </a:p>
          <a:p>
            <a:pPr indent="0" lvl="0" marL="0" rtl="0" algn="l">
              <a:spcBef>
                <a:spcPts val="360"/>
              </a:spcBef>
              <a:spcAft>
                <a:spcPts val="0"/>
              </a:spcAft>
              <a:buNone/>
            </a:pPr>
            <a:r>
              <a:t/>
            </a:r>
            <a:endParaRPr b="1"/>
          </a:p>
          <a:p>
            <a:pPr indent="0" lvl="0" marL="0" rtl="0" algn="l">
              <a:spcBef>
                <a:spcPts val="360"/>
              </a:spcBef>
              <a:spcAft>
                <a:spcPts val="0"/>
              </a:spcAft>
              <a:buNone/>
            </a:pPr>
            <a:r>
              <a:rPr b="1" i="0" lang="en-US" sz="1200">
                <a:solidFill>
                  <a:schemeClr val="dk1"/>
                </a:solidFill>
                <a:latin typeface="Arial"/>
                <a:ea typeface="Arial"/>
                <a:cs typeface="Arial"/>
                <a:sym typeface="Arial"/>
              </a:rPr>
              <a:t>apt (Advanced Package Tool):</a:t>
            </a:r>
            <a:endParaRPr b="0" i="0" sz="1200">
              <a:solidFill>
                <a:schemeClr val="dk1"/>
              </a:solidFill>
              <a:latin typeface="Arial"/>
              <a:ea typeface="Arial"/>
              <a:cs typeface="Arial"/>
              <a:sym typeface="Arial"/>
            </a:endParaRPr>
          </a:p>
          <a:p>
            <a:pPr indent="0" lvl="1" marL="457200" rtl="0" algn="l">
              <a:spcBef>
                <a:spcPts val="360"/>
              </a:spcBef>
              <a:spcAft>
                <a:spcPts val="0"/>
              </a:spcAft>
              <a:buNone/>
            </a:pPr>
            <a:r>
              <a:rPr b="1" i="0" lang="en-US" sz="1200">
                <a:solidFill>
                  <a:schemeClr val="dk1"/>
                </a:solidFill>
                <a:latin typeface="Arial"/>
                <a:ea typeface="Arial"/>
                <a:cs typeface="Arial"/>
                <a:sym typeface="Arial"/>
              </a:rPr>
              <a:t>Mục Tiêu</a:t>
            </a:r>
            <a:r>
              <a:rPr b="0" i="0" lang="en-US" sz="1200">
                <a:solidFill>
                  <a:schemeClr val="dk1"/>
                </a:solidFill>
                <a:latin typeface="Arial"/>
                <a:ea typeface="Arial"/>
                <a:cs typeface="Arial"/>
                <a:sym typeface="Arial"/>
              </a:rPr>
              <a:t>: apt là một công cụ quản lý gói phần mềm cấp cao, được thiết kế để làm cho việc quản lý gói phần mềm dễ dàng hơn bằng cách cung cấp khả năng quản lý phụ thuộc tự động và tải gói phụ thuộc từ kho lưu trữ một cách tự động.</a:t>
            </a:r>
            <a:endParaRPr/>
          </a:p>
          <a:p>
            <a:pPr indent="0" lvl="1" marL="457200" rtl="0" algn="l">
              <a:spcBef>
                <a:spcPts val="360"/>
              </a:spcBef>
              <a:spcAft>
                <a:spcPts val="0"/>
              </a:spcAft>
              <a:buNone/>
            </a:pPr>
            <a:r>
              <a:rPr b="1" i="0" lang="en-US" sz="1200">
                <a:solidFill>
                  <a:schemeClr val="dk1"/>
                </a:solidFill>
                <a:latin typeface="Arial"/>
                <a:ea typeface="Arial"/>
                <a:cs typeface="Arial"/>
                <a:sym typeface="Arial"/>
              </a:rPr>
              <a:t>Cách Hoạt Động</a:t>
            </a:r>
            <a:r>
              <a:rPr b="0" i="0" lang="en-US" sz="1200">
                <a:solidFill>
                  <a:schemeClr val="dk1"/>
                </a:solidFill>
                <a:latin typeface="Arial"/>
                <a:ea typeface="Arial"/>
                <a:cs typeface="Arial"/>
                <a:sym typeface="Arial"/>
              </a:rPr>
              <a:t>: apt sử dụng dpkg để thực hiện các thao tác cơ bản như cài đặt và gỡ bỏ gói phần mềm, nhưng nó cung cấp thêm các tính năng như quản lý kho lưu trữ, quản lý phụ thuộc và tạo ra một lớp trừu tượng để dễ dàng sử dụng.</a:t>
            </a:r>
            <a:endParaRPr/>
          </a:p>
          <a:p>
            <a:pPr indent="0" lvl="0" marL="0" rtl="0" algn="l">
              <a:spcBef>
                <a:spcPts val="360"/>
              </a:spcBef>
              <a:spcAft>
                <a:spcPts val="0"/>
              </a:spcAft>
              <a:buNone/>
            </a:pPr>
            <a:r>
              <a:rPr b="1" i="0" lang="en-US" sz="1200">
                <a:solidFill>
                  <a:schemeClr val="dk1"/>
                </a:solidFill>
                <a:latin typeface="Arial"/>
                <a:ea typeface="Arial"/>
                <a:cs typeface="Arial"/>
                <a:sym typeface="Arial"/>
              </a:rPr>
              <a:t>dpkg (Debian Package):</a:t>
            </a:r>
            <a:endParaRPr b="0" i="0" sz="1200">
              <a:solidFill>
                <a:schemeClr val="dk1"/>
              </a:solidFill>
              <a:latin typeface="Arial"/>
              <a:ea typeface="Arial"/>
              <a:cs typeface="Arial"/>
              <a:sym typeface="Arial"/>
            </a:endParaRPr>
          </a:p>
          <a:p>
            <a:pPr indent="0" lvl="1" marL="457200" rtl="0" algn="l">
              <a:spcBef>
                <a:spcPts val="360"/>
              </a:spcBef>
              <a:spcAft>
                <a:spcPts val="0"/>
              </a:spcAft>
              <a:buNone/>
            </a:pPr>
            <a:r>
              <a:rPr b="1" i="0" lang="en-US" sz="1200">
                <a:solidFill>
                  <a:schemeClr val="dk1"/>
                </a:solidFill>
                <a:latin typeface="Arial"/>
                <a:ea typeface="Arial"/>
                <a:cs typeface="Arial"/>
                <a:sym typeface="Arial"/>
              </a:rPr>
              <a:t>Mục Tiêu</a:t>
            </a:r>
            <a:r>
              <a:rPr b="0" i="0" lang="en-US" sz="1200">
                <a:solidFill>
                  <a:schemeClr val="dk1"/>
                </a:solidFill>
                <a:latin typeface="Arial"/>
                <a:ea typeface="Arial"/>
                <a:cs typeface="Arial"/>
                <a:sym typeface="Arial"/>
              </a:rPr>
              <a:t>: dpkg là công cụ quản lý gói phần mềm cơ bản, được sử dụng để thực hiện các thao tác cơ bản như cài đặt, gỡ bỏ và kiểm tra gói phần mềm.</a:t>
            </a:r>
            <a:endParaRPr/>
          </a:p>
          <a:p>
            <a:pPr indent="0" lvl="1" marL="457200" rtl="0" algn="l">
              <a:spcBef>
                <a:spcPts val="360"/>
              </a:spcBef>
              <a:spcAft>
                <a:spcPts val="0"/>
              </a:spcAft>
              <a:buNone/>
            </a:pPr>
            <a:r>
              <a:rPr b="1" i="0" lang="en-US" sz="1200">
                <a:solidFill>
                  <a:schemeClr val="dk1"/>
                </a:solidFill>
                <a:latin typeface="Arial"/>
                <a:ea typeface="Arial"/>
                <a:cs typeface="Arial"/>
                <a:sym typeface="Arial"/>
              </a:rPr>
              <a:t>Cách Hoạt Động</a:t>
            </a:r>
            <a:r>
              <a:rPr b="0" i="0" lang="en-US" sz="1200">
                <a:solidFill>
                  <a:schemeClr val="dk1"/>
                </a:solidFill>
                <a:latin typeface="Arial"/>
                <a:ea typeface="Arial"/>
                <a:cs typeface="Arial"/>
                <a:sym typeface="Arial"/>
              </a:rPr>
              <a:t>: dpkg làm việc trực tiếp với các tệp tin gói .deb. Nó không quản lý phụ thuộc tự động và không tải các gói phụ thuộc từ kho lưu trữ một cách tự động.</a:t>
            </a:r>
            <a:endParaRPr/>
          </a:p>
          <a:p>
            <a:pPr indent="0" lvl="0" marL="0" rtl="0" algn="l">
              <a:spcBef>
                <a:spcPts val="360"/>
              </a:spcBef>
              <a:spcAft>
                <a:spcPts val="0"/>
              </a:spcAft>
              <a:buNone/>
            </a:pPr>
            <a:r>
              <a:rPr b="0" i="0" lang="en-US" sz="1200">
                <a:solidFill>
                  <a:schemeClr val="dk1"/>
                </a:solidFill>
                <a:latin typeface="Arial"/>
                <a:ea typeface="Arial"/>
                <a:cs typeface="Arial"/>
                <a:sym typeface="Arial"/>
              </a:rPr>
              <a:t>Dưới đây là một số tình huống khi nào bạn nên sử dụng mỗi công cụ:</a:t>
            </a:r>
            <a:endParaRPr/>
          </a:p>
          <a:p>
            <a:pPr indent="0" lvl="0" marL="0" rtl="0" algn="l">
              <a:spcBef>
                <a:spcPts val="360"/>
              </a:spcBef>
              <a:spcAft>
                <a:spcPts val="0"/>
              </a:spcAft>
              <a:buNone/>
            </a:pPr>
            <a:r>
              <a:rPr b="1" i="0" lang="en-US" sz="1200">
                <a:solidFill>
                  <a:schemeClr val="dk1"/>
                </a:solidFill>
                <a:latin typeface="Arial"/>
                <a:ea typeface="Arial"/>
                <a:cs typeface="Arial"/>
                <a:sym typeface="Arial"/>
              </a:rPr>
              <a:t>Sử Dụng apt</a:t>
            </a:r>
            <a:r>
              <a:rPr b="0" i="0" lang="en-US" sz="1200">
                <a:solidFill>
                  <a:schemeClr val="dk1"/>
                </a:solidFill>
                <a:latin typeface="Arial"/>
                <a:ea typeface="Arial"/>
                <a:cs typeface="Arial"/>
                <a:sym typeface="Arial"/>
              </a:rPr>
              <a:t>:</a:t>
            </a:r>
            <a:endParaRPr/>
          </a:p>
          <a:p>
            <a:pPr indent="0" lvl="1" marL="457200" rtl="0" algn="l">
              <a:spcBef>
                <a:spcPts val="360"/>
              </a:spcBef>
              <a:spcAft>
                <a:spcPts val="0"/>
              </a:spcAft>
              <a:buNone/>
            </a:pPr>
            <a:r>
              <a:rPr b="0" i="0" lang="en-US" sz="1200">
                <a:solidFill>
                  <a:schemeClr val="dk1"/>
                </a:solidFill>
                <a:latin typeface="Arial"/>
                <a:ea typeface="Arial"/>
                <a:cs typeface="Arial"/>
                <a:sym typeface="Arial"/>
              </a:rPr>
              <a:t>Khi bạn muốn cài đặt, gỡ bỏ hoặc cập nhật gói phần mềm và muốn tự động quản lý các phụ thuộc.</a:t>
            </a:r>
            <a:endParaRPr/>
          </a:p>
          <a:p>
            <a:pPr indent="0" lvl="1" marL="457200" rtl="0" algn="l">
              <a:spcBef>
                <a:spcPts val="360"/>
              </a:spcBef>
              <a:spcAft>
                <a:spcPts val="0"/>
              </a:spcAft>
              <a:buNone/>
            </a:pPr>
            <a:r>
              <a:rPr b="0" i="0" lang="en-US" sz="1200">
                <a:solidFill>
                  <a:schemeClr val="dk1"/>
                </a:solidFill>
                <a:latin typeface="Arial"/>
                <a:ea typeface="Arial"/>
                <a:cs typeface="Arial"/>
                <a:sym typeface="Arial"/>
              </a:rPr>
              <a:t>Khi bạn muốn tìm kiếm gói phần mềm trong kho lưu trữ.</a:t>
            </a:r>
            <a:endParaRPr/>
          </a:p>
          <a:p>
            <a:pPr indent="0" lvl="1" marL="457200" rtl="0" algn="l">
              <a:spcBef>
                <a:spcPts val="360"/>
              </a:spcBef>
              <a:spcAft>
                <a:spcPts val="0"/>
              </a:spcAft>
              <a:buNone/>
            </a:pPr>
            <a:r>
              <a:rPr b="0" i="0" lang="en-US" sz="1200">
                <a:solidFill>
                  <a:schemeClr val="dk1"/>
                </a:solidFill>
                <a:latin typeface="Arial"/>
                <a:ea typeface="Arial"/>
                <a:cs typeface="Arial"/>
                <a:sym typeface="Arial"/>
              </a:rPr>
              <a:t>Khi bạn muốn cập nhật toàn bộ hệ thống với phiên bản mới nhất của các gói phần mềm.</a:t>
            </a:r>
            <a:endParaRPr/>
          </a:p>
          <a:p>
            <a:pPr indent="0" lvl="0" marL="0" rtl="0" algn="l">
              <a:spcBef>
                <a:spcPts val="360"/>
              </a:spcBef>
              <a:spcAft>
                <a:spcPts val="0"/>
              </a:spcAft>
              <a:buNone/>
            </a:pPr>
            <a:r>
              <a:rPr b="1" i="0" lang="en-US" sz="1200">
                <a:solidFill>
                  <a:schemeClr val="dk1"/>
                </a:solidFill>
                <a:latin typeface="Arial"/>
                <a:ea typeface="Arial"/>
                <a:cs typeface="Arial"/>
                <a:sym typeface="Arial"/>
              </a:rPr>
              <a:t>Sử Dụng dpkg</a:t>
            </a:r>
            <a:r>
              <a:rPr b="0" i="0" lang="en-US" sz="1200">
                <a:solidFill>
                  <a:schemeClr val="dk1"/>
                </a:solidFill>
                <a:latin typeface="Arial"/>
                <a:ea typeface="Arial"/>
                <a:cs typeface="Arial"/>
                <a:sym typeface="Arial"/>
              </a:rPr>
              <a:t>:</a:t>
            </a:r>
            <a:endParaRPr/>
          </a:p>
          <a:p>
            <a:pPr indent="0" lvl="1" marL="457200" rtl="0" algn="l">
              <a:spcBef>
                <a:spcPts val="360"/>
              </a:spcBef>
              <a:spcAft>
                <a:spcPts val="0"/>
              </a:spcAft>
              <a:buNone/>
            </a:pPr>
            <a:r>
              <a:rPr b="0" i="0" lang="en-US" sz="1200">
                <a:solidFill>
                  <a:schemeClr val="dk1"/>
                </a:solidFill>
                <a:latin typeface="Arial"/>
                <a:ea typeface="Arial"/>
                <a:cs typeface="Arial"/>
                <a:sym typeface="Arial"/>
              </a:rPr>
              <a:t>Khi bạn cần thực hiện các thao tác cơ bản như cài đặt hoặc gỡ bỏ một gói phần mềm cụ thể.</a:t>
            </a:r>
            <a:endParaRPr/>
          </a:p>
          <a:p>
            <a:pPr indent="0" lvl="1" marL="457200" rtl="0" algn="l">
              <a:spcBef>
                <a:spcPts val="360"/>
              </a:spcBef>
              <a:spcAft>
                <a:spcPts val="0"/>
              </a:spcAft>
              <a:buNone/>
            </a:pPr>
            <a:r>
              <a:rPr b="0" i="0" lang="en-US" sz="1200">
                <a:solidFill>
                  <a:schemeClr val="dk1"/>
                </a:solidFill>
                <a:latin typeface="Arial"/>
                <a:ea typeface="Arial"/>
                <a:cs typeface="Arial"/>
                <a:sym typeface="Arial"/>
              </a:rPr>
              <a:t>Khi bạn đã tải trước các gói phần mềm và muốn cài đặt chúng từ tệp tin .deb đã có.</a:t>
            </a:r>
            <a:endParaRPr/>
          </a:p>
          <a:p>
            <a:pPr indent="0" lvl="1" marL="457200" rtl="0" algn="l">
              <a:spcBef>
                <a:spcPts val="360"/>
              </a:spcBef>
              <a:spcAft>
                <a:spcPts val="0"/>
              </a:spcAft>
              <a:buNone/>
            </a:pPr>
            <a:r>
              <a:rPr b="0" i="0" lang="en-US" sz="1200">
                <a:solidFill>
                  <a:schemeClr val="dk1"/>
                </a:solidFill>
                <a:latin typeface="Arial"/>
                <a:ea typeface="Arial"/>
                <a:cs typeface="Arial"/>
                <a:sym typeface="Arial"/>
              </a:rPr>
              <a:t>Khi bạn muốn kiểm tra thông tin chi tiết về một gói phần mềm cụ thể.</a:t>
            </a:r>
            <a:endParaRPr/>
          </a:p>
          <a:p>
            <a:pPr indent="0" lvl="0" marL="0" rtl="0" algn="l">
              <a:spcBef>
                <a:spcPts val="360"/>
              </a:spcBef>
              <a:spcAft>
                <a:spcPts val="0"/>
              </a:spcAft>
              <a:buNone/>
            </a:pPr>
            <a:r>
              <a:rPr b="0" i="0" lang="en-US" sz="1200">
                <a:solidFill>
                  <a:schemeClr val="dk1"/>
                </a:solidFill>
                <a:latin typeface="Arial"/>
                <a:ea typeface="Arial"/>
                <a:cs typeface="Arial"/>
                <a:sym typeface="Arial"/>
              </a:rPr>
              <a:t>Trong hầu hết các trường hợp, apt là công cụ được ưa chuộng hơn bởi tính năng quản lý phụ thuộc và khả năng tải các gói phụ thuộc một cách tự động. Tuy nhiên, dpkg vẫn còn hữu ích trong các tình huống đơn giản hoặc khi bạn muốn thực hiện các thao tác cơ bản mà không cần tính năng cao cấp của apt.</a:t>
            </a:r>
            <a:endParaRPr b="0" i="0" sz="1200">
              <a:solidFill>
                <a:schemeClr val="dk1"/>
              </a:solidFill>
              <a:latin typeface="Arial"/>
              <a:ea typeface="Arial"/>
              <a:cs typeface="Arial"/>
              <a:sym typeface="Arial"/>
            </a:endParaRPr>
          </a:p>
          <a:p>
            <a:pPr indent="0" lvl="0" marL="0" rtl="0" algn="l">
              <a:spcBef>
                <a:spcPts val="360"/>
              </a:spcBef>
              <a:spcAft>
                <a:spcPts val="0"/>
              </a:spcAft>
              <a:buNone/>
            </a:pPr>
            <a:r>
              <a:rPr lang="en-US"/>
              <a:t>aptitude</a:t>
            </a:r>
            <a:r>
              <a:rPr b="0" i="0" lang="en-US" sz="1200">
                <a:solidFill>
                  <a:schemeClr val="dk1"/>
                </a:solidFill>
                <a:latin typeface="Arial"/>
                <a:ea typeface="Arial"/>
                <a:cs typeface="Arial"/>
                <a:sym typeface="Arial"/>
              </a:rPr>
              <a:t> là một công cụ quản lý gói phần mềm dòng lệnh trong các hệ thống dựa trên Debian như Debian và Ubuntu. Nó cung cấp các tính năng tương tự như </a:t>
            </a:r>
            <a:r>
              <a:rPr lang="en-US"/>
              <a:t>apt</a:t>
            </a:r>
            <a:r>
              <a:rPr b="0" i="0" lang="en-US" sz="1200">
                <a:solidFill>
                  <a:schemeClr val="dk1"/>
                </a:solidFill>
                <a:latin typeface="Arial"/>
                <a:ea typeface="Arial"/>
                <a:cs typeface="Arial"/>
                <a:sym typeface="Arial"/>
              </a:rPr>
              <a:t> và </a:t>
            </a:r>
            <a:r>
              <a:rPr lang="en-US"/>
              <a:t>dpkg</a:t>
            </a:r>
            <a:r>
              <a:rPr b="0" i="0" lang="en-US" sz="1200">
                <a:solidFill>
                  <a:schemeClr val="dk1"/>
                </a:solidFill>
                <a:latin typeface="Arial"/>
                <a:ea typeface="Arial"/>
                <a:cs typeface="Arial"/>
                <a:sym typeface="Arial"/>
              </a:rPr>
              <a:t>, nhưng có một số khả năng và ưu điểm riêng. </a:t>
            </a:r>
            <a:r>
              <a:rPr lang="en-US"/>
              <a:t>aptitude</a:t>
            </a:r>
            <a:r>
              <a:rPr b="0" i="0" lang="en-US" sz="1200">
                <a:solidFill>
                  <a:schemeClr val="dk1"/>
                </a:solidFill>
                <a:latin typeface="Arial"/>
                <a:ea typeface="Arial"/>
                <a:cs typeface="Arial"/>
                <a:sym typeface="Arial"/>
              </a:rPr>
              <a:t> cung cấp một giao diện dễ sử dụng và mạnh mẽ cho việc quản lý gói phần mềm trong các hệ thống Debian. Tuy nhiên, nó không phải là công cụ quản lý gói mặc định trong Ubuntu, nhưng có thể được cài đặt bổ sung nếu bạn muốn sử dụng.</a:t>
            </a:r>
            <a:endParaRPr b="0" i="0" sz="1200">
              <a:solidFill>
                <a:schemeClr val="dk1"/>
              </a:solidFill>
              <a:latin typeface="Arial"/>
              <a:ea typeface="Arial"/>
              <a:cs typeface="Arial"/>
              <a:sym typeface="Arial"/>
            </a:endParaRPr>
          </a:p>
          <a:p>
            <a:pPr indent="0" lvl="0" marL="0" rtl="0" algn="l">
              <a:spcBef>
                <a:spcPts val="360"/>
              </a:spcBef>
              <a:spcAft>
                <a:spcPts val="0"/>
              </a:spcAft>
              <a:buNone/>
            </a:pPr>
            <a:r>
              <a:rPr b="0" i="0" lang="en-US" sz="1200">
                <a:solidFill>
                  <a:schemeClr val="dk1"/>
                </a:solidFill>
                <a:latin typeface="Arial"/>
                <a:ea typeface="Arial"/>
                <a:cs typeface="Arial"/>
                <a:sym typeface="Arial"/>
              </a:rPr>
              <a:t>Synaptic là một ứng dụng giao diện đồ họa (GUI) dùng để quản lý gói phần mềm trên các hệ thống Linux dựa trên Debian như Ubuntu. Đây là một công cụ mạnh mẽ và dễ sử dụng cho việc cài đặt, gỡ bỏ, cập nhật và quản lý gói phần mềm trên hệ thống của bạn.</a:t>
            </a:r>
            <a:endParaRPr b="0" i="0" sz="1200">
              <a:solidFill>
                <a:schemeClr val="dk1"/>
              </a:solidFill>
              <a:latin typeface="Arial"/>
              <a:ea typeface="Arial"/>
              <a:cs typeface="Arial"/>
              <a:sym typeface="Arial"/>
            </a:endParaRPr>
          </a:p>
          <a:p>
            <a:pPr indent="0" lvl="0" marL="0" rtl="0" algn="l">
              <a:spcBef>
                <a:spcPts val="360"/>
              </a:spcBef>
              <a:spcAft>
                <a:spcPts val="0"/>
              </a:spcAft>
              <a:buNone/>
            </a:pPr>
            <a:r>
              <a:t/>
            </a:r>
            <a:endParaRPr b="0" i="0" sz="1200">
              <a:solidFill>
                <a:schemeClr val="dk1"/>
              </a:solidFill>
              <a:latin typeface="Arial"/>
              <a:ea typeface="Arial"/>
              <a:cs typeface="Arial"/>
              <a:sym typeface="Arial"/>
            </a:endParaRPr>
          </a:p>
          <a:p>
            <a:pPr indent="-95250" lvl="0" marL="171450" rtl="0" algn="l">
              <a:spcBef>
                <a:spcPts val="360"/>
              </a:spcBef>
              <a:spcAft>
                <a:spcPts val="0"/>
              </a:spcAft>
              <a:buClr>
                <a:schemeClr val="dk1"/>
              </a:buClr>
              <a:buSzPts val="1200"/>
              <a:buFont typeface="Arial"/>
              <a:buNone/>
            </a:pPr>
            <a:r>
              <a:t/>
            </a:r>
            <a:endParaRPr b="0" i="0" sz="1200">
              <a:solidFill>
                <a:schemeClr val="dk1"/>
              </a:solidFill>
              <a:latin typeface="Arial"/>
              <a:ea typeface="Arial"/>
              <a:cs typeface="Arial"/>
              <a:sym typeface="Arial"/>
            </a:endParaRPr>
          </a:p>
          <a:p>
            <a:pPr indent="-95250" lvl="0" marL="171450" rtl="0" algn="l">
              <a:spcBef>
                <a:spcPts val="360"/>
              </a:spcBef>
              <a:spcAft>
                <a:spcPts val="0"/>
              </a:spcAft>
              <a:buClr>
                <a:schemeClr val="dk1"/>
              </a:buClr>
              <a:buSzPts val="1200"/>
              <a:buFont typeface="Arial"/>
              <a:buNone/>
            </a:pPr>
            <a:r>
              <a:t/>
            </a:r>
            <a:endParaRPr b="0" i="0" sz="1200">
              <a:solidFill>
                <a:schemeClr val="dk1"/>
              </a:solidFill>
              <a:latin typeface="Arial"/>
              <a:ea typeface="Arial"/>
              <a:cs typeface="Arial"/>
              <a:sym typeface="Arial"/>
            </a:endParaRPr>
          </a:p>
          <a:p>
            <a:pPr indent="-95250" lvl="0" marL="171450" rtl="0" algn="l">
              <a:spcBef>
                <a:spcPts val="360"/>
              </a:spcBef>
              <a:spcAft>
                <a:spcPts val="0"/>
              </a:spcAft>
              <a:buClr>
                <a:schemeClr val="dk1"/>
              </a:buClr>
              <a:buSzPts val="1200"/>
              <a:buFont typeface="Arial"/>
              <a:buNone/>
            </a:pPr>
            <a:r>
              <a:t/>
            </a:r>
            <a:endParaRPr b="0" i="1" sz="1200">
              <a:solidFill>
                <a:schemeClr val="dk1"/>
              </a:solidFill>
              <a:latin typeface="Arial"/>
              <a:ea typeface="Arial"/>
              <a:cs typeface="Arial"/>
              <a:sym typeface="Arial"/>
            </a:endParaRPr>
          </a:p>
          <a:p>
            <a:pPr indent="-95250" lvl="0" marL="171450" rtl="0" algn="l">
              <a:spcBef>
                <a:spcPts val="360"/>
              </a:spcBef>
              <a:spcAft>
                <a:spcPts val="0"/>
              </a:spcAft>
              <a:buClr>
                <a:schemeClr val="dk1"/>
              </a:buClr>
              <a:buSzPts val="1200"/>
              <a:buFont typeface="Arial"/>
              <a:buNone/>
            </a:pPr>
            <a:r>
              <a:t/>
            </a:r>
            <a:endParaRPr>
              <a:latin typeface="Calibri"/>
              <a:ea typeface="Calibri"/>
              <a:cs typeface="Calibri"/>
              <a:sym typeface="Calibri"/>
            </a:endParaRPr>
          </a:p>
        </p:txBody>
      </p:sp>
      <p:sp>
        <p:nvSpPr>
          <p:cNvPr id="82" name="Google Shape;82;p5: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9" name="Google Shape;89;p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chemeClr val="dk1"/>
              </a:buClr>
              <a:buSzPts val="1200"/>
              <a:buFont typeface="Arial"/>
              <a:buAutoNum type="arabicPeriod"/>
            </a:pPr>
            <a:r>
              <a:rPr lang="en-US">
                <a:latin typeface="Arial"/>
                <a:ea typeface="Arial"/>
                <a:cs typeface="Arial"/>
                <a:sym typeface="Arial"/>
              </a:rPr>
              <a:t>Cách phổ biến nhất để cài đặt phần mềm</a:t>
            </a:r>
            <a:r>
              <a:rPr lang="en-US"/>
              <a:t>, </a:t>
            </a:r>
            <a:r>
              <a:rPr lang="en-US">
                <a:latin typeface="Arial"/>
                <a:ea typeface="Arial"/>
                <a:cs typeface="Arial"/>
                <a:sym typeface="Arial"/>
              </a:rPr>
              <a:t>ta có 1 công cụ RPM,nó cho phép download các package có sẵn trên mạng,và rpm sẽ cài đặt cho chúng ta.file rpm là 1 file nén.bên trong có file đã được biên dịch sẵn cho chúng ta ra file chạy.Những người tạo ra file rpm họ làm công việc download cac source code về chạy lệnh make tạo ra file nhị phân r dóng gói ra file rpm.chúng ta download file rpm và cài đặt là xong.Điều kiện tiên quyết để sử dụng dc file rpm  là người biên dịch fai có cùng loại cpu với ng sử dụng pmem.vd intel x86 .Ngoài bộ cài còn rất nhiều thông tin metadata như : tên tác giả,các gói thư viện là gì,phiên bản bao nhiêu ta có thể xem được qua câu lệnh Rpm.</a:t>
            </a:r>
            <a:endParaRPr/>
          </a:p>
          <a:p>
            <a:pPr indent="-228600" lvl="0" marL="228600" rtl="0" algn="l">
              <a:spcBef>
                <a:spcPts val="360"/>
              </a:spcBef>
              <a:spcAft>
                <a:spcPts val="0"/>
              </a:spcAft>
              <a:buClr>
                <a:schemeClr val="dk1"/>
              </a:buClr>
              <a:buSzPts val="1200"/>
              <a:buFont typeface="Arial"/>
              <a:buAutoNum type="arabicPeriod"/>
            </a:pPr>
            <a:r>
              <a:rPr lang="en-US">
                <a:latin typeface="Arial"/>
                <a:ea typeface="Arial"/>
                <a:cs typeface="Arial"/>
                <a:sym typeface="Arial"/>
              </a:rPr>
              <a:t>-i : install ; -v hiển thị chi tiết các bước thực thiện, -h hiện thị # trong quá trình giải nén gói tin</a:t>
            </a:r>
            <a:endParaRPr/>
          </a:p>
          <a:p>
            <a:pPr indent="-228600" lvl="0" marL="228600" rtl="0" algn="l">
              <a:spcBef>
                <a:spcPts val="360"/>
              </a:spcBef>
              <a:spcAft>
                <a:spcPts val="0"/>
              </a:spcAft>
              <a:buClr>
                <a:schemeClr val="dk1"/>
              </a:buClr>
              <a:buSzPts val="1200"/>
              <a:buFont typeface="Arial"/>
              <a:buAutoNum type="arabicPeriod"/>
            </a:pPr>
            <a:r>
              <a:rPr lang="en-US">
                <a:latin typeface="Arial"/>
                <a:ea typeface="Arial"/>
                <a:cs typeface="Arial"/>
                <a:sym typeface="Arial"/>
              </a:rPr>
              <a:t>Cấu trúc tên 1 RPM package: </a:t>
            </a:r>
            <a:r>
              <a:rPr lang="en-US"/>
              <a:t>&lt;name&gt;-&lt;version&gt;-&lt;release&gt;.&lt;architecture&gt;.rpm</a:t>
            </a:r>
            <a:endParaRPr/>
          </a:p>
          <a:p>
            <a:pPr indent="0" lvl="1" marL="457200" rtl="0" algn="l">
              <a:spcBef>
                <a:spcPts val="360"/>
              </a:spcBef>
              <a:spcAft>
                <a:spcPts val="0"/>
              </a:spcAft>
              <a:buNone/>
            </a:pPr>
            <a:r>
              <a:rPr b="0" i="0" lang="en-US" sz="1200">
                <a:solidFill>
                  <a:schemeClr val="dk1"/>
                </a:solidFill>
                <a:latin typeface="Arial"/>
                <a:ea typeface="Arial"/>
                <a:cs typeface="Arial"/>
                <a:sym typeface="Arial"/>
              </a:rPr>
              <a:t>Ví dụ: 	telnet-0.17-65.el7_8.x86_64.rpm</a:t>
            </a:r>
            <a:endParaRPr/>
          </a:p>
          <a:p>
            <a:pPr indent="0" lvl="1" marL="457200" rtl="0" algn="l">
              <a:spcBef>
                <a:spcPts val="360"/>
              </a:spcBef>
              <a:spcAft>
                <a:spcPts val="0"/>
              </a:spcAft>
              <a:buNone/>
            </a:pPr>
            <a:r>
              <a:rPr b="0" i="0" lang="en-US" sz="1200">
                <a:solidFill>
                  <a:schemeClr val="dk1"/>
                </a:solidFill>
                <a:latin typeface="Arial"/>
                <a:ea typeface="Arial"/>
                <a:cs typeface="Arial"/>
                <a:sym typeface="Arial"/>
              </a:rPr>
              <a:t>	telnet: Package name</a:t>
            </a:r>
            <a:endParaRPr/>
          </a:p>
          <a:p>
            <a:pPr indent="0" lvl="1" marL="457200" rtl="0" algn="l">
              <a:spcBef>
                <a:spcPts val="360"/>
              </a:spcBef>
              <a:spcAft>
                <a:spcPts val="0"/>
              </a:spcAft>
              <a:buNone/>
            </a:pPr>
            <a:r>
              <a:rPr b="0" i="0" lang="en-US" sz="1200">
                <a:solidFill>
                  <a:schemeClr val="dk1"/>
                </a:solidFill>
                <a:latin typeface="Arial"/>
                <a:ea typeface="Arial"/>
                <a:cs typeface="Arial"/>
                <a:sym typeface="Arial"/>
              </a:rPr>
              <a:t>	0.17: Package Version</a:t>
            </a:r>
            <a:endParaRPr/>
          </a:p>
          <a:p>
            <a:pPr indent="0" lvl="1" marL="457200" rtl="0" algn="l">
              <a:spcBef>
                <a:spcPts val="360"/>
              </a:spcBef>
              <a:spcAft>
                <a:spcPts val="0"/>
              </a:spcAft>
              <a:buNone/>
            </a:pPr>
            <a:r>
              <a:rPr b="0" i="0" lang="en-US" sz="1200">
                <a:solidFill>
                  <a:schemeClr val="dk1"/>
                </a:solidFill>
                <a:latin typeface="Arial"/>
                <a:ea typeface="Arial"/>
                <a:cs typeface="Arial"/>
                <a:sym typeface="Arial"/>
              </a:rPr>
              <a:t>	65.el7_8: Package release</a:t>
            </a:r>
            <a:endParaRPr/>
          </a:p>
          <a:p>
            <a:pPr indent="0" lvl="1" marL="457200" rtl="0" algn="l">
              <a:spcBef>
                <a:spcPts val="360"/>
              </a:spcBef>
              <a:spcAft>
                <a:spcPts val="0"/>
              </a:spcAft>
              <a:buNone/>
            </a:pPr>
            <a:r>
              <a:rPr b="0" i="0" lang="en-US" sz="1200">
                <a:solidFill>
                  <a:schemeClr val="dk1"/>
                </a:solidFill>
                <a:latin typeface="Arial"/>
                <a:ea typeface="Arial"/>
                <a:cs typeface="Arial"/>
                <a:sym typeface="Arial"/>
              </a:rPr>
              <a:t>	x86_64: Package architecture</a:t>
            </a:r>
            <a:endParaRPr/>
          </a:p>
          <a:p>
            <a:pPr indent="0" lvl="1" marL="457200" rtl="0" algn="l">
              <a:spcBef>
                <a:spcPts val="360"/>
              </a:spcBef>
              <a:spcAft>
                <a:spcPts val="0"/>
              </a:spcAft>
              <a:buNone/>
            </a:pPr>
            <a:r>
              <a:rPr b="0" i="0" lang="en-US" sz="1200">
                <a:solidFill>
                  <a:schemeClr val="dk1"/>
                </a:solidFill>
                <a:latin typeface="Arial"/>
                <a:ea typeface="Arial"/>
                <a:cs typeface="Arial"/>
                <a:sym typeface="Arial"/>
              </a:rPr>
              <a:t>	.rpm: Package type</a:t>
            </a:r>
            <a:endParaRPr/>
          </a:p>
          <a:p>
            <a:pPr indent="-228600" lvl="0" marL="228600" rtl="0" algn="l">
              <a:spcBef>
                <a:spcPts val="360"/>
              </a:spcBef>
              <a:spcAft>
                <a:spcPts val="0"/>
              </a:spcAft>
              <a:buClr>
                <a:schemeClr val="dk1"/>
              </a:buClr>
              <a:buSzPts val="1200"/>
              <a:buFont typeface="Arial"/>
              <a:buAutoNum type="arabicPeriod"/>
            </a:pPr>
            <a:r>
              <a:rPr b="0" i="0" lang="en-US" sz="1200">
                <a:solidFill>
                  <a:schemeClr val="dk1"/>
                </a:solidFill>
                <a:latin typeface="Arial"/>
                <a:ea typeface="Arial"/>
                <a:cs typeface="Arial"/>
                <a:sym typeface="Arial"/>
              </a:rPr>
              <a:t>Link download: http://vault.centos.org/7.9.2009/updates/Source/SPackages/telnet-0.17-66.el7.src.rpm</a:t>
            </a:r>
            <a:endParaRPr/>
          </a:p>
          <a:p>
            <a:pPr indent="-152400" lvl="0" marL="228600" rtl="0" algn="l">
              <a:spcBef>
                <a:spcPts val="360"/>
              </a:spcBef>
              <a:spcAft>
                <a:spcPts val="0"/>
              </a:spcAft>
              <a:buClr>
                <a:schemeClr val="dk1"/>
              </a:buClr>
              <a:buSzPts val="1200"/>
              <a:buFont typeface="Arial"/>
              <a:buNone/>
            </a:pPr>
            <a:r>
              <a:t/>
            </a:r>
            <a:endParaRPr>
              <a:latin typeface="Arial"/>
              <a:ea typeface="Arial"/>
              <a:cs typeface="Arial"/>
              <a:sym typeface="Arial"/>
            </a:endParaRPr>
          </a:p>
          <a:p>
            <a:pPr indent="-228600" lvl="0" marL="228600" rtl="0" algn="l">
              <a:spcBef>
                <a:spcPts val="360"/>
              </a:spcBef>
              <a:spcAft>
                <a:spcPts val="0"/>
              </a:spcAft>
              <a:buClr>
                <a:schemeClr val="dk1"/>
              </a:buClr>
              <a:buSzPts val="1200"/>
              <a:buFont typeface="Arial"/>
              <a:buAutoNum type="arabicPeriod"/>
            </a:pPr>
            <a:r>
              <a:rPr lang="en-US">
                <a:latin typeface="Arial"/>
                <a:ea typeface="Arial"/>
                <a:cs typeface="Arial"/>
                <a:sym typeface="Arial"/>
              </a:rPr>
              <a:t>Khi cài bằng rpm đầu tiên nó sẽ kiểm tra trong metadata xem có điều kiện gói nào cần cài đặt trc hay k,nếu gói đó được cài đặt r,nó sẽ tiếp tục cài đặt,nếu k nó sẽ thoát ra và báo lỗi,thiếu gói điều kiện.Khi đó ta phải tạm dừng lại và cài đặt gói diều kiện trước.vd như gói A cần B,cài B cần C…. Rất dài như vậy.trường hợp hãn hữu gói A cần B,cài B cần C, cài C cần A,khi dó ta phải làm như thế nào.Ta sử dụng câu lệnhm –nodeps cài đặt bỏ qua điều kiện gói phụ thuộc hoặc cài đồng thời. – force,bình thường nó sẽ kiểm tra nếu được cài dặt r nó sẽ không cài đặt nữa,nếu file chạy bị thiếu hay thế nào đó khi dó ta muốn cài lại, ta them –force vào nó sẽ cài đặt lại bằng mọi cách.</a:t>
            </a:r>
            <a:endParaRPr/>
          </a:p>
          <a:p>
            <a:pPr indent="-228600" lvl="0" marL="228600" rtl="0" algn="l">
              <a:spcBef>
                <a:spcPts val="360"/>
              </a:spcBef>
              <a:spcAft>
                <a:spcPts val="0"/>
              </a:spcAft>
              <a:buClr>
                <a:schemeClr val="dk1"/>
              </a:buClr>
              <a:buSzPts val="1200"/>
              <a:buFont typeface="Arial"/>
              <a:buAutoNum type="arabicPeriod"/>
            </a:pPr>
            <a:r>
              <a:rPr lang="en-US">
                <a:latin typeface="Arial"/>
                <a:ea typeface="Arial"/>
                <a:cs typeface="Arial"/>
                <a:sym typeface="Arial"/>
              </a:rPr>
              <a:t>-u nếu đã được cài đặt phiên bản cũ hơn nó sẽ cài phiên bản mới,nếu chưa cài đặt nó sẽ cài</a:t>
            </a:r>
            <a:endParaRPr/>
          </a:p>
          <a:p>
            <a:pPr indent="-228600" lvl="0" marL="228600" rtl="0" algn="l">
              <a:spcBef>
                <a:spcPts val="360"/>
              </a:spcBef>
              <a:spcAft>
                <a:spcPts val="0"/>
              </a:spcAft>
              <a:buClr>
                <a:schemeClr val="dk1"/>
              </a:buClr>
              <a:buSzPts val="1200"/>
              <a:buFont typeface="Arial"/>
              <a:buAutoNum type="arabicPeriod"/>
            </a:pPr>
            <a:r>
              <a:rPr lang="en-US">
                <a:latin typeface="Arial"/>
                <a:ea typeface="Arial"/>
                <a:cs typeface="Arial"/>
                <a:sym typeface="Arial"/>
              </a:rPr>
              <a:t>-F nếu đã được cài đặt phiên bản cũ hơn nó sẽ cài phiên bản mới,nếu chưa cài đặt nó k cài nữa</a:t>
            </a:r>
            <a:endParaRPr>
              <a:latin typeface="Arial"/>
              <a:ea typeface="Arial"/>
              <a:cs typeface="Arial"/>
              <a:sym typeface="Arial"/>
            </a:endParaRPr>
          </a:p>
          <a:p>
            <a:pPr indent="-228600" lvl="0" marL="228600" rtl="0" algn="l">
              <a:spcBef>
                <a:spcPts val="360"/>
              </a:spcBef>
              <a:spcAft>
                <a:spcPts val="0"/>
              </a:spcAft>
              <a:buClr>
                <a:schemeClr val="dk1"/>
              </a:buClr>
              <a:buSzPts val="1200"/>
              <a:buFont typeface="Arial"/>
              <a:buAutoNum type="arabicPeriod"/>
            </a:pPr>
            <a:r>
              <a:rPr lang="en-US">
                <a:latin typeface="Arial"/>
                <a:ea typeface="Arial"/>
                <a:cs typeface="Arial"/>
                <a:sym typeface="Arial"/>
              </a:rPr>
              <a:t>Link tham khảo: https://news.cloud365.vn/huong-dan-cai-dat-cac-goi-tren-centos-7-su-dung-file-rpm/</a:t>
            </a:r>
            <a:endParaRPr/>
          </a:p>
          <a:p>
            <a:pPr indent="-152400" lvl="0" marL="228600" rtl="0" algn="l">
              <a:spcBef>
                <a:spcPts val="360"/>
              </a:spcBef>
              <a:spcAft>
                <a:spcPts val="0"/>
              </a:spcAft>
              <a:buClr>
                <a:schemeClr val="dk1"/>
              </a:buClr>
              <a:buSzPts val="1200"/>
              <a:buFont typeface="Arial"/>
              <a:buNone/>
            </a:pPr>
            <a:r>
              <a:t/>
            </a:r>
            <a:endParaRPr>
              <a:latin typeface="Arial"/>
              <a:ea typeface="Arial"/>
              <a:cs typeface="Arial"/>
              <a:sym typeface="Arial"/>
            </a:endParaRPr>
          </a:p>
          <a:p>
            <a:pPr indent="-152400" lvl="0" marL="228600" rtl="0" algn="l">
              <a:spcBef>
                <a:spcPts val="360"/>
              </a:spcBef>
              <a:spcAft>
                <a:spcPts val="0"/>
              </a:spcAft>
              <a:buClr>
                <a:schemeClr val="dk1"/>
              </a:buClr>
              <a:buSzPts val="1200"/>
              <a:buFont typeface="Arial"/>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latin typeface="Calibri"/>
              <a:ea typeface="Calibri"/>
              <a:cs typeface="Calibri"/>
              <a:sym typeface="Calibri"/>
            </a:endParaRPr>
          </a:p>
        </p:txBody>
      </p:sp>
      <p:sp>
        <p:nvSpPr>
          <p:cNvPr id="90" name="Google Shape;90;p6: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97" name="Google Shape;97;p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Gỡ gói cài đặt dùng option –e </a:t>
            </a:r>
            <a:endParaRPr/>
          </a:p>
          <a:p>
            <a:pPr indent="0" lvl="0" marL="0" rtl="0" algn="l">
              <a:spcBef>
                <a:spcPts val="360"/>
              </a:spcBef>
              <a:spcAft>
                <a:spcPts val="0"/>
              </a:spcAft>
              <a:buNone/>
            </a:pPr>
            <a:r>
              <a:rPr lang="en-US">
                <a:latin typeface="Arial"/>
                <a:ea typeface="Arial"/>
                <a:cs typeface="Arial"/>
                <a:sym typeface="Arial"/>
              </a:rPr>
              <a:t>Lúc này ta chỉ cần gõ tên pmem k cần gõ </a:t>
            </a:r>
            <a:r>
              <a:rPr lang="en-US"/>
              <a:t>đ</a:t>
            </a:r>
            <a:r>
              <a:rPr lang="en-US">
                <a:latin typeface="Arial"/>
                <a:ea typeface="Arial"/>
                <a:cs typeface="Arial"/>
                <a:sym typeface="Arial"/>
              </a:rPr>
              <a:t>ường dẫn nữa</a:t>
            </a:r>
            <a:endParaRPr>
              <a:latin typeface="Arial"/>
              <a:ea typeface="Arial"/>
              <a:cs typeface="Arial"/>
              <a:sym typeface="Arial"/>
            </a:endParaRPr>
          </a:p>
          <a:p>
            <a:pPr indent="0" lvl="0" marL="0" rtl="0" algn="l">
              <a:spcBef>
                <a:spcPts val="360"/>
              </a:spcBef>
              <a:spcAft>
                <a:spcPts val="0"/>
              </a:spcAft>
              <a:buNone/>
            </a:pPr>
            <a:r>
              <a:rPr lang="en-US">
                <a:latin typeface="Arial"/>
                <a:ea typeface="Arial"/>
                <a:cs typeface="Arial"/>
                <a:sym typeface="Arial"/>
              </a:rPr>
              <a:t>Cài đặt bằng RPM khác với cài đặt bằng source code!!!</a:t>
            </a:r>
            <a:endParaRPr/>
          </a:p>
          <a:p>
            <a:pPr indent="0" lvl="0" marL="0" rtl="0" algn="l">
              <a:spcBef>
                <a:spcPts val="360"/>
              </a:spcBef>
              <a:spcAft>
                <a:spcPts val="0"/>
              </a:spcAft>
              <a:buNone/>
            </a:pPr>
            <a:r>
              <a:rPr lang="en-US">
                <a:latin typeface="Arial"/>
                <a:ea typeface="Arial"/>
                <a:cs typeface="Arial"/>
                <a:sym typeface="Arial"/>
              </a:rPr>
              <a:t>Nếu gỡ nó có </a:t>
            </a:r>
            <a:r>
              <a:rPr lang="en-US"/>
              <a:t>ràng</a:t>
            </a:r>
            <a:r>
              <a:rPr lang="en-US">
                <a:latin typeface="Arial"/>
                <a:ea typeface="Arial"/>
                <a:cs typeface="Arial"/>
                <a:sym typeface="Arial"/>
              </a:rPr>
              <a:t> buộc bởi 1 gói phụ thuộc nào </a:t>
            </a:r>
            <a:r>
              <a:rPr lang="en-US"/>
              <a:t>đ</a:t>
            </a:r>
            <a:r>
              <a:rPr lang="en-US">
                <a:latin typeface="Arial"/>
                <a:ea typeface="Arial"/>
                <a:cs typeface="Arial"/>
                <a:sym typeface="Arial"/>
              </a:rPr>
              <a:t>ó,khi </a:t>
            </a:r>
            <a:r>
              <a:rPr lang="en-US"/>
              <a:t>đ</a:t>
            </a:r>
            <a:r>
              <a:rPr lang="en-US">
                <a:latin typeface="Arial"/>
                <a:ea typeface="Arial"/>
                <a:cs typeface="Arial"/>
                <a:sym typeface="Arial"/>
              </a:rPr>
              <a:t>ó ta k gỡ được,nếu A chạy cần B,để gỡ B thì ta </a:t>
            </a:r>
            <a:r>
              <a:rPr lang="en-US"/>
              <a:t>phải</a:t>
            </a:r>
            <a:r>
              <a:rPr lang="en-US">
                <a:latin typeface="Arial"/>
                <a:ea typeface="Arial"/>
                <a:cs typeface="Arial"/>
                <a:sym typeface="Arial"/>
              </a:rPr>
              <a:t> gỡ  A trước.nếu ta buộc </a:t>
            </a:r>
            <a:r>
              <a:rPr lang="en-US"/>
              <a:t>phải</a:t>
            </a:r>
            <a:r>
              <a:rPr lang="en-US">
                <a:latin typeface="Arial"/>
                <a:ea typeface="Arial"/>
                <a:cs typeface="Arial"/>
                <a:sym typeface="Arial"/>
              </a:rPr>
              <a:t> gỡ gói B ta dùng lệnh –nodeps,khi dó gói A sẽ bị lỗi!!</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latin typeface="Calibri"/>
              <a:ea typeface="Calibri"/>
              <a:cs typeface="Calibri"/>
              <a:sym typeface="Calibri"/>
            </a:endParaRPr>
          </a:p>
        </p:txBody>
      </p:sp>
      <p:sp>
        <p:nvSpPr>
          <p:cNvPr id="98" name="Google Shape;98;p7: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05" name="Google Shape;105;p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Opt –q: truy vấn gói cài đặt</a:t>
            </a:r>
            <a:endParaRPr/>
          </a:p>
          <a:p>
            <a:pPr indent="0" lvl="0" marL="0" rtl="0" algn="l">
              <a:spcBef>
                <a:spcPts val="360"/>
              </a:spcBef>
              <a:spcAft>
                <a:spcPts val="0"/>
              </a:spcAft>
              <a:buNone/>
            </a:pPr>
            <a:r>
              <a:rPr lang="en-US"/>
              <a:t>Opt –p: liệt kê các phần phụ mà gói này cung cấp</a:t>
            </a:r>
            <a:endParaRPr/>
          </a:p>
          <a:p>
            <a:pPr indent="0" lvl="0" marL="0" rtl="0" algn="l">
              <a:spcBef>
                <a:spcPts val="360"/>
              </a:spcBef>
              <a:spcAft>
                <a:spcPts val="0"/>
              </a:spcAft>
              <a:buNone/>
            </a:pPr>
            <a:r>
              <a:rPr lang="en-US"/>
              <a:t>Opt –R: liệt kê các thành phần mà goi này phụ thuộc</a:t>
            </a:r>
            <a:endParaRPr/>
          </a:p>
        </p:txBody>
      </p:sp>
      <p:sp>
        <p:nvSpPr>
          <p:cNvPr id="106" name="Google Shape;106;p8: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13" name="Google Shape;113;p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Dung rpm van co nhuoc diem</a:t>
            </a:r>
            <a:endParaRPr/>
          </a:p>
          <a:p>
            <a:pPr indent="-228600" lvl="0" marL="228600" rtl="0" algn="l">
              <a:spcBef>
                <a:spcPts val="360"/>
              </a:spcBef>
              <a:spcAft>
                <a:spcPts val="0"/>
              </a:spcAft>
              <a:buClr>
                <a:schemeClr val="dk1"/>
              </a:buClr>
              <a:buSzPts val="1200"/>
              <a:buFont typeface="Arial"/>
              <a:buAutoNum type="arabicPeriod"/>
            </a:pPr>
            <a:r>
              <a:rPr lang="en-US">
                <a:latin typeface="Arial"/>
                <a:ea typeface="Arial"/>
                <a:cs typeface="Arial"/>
                <a:sym typeface="Arial"/>
              </a:rPr>
              <a:t>Tu tim file rpm ve cai,va tu tim package phu thuoc ve cai</a:t>
            </a:r>
            <a:endParaRPr/>
          </a:p>
          <a:p>
            <a:pPr indent="-228600" lvl="0" marL="228600" rtl="0" algn="l">
              <a:spcBef>
                <a:spcPts val="360"/>
              </a:spcBef>
              <a:spcAft>
                <a:spcPts val="0"/>
              </a:spcAft>
              <a:buClr>
                <a:schemeClr val="dk1"/>
              </a:buClr>
              <a:buSzPts val="1200"/>
              <a:buFont typeface="Arial"/>
              <a:buAutoNum type="arabicPeriod"/>
            </a:pPr>
            <a:r>
              <a:rPr lang="en-US">
                <a:latin typeface="Arial"/>
                <a:ea typeface="Arial"/>
                <a:cs typeface="Arial"/>
                <a:sym typeface="Arial"/>
              </a:rPr>
              <a:t>Cach cao cap hon 1 chut giup quan ly cac package.Xay dung 1 kho tren may tinh hoac tren mang.trong kho do chua tat ca cac file rpm.khi can cai dat no se tim trong kho.va loi ra cài đặt,nếu gặp lỗi thiếu gói phụ thuộc</a:t>
            </a:r>
            <a:endParaRPr/>
          </a:p>
          <a:p>
            <a:pPr indent="-228600" lvl="0" marL="228600" rtl="0" algn="l">
              <a:spcBef>
                <a:spcPts val="360"/>
              </a:spcBef>
              <a:spcAft>
                <a:spcPts val="0"/>
              </a:spcAft>
              <a:buClr>
                <a:schemeClr val="dk1"/>
              </a:buClr>
              <a:buSzPts val="1200"/>
              <a:buFont typeface="Arial"/>
              <a:buAutoNum type="arabicPeriod"/>
            </a:pPr>
            <a:r>
              <a:rPr lang="en-US">
                <a:latin typeface="Arial"/>
                <a:ea typeface="Arial"/>
                <a:cs typeface="Arial"/>
                <a:sym typeface="Arial"/>
              </a:rPr>
              <a:t>Bản chất nó là công cụ quản lý rpm</a:t>
            </a:r>
            <a:endParaRPr/>
          </a:p>
          <a:p>
            <a:pPr indent="-228600" lvl="0" marL="228600" rtl="0" algn="l">
              <a:spcBef>
                <a:spcPts val="360"/>
              </a:spcBef>
              <a:spcAft>
                <a:spcPts val="0"/>
              </a:spcAft>
              <a:buClr>
                <a:schemeClr val="dk1"/>
              </a:buClr>
              <a:buSzPts val="1200"/>
              <a:buFont typeface="Arial"/>
              <a:buAutoNum type="arabicPeriod"/>
            </a:pPr>
            <a:r>
              <a:rPr lang="en-US">
                <a:latin typeface="Arial"/>
                <a:ea typeface="Arial"/>
                <a:cs typeface="Arial"/>
                <a:sym typeface="Arial"/>
              </a:rPr>
              <a:t>Với mỗi 1 hệ thống khác nhau ta có công cụ quản lý khác nhau</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latin typeface="Calibri"/>
              <a:ea typeface="Calibri"/>
              <a:cs typeface="Calibri"/>
              <a:sym typeface="Calibri"/>
            </a:endParaRPr>
          </a:p>
        </p:txBody>
      </p:sp>
      <p:sp>
        <p:nvSpPr>
          <p:cNvPr id="114" name="Google Shape;114;p9: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1" name="Google Shape;121;p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Cách tạo ra 1 kho</a:t>
            </a:r>
            <a:endParaRPr/>
          </a:p>
          <a:p>
            <a:pPr indent="0" lvl="0" marL="0" rtl="0" algn="l">
              <a:spcBef>
                <a:spcPts val="360"/>
              </a:spcBef>
              <a:spcAft>
                <a:spcPts val="0"/>
              </a:spcAft>
              <a:buNone/>
            </a:pPr>
            <a:r>
              <a:rPr lang="en-US">
                <a:latin typeface="Arial"/>
                <a:ea typeface="Arial"/>
                <a:cs typeface="Arial"/>
                <a:sym typeface="Arial"/>
              </a:rPr>
              <a:t>Cấu hình : chỉ ra kho nằm ở đầu, /etc/yum.conf</a:t>
            </a:r>
            <a:endParaRPr/>
          </a:p>
          <a:p>
            <a:pPr indent="0" lvl="0" marL="0" rtl="0" algn="l">
              <a:spcBef>
                <a:spcPts val="360"/>
              </a:spcBef>
              <a:spcAft>
                <a:spcPts val="0"/>
              </a:spcAft>
              <a:buNone/>
            </a:pPr>
            <a:r>
              <a:t/>
            </a:r>
            <a:endParaRPr>
              <a:latin typeface="Calibri"/>
              <a:ea typeface="Calibri"/>
              <a:cs typeface="Calibri"/>
              <a:sym typeface="Calibri"/>
            </a:endParaRPr>
          </a:p>
        </p:txBody>
      </p:sp>
      <p:sp>
        <p:nvSpPr>
          <p:cNvPr id="122" name="Google Shape;122;p10: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0" name="Google Shape;130;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f080f7e13d_0_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7" name="Google Shape;137;g2f080f7e13d_0_2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38" name="Google Shape;138;g2f080f7e13d_0_20: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45" name="Google Shape;145;p1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Link down: </a:t>
            </a:r>
            <a:r>
              <a:rPr b="0" i="0" lang="en-US" sz="1200">
                <a:solidFill>
                  <a:schemeClr val="dk1"/>
                </a:solidFill>
                <a:latin typeface="Arial"/>
                <a:ea typeface="Arial"/>
                <a:cs typeface="Arial"/>
                <a:sym typeface="Arial"/>
              </a:rPr>
              <a:t>http://ports.ubuntu.com/pool/universe/n/netkit-telnet-ssl/telnetd-ssl_0.17.41+0.2-3.3build2_arm64.deb</a:t>
            </a:r>
            <a:endParaRPr/>
          </a:p>
          <a:p>
            <a:pPr indent="0" lvl="0" marL="0" rtl="0" algn="l">
              <a:spcBef>
                <a:spcPts val="360"/>
              </a:spcBef>
              <a:spcAft>
                <a:spcPts val="0"/>
              </a:spcAft>
              <a:buNone/>
            </a:pPr>
            <a:r>
              <a:rPr b="0" i="0" lang="en-US" sz="1200">
                <a:solidFill>
                  <a:schemeClr val="dk1"/>
                </a:solidFill>
                <a:latin typeface="Arial"/>
                <a:ea typeface="Arial"/>
                <a:cs typeface="Arial"/>
                <a:sym typeface="Arial"/>
              </a:rPr>
              <a:t>Gói cài đặt dịch vụ telnet server hỗ trợ mã hóa ssl</a:t>
            </a:r>
            <a:endParaRPr b="0" i="0" sz="1200">
              <a:solidFill>
                <a:schemeClr val="dk1"/>
              </a:solidFill>
              <a:latin typeface="Arial"/>
              <a:ea typeface="Arial"/>
              <a:cs typeface="Arial"/>
              <a:sym typeface="Arial"/>
            </a:endParaRPr>
          </a:p>
          <a:p>
            <a:pPr indent="0" lvl="0" marL="0" marR="0" rtl="0" algn="l">
              <a:lnSpc>
                <a:spcPct val="100000"/>
              </a:lnSpc>
              <a:spcBef>
                <a:spcPts val="360"/>
              </a:spcBef>
              <a:spcAft>
                <a:spcPts val="0"/>
              </a:spcAft>
              <a:buClr>
                <a:schemeClr val="dk1"/>
              </a:buClr>
              <a:buSzPts val="1200"/>
              <a:buFont typeface="Arial"/>
              <a:buNone/>
            </a:pPr>
            <a:r>
              <a:rPr lang="en-US"/>
              <a:t>Wget </a:t>
            </a:r>
            <a:r>
              <a:rPr b="0" i="0" lang="en-US" sz="1200">
                <a:solidFill>
                  <a:schemeClr val="dk1"/>
                </a:solidFill>
                <a:latin typeface="Arial"/>
                <a:ea typeface="Arial"/>
                <a:cs typeface="Arial"/>
                <a:sym typeface="Arial"/>
              </a:rPr>
              <a:t>http://ports.ubuntu.com/pool/universe/n/netkit-telnet-ssl/telnetd-ssl_0.17.41+0.2-3.3build2_arm64.deb</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Enable firewall</a:t>
            </a:r>
            <a:endParaRPr/>
          </a:p>
          <a:p>
            <a:pPr indent="0" lvl="0" marL="0" rtl="0" algn="l">
              <a:spcBef>
                <a:spcPts val="360"/>
              </a:spcBef>
              <a:spcAft>
                <a:spcPts val="0"/>
              </a:spcAft>
              <a:buNone/>
            </a:pPr>
            <a:r>
              <a:rPr lang="en-US"/>
              <a:t>Sudo ufw status -&gt; kiểm tra trạng thái</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Allow port trước khi enable để tránh bị mất kết nối</a:t>
            </a:r>
            <a:endParaRPr/>
          </a:p>
          <a:p>
            <a:pPr indent="0" lvl="0" marL="0" rtl="0" algn="l">
              <a:spcBef>
                <a:spcPts val="360"/>
              </a:spcBef>
              <a:spcAft>
                <a:spcPts val="0"/>
              </a:spcAft>
              <a:buNone/>
            </a:pPr>
            <a:r>
              <a:rPr lang="en-US"/>
              <a:t>Sudo ufw add 22 -&gt; mở port 22 cho ssh</a:t>
            </a:r>
            <a:endParaRPr/>
          </a:p>
          <a:p>
            <a:pPr indent="0" lvl="0" marL="0" marR="0" rtl="0" algn="l">
              <a:lnSpc>
                <a:spcPct val="100000"/>
              </a:lnSpc>
              <a:spcBef>
                <a:spcPts val="360"/>
              </a:spcBef>
              <a:spcAft>
                <a:spcPts val="0"/>
              </a:spcAft>
              <a:buClr>
                <a:schemeClr val="dk1"/>
              </a:buClr>
              <a:buSzPts val="1200"/>
              <a:buFont typeface="Arial"/>
              <a:buNone/>
            </a:pPr>
            <a:r>
              <a:rPr lang="en-US"/>
              <a:t>Sudo ufw add 23 -&gt; mở port 23 cho telnet</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Sudo ufw enable -&gt; bật firewall</a:t>
            </a:r>
            <a:endParaRPr/>
          </a:p>
          <a:p>
            <a:pPr indent="0" lvl="0" marL="0" rtl="0" algn="l">
              <a:spcBef>
                <a:spcPts val="360"/>
              </a:spcBef>
              <a:spcAft>
                <a:spcPts val="0"/>
              </a:spcAft>
              <a:buNone/>
            </a:pPr>
            <a:r>
              <a:t/>
            </a:r>
            <a:endParaRPr/>
          </a:p>
        </p:txBody>
      </p:sp>
      <p:sp>
        <p:nvSpPr>
          <p:cNvPr id="146" name="Google Shape;146;p13: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53" name="Google Shape;153;p1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Dùng apt search telnet  ssl</a:t>
            </a:r>
            <a:endParaRPr/>
          </a:p>
        </p:txBody>
      </p:sp>
      <p:sp>
        <p:nvSpPr>
          <p:cNvPr id="154" name="Google Shape;154;p14: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f080f7e13d_0_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61" name="Google Shape;161;g2f080f7e13d_0_3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162" name="Google Shape;162;g2f080f7e13d_0_33: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9" name="Google Shape;169;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6" name="Google Shape;176;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3" name="Google Shape;183;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0" name="Google Shape;190;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2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7" name="Google Shape;197;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4" name="Google Shape;204;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7" name="Google Shape;17;p2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8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18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18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18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18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18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18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18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1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24"/>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1" name="Google Shape;21;p24"/>
          <p:cNvSpPr txBox="1"/>
          <p:nvPr>
            <p:ph idx="1" type="body"/>
          </p:nvPr>
        </p:nvSpPr>
        <p:spPr>
          <a:xfrm>
            <a:off x="381000" y="1066800"/>
            <a:ext cx="10515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 name="Google Shape;22;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8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18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18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18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18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18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18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18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1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25"/>
          <p:cNvSpPr txBox="1"/>
          <p:nvPr>
            <p:ph type="title"/>
          </p:nvPr>
        </p:nvSpPr>
        <p:spPr>
          <a:xfrm>
            <a:off x="228600" y="194392"/>
            <a:ext cx="10515600" cy="54451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5" name="Google Shape;25;p25"/>
          <p:cNvSpPr txBox="1"/>
          <p:nvPr>
            <p:ph idx="1" type="body"/>
          </p:nvPr>
        </p:nvSpPr>
        <p:spPr>
          <a:xfrm>
            <a:off x="457200" y="1066800"/>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25"/>
          <p:cNvSpPr txBox="1"/>
          <p:nvPr>
            <p:ph idx="2" type="body"/>
          </p:nvPr>
        </p:nvSpPr>
        <p:spPr>
          <a:xfrm>
            <a:off x="6209071" y="1102954"/>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8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18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18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18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18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18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18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18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1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28" name="Shape 28"/>
        <p:cNvGrpSpPr/>
        <p:nvPr/>
      </p:nvGrpSpPr>
      <p:grpSpPr>
        <a:xfrm>
          <a:off x="0" y="0"/>
          <a:ext cx="0" cy="0"/>
          <a:chOff x="0" y="0"/>
          <a:chExt cx="0" cy="0"/>
        </a:xfrm>
      </p:grpSpPr>
      <p:sp>
        <p:nvSpPr>
          <p:cNvPr id="29" name="Google Shape;29;p26"/>
          <p:cNvSpPr txBox="1"/>
          <p:nvPr>
            <p:ph type="title"/>
          </p:nvPr>
        </p:nvSpPr>
        <p:spPr>
          <a:xfrm>
            <a:off x="228600" y="125413"/>
            <a:ext cx="10390716" cy="70167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0" name="Google Shape;30;p26"/>
          <p:cNvSpPr txBox="1"/>
          <p:nvPr>
            <p:ph idx="1" type="body"/>
          </p:nvPr>
        </p:nvSpPr>
        <p:spPr>
          <a:xfrm>
            <a:off x="457200" y="1124743"/>
            <a:ext cx="5080000" cy="4608513"/>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26"/>
          <p:cNvSpPr txBox="1"/>
          <p:nvPr>
            <p:ph idx="2" type="body"/>
          </p:nvPr>
        </p:nvSpPr>
        <p:spPr>
          <a:xfrm>
            <a:off x="6858000" y="1124743"/>
            <a:ext cx="5080000" cy="4608513"/>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8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18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18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18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18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18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18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18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1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Over Content" type="txOverObj">
  <p:cSld name="TEXT_OVER_OBJECT">
    <p:spTree>
      <p:nvGrpSpPr>
        <p:cNvPr id="33" name="Shape 33"/>
        <p:cNvGrpSpPr/>
        <p:nvPr/>
      </p:nvGrpSpPr>
      <p:grpSpPr>
        <a:xfrm>
          <a:off x="0" y="0"/>
          <a:ext cx="0" cy="0"/>
          <a:chOff x="0" y="0"/>
          <a:chExt cx="0" cy="0"/>
        </a:xfrm>
      </p:grpSpPr>
      <p:sp>
        <p:nvSpPr>
          <p:cNvPr id="34" name="Google Shape;34;p27"/>
          <p:cNvSpPr txBox="1"/>
          <p:nvPr>
            <p:ph type="title"/>
          </p:nvPr>
        </p:nvSpPr>
        <p:spPr>
          <a:xfrm>
            <a:off x="228600" y="210344"/>
            <a:ext cx="10390716" cy="56038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5" name="Google Shape;35;p27"/>
          <p:cNvSpPr txBox="1"/>
          <p:nvPr>
            <p:ph idx="1" type="body"/>
          </p:nvPr>
        </p:nvSpPr>
        <p:spPr>
          <a:xfrm>
            <a:off x="457200" y="990600"/>
            <a:ext cx="10363200" cy="2227263"/>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7"/>
          <p:cNvSpPr txBox="1"/>
          <p:nvPr>
            <p:ph idx="2" type="body"/>
          </p:nvPr>
        </p:nvSpPr>
        <p:spPr>
          <a:xfrm>
            <a:off x="518652" y="3429000"/>
            <a:ext cx="10363200" cy="222885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8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18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18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18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18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18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18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18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1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2 Content" type="txAndTwoObj">
  <p:cSld name="TEXT_AND_TWO_OBJECTS">
    <p:spTree>
      <p:nvGrpSpPr>
        <p:cNvPr id="38" name="Shape 38"/>
        <p:cNvGrpSpPr/>
        <p:nvPr/>
      </p:nvGrpSpPr>
      <p:grpSpPr>
        <a:xfrm>
          <a:off x="0" y="0"/>
          <a:ext cx="0" cy="0"/>
          <a:chOff x="0" y="0"/>
          <a:chExt cx="0" cy="0"/>
        </a:xfrm>
      </p:grpSpPr>
      <p:sp>
        <p:nvSpPr>
          <p:cNvPr id="39" name="Google Shape;39;p28"/>
          <p:cNvSpPr txBox="1"/>
          <p:nvPr>
            <p:ph type="title"/>
          </p:nvPr>
        </p:nvSpPr>
        <p:spPr>
          <a:xfrm>
            <a:off x="304800" y="136525"/>
            <a:ext cx="10390716" cy="63658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0" name="Google Shape;40;p28"/>
          <p:cNvSpPr txBox="1"/>
          <p:nvPr>
            <p:ph idx="1" type="body"/>
          </p:nvPr>
        </p:nvSpPr>
        <p:spPr>
          <a:xfrm>
            <a:off x="437364" y="990600"/>
            <a:ext cx="5080000" cy="4608513"/>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28"/>
          <p:cNvSpPr txBox="1"/>
          <p:nvPr>
            <p:ph idx="2" type="body"/>
          </p:nvPr>
        </p:nvSpPr>
        <p:spPr>
          <a:xfrm>
            <a:off x="6674638" y="1025013"/>
            <a:ext cx="5080000" cy="2227263"/>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8"/>
          <p:cNvSpPr txBox="1"/>
          <p:nvPr>
            <p:ph idx="3" type="body"/>
          </p:nvPr>
        </p:nvSpPr>
        <p:spPr>
          <a:xfrm>
            <a:off x="6674638" y="3396739"/>
            <a:ext cx="5080000" cy="222885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8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18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18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18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18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18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18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18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1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4.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descr="Graphical user interface, text, application, email&#10;&#10;Description automatically generated" id="10" name="Google Shape;10;p22"/>
          <p:cNvPicPr preferRelativeResize="0"/>
          <p:nvPr/>
        </p:nvPicPr>
        <p:blipFill rotWithShape="1">
          <a:blip r:embed="rId1">
            <a:alphaModFix/>
          </a:blip>
          <a:srcRect b="0" l="0" r="0" t="0"/>
          <a:stretch/>
        </p:blipFill>
        <p:spPr>
          <a:xfrm>
            <a:off x="0" y="6350"/>
            <a:ext cx="12192000" cy="6845300"/>
          </a:xfrm>
          <a:prstGeom prst="rect">
            <a:avLst/>
          </a:prstGeom>
          <a:noFill/>
          <a:ln>
            <a:noFill/>
          </a:ln>
        </p:spPr>
      </p:pic>
      <p:sp>
        <p:nvSpPr>
          <p:cNvPr id="11" name="Google Shape;11;p22"/>
          <p:cNvSpPr txBox="1"/>
          <p:nvPr>
            <p:ph type="title"/>
          </p:nvPr>
        </p:nvSpPr>
        <p:spPr>
          <a:xfrm>
            <a:off x="228600" y="136525"/>
            <a:ext cx="10515600" cy="544513"/>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1" i="0" sz="3200" u="none" cap="none" strike="noStrike">
                <a:solidFill>
                  <a:srgbClr val="007ABF"/>
                </a:solidFill>
                <a:latin typeface="Arial"/>
                <a:ea typeface="Arial"/>
                <a:cs typeface="Arial"/>
                <a:sym typeface="Arial"/>
              </a:defRPr>
            </a:lvl1pPr>
            <a:lvl2pPr lvl="1" marR="0" rtl="0" algn="l">
              <a:lnSpc>
                <a:spcPct val="90000"/>
              </a:lnSpc>
              <a:spcBef>
                <a:spcPts val="0"/>
              </a:spcBef>
              <a:spcAft>
                <a:spcPts val="0"/>
              </a:spcAft>
              <a:buSzPts val="1400"/>
              <a:buNone/>
              <a:defRPr b="1" i="0" sz="3200" u="none" cap="none" strike="noStrike">
                <a:solidFill>
                  <a:srgbClr val="007ABF"/>
                </a:solidFill>
                <a:latin typeface="Arial"/>
                <a:ea typeface="Arial"/>
                <a:cs typeface="Arial"/>
                <a:sym typeface="Arial"/>
              </a:defRPr>
            </a:lvl2pPr>
            <a:lvl3pPr lvl="2" marR="0" rtl="0" algn="l">
              <a:lnSpc>
                <a:spcPct val="90000"/>
              </a:lnSpc>
              <a:spcBef>
                <a:spcPts val="0"/>
              </a:spcBef>
              <a:spcAft>
                <a:spcPts val="0"/>
              </a:spcAft>
              <a:buSzPts val="1400"/>
              <a:buNone/>
              <a:defRPr b="1" i="0" sz="3200" u="none" cap="none" strike="noStrike">
                <a:solidFill>
                  <a:srgbClr val="007ABF"/>
                </a:solidFill>
                <a:latin typeface="Arial"/>
                <a:ea typeface="Arial"/>
                <a:cs typeface="Arial"/>
                <a:sym typeface="Arial"/>
              </a:defRPr>
            </a:lvl3pPr>
            <a:lvl4pPr lvl="3" marR="0" rtl="0" algn="l">
              <a:lnSpc>
                <a:spcPct val="90000"/>
              </a:lnSpc>
              <a:spcBef>
                <a:spcPts val="0"/>
              </a:spcBef>
              <a:spcAft>
                <a:spcPts val="0"/>
              </a:spcAft>
              <a:buSzPts val="1400"/>
              <a:buNone/>
              <a:defRPr b="1" i="0" sz="3200" u="none" cap="none" strike="noStrike">
                <a:solidFill>
                  <a:srgbClr val="007ABF"/>
                </a:solidFill>
                <a:latin typeface="Arial"/>
                <a:ea typeface="Arial"/>
                <a:cs typeface="Arial"/>
                <a:sym typeface="Arial"/>
              </a:defRPr>
            </a:lvl4pPr>
            <a:lvl5pPr lvl="4" marR="0" rtl="0" algn="l">
              <a:lnSpc>
                <a:spcPct val="90000"/>
              </a:lnSpc>
              <a:spcBef>
                <a:spcPts val="0"/>
              </a:spcBef>
              <a:spcAft>
                <a:spcPts val="0"/>
              </a:spcAft>
              <a:buSzPts val="1400"/>
              <a:buNone/>
              <a:defRPr b="1" i="0" sz="3200" u="none" cap="none" strike="noStrike">
                <a:solidFill>
                  <a:srgbClr val="007ABF"/>
                </a:solidFill>
                <a:latin typeface="Arial"/>
                <a:ea typeface="Arial"/>
                <a:cs typeface="Arial"/>
                <a:sym typeface="Arial"/>
              </a:defRPr>
            </a:lvl5pPr>
            <a:lvl6pPr lvl="5" marR="0" rtl="0" algn="l">
              <a:lnSpc>
                <a:spcPct val="90000"/>
              </a:lnSpc>
              <a:spcBef>
                <a:spcPts val="0"/>
              </a:spcBef>
              <a:spcAft>
                <a:spcPts val="0"/>
              </a:spcAft>
              <a:buSzPts val="1400"/>
              <a:buNone/>
              <a:defRPr b="1" i="0" sz="3200" u="none" cap="none" strike="noStrike">
                <a:solidFill>
                  <a:srgbClr val="007ABF"/>
                </a:solidFill>
                <a:latin typeface="Arial"/>
                <a:ea typeface="Arial"/>
                <a:cs typeface="Arial"/>
                <a:sym typeface="Arial"/>
              </a:defRPr>
            </a:lvl6pPr>
            <a:lvl7pPr lvl="6" marR="0" rtl="0" algn="l">
              <a:lnSpc>
                <a:spcPct val="90000"/>
              </a:lnSpc>
              <a:spcBef>
                <a:spcPts val="0"/>
              </a:spcBef>
              <a:spcAft>
                <a:spcPts val="0"/>
              </a:spcAft>
              <a:buSzPts val="1400"/>
              <a:buNone/>
              <a:defRPr b="1" i="0" sz="3200" u="none" cap="none" strike="noStrike">
                <a:solidFill>
                  <a:srgbClr val="007ABF"/>
                </a:solidFill>
                <a:latin typeface="Arial"/>
                <a:ea typeface="Arial"/>
                <a:cs typeface="Arial"/>
                <a:sym typeface="Arial"/>
              </a:defRPr>
            </a:lvl7pPr>
            <a:lvl8pPr lvl="7" marR="0" rtl="0" algn="l">
              <a:lnSpc>
                <a:spcPct val="90000"/>
              </a:lnSpc>
              <a:spcBef>
                <a:spcPts val="0"/>
              </a:spcBef>
              <a:spcAft>
                <a:spcPts val="0"/>
              </a:spcAft>
              <a:buSzPts val="1400"/>
              <a:buNone/>
              <a:defRPr b="1" i="0" sz="3200" u="none" cap="none" strike="noStrike">
                <a:solidFill>
                  <a:srgbClr val="007ABF"/>
                </a:solidFill>
                <a:latin typeface="Arial"/>
                <a:ea typeface="Arial"/>
                <a:cs typeface="Arial"/>
                <a:sym typeface="Arial"/>
              </a:defRPr>
            </a:lvl8pPr>
            <a:lvl9pPr lvl="8" marR="0" rtl="0" algn="l">
              <a:lnSpc>
                <a:spcPct val="90000"/>
              </a:lnSpc>
              <a:spcBef>
                <a:spcPts val="0"/>
              </a:spcBef>
              <a:spcAft>
                <a:spcPts val="0"/>
              </a:spcAft>
              <a:buSzPts val="1400"/>
              <a:buNone/>
              <a:defRPr b="1" i="0" sz="3200" u="none" cap="none" strike="noStrike">
                <a:solidFill>
                  <a:srgbClr val="007ABF"/>
                </a:solidFill>
                <a:latin typeface="Arial"/>
                <a:ea typeface="Arial"/>
                <a:cs typeface="Arial"/>
                <a:sym typeface="Arial"/>
              </a:defRPr>
            </a:lvl9pPr>
          </a:lstStyle>
          <a:p/>
        </p:txBody>
      </p:sp>
      <p:sp>
        <p:nvSpPr>
          <p:cNvPr id="12" name="Google Shape;12;p22"/>
          <p:cNvSpPr txBox="1"/>
          <p:nvPr>
            <p:ph idx="1" type="body"/>
          </p:nvPr>
        </p:nvSpPr>
        <p:spPr>
          <a:xfrm>
            <a:off x="341313" y="1252538"/>
            <a:ext cx="10515600" cy="4351337"/>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 name="Google Shape;13;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800" u="none" cap="none" strike="noStrike">
                <a:solidFill>
                  <a:schemeClr val="dk1"/>
                </a:solidFill>
                <a:latin typeface="Arial"/>
                <a:ea typeface="Arial"/>
                <a:cs typeface="Arial"/>
                <a:sym typeface="Arial"/>
              </a:defRPr>
            </a:lvl1pPr>
            <a:lvl2pPr indent="0" lvl="1" marL="0" marR="0" rtl="0" algn="r">
              <a:spcBef>
                <a:spcPts val="0"/>
              </a:spcBef>
              <a:spcAft>
                <a:spcPts val="0"/>
              </a:spcAft>
              <a:buNone/>
              <a:defRPr b="0" i="0" sz="1800" u="none" cap="none" strike="noStrike">
                <a:solidFill>
                  <a:schemeClr val="dk1"/>
                </a:solidFill>
                <a:latin typeface="Arial"/>
                <a:ea typeface="Arial"/>
                <a:cs typeface="Arial"/>
                <a:sym typeface="Arial"/>
              </a:defRPr>
            </a:lvl2pPr>
            <a:lvl3pPr indent="0" lvl="2" marL="0" marR="0" rtl="0" algn="r">
              <a:spcBef>
                <a:spcPts val="0"/>
              </a:spcBef>
              <a:spcAft>
                <a:spcPts val="0"/>
              </a:spcAft>
              <a:buNone/>
              <a:defRPr b="0" i="0" sz="1800" u="none" cap="none" strike="noStrike">
                <a:solidFill>
                  <a:schemeClr val="dk1"/>
                </a:solidFill>
                <a:latin typeface="Arial"/>
                <a:ea typeface="Arial"/>
                <a:cs typeface="Arial"/>
                <a:sym typeface="Arial"/>
              </a:defRPr>
            </a:lvl3pPr>
            <a:lvl4pPr indent="0" lvl="3" marL="0" marR="0" rtl="0" algn="r">
              <a:spcBef>
                <a:spcPts val="0"/>
              </a:spcBef>
              <a:spcAft>
                <a:spcPts val="0"/>
              </a:spcAft>
              <a:buNone/>
              <a:defRPr b="0" i="0" sz="1800" u="none" cap="none" strike="noStrike">
                <a:solidFill>
                  <a:schemeClr val="dk1"/>
                </a:solidFill>
                <a:latin typeface="Arial"/>
                <a:ea typeface="Arial"/>
                <a:cs typeface="Arial"/>
                <a:sym typeface="Arial"/>
              </a:defRPr>
            </a:lvl4pPr>
            <a:lvl5pPr indent="0" lvl="4" marL="0" marR="0" rtl="0" algn="r">
              <a:spcBef>
                <a:spcPts val="0"/>
              </a:spcBef>
              <a:spcAft>
                <a:spcPts val="0"/>
              </a:spcAft>
              <a:buNone/>
              <a:defRPr b="0" i="0" sz="1800" u="none" cap="none" strike="noStrike">
                <a:solidFill>
                  <a:schemeClr val="dk1"/>
                </a:solidFill>
                <a:latin typeface="Arial"/>
                <a:ea typeface="Arial"/>
                <a:cs typeface="Arial"/>
                <a:sym typeface="Arial"/>
              </a:defRPr>
            </a:lvl5pPr>
            <a:lvl6pPr indent="0" lvl="5" marL="0" marR="0" rtl="0" algn="r">
              <a:spcBef>
                <a:spcPts val="0"/>
              </a:spcBef>
              <a:spcAft>
                <a:spcPts val="0"/>
              </a:spcAft>
              <a:buNone/>
              <a:defRPr b="0" i="0" sz="1800" u="none" cap="none" strike="noStrike">
                <a:solidFill>
                  <a:schemeClr val="dk1"/>
                </a:solidFill>
                <a:latin typeface="Arial"/>
                <a:ea typeface="Arial"/>
                <a:cs typeface="Arial"/>
                <a:sym typeface="Arial"/>
              </a:defRPr>
            </a:lvl6pPr>
            <a:lvl7pPr indent="0" lvl="6" marL="0" marR="0" rtl="0" algn="r">
              <a:spcBef>
                <a:spcPts val="0"/>
              </a:spcBef>
              <a:spcAft>
                <a:spcPts val="0"/>
              </a:spcAft>
              <a:buNone/>
              <a:defRPr b="0" i="0" sz="1800" u="none" cap="none" strike="noStrike">
                <a:solidFill>
                  <a:schemeClr val="dk1"/>
                </a:solidFill>
                <a:latin typeface="Arial"/>
                <a:ea typeface="Arial"/>
                <a:cs typeface="Arial"/>
                <a:sym typeface="Arial"/>
              </a:defRPr>
            </a:lvl7pPr>
            <a:lvl8pPr indent="0" lvl="7" marL="0" marR="0" rtl="0" algn="r">
              <a:spcBef>
                <a:spcPts val="0"/>
              </a:spcBef>
              <a:spcAft>
                <a:spcPts val="0"/>
              </a:spcAft>
              <a:buNone/>
              <a:defRPr b="0" i="0" sz="1800" u="none" cap="none" strike="noStrike">
                <a:solidFill>
                  <a:schemeClr val="dk1"/>
                </a:solidFill>
                <a:latin typeface="Arial"/>
                <a:ea typeface="Arial"/>
                <a:cs typeface="Arial"/>
                <a:sym typeface="Arial"/>
              </a:defRPr>
            </a:lvl8pPr>
            <a:lvl9pPr indent="0" lvl="8" marL="0" marR="0" rtl="0" algn="r">
              <a:spcBef>
                <a:spcPts val="0"/>
              </a:spcBef>
              <a:spcAft>
                <a:spcPts val="0"/>
              </a:spcAft>
              <a:buNone/>
              <a:defRPr b="0" i="0" sz="1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4" name="Google Shape;14;p22"/>
          <p:cNvSpPr txBox="1"/>
          <p:nvPr/>
        </p:nvSpPr>
        <p:spPr>
          <a:xfrm>
            <a:off x="317500" y="6356350"/>
            <a:ext cx="1422400" cy="3540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700" u="none" cap="none" strike="noStrike">
                <a:solidFill>
                  <a:schemeClr val="lt1"/>
                </a:solidFill>
                <a:latin typeface="Arial"/>
                <a:ea typeface="Arial"/>
                <a:cs typeface="Arial"/>
                <a:sym typeface="Arial"/>
              </a:rPr>
              <a:t>FE Program</a:t>
            </a:r>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 name="Shape 47"/>
        <p:cNvGrpSpPr/>
        <p:nvPr/>
      </p:nvGrpSpPr>
      <p:grpSpPr>
        <a:xfrm>
          <a:off x="0" y="0"/>
          <a:ext cx="0" cy="0"/>
          <a:chOff x="0" y="0"/>
          <a:chExt cx="0" cy="0"/>
        </a:xfrm>
      </p:grpSpPr>
      <p:pic>
        <p:nvPicPr>
          <p:cNvPr id="48" name="Google Shape;48;p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9" name="Google Shape;49;p1"/>
          <p:cNvSpPr txBox="1"/>
          <p:nvPr/>
        </p:nvSpPr>
        <p:spPr>
          <a:xfrm>
            <a:off x="83820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E7E6E6"/>
              </a:buClr>
              <a:buSzPts val="1400"/>
              <a:buFont typeface="Arial"/>
              <a:buNone/>
            </a:pPr>
            <a:fld id="{00000000-1234-1234-1234-123412341234}" type="slidenum">
              <a:rPr b="0" i="0" lang="en-US" sz="1800" u="none" cap="none" strike="noStrike">
                <a:solidFill>
                  <a:srgbClr val="E7E6E6"/>
                </a:solidFill>
                <a:latin typeface="Tahoma"/>
                <a:ea typeface="Tahoma"/>
                <a:cs typeface="Tahoma"/>
                <a:sym typeface="Tahoma"/>
              </a:rPr>
              <a:t>‹#›</a:t>
            </a:fld>
            <a:endParaRPr b="0" i="0" sz="1800" u="none" cap="none" strike="noStrike">
              <a:solidFill>
                <a:schemeClr val="dk1"/>
              </a:solidFill>
              <a:latin typeface="Calibri"/>
              <a:ea typeface="Calibri"/>
              <a:cs typeface="Calibri"/>
              <a:sym typeface="Calibri"/>
            </a:endParaRPr>
          </a:p>
        </p:txBody>
      </p:sp>
      <p:pic>
        <p:nvPicPr>
          <p:cNvPr descr="A picture containing drawing&#10;&#10;Description automatically generated" id="50" name="Google Shape;50;p1"/>
          <p:cNvPicPr preferRelativeResize="0"/>
          <p:nvPr/>
        </p:nvPicPr>
        <p:blipFill rotWithShape="1">
          <a:blip r:embed="rId4">
            <a:alphaModFix/>
          </a:blip>
          <a:srcRect b="16351" l="5000" r="5000" t="13557"/>
          <a:stretch/>
        </p:blipFill>
        <p:spPr>
          <a:xfrm>
            <a:off x="504825" y="258763"/>
            <a:ext cx="3989388" cy="838200"/>
          </a:xfrm>
          <a:prstGeom prst="rect">
            <a:avLst/>
          </a:prstGeom>
          <a:noFill/>
          <a:ln>
            <a:noFill/>
          </a:ln>
        </p:spPr>
      </p:pic>
      <p:sp>
        <p:nvSpPr>
          <p:cNvPr id="51" name="Google Shape;51;p1"/>
          <p:cNvSpPr/>
          <p:nvPr/>
        </p:nvSpPr>
        <p:spPr>
          <a:xfrm>
            <a:off x="5978525" y="3275013"/>
            <a:ext cx="23495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Calibri"/>
                <a:ea typeface="Calibri"/>
                <a:cs typeface="Calibri"/>
                <a:sym typeface="Calibri"/>
              </a:rPr>
              <a:t> </a:t>
            </a:r>
            <a:endParaRPr/>
          </a:p>
        </p:txBody>
      </p:sp>
      <p:sp>
        <p:nvSpPr>
          <p:cNvPr id="52" name="Google Shape;52;p1"/>
          <p:cNvSpPr/>
          <p:nvPr/>
        </p:nvSpPr>
        <p:spPr>
          <a:xfrm>
            <a:off x="760413" y="1231900"/>
            <a:ext cx="5637212" cy="476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ABF"/>
              </a:buClr>
              <a:buSzPts val="2500"/>
              <a:buFont typeface="Arial"/>
              <a:buNone/>
            </a:pPr>
            <a:r>
              <a:rPr b="1" i="0" lang="en-US" sz="2500" u="none" cap="none" strike="noStrike">
                <a:solidFill>
                  <a:srgbClr val="007ABF"/>
                </a:solidFill>
                <a:latin typeface="Helvetica Neue"/>
                <a:ea typeface="Helvetica Neue"/>
                <a:cs typeface="Helvetica Neue"/>
                <a:sym typeface="Helvetica Neue"/>
              </a:rPr>
              <a:t>WAY TO ENTERPRISE</a:t>
            </a:r>
            <a:endParaRPr/>
          </a:p>
        </p:txBody>
      </p:sp>
      <p:sp>
        <p:nvSpPr>
          <p:cNvPr id="53" name="Google Shape;53;p1"/>
          <p:cNvSpPr txBox="1"/>
          <p:nvPr/>
        </p:nvSpPr>
        <p:spPr>
          <a:xfrm>
            <a:off x="1216025" y="2770188"/>
            <a:ext cx="9070975" cy="1317625"/>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A2FF"/>
              </a:buClr>
              <a:buSzPts val="4400"/>
              <a:buFont typeface="Arial"/>
              <a:buNone/>
            </a:pPr>
            <a:r>
              <a:rPr b="1" i="0" lang="en-US" sz="4900" u="none" cap="none" strike="noStrike">
                <a:solidFill>
                  <a:srgbClr val="00A2FF"/>
                </a:solidFill>
                <a:latin typeface="Arial"/>
                <a:ea typeface="Arial"/>
                <a:cs typeface="Arial"/>
                <a:sym typeface="Arial"/>
              </a:rPr>
              <a:t>Install and Uninstall </a:t>
            </a:r>
            <a:endParaRPr/>
          </a:p>
          <a:p>
            <a:pPr indent="0" lvl="0" marL="0" marR="0" rtl="0" algn="ctr">
              <a:lnSpc>
                <a:spcPct val="90000"/>
              </a:lnSpc>
              <a:spcBef>
                <a:spcPts val="0"/>
              </a:spcBef>
              <a:spcAft>
                <a:spcPts val="0"/>
              </a:spcAft>
              <a:buClr>
                <a:srgbClr val="00A2FF"/>
              </a:buClr>
              <a:buSzPts val="4400"/>
              <a:buFont typeface="Arial"/>
              <a:buNone/>
            </a:pPr>
            <a:r>
              <a:rPr b="1" i="0" lang="en-US" sz="4900" u="none" cap="none" strike="noStrike">
                <a:solidFill>
                  <a:srgbClr val="00A2FF"/>
                </a:solidFill>
                <a:latin typeface="Arial"/>
                <a:ea typeface="Arial"/>
                <a:cs typeface="Arial"/>
                <a:sym typeface="Arial"/>
              </a:rPr>
              <a:t>Software Linux</a:t>
            </a:r>
            <a:endParaRPr/>
          </a:p>
        </p:txBody>
      </p:sp>
      <p:sp>
        <p:nvSpPr>
          <p:cNvPr id="54" name="Google Shape;5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2"/>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Lesson purpose</a:t>
            </a:r>
            <a:endParaRPr/>
          </a:p>
        </p:txBody>
      </p:sp>
      <p:sp>
        <p:nvSpPr>
          <p:cNvPr id="61" name="Google Shape;61;p2"/>
          <p:cNvSpPr txBox="1"/>
          <p:nvPr>
            <p:ph idx="1" type="body"/>
          </p:nvPr>
        </p:nvSpPr>
        <p:spPr>
          <a:xfrm>
            <a:off x="366713" y="1066800"/>
            <a:ext cx="10377487" cy="4608513"/>
          </a:xfrm>
          <a:prstGeom prst="rect">
            <a:avLst/>
          </a:prstGeom>
          <a:noFill/>
          <a:ln>
            <a:noFill/>
          </a:ln>
        </p:spPr>
        <p:txBody>
          <a:bodyPr anchorCtr="0" anchor="t" bIns="45700" lIns="91425" spcFirstLastPara="1" rIns="91425" wrap="square" tIns="45700">
            <a:normAutofit/>
          </a:bodyPr>
          <a:lstStyle/>
          <a:p>
            <a:pPr indent="-228600" lvl="0" marL="228600" rtl="0" algn="l">
              <a:lnSpc>
                <a:spcPct val="150000"/>
              </a:lnSpc>
              <a:spcBef>
                <a:spcPts val="0"/>
              </a:spcBef>
              <a:spcAft>
                <a:spcPts val="0"/>
              </a:spcAft>
              <a:buClr>
                <a:schemeClr val="dk1"/>
              </a:buClr>
              <a:buSzPts val="2400"/>
              <a:buChar char="•"/>
            </a:pPr>
            <a:r>
              <a:rPr lang="en-US" sz="2400"/>
              <a:t>Study the process of installing and uninstalling applications on Linux.</a:t>
            </a:r>
            <a:endParaRPr/>
          </a:p>
          <a:p>
            <a:pPr indent="-228600" lvl="0" marL="228600" rtl="0" algn="l">
              <a:lnSpc>
                <a:spcPct val="150000"/>
              </a:lnSpc>
              <a:spcBef>
                <a:spcPts val="0"/>
              </a:spcBef>
              <a:spcAft>
                <a:spcPts val="0"/>
              </a:spcAft>
              <a:buClr>
                <a:schemeClr val="dk1"/>
              </a:buClr>
              <a:buSzPts val="2400"/>
              <a:buChar char="•"/>
            </a:pPr>
            <a:r>
              <a:rPr lang="en-US" sz="2400"/>
              <a:t>Practice proficiently the commands to install and uninstall software on Linux</a:t>
            </a:r>
            <a:endParaRPr sz="2400"/>
          </a:p>
        </p:txBody>
      </p:sp>
      <p:sp>
        <p:nvSpPr>
          <p:cNvPr id="62" name="Google Shape;62;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Tahoma"/>
                <a:ea typeface="Tahoma"/>
                <a:cs typeface="Tahoma"/>
                <a:sym typeface="Tahoma"/>
              </a:rPr>
              <a:t>‹#›</a:t>
            </a:fld>
            <a:endParaRPr b="0" i="0" sz="1400" u="none" cap="none" strike="noStrike">
              <a:solidFill>
                <a:schemeClr val="dk1"/>
              </a:solidFill>
              <a:latin typeface="Tahoma"/>
              <a:ea typeface="Tahoma"/>
              <a:cs typeface="Tahoma"/>
              <a:sym typeface="Tahom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1">
                                            <p:txEl>
                                              <p:pRg end="0" st="0"/>
                                            </p:txEl>
                                          </p:spTgt>
                                        </p:tgtEl>
                                        <p:attrNameLst>
                                          <p:attrName>style.visibility</p:attrName>
                                        </p:attrNameLst>
                                      </p:cBhvr>
                                      <p:to>
                                        <p:strVal val="visible"/>
                                      </p:to>
                                    </p:set>
                                    <p:anim calcmode="lin" valueType="num">
                                      <p:cBhvr additive="base">
                                        <p:cTn dur="500"/>
                                        <p:tgtEl>
                                          <p:spTgt spid="6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1">
                                            <p:txEl>
                                              <p:pRg end="1" st="1"/>
                                            </p:txEl>
                                          </p:spTgt>
                                        </p:tgtEl>
                                        <p:attrNameLst>
                                          <p:attrName>style.visibility</p:attrName>
                                        </p:attrNameLst>
                                      </p:cBhvr>
                                      <p:to>
                                        <p:strVal val="visible"/>
                                      </p:to>
                                    </p:set>
                                    <p:anim calcmode="lin" valueType="num">
                                      <p:cBhvr additive="base">
                                        <p:cTn dur="500"/>
                                        <p:tgtEl>
                                          <p:spTgt spid="6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3"/>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Contents</a:t>
            </a:r>
            <a:endParaRPr/>
          </a:p>
        </p:txBody>
      </p:sp>
      <p:sp>
        <p:nvSpPr>
          <p:cNvPr id="69" name="Google Shape;69;p3"/>
          <p:cNvSpPr txBox="1"/>
          <p:nvPr>
            <p:ph idx="1" type="body"/>
          </p:nvPr>
        </p:nvSpPr>
        <p:spPr>
          <a:xfrm>
            <a:off x="366713" y="1066800"/>
            <a:ext cx="10377487" cy="4608513"/>
          </a:xfrm>
          <a:prstGeom prst="rect">
            <a:avLst/>
          </a:prstGeom>
          <a:noFill/>
          <a:ln>
            <a:noFill/>
          </a:ln>
        </p:spPr>
        <p:txBody>
          <a:bodyPr anchorCtr="0" anchor="t" bIns="45700" lIns="91425" spcFirstLastPara="1" rIns="91425" wrap="square" tIns="45700">
            <a:normAutofit/>
          </a:bodyPr>
          <a:lstStyle/>
          <a:p>
            <a:pPr indent="-228600" lvl="0" marL="228600" rtl="0" algn="l">
              <a:lnSpc>
                <a:spcPct val="150000"/>
              </a:lnSpc>
              <a:spcBef>
                <a:spcPts val="0"/>
              </a:spcBef>
              <a:spcAft>
                <a:spcPts val="0"/>
              </a:spcAft>
              <a:buClr>
                <a:schemeClr val="dk1"/>
              </a:buClr>
              <a:buSzPts val="2400"/>
              <a:buChar char="•"/>
            </a:pPr>
            <a:r>
              <a:rPr lang="en-US" sz="2400"/>
              <a:t>Install software from Package Manager – CentOS</a:t>
            </a:r>
            <a:r>
              <a:rPr lang="en-US" sz="2400">
                <a:latin typeface="Arial"/>
                <a:ea typeface="Arial"/>
                <a:cs typeface="Arial"/>
                <a:sym typeface="Arial"/>
              </a:rPr>
              <a:t> </a:t>
            </a:r>
            <a:endParaRPr/>
          </a:p>
          <a:p>
            <a:pPr indent="-228600" lvl="0" marL="228600" rtl="0" algn="l">
              <a:lnSpc>
                <a:spcPct val="150000"/>
              </a:lnSpc>
              <a:spcBef>
                <a:spcPts val="1000"/>
              </a:spcBef>
              <a:spcAft>
                <a:spcPts val="0"/>
              </a:spcAft>
              <a:buClr>
                <a:schemeClr val="dk1"/>
              </a:buClr>
              <a:buSzPts val="2400"/>
              <a:buChar char="•"/>
            </a:pPr>
            <a:r>
              <a:rPr lang="en-US" sz="2400"/>
              <a:t>Install software from</a:t>
            </a:r>
            <a:r>
              <a:rPr lang="en-US" sz="2400">
                <a:latin typeface="Arial"/>
                <a:ea typeface="Arial"/>
                <a:cs typeface="Arial"/>
                <a:sym typeface="Arial"/>
              </a:rPr>
              <a:t> Package Manager – Ubuntu </a:t>
            </a:r>
            <a:endParaRPr sz="2400">
              <a:latin typeface="Arial"/>
              <a:ea typeface="Arial"/>
              <a:cs typeface="Arial"/>
              <a:sym typeface="Arial"/>
            </a:endParaRPr>
          </a:p>
          <a:p>
            <a:pPr indent="-228600" lvl="0" marL="228600" rtl="0" algn="l">
              <a:lnSpc>
                <a:spcPct val="150000"/>
              </a:lnSpc>
              <a:spcBef>
                <a:spcPts val="1000"/>
              </a:spcBef>
              <a:spcAft>
                <a:spcPts val="0"/>
              </a:spcAft>
              <a:buClr>
                <a:schemeClr val="dk1"/>
              </a:buClr>
              <a:buSzPts val="2400"/>
              <a:buChar char="•"/>
            </a:pPr>
            <a:r>
              <a:rPr lang="en-US" sz="2400"/>
              <a:t>Install software from</a:t>
            </a:r>
            <a:r>
              <a:rPr lang="en-US" sz="2400">
                <a:latin typeface="Arial"/>
                <a:ea typeface="Arial"/>
                <a:cs typeface="Arial"/>
                <a:sym typeface="Arial"/>
              </a:rPr>
              <a:t> Source Code</a:t>
            </a:r>
            <a:endParaRPr sz="2400"/>
          </a:p>
        </p:txBody>
      </p:sp>
      <p:sp>
        <p:nvSpPr>
          <p:cNvPr id="70" name="Google Shape;70;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Tahoma"/>
                <a:ea typeface="Tahoma"/>
                <a:cs typeface="Tahoma"/>
                <a:sym typeface="Tahoma"/>
              </a:rPr>
              <a:t>‹#›</a:t>
            </a:fld>
            <a:endParaRPr b="0" i="0" sz="1400" u="none" cap="none" strike="noStrike">
              <a:solidFill>
                <a:schemeClr val="dk1"/>
              </a:solidFill>
              <a:latin typeface="Tahoma"/>
              <a:ea typeface="Tahoma"/>
              <a:cs typeface="Tahoma"/>
              <a:sym typeface="Tahom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
                                            <p:txEl>
                                              <p:pRg end="0" st="0"/>
                                            </p:txEl>
                                          </p:spTgt>
                                        </p:tgtEl>
                                        <p:attrNameLst>
                                          <p:attrName>style.visibility</p:attrName>
                                        </p:attrNameLst>
                                      </p:cBhvr>
                                      <p:to>
                                        <p:strVal val="visible"/>
                                      </p:to>
                                    </p:set>
                                    <p:anim calcmode="lin" valueType="num">
                                      <p:cBhvr additive="base">
                                        <p:cTn dur="500"/>
                                        <p:tgtEl>
                                          <p:spTgt spid="6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
                                            <p:txEl>
                                              <p:pRg end="1" st="1"/>
                                            </p:txEl>
                                          </p:spTgt>
                                        </p:tgtEl>
                                        <p:attrNameLst>
                                          <p:attrName>style.visibility</p:attrName>
                                        </p:attrNameLst>
                                      </p:cBhvr>
                                      <p:to>
                                        <p:strVal val="visible"/>
                                      </p:to>
                                    </p:set>
                                    <p:anim calcmode="lin" valueType="num">
                                      <p:cBhvr additive="base">
                                        <p:cTn dur="500"/>
                                        <p:tgtEl>
                                          <p:spTgt spid="6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
                                            <p:txEl>
                                              <p:pRg end="2" st="2"/>
                                            </p:txEl>
                                          </p:spTgt>
                                        </p:tgtEl>
                                        <p:attrNameLst>
                                          <p:attrName>style.visibility</p:attrName>
                                        </p:attrNameLst>
                                      </p:cBhvr>
                                      <p:to>
                                        <p:strVal val="visible"/>
                                      </p:to>
                                    </p:set>
                                    <p:anim calcmode="lin" valueType="num">
                                      <p:cBhvr additive="base">
                                        <p:cTn dur="500"/>
                                        <p:tgtEl>
                                          <p:spTgt spid="6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g2f080f7e13d_0_3"/>
          <p:cNvSpPr txBox="1"/>
          <p:nvPr>
            <p:ph type="title"/>
          </p:nvPr>
        </p:nvSpPr>
        <p:spPr>
          <a:xfrm>
            <a:off x="228600" y="228600"/>
            <a:ext cx="10515600" cy="5445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Contents</a:t>
            </a:r>
            <a:endParaRPr/>
          </a:p>
        </p:txBody>
      </p:sp>
      <p:sp>
        <p:nvSpPr>
          <p:cNvPr id="77" name="Google Shape;77;g2f080f7e13d_0_3"/>
          <p:cNvSpPr txBox="1"/>
          <p:nvPr>
            <p:ph idx="1" type="body"/>
          </p:nvPr>
        </p:nvSpPr>
        <p:spPr>
          <a:xfrm>
            <a:off x="366713" y="1066800"/>
            <a:ext cx="10377600" cy="4608600"/>
          </a:xfrm>
          <a:prstGeom prst="rect">
            <a:avLst/>
          </a:prstGeom>
          <a:noFill/>
          <a:ln>
            <a:noFill/>
          </a:ln>
        </p:spPr>
        <p:txBody>
          <a:bodyPr anchorCtr="0" anchor="t" bIns="45700" lIns="91425" spcFirstLastPara="1" rIns="91425" wrap="square" tIns="45700">
            <a:normAutofit/>
          </a:bodyPr>
          <a:lstStyle/>
          <a:p>
            <a:pPr indent="-228600" lvl="0" marL="228600" rtl="0" algn="l">
              <a:lnSpc>
                <a:spcPct val="150000"/>
              </a:lnSpc>
              <a:spcBef>
                <a:spcPts val="0"/>
              </a:spcBef>
              <a:spcAft>
                <a:spcPts val="0"/>
              </a:spcAft>
              <a:buClr>
                <a:schemeClr val="dk1"/>
              </a:buClr>
              <a:buSzPts val="2400"/>
              <a:buChar char="•"/>
            </a:pPr>
            <a:r>
              <a:rPr lang="en-US" sz="2400">
                <a:solidFill>
                  <a:srgbClr val="007ABF"/>
                </a:solidFill>
              </a:rPr>
              <a:t>Install software from Package Manager – CentOS </a:t>
            </a:r>
            <a:endParaRPr/>
          </a:p>
          <a:p>
            <a:pPr indent="-228600" lvl="0" marL="228600" rtl="0" algn="l">
              <a:lnSpc>
                <a:spcPct val="150000"/>
              </a:lnSpc>
              <a:spcBef>
                <a:spcPts val="1000"/>
              </a:spcBef>
              <a:spcAft>
                <a:spcPts val="0"/>
              </a:spcAft>
              <a:buClr>
                <a:schemeClr val="dk1"/>
              </a:buClr>
              <a:buSzPts val="2400"/>
              <a:buChar char="•"/>
            </a:pPr>
            <a:r>
              <a:rPr lang="en-US" sz="2400"/>
              <a:t>Install software from</a:t>
            </a:r>
            <a:r>
              <a:rPr lang="en-US" sz="2400">
                <a:latin typeface="Arial"/>
                <a:ea typeface="Arial"/>
                <a:cs typeface="Arial"/>
                <a:sym typeface="Arial"/>
              </a:rPr>
              <a:t> Package Manager – Ubuntu </a:t>
            </a:r>
            <a:endParaRPr sz="2400">
              <a:latin typeface="Arial"/>
              <a:ea typeface="Arial"/>
              <a:cs typeface="Arial"/>
              <a:sym typeface="Arial"/>
            </a:endParaRPr>
          </a:p>
          <a:p>
            <a:pPr indent="-228600" lvl="0" marL="228600" rtl="0" algn="l">
              <a:lnSpc>
                <a:spcPct val="150000"/>
              </a:lnSpc>
              <a:spcBef>
                <a:spcPts val="1000"/>
              </a:spcBef>
              <a:spcAft>
                <a:spcPts val="0"/>
              </a:spcAft>
              <a:buClr>
                <a:schemeClr val="dk1"/>
              </a:buClr>
              <a:buSzPts val="2400"/>
              <a:buChar char="•"/>
            </a:pPr>
            <a:r>
              <a:rPr lang="en-US" sz="2400"/>
              <a:t>Install software from</a:t>
            </a:r>
            <a:r>
              <a:rPr lang="en-US" sz="2400">
                <a:latin typeface="Arial"/>
                <a:ea typeface="Arial"/>
                <a:cs typeface="Arial"/>
                <a:sym typeface="Arial"/>
              </a:rPr>
              <a:t> Source Code</a:t>
            </a:r>
            <a:endParaRPr sz="2400"/>
          </a:p>
        </p:txBody>
      </p:sp>
      <p:sp>
        <p:nvSpPr>
          <p:cNvPr id="78" name="Google Shape;78;g2f080f7e13d_0_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Tahoma"/>
                <a:ea typeface="Tahoma"/>
                <a:cs typeface="Tahoma"/>
                <a:sym typeface="Tahoma"/>
              </a:rPr>
              <a:t>‹#›</a:t>
            </a:fld>
            <a:endParaRPr b="0" i="0" sz="1400" u="none" cap="none" strike="noStrike">
              <a:solidFill>
                <a:schemeClr val="dk1"/>
              </a:solidFill>
              <a:latin typeface="Tahoma"/>
              <a:ea typeface="Tahoma"/>
              <a:cs typeface="Tahoma"/>
              <a:sym typeface="Tahom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7">
                                            <p:txEl>
                                              <p:pRg end="0" st="0"/>
                                            </p:txEl>
                                          </p:spTgt>
                                        </p:tgtEl>
                                        <p:attrNameLst>
                                          <p:attrName>style.visibility</p:attrName>
                                        </p:attrNameLst>
                                      </p:cBhvr>
                                      <p:to>
                                        <p:strVal val="visible"/>
                                      </p:to>
                                    </p:set>
                                    <p:anim calcmode="lin" valueType="num">
                                      <p:cBhvr additive="base">
                                        <p:cTn dur="500"/>
                                        <p:tgtEl>
                                          <p:spTgt spid="7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7">
                                            <p:txEl>
                                              <p:pRg end="1" st="1"/>
                                            </p:txEl>
                                          </p:spTgt>
                                        </p:tgtEl>
                                        <p:attrNameLst>
                                          <p:attrName>style.visibility</p:attrName>
                                        </p:attrNameLst>
                                      </p:cBhvr>
                                      <p:to>
                                        <p:strVal val="visible"/>
                                      </p:to>
                                    </p:set>
                                    <p:anim calcmode="lin" valueType="num">
                                      <p:cBhvr additive="base">
                                        <p:cTn dur="500"/>
                                        <p:tgtEl>
                                          <p:spTgt spid="7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7">
                                            <p:txEl>
                                              <p:pRg end="2" st="2"/>
                                            </p:txEl>
                                          </p:spTgt>
                                        </p:tgtEl>
                                        <p:attrNameLst>
                                          <p:attrName>style.visibility</p:attrName>
                                        </p:attrNameLst>
                                      </p:cBhvr>
                                      <p:to>
                                        <p:strVal val="visible"/>
                                      </p:to>
                                    </p:set>
                                    <p:anim calcmode="lin" valueType="num">
                                      <p:cBhvr additive="base">
                                        <p:cTn dur="500"/>
                                        <p:tgtEl>
                                          <p:spTgt spid="7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5"/>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latin typeface="Arial"/>
                <a:ea typeface="Arial"/>
                <a:cs typeface="Arial"/>
                <a:sym typeface="Arial"/>
              </a:rPr>
              <a:t>Package m</a:t>
            </a:r>
            <a:r>
              <a:rPr lang="en-US"/>
              <a:t>anager system</a:t>
            </a:r>
            <a:endParaRPr/>
          </a:p>
        </p:txBody>
      </p:sp>
      <p:graphicFrame>
        <p:nvGraphicFramePr>
          <p:cNvPr id="85" name="Google Shape;85;p5"/>
          <p:cNvGraphicFramePr/>
          <p:nvPr/>
        </p:nvGraphicFramePr>
        <p:xfrm>
          <a:off x="1516812" y="1713781"/>
          <a:ext cx="3000000" cy="3000000"/>
        </p:xfrm>
        <a:graphic>
          <a:graphicData uri="http://schemas.openxmlformats.org/drawingml/2006/table">
            <a:tbl>
              <a:tblPr bandRow="1" firstRow="1">
                <a:noFill/>
                <a:tableStyleId>{09F78507-A0AE-4410-8D6C-CD3A2707372D}</a:tableStyleId>
              </a:tblPr>
              <a:tblGrid>
                <a:gridCol w="3338600"/>
                <a:gridCol w="2239050"/>
                <a:gridCol w="3278350"/>
              </a:tblGrid>
              <a:tr h="561725">
                <a:tc>
                  <a:txBody>
                    <a:bodyPr/>
                    <a:lstStyle/>
                    <a:p>
                      <a:pPr indent="0" lvl="0" marL="0" marR="0" rtl="0" algn="l">
                        <a:spcBef>
                          <a:spcPts val="0"/>
                        </a:spcBef>
                        <a:spcAft>
                          <a:spcPts val="0"/>
                        </a:spcAft>
                        <a:buNone/>
                      </a:pPr>
                      <a:r>
                        <a:rPr lang="en-US" sz="1800" u="none" cap="none" strike="noStrike"/>
                        <a:t>​</a:t>
                      </a:r>
                      <a:endParaRPr b="1" i="0" sz="1800" u="none" cap="none" strike="noStrike">
                        <a:solidFill>
                          <a:srgbClr val="FFFFFF"/>
                        </a:solidFill>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1800" u="none" cap="none" strike="noStrike"/>
                        <a:t>Redhat​ - CentOS</a:t>
                      </a:r>
                      <a:endParaRPr b="1" i="0" sz="1800" u="none" cap="none" strike="noStrike">
                        <a:solidFill>
                          <a:srgbClr val="FFFFFF"/>
                        </a:solidFill>
                      </a:endParaRPr>
                    </a:p>
                  </a:txBody>
                  <a:tcPr marT="45725" marB="45725" marR="91450" marL="91450"/>
                </a:tc>
                <a:tc>
                  <a:txBody>
                    <a:bodyPr/>
                    <a:lstStyle/>
                    <a:p>
                      <a:pPr indent="0" lvl="0" marL="0" marR="0" rtl="0" algn="l">
                        <a:spcBef>
                          <a:spcPts val="0"/>
                        </a:spcBef>
                        <a:spcAft>
                          <a:spcPts val="0"/>
                        </a:spcAft>
                        <a:buNone/>
                      </a:pPr>
                      <a:r>
                        <a:rPr lang="en-US" sz="1800" u="none" cap="none" strike="noStrike"/>
                        <a:t>Debian​ - Ubuntu</a:t>
                      </a:r>
                      <a:endParaRPr b="1" i="0" sz="1800" u="none" cap="none" strike="noStrike">
                        <a:solidFill>
                          <a:srgbClr val="FFFFFF"/>
                        </a:solidFill>
                      </a:endParaRPr>
                    </a:p>
                  </a:txBody>
                  <a:tcPr marT="45725" marB="45725" marR="91450" marL="91450"/>
                </a:tc>
              </a:tr>
              <a:tr h="641975">
                <a:tc>
                  <a:txBody>
                    <a:bodyPr/>
                    <a:lstStyle/>
                    <a:p>
                      <a:pPr indent="0" lvl="0" marL="0" marR="0" rtl="0" algn="l">
                        <a:spcBef>
                          <a:spcPts val="0"/>
                        </a:spcBef>
                        <a:spcAft>
                          <a:spcPts val="0"/>
                        </a:spcAft>
                        <a:buNone/>
                      </a:pPr>
                      <a:r>
                        <a:rPr lang="en-US" sz="1800"/>
                        <a:t>Basic package manager</a:t>
                      </a:r>
                      <a:endParaRPr b="0" i="0" sz="1800" u="none" cap="none" strike="noStrike">
                        <a:solidFill>
                          <a:srgbClr val="000000"/>
                        </a:solidFill>
                      </a:endParaRPr>
                    </a:p>
                  </a:txBody>
                  <a:tcPr marT="45725" marB="45725" marR="91450" marL="91450"/>
                </a:tc>
                <a:tc>
                  <a:txBody>
                    <a:bodyPr/>
                    <a:lstStyle/>
                    <a:p>
                      <a:pPr indent="0" lvl="0" marL="0" marR="0" rtl="0" algn="l">
                        <a:spcBef>
                          <a:spcPts val="0"/>
                        </a:spcBef>
                        <a:spcAft>
                          <a:spcPts val="0"/>
                        </a:spcAft>
                        <a:buNone/>
                      </a:pPr>
                      <a:r>
                        <a:rPr lang="en-US" sz="1800" u="none" cap="none" strike="noStrike"/>
                        <a:t>rpm​</a:t>
                      </a:r>
                      <a:endParaRPr b="0" i="0" sz="1800" u="none" cap="none" strike="noStrike">
                        <a:solidFill>
                          <a:srgbClr val="000000"/>
                        </a:solidFill>
                      </a:endParaRPr>
                    </a:p>
                  </a:txBody>
                  <a:tcPr marT="45725" marB="45725" marR="91450" marL="91450"/>
                </a:tc>
                <a:tc>
                  <a:txBody>
                    <a:bodyPr/>
                    <a:lstStyle/>
                    <a:p>
                      <a:pPr indent="0" lvl="0" marL="0" marR="0" rtl="0" algn="l">
                        <a:spcBef>
                          <a:spcPts val="0"/>
                        </a:spcBef>
                        <a:spcAft>
                          <a:spcPts val="0"/>
                        </a:spcAft>
                        <a:buNone/>
                      </a:pPr>
                      <a:r>
                        <a:rPr lang="en-US" sz="1800" u="none" cap="none" strike="noStrike"/>
                        <a:t>dpkg​</a:t>
                      </a:r>
                      <a:endParaRPr b="0" i="0" sz="1800" u="none" cap="none" strike="noStrike">
                        <a:solidFill>
                          <a:srgbClr val="000000"/>
                        </a:solidFill>
                      </a:endParaRPr>
                    </a:p>
                  </a:txBody>
                  <a:tcPr marT="45725" marB="45725" marR="91450" marL="91450"/>
                </a:tc>
              </a:tr>
              <a:tr h="641975">
                <a:tc>
                  <a:txBody>
                    <a:bodyPr/>
                    <a:lstStyle/>
                    <a:p>
                      <a:pPr indent="0" lvl="0" marL="0" marR="0" rtl="0" algn="l">
                        <a:spcBef>
                          <a:spcPts val="0"/>
                        </a:spcBef>
                        <a:spcAft>
                          <a:spcPts val="0"/>
                        </a:spcAft>
                        <a:buNone/>
                      </a:pPr>
                      <a:r>
                        <a:rPr lang="en-US" sz="1800"/>
                        <a:t>Common package management</a:t>
                      </a:r>
                      <a:endParaRPr b="0" i="0" sz="1800" u="none" cap="none" strike="noStrike">
                        <a:solidFill>
                          <a:srgbClr val="000000"/>
                        </a:solidFill>
                      </a:endParaRPr>
                    </a:p>
                  </a:txBody>
                  <a:tcPr marT="45725" marB="45725" marR="91450" marL="91450"/>
                </a:tc>
                <a:tc>
                  <a:txBody>
                    <a:bodyPr/>
                    <a:lstStyle/>
                    <a:p>
                      <a:pPr indent="0" lvl="0" marL="0" marR="0" rtl="0" algn="l">
                        <a:spcBef>
                          <a:spcPts val="0"/>
                        </a:spcBef>
                        <a:spcAft>
                          <a:spcPts val="0"/>
                        </a:spcAft>
                        <a:buNone/>
                      </a:pPr>
                      <a:r>
                        <a:rPr lang="en-US" sz="1800" u="none" cap="none" strike="noStrike"/>
                        <a:t>yum, urpmi</a:t>
                      </a:r>
                      <a:endParaRPr b="0" i="0" sz="1800" u="none" cap="none" strike="noStrike">
                        <a:solidFill>
                          <a:srgbClr val="000000"/>
                        </a:solidFill>
                      </a:endParaRPr>
                    </a:p>
                  </a:txBody>
                  <a:tcPr marT="45725" marB="45725" marR="91450" marL="91450"/>
                </a:tc>
                <a:tc>
                  <a:txBody>
                    <a:bodyPr/>
                    <a:lstStyle/>
                    <a:p>
                      <a:pPr indent="0" lvl="0" marL="0" marR="0" rtl="0" algn="l">
                        <a:spcBef>
                          <a:spcPts val="0"/>
                        </a:spcBef>
                        <a:spcAft>
                          <a:spcPts val="0"/>
                        </a:spcAft>
                        <a:buNone/>
                      </a:pPr>
                      <a:r>
                        <a:rPr lang="en-US" sz="1800" u="none" cap="none" strike="noStrike"/>
                        <a:t>apt</a:t>
                      </a:r>
                      <a:r>
                        <a:rPr lang="en-US" sz="1800"/>
                        <a:t> / apt-get</a:t>
                      </a:r>
                      <a:endParaRPr b="0" i="0" sz="1800" u="none" cap="none" strike="noStrike">
                        <a:solidFill>
                          <a:srgbClr val="000000"/>
                        </a:solidFill>
                      </a:endParaRPr>
                    </a:p>
                  </a:txBody>
                  <a:tcPr marT="45725" marB="45725" marR="91450" marL="91450"/>
                </a:tc>
              </a:tr>
              <a:tr h="641975">
                <a:tc>
                  <a:txBody>
                    <a:bodyPr/>
                    <a:lstStyle/>
                    <a:p>
                      <a:pPr indent="0" lvl="0" marL="0" marR="0" rtl="0" algn="l">
                        <a:spcBef>
                          <a:spcPts val="0"/>
                        </a:spcBef>
                        <a:spcAft>
                          <a:spcPts val="0"/>
                        </a:spcAft>
                        <a:buNone/>
                      </a:pPr>
                      <a:r>
                        <a:rPr lang="en-US" sz="1800" u="none" cap="none" strike="noStrike"/>
                        <a:t>Package Manager with interfaces</a:t>
                      </a:r>
                      <a:endParaRPr b="0" i="0" sz="1800" u="none" cap="none" strike="noStrike">
                        <a:solidFill>
                          <a:srgbClr val="000000"/>
                        </a:solidFill>
                      </a:endParaRPr>
                    </a:p>
                  </a:txBody>
                  <a:tcPr marT="45725" marB="45725" marR="91450" marL="91450"/>
                </a:tc>
                <a:tc>
                  <a:txBody>
                    <a:bodyPr/>
                    <a:lstStyle/>
                    <a:p>
                      <a:pPr indent="0" lvl="0" marL="0" marR="0" rtl="0" algn="l">
                        <a:spcBef>
                          <a:spcPts val="0"/>
                        </a:spcBef>
                        <a:spcAft>
                          <a:spcPts val="0"/>
                        </a:spcAft>
                        <a:buNone/>
                      </a:pPr>
                      <a:r>
                        <a:rPr lang="en-US" sz="1800" u="none" cap="none" strike="noStrike"/>
                        <a:t>dselect</a:t>
                      </a:r>
                      <a:endParaRPr b="0" i="0" sz="1800" u="none" cap="none" strike="noStrike">
                        <a:solidFill>
                          <a:srgbClr val="000000"/>
                        </a:solidFill>
                      </a:endParaRPr>
                    </a:p>
                  </a:txBody>
                  <a:tcPr marT="45725" marB="45725" marR="91450" marL="91450"/>
                </a:tc>
                <a:tc>
                  <a:txBody>
                    <a:bodyPr/>
                    <a:lstStyle/>
                    <a:p>
                      <a:pPr indent="0" lvl="0" marL="0" marR="0" rtl="0" algn="l">
                        <a:spcBef>
                          <a:spcPts val="0"/>
                        </a:spcBef>
                        <a:spcAft>
                          <a:spcPts val="0"/>
                        </a:spcAft>
                        <a:buNone/>
                      </a:pPr>
                      <a:r>
                        <a:rPr lang="en-US" sz="1800" u="none" cap="none" strike="noStrike"/>
                        <a:t>aptitude​</a:t>
                      </a:r>
                      <a:endParaRPr b="0" i="0" sz="1800" u="none" cap="none" strike="noStrike">
                        <a:solidFill>
                          <a:srgbClr val="000000"/>
                        </a:solidFill>
                      </a:endParaRPr>
                    </a:p>
                  </a:txBody>
                  <a:tcPr marT="45725" marB="45725" marR="91450" marL="91450"/>
                </a:tc>
              </a:tr>
              <a:tr h="641975">
                <a:tc>
                  <a:txBody>
                    <a:bodyPr/>
                    <a:lstStyle/>
                    <a:p>
                      <a:pPr indent="0" lvl="0" marL="0" marR="0" rtl="0" algn="l">
                        <a:spcBef>
                          <a:spcPts val="0"/>
                        </a:spcBef>
                        <a:spcAft>
                          <a:spcPts val="0"/>
                        </a:spcAft>
                        <a:buNone/>
                      </a:pPr>
                      <a:r>
                        <a:rPr lang="en-US" sz="1800" u="none" cap="none" strike="noStrike"/>
                        <a:t>Package Manager with GUI</a:t>
                      </a:r>
                      <a:endParaRPr b="0" i="0" sz="1800" u="none" cap="none" strike="noStrike">
                        <a:solidFill>
                          <a:srgbClr val="000000"/>
                        </a:solidFill>
                      </a:endParaRPr>
                    </a:p>
                  </a:txBody>
                  <a:tcPr marT="45725" marB="45725" marR="91450" marL="91450"/>
                </a:tc>
                <a:tc>
                  <a:txBody>
                    <a:bodyPr/>
                    <a:lstStyle/>
                    <a:p>
                      <a:pPr indent="0" lvl="0" marL="0" marR="0" rtl="0" algn="l">
                        <a:spcBef>
                          <a:spcPts val="0"/>
                        </a:spcBef>
                        <a:spcAft>
                          <a:spcPts val="0"/>
                        </a:spcAft>
                        <a:buNone/>
                      </a:pPr>
                      <a:r>
                        <a:rPr lang="en-US" sz="1800" u="none" cap="none" strike="noStrike"/>
                        <a:t>yumex (Yum Extender​)</a:t>
                      </a:r>
                      <a:endParaRPr b="0" i="0" sz="1800" u="none" cap="none" strike="noStrike">
                        <a:solidFill>
                          <a:srgbClr val="000000"/>
                        </a:solidFill>
                      </a:endParaRPr>
                    </a:p>
                  </a:txBody>
                  <a:tcPr marT="45725" marB="45725" marR="91450" marL="91450"/>
                </a:tc>
                <a:tc>
                  <a:txBody>
                    <a:bodyPr/>
                    <a:lstStyle/>
                    <a:p>
                      <a:pPr indent="0" lvl="0" marL="0" marR="0" rtl="0" algn="l">
                        <a:spcBef>
                          <a:spcPts val="0"/>
                        </a:spcBef>
                        <a:spcAft>
                          <a:spcPts val="0"/>
                        </a:spcAft>
                        <a:buNone/>
                      </a:pPr>
                      <a:r>
                        <a:rPr lang="en-US" sz="1800" u="none" cap="none" strike="noStrike"/>
                        <a:t>synaptic​</a:t>
                      </a:r>
                      <a:endParaRPr b="0" i="0" sz="1800" u="none" cap="none" strike="noStrike">
                        <a:solidFill>
                          <a:srgbClr val="000000"/>
                        </a:solidFill>
                      </a:endParaRPr>
                    </a:p>
                  </a:txBody>
                  <a:tcPr marT="45725" marB="45725" marR="91450" marL="91450"/>
                </a:tc>
              </a:tr>
            </a:tbl>
          </a:graphicData>
        </a:graphic>
      </p:graphicFrame>
      <p:sp>
        <p:nvSpPr>
          <p:cNvPr id="86" name="Google Shape;86;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Tahoma"/>
                <a:ea typeface="Tahoma"/>
                <a:cs typeface="Tahoma"/>
                <a:sym typeface="Tahoma"/>
              </a:rPr>
              <a:t>‹#›</a:t>
            </a:fld>
            <a:endParaRPr b="0" i="0" sz="1400" u="none" cap="none" strike="noStrike">
              <a:solidFill>
                <a:schemeClr val="dk1"/>
              </a:solidFill>
              <a:latin typeface="Tahoma"/>
              <a:ea typeface="Tahoma"/>
              <a:cs typeface="Tahoma"/>
              <a:sym typeface="Tahom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6"/>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Install</a:t>
            </a:r>
            <a:r>
              <a:rPr lang="en-US">
                <a:latin typeface="Arial"/>
                <a:ea typeface="Arial"/>
                <a:cs typeface="Arial"/>
                <a:sym typeface="Arial"/>
              </a:rPr>
              <a:t> RPM package</a:t>
            </a:r>
            <a:endParaRPr/>
          </a:p>
        </p:txBody>
      </p:sp>
      <p:sp>
        <p:nvSpPr>
          <p:cNvPr id="93" name="Google Shape;93;p6"/>
          <p:cNvSpPr txBox="1"/>
          <p:nvPr>
            <p:ph idx="1" type="body"/>
          </p:nvPr>
        </p:nvSpPr>
        <p:spPr>
          <a:xfrm>
            <a:off x="304800" y="762000"/>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2045AE"/>
              </a:buClr>
              <a:buSzPts val="3200"/>
              <a:buChar char="•"/>
            </a:pPr>
            <a:r>
              <a:rPr b="1" i="1" lang="en-US" sz="3200">
                <a:solidFill>
                  <a:srgbClr val="2045AE"/>
                </a:solidFill>
                <a:latin typeface="Arial"/>
                <a:ea typeface="Arial"/>
                <a:cs typeface="Arial"/>
                <a:sym typeface="Arial"/>
              </a:rPr>
              <a:t>RPM </a:t>
            </a:r>
            <a:r>
              <a:rPr i="1" lang="en-US" sz="3200">
                <a:solidFill>
                  <a:srgbClr val="2045AE"/>
                </a:solidFill>
                <a:latin typeface="Arial"/>
                <a:ea typeface="Arial"/>
                <a:cs typeface="Arial"/>
                <a:sym typeface="Arial"/>
              </a:rPr>
              <a:t>can be </a:t>
            </a:r>
            <a:r>
              <a:rPr i="1" lang="en-US" sz="3200">
                <a:solidFill>
                  <a:srgbClr val="2045AE"/>
                </a:solidFill>
              </a:rPr>
              <a:t>installed from local file in the server or from the Internet (using http or ftp)</a:t>
            </a:r>
            <a:r>
              <a:rPr i="1" lang="en-US" sz="3200">
                <a:solidFill>
                  <a:srgbClr val="2045AE"/>
                </a:solidFill>
                <a:latin typeface="Arial"/>
                <a:ea typeface="Arial"/>
                <a:cs typeface="Arial"/>
                <a:sym typeface="Arial"/>
              </a:rPr>
              <a:t>.</a:t>
            </a:r>
            <a:endParaRPr i="1" sz="3200">
              <a:solidFill>
                <a:srgbClr val="2045AE"/>
              </a:solidFill>
              <a:latin typeface="Arial"/>
              <a:ea typeface="Arial"/>
              <a:cs typeface="Arial"/>
              <a:sym typeface="Arial"/>
            </a:endParaRPr>
          </a:p>
          <a:p>
            <a:pPr indent="-228600" lvl="0" marL="228600" rtl="0" algn="l">
              <a:lnSpc>
                <a:spcPct val="100000"/>
              </a:lnSpc>
              <a:spcBef>
                <a:spcPts val="640"/>
              </a:spcBef>
              <a:spcAft>
                <a:spcPts val="0"/>
              </a:spcAft>
              <a:buClr>
                <a:srgbClr val="2045AE"/>
              </a:buClr>
              <a:buSzPts val="3200"/>
              <a:buChar char="•"/>
            </a:pPr>
            <a:r>
              <a:rPr lang="en-US" sz="3200">
                <a:solidFill>
                  <a:srgbClr val="2045AE"/>
                </a:solidFill>
              </a:rPr>
              <a:t>Install </a:t>
            </a:r>
            <a:r>
              <a:rPr lang="en-US" sz="3200">
                <a:solidFill>
                  <a:srgbClr val="2045AE"/>
                </a:solidFill>
                <a:latin typeface="Arial"/>
                <a:ea typeface="Arial"/>
                <a:cs typeface="Arial"/>
                <a:sym typeface="Arial"/>
              </a:rPr>
              <a:t>RPM packages:</a:t>
            </a:r>
            <a:endParaRPr/>
          </a:p>
          <a:p>
            <a:pPr indent="-228600" lvl="1" marL="685800" rtl="0" algn="l">
              <a:lnSpc>
                <a:spcPct val="100000"/>
              </a:lnSpc>
              <a:spcBef>
                <a:spcPts val="560"/>
              </a:spcBef>
              <a:spcAft>
                <a:spcPts val="0"/>
              </a:spcAft>
              <a:buClr>
                <a:srgbClr val="000066"/>
              </a:buClr>
              <a:buSzPts val="2800"/>
              <a:buChar char="•"/>
            </a:pPr>
            <a:r>
              <a:rPr b="1" lang="en-US" sz="2800">
                <a:solidFill>
                  <a:srgbClr val="000066"/>
                </a:solidFill>
                <a:latin typeface="Arial"/>
                <a:ea typeface="Arial"/>
                <a:cs typeface="Arial"/>
                <a:sym typeface="Arial"/>
              </a:rPr>
              <a:t>rpm –ivh &lt;/path/to/filename.rpm&gt;</a:t>
            </a:r>
            <a:endParaRPr sz="2800">
              <a:solidFill>
                <a:srgbClr val="000066"/>
              </a:solidFill>
              <a:latin typeface="Arial"/>
              <a:ea typeface="Arial"/>
              <a:cs typeface="Arial"/>
              <a:sym typeface="Arial"/>
            </a:endParaRPr>
          </a:p>
          <a:p>
            <a:pPr indent="-228600" lvl="0" marL="228600" rtl="0" algn="l">
              <a:lnSpc>
                <a:spcPct val="100000"/>
              </a:lnSpc>
              <a:spcBef>
                <a:spcPts val="640"/>
              </a:spcBef>
              <a:spcAft>
                <a:spcPts val="0"/>
              </a:spcAft>
              <a:buClr>
                <a:srgbClr val="2045AE"/>
              </a:buClr>
              <a:buSzPts val="3200"/>
              <a:buChar char="•"/>
            </a:pPr>
            <a:r>
              <a:rPr lang="en-US" sz="3200">
                <a:solidFill>
                  <a:srgbClr val="2045AE"/>
                </a:solidFill>
              </a:rPr>
              <a:t>Install RPM packages</a:t>
            </a:r>
            <a:r>
              <a:rPr lang="en-US" sz="3200">
                <a:solidFill>
                  <a:srgbClr val="2045AE"/>
                </a:solidFill>
                <a:latin typeface="Arial"/>
                <a:ea typeface="Arial"/>
                <a:cs typeface="Arial"/>
                <a:sym typeface="Arial"/>
              </a:rPr>
              <a:t> (</a:t>
            </a:r>
            <a:r>
              <a:rPr lang="en-US" sz="3200">
                <a:solidFill>
                  <a:srgbClr val="2045AE"/>
                </a:solidFill>
              </a:rPr>
              <a:t>force</a:t>
            </a:r>
            <a:r>
              <a:rPr lang="en-US" sz="3200">
                <a:solidFill>
                  <a:srgbClr val="2045AE"/>
                </a:solidFill>
                <a:latin typeface="Arial"/>
                <a:ea typeface="Arial"/>
                <a:cs typeface="Arial"/>
                <a:sym typeface="Arial"/>
              </a:rPr>
              <a:t>):</a:t>
            </a:r>
            <a:endParaRPr/>
          </a:p>
          <a:p>
            <a:pPr indent="-228600" lvl="1" marL="685800" rtl="0" algn="l">
              <a:lnSpc>
                <a:spcPct val="100000"/>
              </a:lnSpc>
              <a:spcBef>
                <a:spcPts val="560"/>
              </a:spcBef>
              <a:spcAft>
                <a:spcPts val="0"/>
              </a:spcAft>
              <a:buClr>
                <a:srgbClr val="000066"/>
              </a:buClr>
              <a:buSzPts val="2800"/>
              <a:buChar char="•"/>
            </a:pPr>
            <a:r>
              <a:rPr b="1" lang="en-US" sz="2800">
                <a:solidFill>
                  <a:srgbClr val="000066"/>
                </a:solidFill>
                <a:latin typeface="Arial"/>
                <a:ea typeface="Arial"/>
                <a:cs typeface="Arial"/>
                <a:sym typeface="Arial"/>
              </a:rPr>
              <a:t>rpm –ivh --force &lt;/path/to/filename.rpm&gt;</a:t>
            </a:r>
            <a:endParaRPr sz="2800">
              <a:solidFill>
                <a:srgbClr val="000066"/>
              </a:solidFill>
              <a:latin typeface="Arial"/>
              <a:ea typeface="Arial"/>
              <a:cs typeface="Arial"/>
              <a:sym typeface="Arial"/>
            </a:endParaRPr>
          </a:p>
          <a:p>
            <a:pPr indent="-228600" lvl="1" marL="685800" rtl="0" algn="l">
              <a:lnSpc>
                <a:spcPct val="100000"/>
              </a:lnSpc>
              <a:spcBef>
                <a:spcPts val="560"/>
              </a:spcBef>
              <a:spcAft>
                <a:spcPts val="0"/>
              </a:spcAft>
              <a:buClr>
                <a:srgbClr val="000066"/>
              </a:buClr>
              <a:buSzPts val="2800"/>
              <a:buChar char="•"/>
            </a:pPr>
            <a:r>
              <a:rPr b="1" lang="en-US" sz="2800">
                <a:solidFill>
                  <a:srgbClr val="000066"/>
                </a:solidFill>
                <a:latin typeface="Arial"/>
                <a:ea typeface="Arial"/>
                <a:cs typeface="Arial"/>
                <a:sym typeface="Arial"/>
              </a:rPr>
              <a:t>rpm –ivh --nodeps &lt;/path/to/filename.rpm&gt;</a:t>
            </a:r>
            <a:endParaRPr sz="2800">
              <a:solidFill>
                <a:srgbClr val="000066"/>
              </a:solidFill>
              <a:latin typeface="Arial"/>
              <a:ea typeface="Arial"/>
              <a:cs typeface="Arial"/>
              <a:sym typeface="Arial"/>
            </a:endParaRPr>
          </a:p>
          <a:p>
            <a:pPr indent="-228600" lvl="0" marL="228600" rtl="0" algn="l">
              <a:lnSpc>
                <a:spcPct val="100000"/>
              </a:lnSpc>
              <a:spcBef>
                <a:spcPts val="640"/>
              </a:spcBef>
              <a:spcAft>
                <a:spcPts val="0"/>
              </a:spcAft>
              <a:buClr>
                <a:srgbClr val="2045AE"/>
              </a:buClr>
              <a:buSzPts val="3200"/>
              <a:buChar char="•"/>
            </a:pPr>
            <a:r>
              <a:rPr lang="en-US" sz="3200">
                <a:solidFill>
                  <a:srgbClr val="2045AE"/>
                </a:solidFill>
              </a:rPr>
              <a:t>Update</a:t>
            </a:r>
            <a:r>
              <a:rPr lang="en-US" sz="3200">
                <a:solidFill>
                  <a:srgbClr val="2045AE"/>
                </a:solidFill>
              </a:rPr>
              <a:t> RPM packages</a:t>
            </a:r>
            <a:r>
              <a:rPr lang="en-US" sz="3200">
                <a:solidFill>
                  <a:srgbClr val="2045AE"/>
                </a:solidFill>
                <a:latin typeface="Arial"/>
                <a:ea typeface="Arial"/>
                <a:cs typeface="Arial"/>
                <a:sym typeface="Arial"/>
              </a:rPr>
              <a:t>:</a:t>
            </a:r>
            <a:endParaRPr/>
          </a:p>
          <a:p>
            <a:pPr indent="-228600" lvl="1" marL="685800" rtl="0" algn="l">
              <a:lnSpc>
                <a:spcPct val="100000"/>
              </a:lnSpc>
              <a:spcBef>
                <a:spcPts val="560"/>
              </a:spcBef>
              <a:spcAft>
                <a:spcPts val="0"/>
              </a:spcAft>
              <a:buClr>
                <a:srgbClr val="000066"/>
              </a:buClr>
              <a:buSzPts val="2800"/>
              <a:buChar char="•"/>
            </a:pPr>
            <a:r>
              <a:rPr b="1" lang="en-US" sz="2800">
                <a:solidFill>
                  <a:srgbClr val="000066"/>
                </a:solidFill>
                <a:latin typeface="Arial"/>
                <a:ea typeface="Arial"/>
                <a:cs typeface="Arial"/>
                <a:sym typeface="Arial"/>
              </a:rPr>
              <a:t>rpm –Uvh &lt;/path/to/filename.rpm&gt;</a:t>
            </a:r>
            <a:endParaRPr sz="2800">
              <a:solidFill>
                <a:srgbClr val="000066"/>
              </a:solidFill>
              <a:latin typeface="Arial"/>
              <a:ea typeface="Arial"/>
              <a:cs typeface="Arial"/>
              <a:sym typeface="Arial"/>
            </a:endParaRPr>
          </a:p>
          <a:p>
            <a:pPr indent="-228600" lvl="1" marL="685800" rtl="0" algn="l">
              <a:lnSpc>
                <a:spcPct val="100000"/>
              </a:lnSpc>
              <a:spcBef>
                <a:spcPts val="560"/>
              </a:spcBef>
              <a:spcAft>
                <a:spcPts val="0"/>
              </a:spcAft>
              <a:buClr>
                <a:srgbClr val="000066"/>
              </a:buClr>
              <a:buSzPts val="2800"/>
              <a:buChar char="•"/>
            </a:pPr>
            <a:r>
              <a:rPr b="1" lang="en-US" sz="2800">
                <a:solidFill>
                  <a:srgbClr val="000066"/>
                </a:solidFill>
                <a:latin typeface="Arial"/>
                <a:ea typeface="Arial"/>
                <a:cs typeface="Arial"/>
                <a:sym typeface="Arial"/>
              </a:rPr>
              <a:t>rpm –Fvh &lt;/path/to/filename.rpm&gt;</a:t>
            </a:r>
            <a:endParaRPr sz="2800">
              <a:solidFill>
                <a:srgbClr val="000066"/>
              </a:solidFill>
            </a:endParaRPr>
          </a:p>
        </p:txBody>
      </p:sp>
      <p:sp>
        <p:nvSpPr>
          <p:cNvPr id="94" name="Google Shape;9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7"/>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Remove</a:t>
            </a:r>
            <a:r>
              <a:rPr lang="en-US">
                <a:latin typeface="Arial"/>
                <a:ea typeface="Arial"/>
                <a:cs typeface="Arial"/>
                <a:sym typeface="Arial"/>
              </a:rPr>
              <a:t> RPM</a:t>
            </a:r>
            <a:endParaRPr/>
          </a:p>
        </p:txBody>
      </p:sp>
      <p:sp>
        <p:nvSpPr>
          <p:cNvPr id="101" name="Google Shape;101;p7"/>
          <p:cNvSpPr txBox="1"/>
          <p:nvPr>
            <p:ph idx="1" type="body"/>
          </p:nvPr>
        </p:nvSpPr>
        <p:spPr>
          <a:xfrm>
            <a:off x="381000" y="1066800"/>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2045AE"/>
              </a:buClr>
              <a:buSzPts val="3200"/>
              <a:buChar char="•"/>
            </a:pPr>
            <a:r>
              <a:rPr lang="en-US" sz="3200">
                <a:solidFill>
                  <a:srgbClr val="2045AE"/>
                </a:solidFill>
              </a:rPr>
              <a:t>Remove RPM packages</a:t>
            </a:r>
            <a:r>
              <a:rPr lang="en-US" sz="3200">
                <a:solidFill>
                  <a:srgbClr val="2045AE"/>
                </a:solidFill>
                <a:latin typeface="Arial"/>
                <a:ea typeface="Arial"/>
                <a:cs typeface="Arial"/>
                <a:sym typeface="Arial"/>
              </a:rPr>
              <a:t>:</a:t>
            </a:r>
            <a:endParaRPr/>
          </a:p>
          <a:p>
            <a:pPr indent="-228600" lvl="1" marL="685800" rtl="0" algn="l">
              <a:lnSpc>
                <a:spcPct val="100000"/>
              </a:lnSpc>
              <a:spcBef>
                <a:spcPts val="560"/>
              </a:spcBef>
              <a:spcAft>
                <a:spcPts val="0"/>
              </a:spcAft>
              <a:buClr>
                <a:srgbClr val="000066"/>
              </a:buClr>
              <a:buSzPts val="2800"/>
              <a:buChar char="•"/>
            </a:pPr>
            <a:r>
              <a:rPr b="1" lang="en-US" sz="2800">
                <a:solidFill>
                  <a:srgbClr val="000066"/>
                </a:solidFill>
                <a:latin typeface="Arial"/>
                <a:ea typeface="Arial"/>
                <a:cs typeface="Arial"/>
                <a:sym typeface="Arial"/>
              </a:rPr>
              <a:t>rpm –e &lt;package&gt;</a:t>
            </a:r>
            <a:endParaRPr sz="2800">
              <a:solidFill>
                <a:srgbClr val="000066"/>
              </a:solidFill>
              <a:latin typeface="Arial"/>
              <a:ea typeface="Arial"/>
              <a:cs typeface="Arial"/>
              <a:sym typeface="Arial"/>
            </a:endParaRPr>
          </a:p>
          <a:p>
            <a:pPr indent="-228600" lvl="0" marL="228600" rtl="0" algn="l">
              <a:lnSpc>
                <a:spcPct val="100000"/>
              </a:lnSpc>
              <a:spcBef>
                <a:spcPts val="640"/>
              </a:spcBef>
              <a:spcAft>
                <a:spcPts val="0"/>
              </a:spcAft>
              <a:buClr>
                <a:srgbClr val="2045AE"/>
              </a:buClr>
              <a:buSzPts val="3200"/>
              <a:buChar char="•"/>
            </a:pPr>
            <a:r>
              <a:rPr lang="en-US" sz="3200">
                <a:solidFill>
                  <a:srgbClr val="2045AE"/>
                </a:solidFill>
              </a:rPr>
              <a:t>Remove RPM packages</a:t>
            </a:r>
            <a:r>
              <a:rPr lang="en-US" sz="3200">
                <a:solidFill>
                  <a:srgbClr val="2045AE"/>
                </a:solidFill>
                <a:latin typeface="Arial"/>
                <a:ea typeface="Arial"/>
                <a:cs typeface="Arial"/>
                <a:sym typeface="Arial"/>
              </a:rPr>
              <a:t> (</a:t>
            </a:r>
            <a:r>
              <a:rPr lang="en-US" sz="3200">
                <a:solidFill>
                  <a:srgbClr val="2045AE"/>
                </a:solidFill>
              </a:rPr>
              <a:t>force</a:t>
            </a:r>
            <a:r>
              <a:rPr lang="en-US" sz="3200">
                <a:solidFill>
                  <a:srgbClr val="2045AE"/>
                </a:solidFill>
                <a:latin typeface="Arial"/>
                <a:ea typeface="Arial"/>
                <a:cs typeface="Arial"/>
                <a:sym typeface="Arial"/>
              </a:rPr>
              <a:t>):</a:t>
            </a:r>
            <a:endParaRPr/>
          </a:p>
          <a:p>
            <a:pPr indent="-228600" lvl="1" marL="685800" rtl="0" algn="l">
              <a:lnSpc>
                <a:spcPct val="100000"/>
              </a:lnSpc>
              <a:spcBef>
                <a:spcPts val="560"/>
              </a:spcBef>
              <a:spcAft>
                <a:spcPts val="0"/>
              </a:spcAft>
              <a:buClr>
                <a:srgbClr val="000066"/>
              </a:buClr>
              <a:buSzPts val="2800"/>
              <a:buChar char="•"/>
            </a:pPr>
            <a:r>
              <a:rPr b="1" lang="en-US" sz="2800">
                <a:solidFill>
                  <a:srgbClr val="000066"/>
                </a:solidFill>
                <a:latin typeface="Arial"/>
                <a:ea typeface="Arial"/>
                <a:cs typeface="Arial"/>
                <a:sym typeface="Arial"/>
              </a:rPr>
              <a:t>rpm –e --nodeps &lt;package&gt;</a:t>
            </a:r>
            <a:endParaRPr sz="2800">
              <a:solidFill>
                <a:srgbClr val="000066"/>
              </a:solidFill>
              <a:latin typeface="Arial"/>
              <a:ea typeface="Arial"/>
              <a:cs typeface="Arial"/>
              <a:sym typeface="Arial"/>
            </a:endParaRPr>
          </a:p>
          <a:p>
            <a:pPr indent="-50800" lvl="0" marL="228600" rtl="0" algn="l">
              <a:lnSpc>
                <a:spcPct val="100000"/>
              </a:lnSpc>
              <a:spcBef>
                <a:spcPts val="560"/>
              </a:spcBef>
              <a:spcAft>
                <a:spcPts val="0"/>
              </a:spcAft>
              <a:buClr>
                <a:schemeClr val="dk1"/>
              </a:buClr>
              <a:buSzPts val="2800"/>
              <a:buNone/>
            </a:pPr>
            <a:r>
              <a:t/>
            </a:r>
            <a:endParaRPr/>
          </a:p>
        </p:txBody>
      </p:sp>
      <p:sp>
        <p:nvSpPr>
          <p:cNvPr id="102" name="Google Shape;102;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8"/>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Query</a:t>
            </a:r>
            <a:r>
              <a:rPr lang="en-US">
                <a:latin typeface="Arial"/>
                <a:ea typeface="Arial"/>
                <a:cs typeface="Arial"/>
                <a:sym typeface="Arial"/>
              </a:rPr>
              <a:t> RPM packages</a:t>
            </a:r>
            <a:endParaRPr>
              <a:latin typeface="Arial"/>
              <a:ea typeface="Arial"/>
              <a:cs typeface="Arial"/>
              <a:sym typeface="Arial"/>
            </a:endParaRPr>
          </a:p>
        </p:txBody>
      </p:sp>
      <p:sp>
        <p:nvSpPr>
          <p:cNvPr id="109" name="Google Shape;109;p8"/>
          <p:cNvSpPr txBox="1"/>
          <p:nvPr>
            <p:ph idx="1" type="body"/>
          </p:nvPr>
        </p:nvSpPr>
        <p:spPr>
          <a:xfrm>
            <a:off x="381000" y="914400"/>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2045AE"/>
              </a:buClr>
              <a:buSzPts val="3200"/>
              <a:buChar char="•"/>
            </a:pPr>
            <a:r>
              <a:rPr lang="en-US" sz="3200">
                <a:solidFill>
                  <a:srgbClr val="2045AE"/>
                </a:solidFill>
              </a:rPr>
              <a:t>RPM maintains an internal database of installed packages.</a:t>
            </a:r>
            <a:endParaRPr>
              <a:solidFill>
                <a:srgbClr val="000000"/>
              </a:solidFill>
              <a:latin typeface="Arial"/>
              <a:ea typeface="Arial"/>
              <a:cs typeface="Arial"/>
              <a:sym typeface="Arial"/>
            </a:endParaRPr>
          </a:p>
          <a:p>
            <a:pPr indent="-228600" lvl="0" marL="228600" rtl="0" algn="l">
              <a:lnSpc>
                <a:spcPct val="100000"/>
              </a:lnSpc>
              <a:spcBef>
                <a:spcPts val="640"/>
              </a:spcBef>
              <a:spcAft>
                <a:spcPts val="0"/>
              </a:spcAft>
              <a:buClr>
                <a:srgbClr val="2045AE"/>
              </a:buClr>
              <a:buSzPts val="3200"/>
              <a:buChar char="•"/>
            </a:pPr>
            <a:r>
              <a:rPr lang="en-US" sz="3200">
                <a:solidFill>
                  <a:srgbClr val="2045AE"/>
                </a:solidFill>
              </a:rPr>
              <a:t>Installed packages can be manipulated using the package names.</a:t>
            </a:r>
            <a:endParaRPr>
              <a:solidFill>
                <a:srgbClr val="000000"/>
              </a:solidFill>
              <a:latin typeface="Arial"/>
              <a:ea typeface="Arial"/>
              <a:cs typeface="Arial"/>
              <a:sym typeface="Arial"/>
            </a:endParaRPr>
          </a:p>
          <a:p>
            <a:pPr indent="-228600" lvl="0" marL="228600" rtl="0" algn="l">
              <a:lnSpc>
                <a:spcPct val="100000"/>
              </a:lnSpc>
              <a:spcBef>
                <a:spcPts val="640"/>
              </a:spcBef>
              <a:spcAft>
                <a:spcPts val="0"/>
              </a:spcAft>
              <a:buClr>
                <a:srgbClr val="2045AE"/>
              </a:buClr>
              <a:buSzPts val="3200"/>
              <a:buChar char="•"/>
            </a:pPr>
            <a:r>
              <a:rPr lang="en-US" sz="3200">
                <a:solidFill>
                  <a:srgbClr val="2045AE"/>
                </a:solidFill>
              </a:rPr>
              <a:t>Query installed packages</a:t>
            </a:r>
            <a:r>
              <a:rPr lang="en-US" sz="3200">
                <a:solidFill>
                  <a:srgbClr val="2045AE"/>
                </a:solidFill>
                <a:latin typeface="Arial"/>
                <a:ea typeface="Arial"/>
                <a:cs typeface="Arial"/>
                <a:sym typeface="Arial"/>
              </a:rPr>
              <a:t>:</a:t>
            </a:r>
            <a:endParaRPr>
              <a:solidFill>
                <a:srgbClr val="000000"/>
              </a:solidFill>
              <a:latin typeface="Arial"/>
              <a:ea typeface="Arial"/>
              <a:cs typeface="Arial"/>
              <a:sym typeface="Arial"/>
            </a:endParaRPr>
          </a:p>
          <a:p>
            <a:pPr indent="-228600" lvl="1" marL="685800" rtl="0" algn="l">
              <a:lnSpc>
                <a:spcPct val="100000"/>
              </a:lnSpc>
              <a:spcBef>
                <a:spcPts val="480"/>
              </a:spcBef>
              <a:spcAft>
                <a:spcPts val="0"/>
              </a:spcAft>
              <a:buClr>
                <a:srgbClr val="000066"/>
              </a:buClr>
              <a:buSzPts val="2400"/>
              <a:buChar char="•"/>
            </a:pPr>
            <a:r>
              <a:rPr b="1" lang="en-US">
                <a:solidFill>
                  <a:srgbClr val="000066"/>
                </a:solidFill>
                <a:latin typeface="Arial"/>
                <a:ea typeface="Arial"/>
                <a:cs typeface="Arial"/>
                <a:sym typeface="Arial"/>
              </a:rPr>
              <a:t>rpm –q [–i] [–l] &lt;package&gt;</a:t>
            </a:r>
            <a:endParaRPr>
              <a:solidFill>
                <a:srgbClr val="000066"/>
              </a:solidFill>
              <a:latin typeface="Arial"/>
              <a:ea typeface="Arial"/>
              <a:cs typeface="Arial"/>
              <a:sym typeface="Arial"/>
            </a:endParaRPr>
          </a:p>
          <a:p>
            <a:pPr indent="-228600" lvl="0" marL="228600" rtl="0" algn="l">
              <a:lnSpc>
                <a:spcPct val="100000"/>
              </a:lnSpc>
              <a:spcBef>
                <a:spcPts val="720"/>
              </a:spcBef>
              <a:spcAft>
                <a:spcPts val="0"/>
              </a:spcAft>
              <a:buClr>
                <a:srgbClr val="2045AE"/>
              </a:buClr>
              <a:buSzPts val="3600"/>
              <a:buChar char="•"/>
            </a:pPr>
            <a:r>
              <a:rPr lang="en-US" sz="3600">
                <a:solidFill>
                  <a:srgbClr val="2045AE"/>
                </a:solidFill>
              </a:rPr>
              <a:t>Query package files</a:t>
            </a:r>
            <a:r>
              <a:rPr lang="en-US" sz="3600">
                <a:solidFill>
                  <a:srgbClr val="2045AE"/>
                </a:solidFill>
                <a:latin typeface="Arial"/>
                <a:ea typeface="Arial"/>
                <a:cs typeface="Arial"/>
                <a:sym typeface="Arial"/>
              </a:rPr>
              <a:t>:</a:t>
            </a:r>
            <a:endParaRPr sz="3600">
              <a:solidFill>
                <a:srgbClr val="000066"/>
              </a:solidFill>
              <a:latin typeface="Arial"/>
              <a:ea typeface="Arial"/>
              <a:cs typeface="Arial"/>
              <a:sym typeface="Arial"/>
            </a:endParaRPr>
          </a:p>
          <a:p>
            <a:pPr indent="-228600" lvl="1" marL="685800" rtl="0" algn="l">
              <a:lnSpc>
                <a:spcPct val="100000"/>
              </a:lnSpc>
              <a:spcBef>
                <a:spcPts val="480"/>
              </a:spcBef>
              <a:spcAft>
                <a:spcPts val="0"/>
              </a:spcAft>
              <a:buClr>
                <a:srgbClr val="000066"/>
              </a:buClr>
              <a:buSzPts val="2400"/>
              <a:buChar char="•"/>
            </a:pPr>
            <a:r>
              <a:rPr b="1" lang="en-US">
                <a:solidFill>
                  <a:srgbClr val="000066"/>
                </a:solidFill>
                <a:latin typeface="Arial"/>
                <a:ea typeface="Arial"/>
                <a:cs typeface="Arial"/>
                <a:sym typeface="Arial"/>
              </a:rPr>
              <a:t>rpm –qp [–i] [–l] &lt;/path/to/filename.rpm&gt;</a:t>
            </a:r>
            <a:endParaRPr>
              <a:solidFill>
                <a:srgbClr val="000066"/>
              </a:solidFill>
            </a:endParaRPr>
          </a:p>
          <a:p>
            <a:pPr indent="-228600" lvl="0" marL="228600" rtl="0" algn="l">
              <a:lnSpc>
                <a:spcPct val="100000"/>
              </a:lnSpc>
              <a:spcBef>
                <a:spcPts val="640"/>
              </a:spcBef>
              <a:spcAft>
                <a:spcPts val="0"/>
              </a:spcAft>
              <a:buClr>
                <a:srgbClr val="2045AE"/>
              </a:buClr>
              <a:buSzPts val="3200"/>
              <a:buChar char="•"/>
            </a:pPr>
            <a:r>
              <a:rPr lang="en-US" sz="3200">
                <a:solidFill>
                  <a:srgbClr val="2045AE"/>
                </a:solidFill>
              </a:rPr>
              <a:t>Query all installed packages</a:t>
            </a:r>
            <a:r>
              <a:rPr lang="en-US" sz="3200">
                <a:solidFill>
                  <a:srgbClr val="2045AE"/>
                </a:solidFill>
                <a:latin typeface="Arial"/>
                <a:ea typeface="Arial"/>
                <a:cs typeface="Arial"/>
                <a:sym typeface="Arial"/>
              </a:rPr>
              <a:t>:</a:t>
            </a:r>
            <a:endParaRPr/>
          </a:p>
          <a:p>
            <a:pPr indent="-228600" lvl="1" marL="685800" rtl="0" algn="l">
              <a:lnSpc>
                <a:spcPct val="100000"/>
              </a:lnSpc>
              <a:spcBef>
                <a:spcPts val="480"/>
              </a:spcBef>
              <a:spcAft>
                <a:spcPts val="0"/>
              </a:spcAft>
              <a:buClr>
                <a:srgbClr val="000066"/>
              </a:buClr>
              <a:buSzPts val="2400"/>
              <a:buChar char="•"/>
            </a:pPr>
            <a:r>
              <a:rPr b="1" lang="en-US">
                <a:solidFill>
                  <a:srgbClr val="000066"/>
                </a:solidFill>
                <a:latin typeface="Arial"/>
                <a:ea typeface="Arial"/>
                <a:cs typeface="Arial"/>
                <a:sym typeface="Arial"/>
              </a:rPr>
              <a:t>rpm -qa</a:t>
            </a:r>
            <a:endParaRPr/>
          </a:p>
        </p:txBody>
      </p:sp>
      <p:sp>
        <p:nvSpPr>
          <p:cNvPr id="110" name="Google Shape;110;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5" name="Shape 115"/>
        <p:cNvGrpSpPr/>
        <p:nvPr/>
      </p:nvGrpSpPr>
      <p:grpSpPr>
        <a:xfrm>
          <a:off x="0" y="0"/>
          <a:ext cx="0" cy="0"/>
          <a:chOff x="0" y="0"/>
          <a:chExt cx="0" cy="0"/>
        </a:xfrm>
      </p:grpSpPr>
      <p:sp>
        <p:nvSpPr>
          <p:cNvPr id="116" name="Google Shape;116;p9"/>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latin typeface="Arial"/>
                <a:ea typeface="Arial"/>
                <a:cs typeface="Arial"/>
                <a:sym typeface="Arial"/>
              </a:rPr>
              <a:t>Repositories and other tools</a:t>
            </a:r>
            <a:endParaRPr/>
          </a:p>
        </p:txBody>
      </p:sp>
      <p:sp>
        <p:nvSpPr>
          <p:cNvPr id="117" name="Google Shape;117;p9"/>
          <p:cNvSpPr txBox="1"/>
          <p:nvPr>
            <p:ph idx="1" type="body"/>
          </p:nvPr>
        </p:nvSpPr>
        <p:spPr>
          <a:xfrm>
            <a:off x="381000" y="1066800"/>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2045AE"/>
              </a:buClr>
              <a:buSzPts val="3200"/>
              <a:buChar char="•"/>
            </a:pPr>
            <a:r>
              <a:rPr lang="en-US" sz="3200">
                <a:solidFill>
                  <a:srgbClr val="2045AE"/>
                </a:solidFill>
                <a:latin typeface="Arial"/>
                <a:ea typeface="Arial"/>
                <a:cs typeface="Arial"/>
                <a:sym typeface="Arial"/>
              </a:rPr>
              <a:t>rpm packages can be download from ditributor’s </a:t>
            </a:r>
            <a:r>
              <a:rPr i="1" lang="en-US" sz="3200">
                <a:solidFill>
                  <a:srgbClr val="2045AE"/>
                </a:solidFill>
                <a:latin typeface="Arial"/>
                <a:ea typeface="Arial"/>
                <a:cs typeface="Arial"/>
                <a:sym typeface="Arial"/>
              </a:rPr>
              <a:t>repository</a:t>
            </a:r>
            <a:endParaRPr sz="3200">
              <a:solidFill>
                <a:srgbClr val="2045AE"/>
              </a:solidFill>
              <a:latin typeface="Arial"/>
              <a:ea typeface="Arial"/>
              <a:cs typeface="Arial"/>
              <a:sym typeface="Arial"/>
            </a:endParaRPr>
          </a:p>
          <a:p>
            <a:pPr indent="-228600" lvl="0" marL="228600" rtl="0" algn="l">
              <a:lnSpc>
                <a:spcPct val="100000"/>
              </a:lnSpc>
              <a:spcBef>
                <a:spcPts val="640"/>
              </a:spcBef>
              <a:spcAft>
                <a:spcPts val="0"/>
              </a:spcAft>
              <a:buClr>
                <a:srgbClr val="2045AE"/>
              </a:buClr>
              <a:buSzPts val="3200"/>
              <a:buChar char="•"/>
            </a:pPr>
            <a:r>
              <a:rPr lang="en-US" sz="3200">
                <a:solidFill>
                  <a:srgbClr val="2045AE"/>
                </a:solidFill>
                <a:latin typeface="Arial"/>
                <a:ea typeface="Arial"/>
                <a:cs typeface="Arial"/>
                <a:sym typeface="Arial"/>
              </a:rPr>
              <a:t>Some tools are provided for installing packages from the repository or updating entire system</a:t>
            </a:r>
            <a:endParaRPr/>
          </a:p>
          <a:p>
            <a:pPr indent="-228600" lvl="1" marL="685800" rtl="0" algn="l">
              <a:lnSpc>
                <a:spcPct val="100000"/>
              </a:lnSpc>
              <a:spcBef>
                <a:spcPts val="480"/>
              </a:spcBef>
              <a:spcAft>
                <a:spcPts val="0"/>
              </a:spcAft>
              <a:buClr>
                <a:srgbClr val="000066"/>
              </a:buClr>
              <a:buSzPts val="2400"/>
              <a:buChar char="•"/>
            </a:pPr>
            <a:r>
              <a:rPr b="1" i="1" lang="en-US">
                <a:solidFill>
                  <a:srgbClr val="000066"/>
                </a:solidFill>
                <a:latin typeface="Arial"/>
                <a:ea typeface="Arial"/>
                <a:cs typeface="Arial"/>
                <a:sym typeface="Arial"/>
              </a:rPr>
              <a:t>YaST (</a:t>
            </a:r>
            <a:r>
              <a:rPr lang="en-US">
                <a:solidFill>
                  <a:srgbClr val="000066"/>
                </a:solidFill>
                <a:latin typeface="Arial"/>
                <a:ea typeface="Arial"/>
                <a:cs typeface="Arial"/>
                <a:sym typeface="Arial"/>
              </a:rPr>
              <a:t>SUSE)</a:t>
            </a:r>
            <a:endParaRPr/>
          </a:p>
          <a:p>
            <a:pPr indent="-228600" lvl="1" marL="685800" rtl="0" algn="l">
              <a:lnSpc>
                <a:spcPct val="100000"/>
              </a:lnSpc>
              <a:spcBef>
                <a:spcPts val="480"/>
              </a:spcBef>
              <a:spcAft>
                <a:spcPts val="0"/>
              </a:spcAft>
              <a:buClr>
                <a:srgbClr val="000066"/>
              </a:buClr>
              <a:buSzPts val="2400"/>
              <a:buChar char="•"/>
            </a:pPr>
            <a:r>
              <a:rPr b="1" i="1" lang="en-US">
                <a:solidFill>
                  <a:srgbClr val="000066"/>
                </a:solidFill>
                <a:latin typeface="Arial"/>
                <a:ea typeface="Arial"/>
                <a:cs typeface="Arial"/>
                <a:sym typeface="Arial"/>
              </a:rPr>
              <a:t>up2date</a:t>
            </a:r>
            <a:r>
              <a:rPr lang="en-US">
                <a:solidFill>
                  <a:srgbClr val="000066"/>
                </a:solidFill>
                <a:latin typeface="Arial"/>
                <a:ea typeface="Arial"/>
                <a:cs typeface="Arial"/>
                <a:sym typeface="Arial"/>
              </a:rPr>
              <a:t> (Red Hat)</a:t>
            </a:r>
            <a:endParaRPr/>
          </a:p>
          <a:p>
            <a:pPr indent="-228600" lvl="1" marL="685800" rtl="0" algn="l">
              <a:lnSpc>
                <a:spcPct val="100000"/>
              </a:lnSpc>
              <a:spcBef>
                <a:spcPts val="480"/>
              </a:spcBef>
              <a:spcAft>
                <a:spcPts val="0"/>
              </a:spcAft>
              <a:buClr>
                <a:srgbClr val="000066"/>
              </a:buClr>
              <a:buSzPts val="2400"/>
              <a:buChar char="•"/>
            </a:pPr>
            <a:r>
              <a:rPr b="1" i="1" lang="en-US">
                <a:solidFill>
                  <a:srgbClr val="000066"/>
                </a:solidFill>
                <a:latin typeface="Arial"/>
                <a:ea typeface="Arial"/>
                <a:cs typeface="Arial"/>
                <a:sym typeface="Arial"/>
              </a:rPr>
              <a:t>yum</a:t>
            </a:r>
            <a:r>
              <a:rPr lang="en-US">
                <a:solidFill>
                  <a:srgbClr val="000066"/>
                </a:solidFill>
                <a:latin typeface="Arial"/>
                <a:ea typeface="Arial"/>
                <a:cs typeface="Arial"/>
                <a:sym typeface="Arial"/>
              </a:rPr>
              <a:t> (Fedora &amp; others)</a:t>
            </a:r>
            <a:endParaRPr/>
          </a:p>
          <a:p>
            <a:pPr indent="-228600" lvl="0" marL="228600" rtl="0" algn="l">
              <a:lnSpc>
                <a:spcPct val="100000"/>
              </a:lnSpc>
              <a:spcBef>
                <a:spcPts val="640"/>
              </a:spcBef>
              <a:spcAft>
                <a:spcPts val="0"/>
              </a:spcAft>
              <a:buClr>
                <a:srgbClr val="2045AE"/>
              </a:buClr>
              <a:buSzPts val="3200"/>
              <a:buChar char="•"/>
            </a:pPr>
            <a:r>
              <a:rPr lang="en-US" sz="3200">
                <a:solidFill>
                  <a:srgbClr val="2045AE"/>
                </a:solidFill>
                <a:latin typeface="Arial"/>
                <a:ea typeface="Arial"/>
                <a:cs typeface="Arial"/>
                <a:sym typeface="Arial"/>
              </a:rPr>
              <a:t>Good resource for locating RPM: rpmfind.net</a:t>
            </a:r>
            <a:endParaRPr>
              <a:latin typeface="Arial"/>
              <a:ea typeface="Arial"/>
              <a:cs typeface="Arial"/>
              <a:sym typeface="Arial"/>
            </a:endParaRPr>
          </a:p>
        </p:txBody>
      </p:sp>
      <p:sp>
        <p:nvSpPr>
          <p:cNvPr id="118" name="Google Shape;118;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3" name="Shape 123"/>
        <p:cNvGrpSpPr/>
        <p:nvPr/>
      </p:nvGrpSpPr>
      <p:grpSpPr>
        <a:xfrm>
          <a:off x="0" y="0"/>
          <a:ext cx="0" cy="0"/>
          <a:chOff x="0" y="0"/>
          <a:chExt cx="0" cy="0"/>
        </a:xfrm>
      </p:grpSpPr>
      <p:sp>
        <p:nvSpPr>
          <p:cNvPr id="124" name="Google Shape;124;p10"/>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latin typeface="Arial"/>
                <a:ea typeface="Arial"/>
                <a:cs typeface="Arial"/>
                <a:sym typeface="Arial"/>
              </a:rPr>
              <a:t>Configure yum repositories</a:t>
            </a:r>
            <a:endParaRPr/>
          </a:p>
        </p:txBody>
      </p:sp>
      <p:sp>
        <p:nvSpPr>
          <p:cNvPr id="125" name="Google Shape;125;p10"/>
          <p:cNvSpPr txBox="1"/>
          <p:nvPr>
            <p:ph idx="1" type="body"/>
          </p:nvPr>
        </p:nvSpPr>
        <p:spPr>
          <a:xfrm>
            <a:off x="381000" y="1066800"/>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2045AE"/>
              </a:buClr>
              <a:buSzPts val="3200"/>
              <a:buChar char="•"/>
            </a:pPr>
            <a:r>
              <a:rPr lang="en-US" sz="3200">
                <a:solidFill>
                  <a:srgbClr val="2045AE"/>
                </a:solidFill>
                <a:latin typeface="Arial"/>
                <a:ea typeface="Arial"/>
                <a:cs typeface="Arial"/>
                <a:sym typeface="Arial"/>
              </a:rPr>
              <a:t>Steps to create a local repository</a:t>
            </a:r>
            <a:endParaRPr/>
          </a:p>
          <a:p>
            <a:pPr indent="-228600" lvl="1" marL="685800" rtl="0" algn="l">
              <a:lnSpc>
                <a:spcPct val="100000"/>
              </a:lnSpc>
              <a:spcBef>
                <a:spcPts val="480"/>
              </a:spcBef>
              <a:spcAft>
                <a:spcPts val="0"/>
              </a:spcAft>
              <a:buClr>
                <a:srgbClr val="000066"/>
              </a:buClr>
              <a:buSzPts val="2400"/>
              <a:buChar char="•"/>
            </a:pPr>
            <a:r>
              <a:rPr lang="en-US">
                <a:solidFill>
                  <a:srgbClr val="000066"/>
                </a:solidFill>
                <a:latin typeface="Arial"/>
                <a:ea typeface="Arial"/>
                <a:cs typeface="Arial"/>
                <a:sym typeface="Arial"/>
              </a:rPr>
              <a:t>Create a repo folder: </a:t>
            </a:r>
            <a:r>
              <a:rPr b="1" lang="en-US">
                <a:solidFill>
                  <a:srgbClr val="000066"/>
                </a:solidFill>
                <a:latin typeface="Arial"/>
                <a:ea typeface="Arial"/>
                <a:cs typeface="Arial"/>
                <a:sym typeface="Arial"/>
              </a:rPr>
              <a:t>mkdir –p /path/to/repo</a:t>
            </a:r>
            <a:endParaRPr>
              <a:solidFill>
                <a:srgbClr val="000066"/>
              </a:solidFill>
              <a:latin typeface="Arial"/>
              <a:ea typeface="Arial"/>
              <a:cs typeface="Arial"/>
              <a:sym typeface="Arial"/>
            </a:endParaRPr>
          </a:p>
          <a:p>
            <a:pPr indent="-228600" lvl="1" marL="685800" rtl="0" algn="l">
              <a:lnSpc>
                <a:spcPct val="100000"/>
              </a:lnSpc>
              <a:spcBef>
                <a:spcPts val="480"/>
              </a:spcBef>
              <a:spcAft>
                <a:spcPts val="0"/>
              </a:spcAft>
              <a:buClr>
                <a:srgbClr val="000066"/>
              </a:buClr>
              <a:buSzPts val="2400"/>
              <a:buChar char="•"/>
            </a:pPr>
            <a:r>
              <a:rPr lang="en-US">
                <a:solidFill>
                  <a:srgbClr val="000066"/>
                </a:solidFill>
                <a:latin typeface="Arial"/>
                <a:ea typeface="Arial"/>
                <a:cs typeface="Arial"/>
                <a:sym typeface="Arial"/>
              </a:rPr>
              <a:t>Copy all the RPMs into that directory</a:t>
            </a:r>
            <a:endParaRPr/>
          </a:p>
          <a:p>
            <a:pPr indent="-228600" lvl="1" marL="685800" rtl="0" algn="l">
              <a:lnSpc>
                <a:spcPct val="100000"/>
              </a:lnSpc>
              <a:spcBef>
                <a:spcPts val="480"/>
              </a:spcBef>
              <a:spcAft>
                <a:spcPts val="0"/>
              </a:spcAft>
              <a:buClr>
                <a:srgbClr val="000066"/>
              </a:buClr>
              <a:buSzPts val="2400"/>
              <a:buChar char="•"/>
            </a:pPr>
            <a:r>
              <a:rPr lang="en-US">
                <a:solidFill>
                  <a:srgbClr val="000066"/>
                </a:solidFill>
                <a:latin typeface="Arial"/>
                <a:ea typeface="Arial"/>
                <a:cs typeface="Arial"/>
                <a:sym typeface="Arial"/>
              </a:rPr>
              <a:t>cd to that directory and run: </a:t>
            </a:r>
            <a:r>
              <a:rPr b="1" lang="en-US">
                <a:solidFill>
                  <a:srgbClr val="000066"/>
                </a:solidFill>
                <a:latin typeface="Arial"/>
                <a:ea typeface="Arial"/>
                <a:cs typeface="Arial"/>
                <a:sym typeface="Arial"/>
              </a:rPr>
              <a:t>createrepo</a:t>
            </a:r>
            <a:endParaRPr>
              <a:solidFill>
                <a:srgbClr val="000066"/>
              </a:solidFill>
              <a:latin typeface="Arial"/>
              <a:ea typeface="Arial"/>
              <a:cs typeface="Arial"/>
              <a:sym typeface="Arial"/>
            </a:endParaRPr>
          </a:p>
          <a:p>
            <a:pPr indent="-228600" lvl="1" marL="685800" rtl="0" algn="l">
              <a:lnSpc>
                <a:spcPct val="100000"/>
              </a:lnSpc>
              <a:spcBef>
                <a:spcPts val="480"/>
              </a:spcBef>
              <a:spcAft>
                <a:spcPts val="0"/>
              </a:spcAft>
              <a:buClr>
                <a:srgbClr val="000066"/>
              </a:buClr>
              <a:buSzPts val="2400"/>
              <a:buChar char="•"/>
            </a:pPr>
            <a:r>
              <a:rPr lang="en-US">
                <a:solidFill>
                  <a:srgbClr val="000066"/>
                </a:solidFill>
                <a:latin typeface="Arial"/>
                <a:ea typeface="Arial"/>
                <a:cs typeface="Arial"/>
                <a:sym typeface="Arial"/>
              </a:rPr>
              <a:t>clear repo cache: </a:t>
            </a:r>
            <a:r>
              <a:rPr b="1" lang="en-US">
                <a:solidFill>
                  <a:srgbClr val="000066"/>
                </a:solidFill>
                <a:latin typeface="Arial"/>
                <a:ea typeface="Arial"/>
                <a:cs typeface="Arial"/>
                <a:sym typeface="Arial"/>
              </a:rPr>
              <a:t>yum clean all</a:t>
            </a:r>
            <a:endParaRPr>
              <a:solidFill>
                <a:srgbClr val="000066"/>
              </a:solidFill>
              <a:latin typeface="Arial"/>
              <a:ea typeface="Arial"/>
              <a:cs typeface="Arial"/>
              <a:sym typeface="Arial"/>
            </a:endParaRPr>
          </a:p>
          <a:p>
            <a:pPr indent="-228600" lvl="1" marL="685800" rtl="0" algn="l">
              <a:lnSpc>
                <a:spcPct val="100000"/>
              </a:lnSpc>
              <a:spcBef>
                <a:spcPts val="480"/>
              </a:spcBef>
              <a:spcAft>
                <a:spcPts val="0"/>
              </a:spcAft>
              <a:buClr>
                <a:srgbClr val="000066"/>
              </a:buClr>
              <a:buSzPts val="2400"/>
              <a:buChar char="•"/>
            </a:pPr>
            <a:r>
              <a:rPr lang="en-US">
                <a:solidFill>
                  <a:srgbClr val="000066"/>
                </a:solidFill>
                <a:latin typeface="Arial"/>
                <a:ea typeface="Arial"/>
                <a:cs typeface="Arial"/>
                <a:sym typeface="Arial"/>
              </a:rPr>
              <a:t>Add repo information to </a:t>
            </a:r>
            <a:r>
              <a:rPr b="1" lang="en-US">
                <a:solidFill>
                  <a:srgbClr val="000066"/>
                </a:solidFill>
                <a:latin typeface="Arial"/>
                <a:ea typeface="Arial"/>
                <a:cs typeface="Arial"/>
                <a:sym typeface="Arial"/>
              </a:rPr>
              <a:t>/etc/yum.conf</a:t>
            </a:r>
            <a:endParaRPr>
              <a:solidFill>
                <a:srgbClr val="000066"/>
              </a:solidFill>
              <a:latin typeface="Arial"/>
              <a:ea typeface="Arial"/>
              <a:cs typeface="Arial"/>
              <a:sym typeface="Arial"/>
            </a:endParaRPr>
          </a:p>
          <a:p>
            <a:pPr indent="-228600" lvl="0" marL="228600" rtl="0" algn="l">
              <a:lnSpc>
                <a:spcPct val="100000"/>
              </a:lnSpc>
              <a:spcBef>
                <a:spcPts val="640"/>
              </a:spcBef>
              <a:spcAft>
                <a:spcPts val="0"/>
              </a:spcAft>
              <a:buClr>
                <a:srgbClr val="2045AE"/>
              </a:buClr>
              <a:buSzPts val="3200"/>
              <a:buChar char="•"/>
            </a:pPr>
            <a:r>
              <a:rPr lang="en-US" sz="3200">
                <a:solidFill>
                  <a:srgbClr val="2045AE"/>
                </a:solidFill>
                <a:latin typeface="Arial"/>
                <a:ea typeface="Arial"/>
                <a:cs typeface="Arial"/>
                <a:sym typeface="Arial"/>
              </a:rPr>
              <a:t>Repositories information is contained in </a:t>
            </a:r>
            <a:r>
              <a:rPr b="1" lang="en-US" sz="3200">
                <a:solidFill>
                  <a:srgbClr val="2045AE"/>
                </a:solidFill>
                <a:latin typeface="Arial"/>
                <a:ea typeface="Arial"/>
                <a:cs typeface="Arial"/>
                <a:sym typeface="Arial"/>
              </a:rPr>
              <a:t>/etc/yum.conf</a:t>
            </a:r>
            <a:endParaRPr sz="3200">
              <a:solidFill>
                <a:srgbClr val="2045AE"/>
              </a:solidFill>
              <a:latin typeface="Arial"/>
              <a:ea typeface="Arial"/>
              <a:cs typeface="Arial"/>
              <a:sym typeface="Arial"/>
            </a:endParaRPr>
          </a:p>
          <a:p>
            <a:pPr indent="-25400" lvl="0" marL="228600" rtl="0" algn="l">
              <a:lnSpc>
                <a:spcPct val="100000"/>
              </a:lnSpc>
              <a:spcBef>
                <a:spcPts val="640"/>
              </a:spcBef>
              <a:spcAft>
                <a:spcPts val="0"/>
              </a:spcAft>
              <a:buClr>
                <a:schemeClr val="dk1"/>
              </a:buClr>
              <a:buSzPts val="3200"/>
              <a:buNone/>
            </a:pPr>
            <a:r>
              <a:t/>
            </a:r>
            <a:endParaRPr sz="3200">
              <a:solidFill>
                <a:srgbClr val="2045AE"/>
              </a:solidFill>
            </a:endParaRPr>
          </a:p>
          <a:p>
            <a:pPr indent="-25400" lvl="0" marL="228600" rtl="0" algn="l">
              <a:lnSpc>
                <a:spcPct val="100000"/>
              </a:lnSpc>
              <a:spcBef>
                <a:spcPts val="640"/>
              </a:spcBef>
              <a:spcAft>
                <a:spcPts val="0"/>
              </a:spcAft>
              <a:buClr>
                <a:schemeClr val="dk1"/>
              </a:buClr>
              <a:buSzPts val="3200"/>
              <a:buNone/>
            </a:pPr>
            <a:r>
              <a:t/>
            </a:r>
            <a:endParaRPr sz="3200">
              <a:solidFill>
                <a:srgbClr val="2045AE"/>
              </a:solidFill>
            </a:endParaRPr>
          </a:p>
          <a:p>
            <a:pPr indent="-50800" lvl="0" marL="228600" rtl="0" algn="l">
              <a:lnSpc>
                <a:spcPct val="90000"/>
              </a:lnSpc>
              <a:spcBef>
                <a:spcPts val="1000"/>
              </a:spcBef>
              <a:spcAft>
                <a:spcPts val="0"/>
              </a:spcAft>
              <a:buClr>
                <a:schemeClr val="dk1"/>
              </a:buClr>
              <a:buSzPts val="2800"/>
              <a:buNone/>
            </a:pPr>
            <a:r>
              <a:t/>
            </a:r>
            <a:endParaRPr/>
          </a:p>
        </p:txBody>
      </p:sp>
      <p:sp>
        <p:nvSpPr>
          <p:cNvPr id="126" name="Google Shape;126;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Ảnh có chứa văn bản, biên lai, Phông chữ, ảnh chụp màn hình&#10;&#10;Mô tả được tự động tạo" id="127" name="Google Shape;127;p10"/>
          <p:cNvPicPr preferRelativeResize="0"/>
          <p:nvPr/>
        </p:nvPicPr>
        <p:blipFill rotWithShape="1">
          <a:blip r:embed="rId3">
            <a:alphaModFix/>
          </a:blip>
          <a:srcRect b="0" l="0" r="0" t="0"/>
          <a:stretch/>
        </p:blipFill>
        <p:spPr>
          <a:xfrm>
            <a:off x="713117" y="4679192"/>
            <a:ext cx="6912633" cy="133837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1"/>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latin typeface="Arial"/>
                <a:ea typeface="Arial"/>
                <a:cs typeface="Arial"/>
                <a:sym typeface="Arial"/>
              </a:rPr>
              <a:t>Yum command</a:t>
            </a:r>
            <a:endParaRPr/>
          </a:p>
        </p:txBody>
      </p:sp>
      <p:sp>
        <p:nvSpPr>
          <p:cNvPr id="133" name="Google Shape;133;p11"/>
          <p:cNvSpPr txBox="1"/>
          <p:nvPr>
            <p:ph idx="1" type="body"/>
          </p:nvPr>
        </p:nvSpPr>
        <p:spPr>
          <a:xfrm>
            <a:off x="381000" y="1066800"/>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2045AE"/>
              </a:buClr>
              <a:buSzPts val="3200"/>
              <a:buChar char="•"/>
            </a:pPr>
            <a:r>
              <a:rPr lang="en-US" sz="3200">
                <a:solidFill>
                  <a:srgbClr val="2045AE"/>
                </a:solidFill>
              </a:rPr>
              <a:t>Install the latest package version</a:t>
            </a:r>
            <a:r>
              <a:rPr lang="en-US" sz="3200">
                <a:solidFill>
                  <a:srgbClr val="2045AE"/>
                </a:solidFill>
                <a:latin typeface="Arial"/>
                <a:ea typeface="Arial"/>
                <a:cs typeface="Arial"/>
                <a:sym typeface="Arial"/>
              </a:rPr>
              <a:t>:</a:t>
            </a:r>
            <a:endParaRPr/>
          </a:p>
          <a:p>
            <a:pPr indent="-228600" lvl="1" marL="685800" rtl="0" algn="l">
              <a:lnSpc>
                <a:spcPct val="100000"/>
              </a:lnSpc>
              <a:spcBef>
                <a:spcPts val="480"/>
              </a:spcBef>
              <a:spcAft>
                <a:spcPts val="0"/>
              </a:spcAft>
              <a:buClr>
                <a:srgbClr val="000066"/>
              </a:buClr>
              <a:buSzPts val="2400"/>
              <a:buChar char="•"/>
            </a:pPr>
            <a:r>
              <a:rPr b="1" lang="en-US">
                <a:solidFill>
                  <a:srgbClr val="000066"/>
                </a:solidFill>
                <a:latin typeface="Arial"/>
                <a:ea typeface="Arial"/>
                <a:cs typeface="Arial"/>
                <a:sym typeface="Arial"/>
              </a:rPr>
              <a:t>yum install &lt;package/s&gt;</a:t>
            </a:r>
            <a:endParaRPr>
              <a:solidFill>
                <a:srgbClr val="000066"/>
              </a:solidFill>
              <a:latin typeface="Arial"/>
              <a:ea typeface="Arial"/>
              <a:cs typeface="Arial"/>
              <a:sym typeface="Arial"/>
            </a:endParaRPr>
          </a:p>
          <a:p>
            <a:pPr indent="-228600" lvl="0" marL="228600" rtl="0" algn="l">
              <a:lnSpc>
                <a:spcPct val="100000"/>
              </a:lnSpc>
              <a:spcBef>
                <a:spcPts val="640"/>
              </a:spcBef>
              <a:spcAft>
                <a:spcPts val="0"/>
              </a:spcAft>
              <a:buClr>
                <a:srgbClr val="2045AE"/>
              </a:buClr>
              <a:buSzPts val="3200"/>
              <a:buChar char="•"/>
            </a:pPr>
            <a:r>
              <a:rPr lang="en-US" sz="3200">
                <a:solidFill>
                  <a:srgbClr val="2045AE"/>
                </a:solidFill>
              </a:rPr>
              <a:t>Upgrade package to latest version</a:t>
            </a:r>
            <a:r>
              <a:rPr lang="en-US" sz="3200">
                <a:solidFill>
                  <a:srgbClr val="2045AE"/>
                </a:solidFill>
                <a:latin typeface="Arial"/>
                <a:ea typeface="Arial"/>
                <a:cs typeface="Arial"/>
                <a:sym typeface="Arial"/>
              </a:rPr>
              <a:t>:</a:t>
            </a:r>
            <a:endParaRPr/>
          </a:p>
          <a:p>
            <a:pPr indent="-228600" lvl="1" marL="685800" rtl="0" algn="l">
              <a:lnSpc>
                <a:spcPct val="100000"/>
              </a:lnSpc>
              <a:spcBef>
                <a:spcPts val="480"/>
              </a:spcBef>
              <a:spcAft>
                <a:spcPts val="0"/>
              </a:spcAft>
              <a:buClr>
                <a:srgbClr val="000066"/>
              </a:buClr>
              <a:buSzPts val="2400"/>
              <a:buChar char="•"/>
            </a:pPr>
            <a:r>
              <a:rPr b="1" lang="en-US">
                <a:solidFill>
                  <a:srgbClr val="000066"/>
                </a:solidFill>
                <a:latin typeface="Arial"/>
                <a:ea typeface="Arial"/>
                <a:cs typeface="Arial"/>
                <a:sym typeface="Arial"/>
              </a:rPr>
              <a:t>yum update &lt;package/s&gt;</a:t>
            </a:r>
            <a:endParaRPr>
              <a:solidFill>
                <a:srgbClr val="000066"/>
              </a:solidFill>
              <a:latin typeface="Arial"/>
              <a:ea typeface="Arial"/>
              <a:cs typeface="Arial"/>
              <a:sym typeface="Arial"/>
            </a:endParaRPr>
          </a:p>
          <a:p>
            <a:pPr indent="-228600" lvl="0" marL="228600" rtl="0" algn="l">
              <a:lnSpc>
                <a:spcPct val="100000"/>
              </a:lnSpc>
              <a:spcBef>
                <a:spcPts val="640"/>
              </a:spcBef>
              <a:spcAft>
                <a:spcPts val="0"/>
              </a:spcAft>
              <a:buClr>
                <a:srgbClr val="2045AE"/>
              </a:buClr>
              <a:buSzPts val="3200"/>
              <a:buChar char="•"/>
            </a:pPr>
            <a:r>
              <a:rPr lang="en-US" sz="3200">
                <a:solidFill>
                  <a:srgbClr val="2045AE"/>
                </a:solidFill>
              </a:rPr>
              <a:t>Remove a package and related packages</a:t>
            </a:r>
            <a:r>
              <a:rPr lang="en-US" sz="3200">
                <a:solidFill>
                  <a:srgbClr val="2045AE"/>
                </a:solidFill>
                <a:latin typeface="Arial"/>
                <a:ea typeface="Arial"/>
                <a:cs typeface="Arial"/>
                <a:sym typeface="Arial"/>
              </a:rPr>
              <a:t>:</a:t>
            </a:r>
            <a:endParaRPr/>
          </a:p>
          <a:p>
            <a:pPr indent="-228600" lvl="1" marL="685800" rtl="0" algn="l">
              <a:lnSpc>
                <a:spcPct val="100000"/>
              </a:lnSpc>
              <a:spcBef>
                <a:spcPts val="480"/>
              </a:spcBef>
              <a:spcAft>
                <a:spcPts val="0"/>
              </a:spcAft>
              <a:buClr>
                <a:srgbClr val="000066"/>
              </a:buClr>
              <a:buSzPts val="2400"/>
              <a:buChar char="•"/>
            </a:pPr>
            <a:r>
              <a:rPr b="1" lang="en-US">
                <a:solidFill>
                  <a:srgbClr val="000066"/>
                </a:solidFill>
                <a:latin typeface="Arial"/>
                <a:ea typeface="Arial"/>
                <a:cs typeface="Arial"/>
                <a:sym typeface="Arial"/>
              </a:rPr>
              <a:t>yum remove &lt;package/s&gt;</a:t>
            </a:r>
            <a:endParaRPr>
              <a:solidFill>
                <a:srgbClr val="000066"/>
              </a:solidFill>
              <a:latin typeface="Arial"/>
              <a:ea typeface="Arial"/>
              <a:cs typeface="Arial"/>
              <a:sym typeface="Arial"/>
            </a:endParaRPr>
          </a:p>
          <a:p>
            <a:pPr indent="-228600" lvl="0" marL="228600" rtl="0" algn="l">
              <a:lnSpc>
                <a:spcPct val="100000"/>
              </a:lnSpc>
              <a:spcBef>
                <a:spcPts val="640"/>
              </a:spcBef>
              <a:spcAft>
                <a:spcPts val="0"/>
              </a:spcAft>
              <a:buClr>
                <a:srgbClr val="2045AE"/>
              </a:buClr>
              <a:buSzPts val="3200"/>
              <a:buChar char="•"/>
            </a:pPr>
            <a:r>
              <a:rPr lang="en-US" sz="3200">
                <a:solidFill>
                  <a:srgbClr val="2045AE"/>
                </a:solidFill>
              </a:rPr>
              <a:t>Find any packages containing the keyword</a:t>
            </a:r>
            <a:r>
              <a:rPr lang="en-US" sz="3200">
                <a:solidFill>
                  <a:srgbClr val="2045AE"/>
                </a:solidFill>
                <a:latin typeface="Arial"/>
                <a:ea typeface="Arial"/>
                <a:cs typeface="Arial"/>
                <a:sym typeface="Arial"/>
              </a:rPr>
              <a:t>:</a:t>
            </a:r>
            <a:endParaRPr/>
          </a:p>
          <a:p>
            <a:pPr indent="-228600" lvl="1" marL="685800" rtl="0" algn="l">
              <a:lnSpc>
                <a:spcPct val="100000"/>
              </a:lnSpc>
              <a:spcBef>
                <a:spcPts val="480"/>
              </a:spcBef>
              <a:spcAft>
                <a:spcPts val="0"/>
              </a:spcAft>
              <a:buClr>
                <a:srgbClr val="000066"/>
              </a:buClr>
              <a:buSzPts val="2400"/>
              <a:buChar char="•"/>
            </a:pPr>
            <a:r>
              <a:rPr b="1" lang="en-US">
                <a:solidFill>
                  <a:srgbClr val="000066"/>
                </a:solidFill>
              </a:rPr>
              <a:t>yum search &lt;keyword&gt;</a:t>
            </a:r>
            <a:endParaRPr/>
          </a:p>
        </p:txBody>
      </p:sp>
      <p:sp>
        <p:nvSpPr>
          <p:cNvPr id="134" name="Google Shape;134;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g2f080f7e13d_0_20"/>
          <p:cNvSpPr txBox="1"/>
          <p:nvPr>
            <p:ph type="title"/>
          </p:nvPr>
        </p:nvSpPr>
        <p:spPr>
          <a:xfrm>
            <a:off x="228600" y="228600"/>
            <a:ext cx="10515600" cy="5445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Contents</a:t>
            </a:r>
            <a:endParaRPr/>
          </a:p>
        </p:txBody>
      </p:sp>
      <p:sp>
        <p:nvSpPr>
          <p:cNvPr id="141" name="Google Shape;141;g2f080f7e13d_0_20"/>
          <p:cNvSpPr txBox="1"/>
          <p:nvPr>
            <p:ph idx="1" type="body"/>
          </p:nvPr>
        </p:nvSpPr>
        <p:spPr>
          <a:xfrm>
            <a:off x="366713" y="1066800"/>
            <a:ext cx="10377600" cy="4608600"/>
          </a:xfrm>
          <a:prstGeom prst="rect">
            <a:avLst/>
          </a:prstGeom>
          <a:noFill/>
          <a:ln>
            <a:noFill/>
          </a:ln>
        </p:spPr>
        <p:txBody>
          <a:bodyPr anchorCtr="0" anchor="t" bIns="45700" lIns="91425" spcFirstLastPara="1" rIns="91425" wrap="square" tIns="45700">
            <a:normAutofit/>
          </a:bodyPr>
          <a:lstStyle/>
          <a:p>
            <a:pPr indent="-228600" lvl="0" marL="228600" rtl="0" algn="l">
              <a:lnSpc>
                <a:spcPct val="150000"/>
              </a:lnSpc>
              <a:spcBef>
                <a:spcPts val="0"/>
              </a:spcBef>
              <a:spcAft>
                <a:spcPts val="0"/>
              </a:spcAft>
              <a:buClr>
                <a:schemeClr val="dk1"/>
              </a:buClr>
              <a:buSzPts val="2400"/>
              <a:buChar char="•"/>
            </a:pPr>
            <a:r>
              <a:rPr lang="en-US" sz="2400"/>
              <a:t>Install software from Package Manager – CentOS</a:t>
            </a:r>
            <a:r>
              <a:rPr lang="en-US" sz="2400">
                <a:solidFill>
                  <a:srgbClr val="007ABF"/>
                </a:solidFill>
              </a:rPr>
              <a:t> </a:t>
            </a:r>
            <a:endParaRPr/>
          </a:p>
          <a:p>
            <a:pPr indent="-228600" lvl="0" marL="228600" rtl="0" algn="l">
              <a:lnSpc>
                <a:spcPct val="150000"/>
              </a:lnSpc>
              <a:spcBef>
                <a:spcPts val="1000"/>
              </a:spcBef>
              <a:spcAft>
                <a:spcPts val="0"/>
              </a:spcAft>
              <a:buClr>
                <a:schemeClr val="dk1"/>
              </a:buClr>
              <a:buSzPts val="2400"/>
              <a:buChar char="•"/>
            </a:pPr>
            <a:r>
              <a:rPr lang="en-US" sz="2400">
                <a:solidFill>
                  <a:srgbClr val="007ABF"/>
                </a:solidFill>
              </a:rPr>
              <a:t>Install software from Package Manager – Ubuntu </a:t>
            </a:r>
            <a:endParaRPr sz="2400">
              <a:latin typeface="Arial"/>
              <a:ea typeface="Arial"/>
              <a:cs typeface="Arial"/>
              <a:sym typeface="Arial"/>
            </a:endParaRPr>
          </a:p>
          <a:p>
            <a:pPr indent="-228600" lvl="0" marL="228600" rtl="0" algn="l">
              <a:lnSpc>
                <a:spcPct val="150000"/>
              </a:lnSpc>
              <a:spcBef>
                <a:spcPts val="1000"/>
              </a:spcBef>
              <a:spcAft>
                <a:spcPts val="0"/>
              </a:spcAft>
              <a:buClr>
                <a:schemeClr val="dk1"/>
              </a:buClr>
              <a:buSzPts val="2400"/>
              <a:buChar char="•"/>
            </a:pPr>
            <a:r>
              <a:rPr lang="en-US" sz="2400"/>
              <a:t>Install software from</a:t>
            </a:r>
            <a:r>
              <a:rPr lang="en-US" sz="2400">
                <a:latin typeface="Arial"/>
                <a:ea typeface="Arial"/>
                <a:cs typeface="Arial"/>
                <a:sym typeface="Arial"/>
              </a:rPr>
              <a:t> Source Code</a:t>
            </a:r>
            <a:endParaRPr sz="2400"/>
          </a:p>
        </p:txBody>
      </p:sp>
      <p:sp>
        <p:nvSpPr>
          <p:cNvPr id="142" name="Google Shape;142;g2f080f7e13d_0_2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Tahoma"/>
                <a:ea typeface="Tahoma"/>
                <a:cs typeface="Tahoma"/>
                <a:sym typeface="Tahoma"/>
              </a:rPr>
              <a:t>‹#›</a:t>
            </a:fld>
            <a:endParaRPr b="0" i="0" sz="1400" u="none" cap="none" strike="noStrike">
              <a:solidFill>
                <a:schemeClr val="dk1"/>
              </a:solidFill>
              <a:latin typeface="Tahoma"/>
              <a:ea typeface="Tahoma"/>
              <a:cs typeface="Tahoma"/>
              <a:sym typeface="Tahom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1">
                                            <p:txEl>
                                              <p:pRg end="0" st="0"/>
                                            </p:txEl>
                                          </p:spTgt>
                                        </p:tgtEl>
                                        <p:attrNameLst>
                                          <p:attrName>style.visibility</p:attrName>
                                        </p:attrNameLst>
                                      </p:cBhvr>
                                      <p:to>
                                        <p:strVal val="visible"/>
                                      </p:to>
                                    </p:set>
                                    <p:anim calcmode="lin" valueType="num">
                                      <p:cBhvr additive="base">
                                        <p:cTn dur="500"/>
                                        <p:tgtEl>
                                          <p:spTgt spid="14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1">
                                            <p:txEl>
                                              <p:pRg end="1" st="1"/>
                                            </p:txEl>
                                          </p:spTgt>
                                        </p:tgtEl>
                                        <p:attrNameLst>
                                          <p:attrName>style.visibility</p:attrName>
                                        </p:attrNameLst>
                                      </p:cBhvr>
                                      <p:to>
                                        <p:strVal val="visible"/>
                                      </p:to>
                                    </p:set>
                                    <p:anim calcmode="lin" valueType="num">
                                      <p:cBhvr additive="base">
                                        <p:cTn dur="500"/>
                                        <p:tgtEl>
                                          <p:spTgt spid="14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1">
                                            <p:txEl>
                                              <p:pRg end="2" st="2"/>
                                            </p:txEl>
                                          </p:spTgt>
                                        </p:tgtEl>
                                        <p:attrNameLst>
                                          <p:attrName>style.visibility</p:attrName>
                                        </p:attrNameLst>
                                      </p:cBhvr>
                                      <p:to>
                                        <p:strVal val="visible"/>
                                      </p:to>
                                    </p:set>
                                    <p:anim calcmode="lin" valueType="num">
                                      <p:cBhvr additive="base">
                                        <p:cTn dur="500"/>
                                        <p:tgtEl>
                                          <p:spTgt spid="14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3"/>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Install software on</a:t>
            </a:r>
            <a:r>
              <a:rPr lang="en-US">
                <a:latin typeface="Arial"/>
                <a:ea typeface="Arial"/>
                <a:cs typeface="Arial"/>
                <a:sym typeface="Arial"/>
              </a:rPr>
              <a:t> Ubuntu</a:t>
            </a:r>
            <a:endParaRPr/>
          </a:p>
        </p:txBody>
      </p:sp>
      <p:sp>
        <p:nvSpPr>
          <p:cNvPr id="149" name="Google Shape;149;p13"/>
          <p:cNvSpPr txBox="1"/>
          <p:nvPr>
            <p:ph idx="1" type="body"/>
          </p:nvPr>
        </p:nvSpPr>
        <p:spPr>
          <a:xfrm>
            <a:off x="381000" y="1066800"/>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rgbClr val="2F5496"/>
              </a:buClr>
              <a:buSzPts val="2800"/>
              <a:buChar char="•"/>
            </a:pPr>
            <a:r>
              <a:rPr lang="en-US">
                <a:solidFill>
                  <a:srgbClr val="2F5496"/>
                </a:solidFill>
              </a:rPr>
              <a:t>Show list of installed packages:</a:t>
            </a:r>
            <a:endParaRPr/>
          </a:p>
          <a:p>
            <a:pPr indent="-228600" lvl="1" marL="685800" rtl="0" algn="l">
              <a:lnSpc>
                <a:spcPct val="90000"/>
              </a:lnSpc>
              <a:spcBef>
                <a:spcPts val="500"/>
              </a:spcBef>
              <a:spcAft>
                <a:spcPts val="0"/>
              </a:spcAft>
              <a:buClr>
                <a:srgbClr val="1F3864"/>
              </a:buClr>
              <a:buSzPts val="2400"/>
              <a:buChar char="•"/>
            </a:pPr>
            <a:r>
              <a:rPr b="1" lang="en-US">
                <a:solidFill>
                  <a:srgbClr val="1F3864"/>
                </a:solidFill>
                <a:latin typeface="Arial"/>
                <a:ea typeface="Arial"/>
                <a:cs typeface="Arial"/>
                <a:sym typeface="Arial"/>
              </a:rPr>
              <a:t>dpkg -l</a:t>
            </a:r>
            <a:endParaRPr b="1">
              <a:solidFill>
                <a:srgbClr val="1F3864"/>
              </a:solidFill>
              <a:latin typeface="Arial"/>
              <a:ea typeface="Arial"/>
              <a:cs typeface="Arial"/>
              <a:sym typeface="Arial"/>
            </a:endParaRPr>
          </a:p>
          <a:p>
            <a:pPr indent="-228600" lvl="0" marL="228600" rtl="0" algn="l">
              <a:lnSpc>
                <a:spcPct val="90000"/>
              </a:lnSpc>
              <a:spcBef>
                <a:spcPts val="1000"/>
              </a:spcBef>
              <a:spcAft>
                <a:spcPts val="0"/>
              </a:spcAft>
              <a:buClr>
                <a:srgbClr val="2F5496"/>
              </a:buClr>
              <a:buSzPts val="2800"/>
              <a:buChar char="•"/>
            </a:pPr>
            <a:r>
              <a:rPr lang="en-US">
                <a:solidFill>
                  <a:srgbClr val="2F5496"/>
                </a:solidFill>
              </a:rPr>
              <a:t>Find out which software packages are installed</a:t>
            </a:r>
            <a:r>
              <a:rPr lang="en-US">
                <a:solidFill>
                  <a:srgbClr val="2F5496"/>
                </a:solidFill>
                <a:latin typeface="Arial"/>
                <a:ea typeface="Arial"/>
                <a:cs typeface="Arial"/>
                <a:sym typeface="Arial"/>
              </a:rPr>
              <a:t>:</a:t>
            </a:r>
            <a:endParaRPr>
              <a:solidFill>
                <a:srgbClr val="2F5496"/>
              </a:solidFill>
              <a:latin typeface="Arial"/>
              <a:ea typeface="Arial"/>
              <a:cs typeface="Arial"/>
              <a:sym typeface="Arial"/>
            </a:endParaRPr>
          </a:p>
          <a:p>
            <a:pPr indent="-228600" lvl="1" marL="685800" rtl="0" algn="l">
              <a:lnSpc>
                <a:spcPct val="90000"/>
              </a:lnSpc>
              <a:spcBef>
                <a:spcPts val="500"/>
              </a:spcBef>
              <a:spcAft>
                <a:spcPts val="0"/>
              </a:spcAft>
              <a:buClr>
                <a:srgbClr val="1F3864"/>
              </a:buClr>
              <a:buSzPts val="2400"/>
              <a:buChar char="•"/>
            </a:pPr>
            <a:r>
              <a:rPr b="1" lang="en-US">
                <a:solidFill>
                  <a:srgbClr val="1F3864"/>
                </a:solidFill>
                <a:latin typeface="Arial"/>
                <a:ea typeface="Arial"/>
                <a:cs typeface="Arial"/>
                <a:sym typeface="Arial"/>
              </a:rPr>
              <a:t>dpkg -S /path/to/file</a:t>
            </a:r>
            <a:endParaRPr b="1">
              <a:solidFill>
                <a:srgbClr val="1F3864"/>
              </a:solidFill>
            </a:endParaRPr>
          </a:p>
          <a:p>
            <a:pPr indent="-228600" lvl="0" marL="228600" rtl="0" algn="l">
              <a:lnSpc>
                <a:spcPct val="90000"/>
              </a:lnSpc>
              <a:spcBef>
                <a:spcPts val="1000"/>
              </a:spcBef>
              <a:spcAft>
                <a:spcPts val="0"/>
              </a:spcAft>
              <a:buClr>
                <a:srgbClr val="2F5496"/>
              </a:buClr>
              <a:buSzPts val="3200"/>
              <a:buChar char="•"/>
            </a:pPr>
            <a:r>
              <a:rPr lang="en-US" sz="3200">
                <a:solidFill>
                  <a:srgbClr val="2F5496"/>
                </a:solidFill>
              </a:rPr>
              <a:t>Show all files of a package</a:t>
            </a:r>
            <a:r>
              <a:rPr lang="en-US" sz="3200">
                <a:solidFill>
                  <a:srgbClr val="2F5496"/>
                </a:solidFill>
                <a:latin typeface="Arial"/>
                <a:ea typeface="Arial"/>
                <a:cs typeface="Arial"/>
                <a:sym typeface="Arial"/>
              </a:rPr>
              <a:t>:</a:t>
            </a:r>
            <a:endParaRPr>
              <a:solidFill>
                <a:srgbClr val="2F5496"/>
              </a:solidFill>
              <a:latin typeface="Arial"/>
              <a:ea typeface="Arial"/>
              <a:cs typeface="Arial"/>
              <a:sym typeface="Arial"/>
            </a:endParaRPr>
          </a:p>
          <a:p>
            <a:pPr indent="-228600" lvl="1" marL="685800" rtl="0" algn="l">
              <a:lnSpc>
                <a:spcPct val="90000"/>
              </a:lnSpc>
              <a:spcBef>
                <a:spcPts val="500"/>
              </a:spcBef>
              <a:spcAft>
                <a:spcPts val="0"/>
              </a:spcAft>
              <a:buClr>
                <a:srgbClr val="1F3864"/>
              </a:buClr>
              <a:buSzPts val="2800"/>
              <a:buChar char="•"/>
            </a:pPr>
            <a:r>
              <a:rPr b="1" lang="en-US" sz="2800">
                <a:solidFill>
                  <a:srgbClr val="1F3864"/>
                </a:solidFill>
                <a:latin typeface="Arial"/>
                <a:ea typeface="Arial"/>
                <a:cs typeface="Arial"/>
                <a:sym typeface="Arial"/>
              </a:rPr>
              <a:t>dpkg -L package</a:t>
            </a:r>
            <a:endParaRPr b="1" sz="2800">
              <a:solidFill>
                <a:srgbClr val="1F3864"/>
              </a:solidFill>
              <a:latin typeface="Arial"/>
              <a:ea typeface="Arial"/>
              <a:cs typeface="Arial"/>
              <a:sym typeface="Arial"/>
            </a:endParaRPr>
          </a:p>
          <a:p>
            <a:pPr indent="-228600" lvl="0" marL="228600" rtl="0" algn="l">
              <a:lnSpc>
                <a:spcPct val="90000"/>
              </a:lnSpc>
              <a:spcBef>
                <a:spcPts val="1000"/>
              </a:spcBef>
              <a:spcAft>
                <a:spcPts val="0"/>
              </a:spcAft>
              <a:buClr>
                <a:srgbClr val="2F5496"/>
              </a:buClr>
              <a:buSzPts val="3200"/>
              <a:buChar char="•"/>
            </a:pPr>
            <a:r>
              <a:rPr lang="en-US" sz="3200">
                <a:solidFill>
                  <a:srgbClr val="2F5496"/>
                </a:solidFill>
              </a:rPr>
              <a:t>Install a package</a:t>
            </a:r>
            <a:r>
              <a:rPr lang="en-US" sz="3200">
                <a:solidFill>
                  <a:srgbClr val="2F5496"/>
                </a:solidFill>
                <a:latin typeface="Arial"/>
                <a:ea typeface="Arial"/>
                <a:cs typeface="Arial"/>
                <a:sym typeface="Arial"/>
              </a:rPr>
              <a:t>:</a:t>
            </a:r>
            <a:endParaRPr sz="3200">
              <a:solidFill>
                <a:srgbClr val="2F5496"/>
              </a:solidFill>
              <a:latin typeface="Arial"/>
              <a:ea typeface="Arial"/>
              <a:cs typeface="Arial"/>
              <a:sym typeface="Arial"/>
            </a:endParaRPr>
          </a:p>
          <a:p>
            <a:pPr indent="-228600" lvl="1" marL="685800" rtl="0" algn="l">
              <a:lnSpc>
                <a:spcPct val="90000"/>
              </a:lnSpc>
              <a:spcBef>
                <a:spcPts val="500"/>
              </a:spcBef>
              <a:spcAft>
                <a:spcPts val="0"/>
              </a:spcAft>
              <a:buClr>
                <a:srgbClr val="1F3864"/>
              </a:buClr>
              <a:buSzPts val="2800"/>
              <a:buChar char="•"/>
            </a:pPr>
            <a:r>
              <a:rPr b="1" lang="en-US" sz="2800">
                <a:solidFill>
                  <a:srgbClr val="1F3864"/>
                </a:solidFill>
                <a:latin typeface="Arial"/>
                <a:ea typeface="Arial"/>
                <a:cs typeface="Arial"/>
                <a:sym typeface="Arial"/>
              </a:rPr>
              <a:t>dpkg -i package.deb</a:t>
            </a:r>
            <a:endParaRPr b="1" sz="2800">
              <a:solidFill>
                <a:srgbClr val="1F3864"/>
              </a:solidFill>
            </a:endParaRPr>
          </a:p>
          <a:p>
            <a:pPr indent="-228600" lvl="0" marL="228600" rtl="0" algn="l">
              <a:lnSpc>
                <a:spcPct val="90000"/>
              </a:lnSpc>
              <a:spcBef>
                <a:spcPts val="1000"/>
              </a:spcBef>
              <a:spcAft>
                <a:spcPts val="0"/>
              </a:spcAft>
              <a:buClr>
                <a:srgbClr val="2F5496"/>
              </a:buClr>
              <a:buSzPts val="3200"/>
              <a:buChar char="•"/>
            </a:pPr>
            <a:r>
              <a:rPr lang="en-US" sz="3200">
                <a:solidFill>
                  <a:srgbClr val="2F5496"/>
                </a:solidFill>
              </a:rPr>
              <a:t>Delete a package</a:t>
            </a:r>
            <a:r>
              <a:rPr lang="en-US" sz="3200">
                <a:solidFill>
                  <a:srgbClr val="2F5496"/>
                </a:solidFill>
                <a:latin typeface="Arial"/>
                <a:ea typeface="Arial"/>
                <a:cs typeface="Arial"/>
                <a:sym typeface="Arial"/>
              </a:rPr>
              <a:t>:</a:t>
            </a:r>
            <a:endParaRPr sz="3200">
              <a:solidFill>
                <a:srgbClr val="2F5496"/>
              </a:solidFill>
              <a:latin typeface="Arial"/>
              <a:ea typeface="Arial"/>
              <a:cs typeface="Arial"/>
              <a:sym typeface="Arial"/>
            </a:endParaRPr>
          </a:p>
          <a:p>
            <a:pPr indent="-228600" lvl="1" marL="685800" rtl="0" algn="l">
              <a:lnSpc>
                <a:spcPct val="90000"/>
              </a:lnSpc>
              <a:spcBef>
                <a:spcPts val="500"/>
              </a:spcBef>
              <a:spcAft>
                <a:spcPts val="0"/>
              </a:spcAft>
              <a:buClr>
                <a:srgbClr val="1F3864"/>
              </a:buClr>
              <a:buSzPts val="2800"/>
              <a:buChar char="•"/>
            </a:pPr>
            <a:r>
              <a:rPr b="1" lang="en-US" sz="2800">
                <a:solidFill>
                  <a:srgbClr val="1F3864"/>
                </a:solidFill>
                <a:latin typeface="Arial"/>
                <a:ea typeface="Arial"/>
                <a:cs typeface="Arial"/>
                <a:sym typeface="Arial"/>
              </a:rPr>
              <a:t>dpkg -r package.deb</a:t>
            </a:r>
            <a:endParaRPr b="1" sz="2800">
              <a:solidFill>
                <a:srgbClr val="1F3864"/>
              </a:solidFill>
            </a:endParaRPr>
          </a:p>
          <a:p>
            <a:pPr indent="-25400" lvl="0" marL="228600" rtl="0" algn="l">
              <a:lnSpc>
                <a:spcPct val="100000"/>
              </a:lnSpc>
              <a:spcBef>
                <a:spcPts val="640"/>
              </a:spcBef>
              <a:spcAft>
                <a:spcPts val="0"/>
              </a:spcAft>
              <a:buClr>
                <a:schemeClr val="dk1"/>
              </a:buClr>
              <a:buSzPts val="3200"/>
              <a:buNone/>
            </a:pPr>
            <a:r>
              <a:t/>
            </a:r>
            <a:endParaRPr sz="3200"/>
          </a:p>
        </p:txBody>
      </p:sp>
      <p:sp>
        <p:nvSpPr>
          <p:cNvPr id="150" name="Google Shape;150;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4"/>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Install software on Ubuntu</a:t>
            </a:r>
            <a:endParaRPr/>
          </a:p>
        </p:txBody>
      </p:sp>
      <p:sp>
        <p:nvSpPr>
          <p:cNvPr id="157" name="Google Shape;157;p14"/>
          <p:cNvSpPr txBox="1"/>
          <p:nvPr>
            <p:ph idx="1" type="body"/>
          </p:nvPr>
        </p:nvSpPr>
        <p:spPr>
          <a:xfrm>
            <a:off x="381000" y="1066800"/>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rgbClr val="2F5496"/>
              </a:buClr>
              <a:buSzPts val="2800"/>
              <a:buChar char="•"/>
            </a:pPr>
            <a:r>
              <a:rPr lang="en-US">
                <a:solidFill>
                  <a:srgbClr val="2F5496"/>
                </a:solidFill>
                <a:latin typeface="Arial"/>
                <a:ea typeface="Arial"/>
                <a:cs typeface="Arial"/>
                <a:sym typeface="Arial"/>
              </a:rPr>
              <a:t>APT - Advanced Packaging Tool</a:t>
            </a:r>
            <a:endParaRPr>
              <a:solidFill>
                <a:srgbClr val="2F5496"/>
              </a:solidFill>
              <a:latin typeface="Arial"/>
              <a:ea typeface="Arial"/>
              <a:cs typeface="Arial"/>
              <a:sym typeface="Arial"/>
            </a:endParaRPr>
          </a:p>
          <a:p>
            <a:pPr indent="-228600" lvl="0" marL="228600" rtl="0" algn="l">
              <a:lnSpc>
                <a:spcPct val="90000"/>
              </a:lnSpc>
              <a:spcBef>
                <a:spcPts val="1000"/>
              </a:spcBef>
              <a:spcAft>
                <a:spcPts val="0"/>
              </a:spcAft>
              <a:buClr>
                <a:srgbClr val="2F5496"/>
              </a:buClr>
              <a:buSzPts val="3200"/>
              <a:buChar char="•"/>
            </a:pPr>
            <a:r>
              <a:rPr lang="en-US" sz="3200">
                <a:solidFill>
                  <a:srgbClr val="2F5496"/>
                </a:solidFill>
              </a:rPr>
              <a:t>Search</a:t>
            </a:r>
            <a:r>
              <a:rPr lang="en-US" sz="3200">
                <a:solidFill>
                  <a:srgbClr val="2F5496"/>
                </a:solidFill>
                <a:latin typeface="Arial"/>
                <a:ea typeface="Arial"/>
                <a:cs typeface="Arial"/>
                <a:sym typeface="Arial"/>
              </a:rPr>
              <a:t> package.</a:t>
            </a:r>
            <a:endParaRPr>
              <a:solidFill>
                <a:srgbClr val="2F5496"/>
              </a:solidFill>
              <a:latin typeface="Arial"/>
              <a:ea typeface="Arial"/>
              <a:cs typeface="Arial"/>
              <a:sym typeface="Arial"/>
            </a:endParaRPr>
          </a:p>
          <a:p>
            <a:pPr indent="-228600" lvl="1" marL="685800" rtl="0" algn="l">
              <a:lnSpc>
                <a:spcPct val="100000"/>
              </a:lnSpc>
              <a:spcBef>
                <a:spcPts val="560"/>
              </a:spcBef>
              <a:spcAft>
                <a:spcPts val="0"/>
              </a:spcAft>
              <a:buClr>
                <a:srgbClr val="1F3864"/>
              </a:buClr>
              <a:buSzPts val="2800"/>
              <a:buChar char="•"/>
            </a:pPr>
            <a:r>
              <a:rPr b="1" lang="en-US" sz="2800">
                <a:solidFill>
                  <a:srgbClr val="1F3864"/>
                </a:solidFill>
                <a:latin typeface="Arial"/>
                <a:ea typeface="Arial"/>
                <a:cs typeface="Arial"/>
                <a:sym typeface="Arial"/>
              </a:rPr>
              <a:t>apt-cache search [string]</a:t>
            </a:r>
            <a:endParaRPr b="1" sz="2800">
              <a:solidFill>
                <a:srgbClr val="1F3864"/>
              </a:solidFill>
              <a:latin typeface="Arial"/>
              <a:ea typeface="Arial"/>
              <a:cs typeface="Arial"/>
              <a:sym typeface="Arial"/>
            </a:endParaRPr>
          </a:p>
          <a:p>
            <a:pPr indent="-228600" lvl="0" marL="228600" rtl="0" algn="l">
              <a:lnSpc>
                <a:spcPct val="100000"/>
              </a:lnSpc>
              <a:spcBef>
                <a:spcPts val="640"/>
              </a:spcBef>
              <a:spcAft>
                <a:spcPts val="0"/>
              </a:spcAft>
              <a:buClr>
                <a:srgbClr val="2F5496"/>
              </a:buClr>
              <a:buSzPts val="3200"/>
              <a:buChar char="•"/>
            </a:pPr>
            <a:r>
              <a:rPr lang="en-US" sz="3200">
                <a:solidFill>
                  <a:srgbClr val="2F5496"/>
                </a:solidFill>
              </a:rPr>
              <a:t>Install</a:t>
            </a:r>
            <a:r>
              <a:rPr lang="en-US" sz="3200">
                <a:solidFill>
                  <a:srgbClr val="2F5496"/>
                </a:solidFill>
                <a:latin typeface="Arial"/>
                <a:ea typeface="Arial"/>
                <a:cs typeface="Arial"/>
                <a:sym typeface="Arial"/>
              </a:rPr>
              <a:t> package.</a:t>
            </a:r>
            <a:endParaRPr>
              <a:solidFill>
                <a:srgbClr val="2F5496"/>
              </a:solidFill>
            </a:endParaRPr>
          </a:p>
          <a:p>
            <a:pPr indent="-228600" lvl="1" marL="685800" rtl="0" algn="l">
              <a:lnSpc>
                <a:spcPct val="100000"/>
              </a:lnSpc>
              <a:spcBef>
                <a:spcPts val="560"/>
              </a:spcBef>
              <a:spcAft>
                <a:spcPts val="0"/>
              </a:spcAft>
              <a:buClr>
                <a:srgbClr val="1F3864"/>
              </a:buClr>
              <a:buSzPts val="2800"/>
              <a:buChar char="•"/>
            </a:pPr>
            <a:r>
              <a:rPr b="1" lang="en-US" sz="2800">
                <a:solidFill>
                  <a:srgbClr val="1F3864"/>
                </a:solidFill>
                <a:latin typeface="Arial"/>
                <a:ea typeface="Arial"/>
                <a:cs typeface="Arial"/>
                <a:sym typeface="Arial"/>
              </a:rPr>
              <a:t>apt-get install [-y] package</a:t>
            </a:r>
            <a:endParaRPr b="1" sz="2800">
              <a:solidFill>
                <a:srgbClr val="1F3864"/>
              </a:solidFill>
              <a:latin typeface="Arial"/>
              <a:ea typeface="Arial"/>
              <a:cs typeface="Arial"/>
              <a:sym typeface="Arial"/>
            </a:endParaRPr>
          </a:p>
          <a:p>
            <a:pPr indent="-228600" lvl="0" marL="228600" rtl="0" algn="l">
              <a:lnSpc>
                <a:spcPct val="100000"/>
              </a:lnSpc>
              <a:spcBef>
                <a:spcPts val="640"/>
              </a:spcBef>
              <a:spcAft>
                <a:spcPts val="0"/>
              </a:spcAft>
              <a:buClr>
                <a:srgbClr val="2F5496"/>
              </a:buClr>
              <a:buSzPts val="3200"/>
              <a:buChar char="•"/>
            </a:pPr>
            <a:r>
              <a:rPr lang="en-US" sz="3200">
                <a:solidFill>
                  <a:srgbClr val="2F5496"/>
                </a:solidFill>
              </a:rPr>
              <a:t>Remove</a:t>
            </a:r>
            <a:r>
              <a:rPr lang="en-US" sz="3200">
                <a:solidFill>
                  <a:srgbClr val="2F5496"/>
                </a:solidFill>
                <a:latin typeface="Arial"/>
                <a:ea typeface="Arial"/>
                <a:cs typeface="Arial"/>
                <a:sym typeface="Arial"/>
              </a:rPr>
              <a:t> package, </a:t>
            </a:r>
            <a:r>
              <a:rPr lang="en-US" sz="3200">
                <a:solidFill>
                  <a:srgbClr val="2F5496"/>
                </a:solidFill>
              </a:rPr>
              <a:t>keep configuration</a:t>
            </a:r>
            <a:r>
              <a:rPr lang="en-US" sz="3200">
                <a:solidFill>
                  <a:srgbClr val="2F5496"/>
                </a:solidFill>
                <a:latin typeface="Arial"/>
                <a:ea typeface="Arial"/>
                <a:cs typeface="Arial"/>
                <a:sym typeface="Arial"/>
              </a:rPr>
              <a:t>.</a:t>
            </a:r>
            <a:endParaRPr sz="3200">
              <a:solidFill>
                <a:srgbClr val="2F5496"/>
              </a:solidFill>
              <a:latin typeface="Arial"/>
              <a:ea typeface="Arial"/>
              <a:cs typeface="Arial"/>
              <a:sym typeface="Arial"/>
            </a:endParaRPr>
          </a:p>
          <a:p>
            <a:pPr indent="-228600" lvl="1" marL="685800" rtl="0" algn="l">
              <a:lnSpc>
                <a:spcPct val="100000"/>
              </a:lnSpc>
              <a:spcBef>
                <a:spcPts val="560"/>
              </a:spcBef>
              <a:spcAft>
                <a:spcPts val="0"/>
              </a:spcAft>
              <a:buClr>
                <a:srgbClr val="1F3864"/>
              </a:buClr>
              <a:buSzPts val="2800"/>
              <a:buChar char="•"/>
            </a:pPr>
            <a:r>
              <a:rPr b="1" lang="en-US" sz="2800">
                <a:solidFill>
                  <a:srgbClr val="1F3864"/>
                </a:solidFill>
                <a:latin typeface="Arial"/>
                <a:ea typeface="Arial"/>
                <a:cs typeface="Arial"/>
                <a:sym typeface="Arial"/>
              </a:rPr>
              <a:t>apt-get remove package</a:t>
            </a:r>
            <a:endParaRPr b="1" sz="2800">
              <a:solidFill>
                <a:srgbClr val="1F3864"/>
              </a:solidFill>
              <a:latin typeface="Arial"/>
              <a:ea typeface="Arial"/>
              <a:cs typeface="Arial"/>
              <a:sym typeface="Arial"/>
            </a:endParaRPr>
          </a:p>
          <a:p>
            <a:pPr indent="-228600" lvl="0" marL="228600" rtl="0" algn="l">
              <a:lnSpc>
                <a:spcPct val="100000"/>
              </a:lnSpc>
              <a:spcBef>
                <a:spcPts val="640"/>
              </a:spcBef>
              <a:spcAft>
                <a:spcPts val="0"/>
              </a:spcAft>
              <a:buClr>
                <a:srgbClr val="2F5496"/>
              </a:buClr>
              <a:buSzPts val="3200"/>
              <a:buChar char="•"/>
            </a:pPr>
            <a:r>
              <a:rPr lang="en-US" sz="3200">
                <a:solidFill>
                  <a:srgbClr val="2F5496"/>
                </a:solidFill>
              </a:rPr>
              <a:t>Remove both</a:t>
            </a:r>
            <a:r>
              <a:rPr lang="en-US" sz="3200">
                <a:solidFill>
                  <a:srgbClr val="2F5496"/>
                </a:solidFill>
                <a:latin typeface="Arial"/>
                <a:ea typeface="Arial"/>
                <a:cs typeface="Arial"/>
                <a:sym typeface="Arial"/>
              </a:rPr>
              <a:t> package </a:t>
            </a:r>
            <a:r>
              <a:rPr lang="en-US" sz="3200">
                <a:solidFill>
                  <a:srgbClr val="2F5496"/>
                </a:solidFill>
              </a:rPr>
              <a:t>and</a:t>
            </a:r>
            <a:r>
              <a:rPr lang="en-US" sz="3200">
                <a:solidFill>
                  <a:srgbClr val="2F5496"/>
                </a:solidFill>
                <a:latin typeface="Arial"/>
                <a:ea typeface="Arial"/>
                <a:cs typeface="Arial"/>
                <a:sym typeface="Arial"/>
              </a:rPr>
              <a:t> configuration.</a:t>
            </a:r>
            <a:endParaRPr/>
          </a:p>
          <a:p>
            <a:pPr indent="-228600" lvl="1" marL="685800" rtl="0" algn="l">
              <a:lnSpc>
                <a:spcPct val="100000"/>
              </a:lnSpc>
              <a:spcBef>
                <a:spcPts val="560"/>
              </a:spcBef>
              <a:spcAft>
                <a:spcPts val="0"/>
              </a:spcAft>
              <a:buClr>
                <a:srgbClr val="1F3864"/>
              </a:buClr>
              <a:buSzPts val="2800"/>
              <a:buChar char="•"/>
            </a:pPr>
            <a:r>
              <a:rPr b="1" lang="en-US" sz="2800">
                <a:solidFill>
                  <a:srgbClr val="1F3864"/>
                </a:solidFill>
                <a:latin typeface="Arial"/>
                <a:ea typeface="Arial"/>
                <a:cs typeface="Arial"/>
                <a:sym typeface="Arial"/>
              </a:rPr>
              <a:t>apt-get purge package</a:t>
            </a:r>
            <a:endParaRPr sz="2800">
              <a:solidFill>
                <a:srgbClr val="1F3864"/>
              </a:solidFill>
              <a:latin typeface="Arial"/>
              <a:ea typeface="Arial"/>
              <a:cs typeface="Arial"/>
              <a:sym typeface="Arial"/>
            </a:endParaRPr>
          </a:p>
          <a:p>
            <a:pPr indent="-25400" lvl="0" marL="228600" rtl="0" algn="l">
              <a:lnSpc>
                <a:spcPct val="100000"/>
              </a:lnSpc>
              <a:spcBef>
                <a:spcPts val="640"/>
              </a:spcBef>
              <a:spcAft>
                <a:spcPts val="0"/>
              </a:spcAft>
              <a:buClr>
                <a:schemeClr val="dk1"/>
              </a:buClr>
              <a:buSzPts val="3200"/>
              <a:buNone/>
            </a:pPr>
            <a:r>
              <a:t/>
            </a:r>
            <a:endParaRPr sz="3200">
              <a:solidFill>
                <a:srgbClr val="2045AE"/>
              </a:solidFill>
              <a:latin typeface="Arial"/>
              <a:ea typeface="Arial"/>
              <a:cs typeface="Arial"/>
              <a:sym typeface="Arial"/>
            </a:endParaRPr>
          </a:p>
        </p:txBody>
      </p:sp>
      <p:sp>
        <p:nvSpPr>
          <p:cNvPr id="158" name="Google Shape;158;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2f080f7e13d_0_33"/>
          <p:cNvSpPr txBox="1"/>
          <p:nvPr>
            <p:ph type="title"/>
          </p:nvPr>
        </p:nvSpPr>
        <p:spPr>
          <a:xfrm>
            <a:off x="228600" y="228600"/>
            <a:ext cx="10515600" cy="5445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Contents</a:t>
            </a:r>
            <a:endParaRPr/>
          </a:p>
        </p:txBody>
      </p:sp>
      <p:sp>
        <p:nvSpPr>
          <p:cNvPr id="165" name="Google Shape;165;g2f080f7e13d_0_33"/>
          <p:cNvSpPr txBox="1"/>
          <p:nvPr>
            <p:ph idx="1" type="body"/>
          </p:nvPr>
        </p:nvSpPr>
        <p:spPr>
          <a:xfrm>
            <a:off x="366713" y="1066800"/>
            <a:ext cx="10377600" cy="4608600"/>
          </a:xfrm>
          <a:prstGeom prst="rect">
            <a:avLst/>
          </a:prstGeom>
          <a:noFill/>
          <a:ln>
            <a:noFill/>
          </a:ln>
        </p:spPr>
        <p:txBody>
          <a:bodyPr anchorCtr="0" anchor="t" bIns="45700" lIns="91425" spcFirstLastPara="1" rIns="91425" wrap="square" tIns="45700">
            <a:normAutofit/>
          </a:bodyPr>
          <a:lstStyle/>
          <a:p>
            <a:pPr indent="-228600" lvl="0" marL="228600" rtl="0" algn="l">
              <a:lnSpc>
                <a:spcPct val="150000"/>
              </a:lnSpc>
              <a:spcBef>
                <a:spcPts val="0"/>
              </a:spcBef>
              <a:spcAft>
                <a:spcPts val="0"/>
              </a:spcAft>
              <a:buClr>
                <a:schemeClr val="dk1"/>
              </a:buClr>
              <a:buSzPts val="2400"/>
              <a:buChar char="•"/>
            </a:pPr>
            <a:r>
              <a:rPr lang="en-US" sz="2400"/>
              <a:t>Install software from Package Manager – CentOS</a:t>
            </a:r>
            <a:r>
              <a:rPr lang="en-US" sz="2400">
                <a:solidFill>
                  <a:srgbClr val="007ABF"/>
                </a:solidFill>
              </a:rPr>
              <a:t> </a:t>
            </a:r>
            <a:endParaRPr/>
          </a:p>
          <a:p>
            <a:pPr indent="-228600" lvl="0" marL="228600" rtl="0" algn="l">
              <a:lnSpc>
                <a:spcPct val="150000"/>
              </a:lnSpc>
              <a:spcBef>
                <a:spcPts val="1000"/>
              </a:spcBef>
              <a:spcAft>
                <a:spcPts val="0"/>
              </a:spcAft>
              <a:buClr>
                <a:schemeClr val="dk1"/>
              </a:buClr>
              <a:buSzPts val="2400"/>
              <a:buChar char="•"/>
            </a:pPr>
            <a:r>
              <a:rPr lang="en-US" sz="2400"/>
              <a:t>Install software from Package Manager – Ubuntu</a:t>
            </a:r>
            <a:r>
              <a:rPr lang="en-US" sz="2400">
                <a:solidFill>
                  <a:srgbClr val="007ABF"/>
                </a:solidFill>
              </a:rPr>
              <a:t> </a:t>
            </a:r>
            <a:endParaRPr sz="2400">
              <a:latin typeface="Arial"/>
              <a:ea typeface="Arial"/>
              <a:cs typeface="Arial"/>
              <a:sym typeface="Arial"/>
            </a:endParaRPr>
          </a:p>
          <a:p>
            <a:pPr indent="-228600" lvl="0" marL="228600" rtl="0" algn="l">
              <a:lnSpc>
                <a:spcPct val="150000"/>
              </a:lnSpc>
              <a:spcBef>
                <a:spcPts val="1000"/>
              </a:spcBef>
              <a:spcAft>
                <a:spcPts val="0"/>
              </a:spcAft>
              <a:buClr>
                <a:schemeClr val="dk1"/>
              </a:buClr>
              <a:buSzPts val="2400"/>
              <a:buChar char="•"/>
            </a:pPr>
            <a:r>
              <a:rPr lang="en-US" sz="2400">
                <a:solidFill>
                  <a:srgbClr val="007ABF"/>
                </a:solidFill>
              </a:rPr>
              <a:t>Install software from Source Code</a:t>
            </a:r>
            <a:endParaRPr sz="2400"/>
          </a:p>
        </p:txBody>
      </p:sp>
      <p:sp>
        <p:nvSpPr>
          <p:cNvPr id="166" name="Google Shape;166;g2f080f7e13d_0_3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Tahoma"/>
                <a:ea typeface="Tahoma"/>
                <a:cs typeface="Tahoma"/>
                <a:sym typeface="Tahoma"/>
              </a:rPr>
              <a:t>‹#›</a:t>
            </a:fld>
            <a:endParaRPr b="0" i="0" sz="1400" u="none" cap="none" strike="noStrike">
              <a:solidFill>
                <a:schemeClr val="dk1"/>
              </a:solidFill>
              <a:latin typeface="Tahoma"/>
              <a:ea typeface="Tahoma"/>
              <a:cs typeface="Tahoma"/>
              <a:sym typeface="Tahom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5">
                                            <p:txEl>
                                              <p:pRg end="0" st="0"/>
                                            </p:txEl>
                                          </p:spTgt>
                                        </p:tgtEl>
                                        <p:attrNameLst>
                                          <p:attrName>style.visibility</p:attrName>
                                        </p:attrNameLst>
                                      </p:cBhvr>
                                      <p:to>
                                        <p:strVal val="visible"/>
                                      </p:to>
                                    </p:set>
                                    <p:anim calcmode="lin" valueType="num">
                                      <p:cBhvr additive="base">
                                        <p:cTn dur="500"/>
                                        <p:tgtEl>
                                          <p:spTgt spid="16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5">
                                            <p:txEl>
                                              <p:pRg end="1" st="1"/>
                                            </p:txEl>
                                          </p:spTgt>
                                        </p:tgtEl>
                                        <p:attrNameLst>
                                          <p:attrName>style.visibility</p:attrName>
                                        </p:attrNameLst>
                                      </p:cBhvr>
                                      <p:to>
                                        <p:strVal val="visible"/>
                                      </p:to>
                                    </p:set>
                                    <p:anim calcmode="lin" valueType="num">
                                      <p:cBhvr additive="base">
                                        <p:cTn dur="500"/>
                                        <p:tgtEl>
                                          <p:spTgt spid="16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5">
                                            <p:txEl>
                                              <p:pRg end="2" st="2"/>
                                            </p:txEl>
                                          </p:spTgt>
                                        </p:tgtEl>
                                        <p:attrNameLst>
                                          <p:attrName>style.visibility</p:attrName>
                                        </p:attrNameLst>
                                      </p:cBhvr>
                                      <p:to>
                                        <p:strVal val="visible"/>
                                      </p:to>
                                    </p:set>
                                    <p:anim calcmode="lin" valueType="num">
                                      <p:cBhvr additive="base">
                                        <p:cTn dur="500"/>
                                        <p:tgtEl>
                                          <p:spTgt spid="16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6"/>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Why install from Source Code ?</a:t>
            </a:r>
            <a:endParaRPr>
              <a:latin typeface="Arial"/>
              <a:ea typeface="Arial"/>
              <a:cs typeface="Arial"/>
              <a:sym typeface="Arial"/>
            </a:endParaRPr>
          </a:p>
        </p:txBody>
      </p:sp>
      <p:sp>
        <p:nvSpPr>
          <p:cNvPr id="172" name="Google Shape;172;p16"/>
          <p:cNvSpPr txBox="1"/>
          <p:nvPr>
            <p:ph idx="1" type="body"/>
          </p:nvPr>
        </p:nvSpPr>
        <p:spPr>
          <a:xfrm>
            <a:off x="381000" y="1066800"/>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2045AE"/>
              </a:buClr>
              <a:buSzPts val="3200"/>
              <a:buChar char="•"/>
            </a:pPr>
            <a:r>
              <a:rPr lang="en-US" sz="3200">
                <a:solidFill>
                  <a:srgbClr val="2045AE"/>
                </a:solidFill>
              </a:rPr>
              <a:t>Software is not part of the distribution</a:t>
            </a:r>
            <a:r>
              <a:rPr lang="en-US" sz="3200">
                <a:solidFill>
                  <a:srgbClr val="2045AE"/>
                </a:solidFill>
              </a:rPr>
              <a:t>.</a:t>
            </a:r>
            <a:endParaRPr/>
          </a:p>
          <a:p>
            <a:pPr indent="-228600" lvl="0" marL="228600" rtl="0" algn="l">
              <a:lnSpc>
                <a:spcPct val="100000"/>
              </a:lnSpc>
              <a:spcBef>
                <a:spcPts val="640"/>
              </a:spcBef>
              <a:spcAft>
                <a:spcPts val="0"/>
              </a:spcAft>
              <a:buClr>
                <a:srgbClr val="2045AE"/>
              </a:buClr>
              <a:buSzPts val="3200"/>
              <a:buChar char="•"/>
            </a:pPr>
            <a:r>
              <a:rPr lang="en-US" sz="3200">
                <a:solidFill>
                  <a:srgbClr val="2045AE"/>
                </a:solidFill>
              </a:rPr>
              <a:t>The software is available in source code form only</a:t>
            </a:r>
            <a:r>
              <a:rPr lang="en-US" sz="3200">
                <a:solidFill>
                  <a:srgbClr val="2045AE"/>
                </a:solidFill>
              </a:rPr>
              <a:t>.</a:t>
            </a:r>
            <a:endParaRPr/>
          </a:p>
          <a:p>
            <a:pPr indent="-228600" lvl="0" marL="228600" rtl="0" algn="l">
              <a:lnSpc>
                <a:spcPct val="100000"/>
              </a:lnSpc>
              <a:spcBef>
                <a:spcPts val="640"/>
              </a:spcBef>
              <a:spcAft>
                <a:spcPts val="0"/>
              </a:spcAft>
              <a:buClr>
                <a:srgbClr val="2045AE"/>
              </a:buClr>
              <a:buSzPts val="3200"/>
              <a:buChar char="•"/>
            </a:pPr>
            <a:r>
              <a:rPr lang="en-US" sz="3200">
                <a:solidFill>
                  <a:srgbClr val="2045AE"/>
                </a:solidFill>
              </a:rPr>
              <a:t>Need a software feature that is only available when rebuilding the source code</a:t>
            </a:r>
            <a:r>
              <a:rPr lang="en-US" sz="3200">
                <a:solidFill>
                  <a:srgbClr val="2045AE"/>
                </a:solidFill>
              </a:rPr>
              <a:t>.</a:t>
            </a:r>
            <a:endParaRPr/>
          </a:p>
          <a:p>
            <a:pPr indent="-228600" lvl="0" marL="228600" rtl="0" algn="l">
              <a:lnSpc>
                <a:spcPct val="100000"/>
              </a:lnSpc>
              <a:spcBef>
                <a:spcPts val="640"/>
              </a:spcBef>
              <a:spcAft>
                <a:spcPts val="0"/>
              </a:spcAft>
              <a:buClr>
                <a:srgbClr val="2045AE"/>
              </a:buClr>
              <a:buSzPts val="3200"/>
              <a:buChar char="•"/>
            </a:pPr>
            <a:r>
              <a:rPr lang="en-US" sz="3200">
                <a:solidFill>
                  <a:srgbClr val="2045AE"/>
                </a:solidFill>
              </a:rPr>
              <a:t>Want to learn how software works or want to get involved in software development</a:t>
            </a:r>
            <a:r>
              <a:rPr lang="en-US" sz="3200">
                <a:solidFill>
                  <a:srgbClr val="2045AE"/>
                </a:solidFill>
              </a:rPr>
              <a:t>.</a:t>
            </a:r>
            <a:endParaRPr/>
          </a:p>
        </p:txBody>
      </p:sp>
      <p:sp>
        <p:nvSpPr>
          <p:cNvPr id="173" name="Google Shape;173;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7"/>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Download</a:t>
            </a:r>
            <a:r>
              <a:rPr lang="en-US">
                <a:latin typeface="Arial"/>
                <a:ea typeface="Arial"/>
                <a:cs typeface="Arial"/>
                <a:sym typeface="Arial"/>
              </a:rPr>
              <a:t> </a:t>
            </a:r>
            <a:r>
              <a:rPr lang="en-US"/>
              <a:t>and uncompress</a:t>
            </a:r>
            <a:endParaRPr>
              <a:latin typeface="Arial"/>
              <a:ea typeface="Arial"/>
              <a:cs typeface="Arial"/>
              <a:sym typeface="Arial"/>
            </a:endParaRPr>
          </a:p>
        </p:txBody>
      </p:sp>
      <p:sp>
        <p:nvSpPr>
          <p:cNvPr id="179" name="Google Shape;179;p17"/>
          <p:cNvSpPr txBox="1"/>
          <p:nvPr>
            <p:ph idx="1" type="body"/>
          </p:nvPr>
        </p:nvSpPr>
        <p:spPr>
          <a:xfrm>
            <a:off x="381000" y="1066800"/>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rgbClr val="000000"/>
              </a:buClr>
              <a:buSzPts val="2800"/>
              <a:buChar char="•"/>
            </a:pPr>
            <a:r>
              <a:rPr lang="en-US">
                <a:solidFill>
                  <a:srgbClr val="000000"/>
                </a:solidFill>
                <a:latin typeface="Arial"/>
                <a:ea typeface="Arial"/>
                <a:cs typeface="Arial"/>
                <a:sym typeface="Arial"/>
              </a:rPr>
              <a:t>Source Code </a:t>
            </a:r>
            <a:r>
              <a:rPr lang="en-US">
                <a:solidFill>
                  <a:srgbClr val="000000"/>
                </a:solidFill>
              </a:rPr>
              <a:t>can be download from website such as </a:t>
            </a:r>
            <a:r>
              <a:rPr lang="en-US">
                <a:solidFill>
                  <a:srgbClr val="000000"/>
                </a:solidFill>
                <a:latin typeface="Arial"/>
                <a:ea typeface="Arial"/>
                <a:cs typeface="Arial"/>
                <a:sym typeface="Arial"/>
              </a:rPr>
              <a:t>SourceForge.net</a:t>
            </a:r>
            <a:endParaRPr/>
          </a:p>
          <a:p>
            <a:pPr indent="-228600" lvl="0" marL="228600" rtl="0" algn="l">
              <a:lnSpc>
                <a:spcPct val="90000"/>
              </a:lnSpc>
              <a:spcBef>
                <a:spcPts val="1000"/>
              </a:spcBef>
              <a:spcAft>
                <a:spcPts val="0"/>
              </a:spcAft>
              <a:buClr>
                <a:srgbClr val="000000"/>
              </a:buClr>
              <a:buSzPts val="2800"/>
              <a:buChar char="•"/>
            </a:pPr>
            <a:r>
              <a:rPr lang="en-US">
                <a:solidFill>
                  <a:srgbClr val="000000"/>
                </a:solidFill>
              </a:rPr>
              <a:t>Most of </a:t>
            </a:r>
            <a:r>
              <a:rPr lang="en-US">
                <a:solidFill>
                  <a:srgbClr val="000000"/>
                </a:solidFill>
              </a:rPr>
              <a:t>distribute</a:t>
            </a:r>
            <a:r>
              <a:rPr lang="en-US">
                <a:solidFill>
                  <a:srgbClr val="000000"/>
                </a:solidFill>
              </a:rPr>
              <a:t> version was saved in compressed files </a:t>
            </a:r>
            <a:r>
              <a:rPr lang="en-US">
                <a:solidFill>
                  <a:srgbClr val="000000"/>
                </a:solidFill>
                <a:latin typeface="Arial"/>
                <a:ea typeface="Arial"/>
                <a:cs typeface="Arial"/>
                <a:sym typeface="Arial"/>
              </a:rPr>
              <a:t>(.tar.gz, .tar.Z, .tgz, .tar.bz2)</a:t>
            </a:r>
            <a:endParaRPr/>
          </a:p>
          <a:p>
            <a:pPr indent="-228600" lvl="0" marL="228600" rtl="0" algn="l">
              <a:lnSpc>
                <a:spcPct val="90000"/>
              </a:lnSpc>
              <a:spcBef>
                <a:spcPts val="1000"/>
              </a:spcBef>
              <a:spcAft>
                <a:spcPts val="0"/>
              </a:spcAft>
              <a:buClr>
                <a:srgbClr val="000000"/>
              </a:buClr>
              <a:buSzPts val="2800"/>
              <a:buChar char="•"/>
            </a:pPr>
            <a:r>
              <a:rPr lang="en-US">
                <a:solidFill>
                  <a:srgbClr val="000000"/>
                </a:solidFill>
              </a:rPr>
              <a:t>Need check Install guide and </a:t>
            </a:r>
            <a:r>
              <a:rPr lang="en-US">
                <a:solidFill>
                  <a:srgbClr val="000000"/>
                </a:solidFill>
              </a:rPr>
              <a:t>necessary</a:t>
            </a:r>
            <a:r>
              <a:rPr lang="en-US">
                <a:solidFill>
                  <a:srgbClr val="000000"/>
                </a:solidFill>
              </a:rPr>
              <a:t> library, tools before starting the installation process</a:t>
            </a:r>
            <a:r>
              <a:rPr lang="en-US">
                <a:solidFill>
                  <a:srgbClr val="000000"/>
                </a:solidFill>
                <a:latin typeface="Arial"/>
                <a:ea typeface="Arial"/>
                <a:cs typeface="Arial"/>
                <a:sym typeface="Arial"/>
              </a:rPr>
              <a:t>.</a:t>
            </a:r>
            <a:endParaRPr/>
          </a:p>
        </p:txBody>
      </p:sp>
      <p:sp>
        <p:nvSpPr>
          <p:cNvPr id="180" name="Google Shape;180;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8"/>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Download and uncompress</a:t>
            </a:r>
            <a:endParaRPr/>
          </a:p>
        </p:txBody>
      </p:sp>
      <p:sp>
        <p:nvSpPr>
          <p:cNvPr id="186" name="Google Shape;186;p18"/>
          <p:cNvSpPr txBox="1"/>
          <p:nvPr>
            <p:ph idx="1" type="body"/>
          </p:nvPr>
        </p:nvSpPr>
        <p:spPr>
          <a:xfrm>
            <a:off x="381000" y="1066800"/>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2045AE"/>
              </a:buClr>
              <a:buSzPts val="3600"/>
              <a:buChar char="•"/>
            </a:pPr>
            <a:r>
              <a:rPr lang="en-US" sz="3600">
                <a:solidFill>
                  <a:srgbClr val="2045AE"/>
                </a:solidFill>
              </a:rPr>
              <a:t>Uncompress </a:t>
            </a:r>
            <a:r>
              <a:rPr lang="en-US" sz="3600">
                <a:solidFill>
                  <a:srgbClr val="2045AE"/>
                </a:solidFill>
                <a:latin typeface="Arial"/>
                <a:ea typeface="Arial"/>
                <a:cs typeface="Arial"/>
                <a:sym typeface="Arial"/>
              </a:rPr>
              <a:t>tar file</a:t>
            </a:r>
            <a:endParaRPr/>
          </a:p>
          <a:p>
            <a:pPr indent="-228600" lvl="1" marL="685800" rtl="0" algn="l">
              <a:lnSpc>
                <a:spcPct val="100000"/>
              </a:lnSpc>
              <a:spcBef>
                <a:spcPts val="640"/>
              </a:spcBef>
              <a:spcAft>
                <a:spcPts val="0"/>
              </a:spcAft>
              <a:buClr>
                <a:srgbClr val="000066"/>
              </a:buClr>
              <a:buSzPts val="3200"/>
              <a:buChar char="•"/>
            </a:pPr>
            <a:r>
              <a:rPr lang="en-US" sz="3200">
                <a:solidFill>
                  <a:srgbClr val="000066"/>
                </a:solidFill>
              </a:rPr>
              <a:t>Include 2 steps</a:t>
            </a:r>
            <a:r>
              <a:rPr lang="en-US" sz="3200">
                <a:solidFill>
                  <a:srgbClr val="000066"/>
                </a:solidFill>
                <a:latin typeface="Arial"/>
                <a:ea typeface="Arial"/>
                <a:cs typeface="Arial"/>
                <a:sym typeface="Arial"/>
              </a:rPr>
              <a:t>:</a:t>
            </a:r>
            <a:endParaRPr/>
          </a:p>
          <a:p>
            <a:pPr indent="-514350" lvl="2" marL="1428750" rtl="0" algn="l">
              <a:lnSpc>
                <a:spcPct val="100000"/>
              </a:lnSpc>
              <a:spcBef>
                <a:spcPts val="400"/>
              </a:spcBef>
              <a:spcAft>
                <a:spcPts val="0"/>
              </a:spcAft>
              <a:buClr>
                <a:srgbClr val="000066"/>
              </a:buClr>
              <a:buSzPts val="2000"/>
              <a:buAutoNum type="arabicPeriod"/>
            </a:pPr>
            <a:r>
              <a:rPr lang="en-US">
                <a:solidFill>
                  <a:srgbClr val="000066"/>
                </a:solidFill>
              </a:rPr>
              <a:t>Uncompress with</a:t>
            </a:r>
            <a:r>
              <a:rPr lang="en-US">
                <a:solidFill>
                  <a:srgbClr val="000066"/>
                </a:solidFill>
                <a:latin typeface="Arial"/>
                <a:ea typeface="Arial"/>
                <a:cs typeface="Arial"/>
                <a:sym typeface="Arial"/>
              </a:rPr>
              <a:t> </a:t>
            </a:r>
            <a:r>
              <a:rPr b="1" i="1" lang="en-US">
                <a:solidFill>
                  <a:srgbClr val="000066"/>
                </a:solidFill>
                <a:latin typeface="Arial"/>
                <a:ea typeface="Arial"/>
                <a:cs typeface="Arial"/>
                <a:sym typeface="Arial"/>
              </a:rPr>
              <a:t>gunzip</a:t>
            </a:r>
            <a:r>
              <a:rPr lang="en-US">
                <a:solidFill>
                  <a:srgbClr val="000066"/>
                </a:solidFill>
                <a:latin typeface="Arial"/>
                <a:ea typeface="Arial"/>
                <a:cs typeface="Arial"/>
                <a:sym typeface="Arial"/>
              </a:rPr>
              <a:t> (.tar.Z, .tar.gz, .tgz) or </a:t>
            </a:r>
            <a:r>
              <a:rPr b="1" i="1" lang="en-US">
                <a:solidFill>
                  <a:srgbClr val="000066"/>
                </a:solidFill>
                <a:latin typeface="Arial"/>
                <a:ea typeface="Arial"/>
                <a:cs typeface="Arial"/>
                <a:sym typeface="Arial"/>
              </a:rPr>
              <a:t>bunzip2</a:t>
            </a:r>
            <a:r>
              <a:rPr lang="en-US">
                <a:solidFill>
                  <a:srgbClr val="000066"/>
                </a:solidFill>
                <a:latin typeface="Arial"/>
                <a:ea typeface="Arial"/>
                <a:cs typeface="Arial"/>
                <a:sym typeface="Arial"/>
              </a:rPr>
              <a:t> (.tar.bz2)</a:t>
            </a:r>
            <a:endParaRPr/>
          </a:p>
          <a:p>
            <a:pPr indent="-514350" lvl="2" marL="1428750" rtl="0" algn="l">
              <a:lnSpc>
                <a:spcPct val="100000"/>
              </a:lnSpc>
              <a:spcBef>
                <a:spcPts val="400"/>
              </a:spcBef>
              <a:spcAft>
                <a:spcPts val="0"/>
              </a:spcAft>
              <a:buClr>
                <a:srgbClr val="000066"/>
              </a:buClr>
              <a:buSzPts val="2000"/>
              <a:buAutoNum type="arabicPeriod"/>
            </a:pPr>
            <a:r>
              <a:rPr lang="en-US">
                <a:solidFill>
                  <a:srgbClr val="000066"/>
                </a:solidFill>
              </a:rPr>
              <a:t>Extract</a:t>
            </a:r>
            <a:r>
              <a:rPr lang="en-US">
                <a:solidFill>
                  <a:srgbClr val="000066"/>
                </a:solidFill>
                <a:latin typeface="Arial"/>
                <a:ea typeface="Arial"/>
                <a:cs typeface="Arial"/>
                <a:sym typeface="Arial"/>
              </a:rPr>
              <a:t> tar files: </a:t>
            </a:r>
            <a:br>
              <a:rPr lang="en-US"/>
            </a:br>
            <a:r>
              <a:rPr lang="en-US">
                <a:solidFill>
                  <a:srgbClr val="000066"/>
                </a:solidFill>
                <a:latin typeface="Arial"/>
                <a:ea typeface="Arial"/>
                <a:cs typeface="Arial"/>
                <a:sym typeface="Arial"/>
              </a:rPr>
              <a:t>tar –xvf &lt;filename&gt;.tar</a:t>
            </a:r>
            <a:endParaRPr/>
          </a:p>
          <a:p>
            <a:pPr indent="-228600" lvl="1" marL="685800" rtl="0" algn="l">
              <a:lnSpc>
                <a:spcPct val="100000"/>
              </a:lnSpc>
              <a:spcBef>
                <a:spcPts val="640"/>
              </a:spcBef>
              <a:spcAft>
                <a:spcPts val="0"/>
              </a:spcAft>
              <a:buClr>
                <a:srgbClr val="000066"/>
              </a:buClr>
              <a:buSzPts val="3200"/>
              <a:buChar char="•"/>
            </a:pPr>
            <a:r>
              <a:rPr lang="en-US" sz="3200">
                <a:solidFill>
                  <a:srgbClr val="000066"/>
                </a:solidFill>
              </a:rPr>
              <a:t> May execute at onces:</a:t>
            </a:r>
            <a:endParaRPr/>
          </a:p>
          <a:p>
            <a:pPr indent="-514350" lvl="2" marL="1428750" rtl="0" algn="l">
              <a:lnSpc>
                <a:spcPct val="100000"/>
              </a:lnSpc>
              <a:spcBef>
                <a:spcPts val="400"/>
              </a:spcBef>
              <a:spcAft>
                <a:spcPts val="0"/>
              </a:spcAft>
              <a:buClr>
                <a:srgbClr val="000066"/>
              </a:buClr>
              <a:buSzPts val="2000"/>
              <a:buChar char="•"/>
            </a:pPr>
            <a:r>
              <a:rPr b="1" lang="en-US">
                <a:solidFill>
                  <a:srgbClr val="000066"/>
                </a:solidFill>
                <a:latin typeface="Arial"/>
                <a:ea typeface="Arial"/>
                <a:cs typeface="Arial"/>
                <a:sym typeface="Arial"/>
              </a:rPr>
              <a:t>tar –zxvf &lt;filename&gt;.tar.Z </a:t>
            </a:r>
            <a:br>
              <a:rPr b="1" lang="en-US"/>
            </a:br>
            <a:r>
              <a:rPr b="1" lang="en-US">
                <a:solidFill>
                  <a:srgbClr val="000066"/>
                </a:solidFill>
                <a:latin typeface="Arial"/>
                <a:ea typeface="Arial"/>
                <a:cs typeface="Arial"/>
                <a:sym typeface="Arial"/>
              </a:rPr>
              <a:t>(</a:t>
            </a:r>
            <a:r>
              <a:rPr lang="en-US">
                <a:solidFill>
                  <a:srgbClr val="000066"/>
                </a:solidFill>
                <a:latin typeface="Arial"/>
                <a:ea typeface="Arial"/>
                <a:cs typeface="Arial"/>
                <a:sym typeface="Arial"/>
              </a:rPr>
              <a:t>or</a:t>
            </a:r>
            <a:r>
              <a:rPr b="1" i="1" lang="en-US">
                <a:solidFill>
                  <a:srgbClr val="000066"/>
                </a:solidFill>
                <a:latin typeface="Arial"/>
                <a:ea typeface="Arial"/>
                <a:cs typeface="Arial"/>
                <a:sym typeface="Arial"/>
              </a:rPr>
              <a:t> .tar.gz, .tgz)</a:t>
            </a:r>
            <a:endParaRPr>
              <a:solidFill>
                <a:srgbClr val="000066"/>
              </a:solidFill>
              <a:latin typeface="Arial"/>
              <a:ea typeface="Arial"/>
              <a:cs typeface="Arial"/>
              <a:sym typeface="Arial"/>
            </a:endParaRPr>
          </a:p>
          <a:p>
            <a:pPr indent="-514350" lvl="2" marL="1428750" rtl="0" algn="l">
              <a:lnSpc>
                <a:spcPct val="100000"/>
              </a:lnSpc>
              <a:spcBef>
                <a:spcPts val="400"/>
              </a:spcBef>
              <a:spcAft>
                <a:spcPts val="0"/>
              </a:spcAft>
              <a:buClr>
                <a:srgbClr val="000066"/>
              </a:buClr>
              <a:buSzPts val="2000"/>
              <a:buChar char="•"/>
            </a:pPr>
            <a:r>
              <a:rPr b="1" lang="en-US">
                <a:solidFill>
                  <a:srgbClr val="000066"/>
                </a:solidFill>
                <a:latin typeface="Arial"/>
                <a:ea typeface="Arial"/>
                <a:cs typeface="Arial"/>
                <a:sym typeface="Arial"/>
              </a:rPr>
              <a:t>tar –jxvf &lt;filename&gt;.tar.bz2</a:t>
            </a:r>
            <a:endParaRPr>
              <a:solidFill>
                <a:srgbClr val="000066"/>
              </a:solidFill>
              <a:latin typeface="Arial"/>
              <a:ea typeface="Arial"/>
              <a:cs typeface="Arial"/>
              <a:sym typeface="Arial"/>
            </a:endParaRPr>
          </a:p>
        </p:txBody>
      </p:sp>
      <p:sp>
        <p:nvSpPr>
          <p:cNvPr id="187" name="Google Shape;187;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9"/>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Compile software</a:t>
            </a:r>
            <a:endParaRPr/>
          </a:p>
        </p:txBody>
      </p:sp>
      <p:sp>
        <p:nvSpPr>
          <p:cNvPr id="193" name="Google Shape;193;p19"/>
          <p:cNvSpPr txBox="1"/>
          <p:nvPr>
            <p:ph idx="1" type="body"/>
          </p:nvPr>
        </p:nvSpPr>
        <p:spPr>
          <a:xfrm>
            <a:off x="381000" y="1066800"/>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2045AE"/>
              </a:buClr>
              <a:buSzPts val="2800"/>
              <a:buChar char="•"/>
            </a:pPr>
            <a:r>
              <a:rPr lang="en-US">
                <a:solidFill>
                  <a:srgbClr val="2045AE"/>
                </a:solidFill>
              </a:rPr>
              <a:t>Read</a:t>
            </a:r>
            <a:r>
              <a:rPr lang="en-US">
                <a:solidFill>
                  <a:srgbClr val="2045AE"/>
                </a:solidFill>
              </a:rPr>
              <a:t> </a:t>
            </a:r>
            <a:r>
              <a:rPr b="1" lang="en-US">
                <a:solidFill>
                  <a:srgbClr val="2045AE"/>
                </a:solidFill>
              </a:rPr>
              <a:t>README</a:t>
            </a:r>
            <a:r>
              <a:rPr lang="en-US">
                <a:solidFill>
                  <a:srgbClr val="2045AE"/>
                </a:solidFill>
              </a:rPr>
              <a:t> hoặc </a:t>
            </a:r>
            <a:r>
              <a:rPr b="1" lang="en-US">
                <a:solidFill>
                  <a:srgbClr val="2045AE"/>
                </a:solidFill>
              </a:rPr>
              <a:t>INSTALL </a:t>
            </a:r>
            <a:r>
              <a:rPr lang="en-US">
                <a:solidFill>
                  <a:srgbClr val="2045AE"/>
                </a:solidFill>
              </a:rPr>
              <a:t>carefully.</a:t>
            </a:r>
            <a:endParaRPr/>
          </a:p>
          <a:p>
            <a:pPr indent="-228600" lvl="0" marL="228600" rtl="0" algn="l">
              <a:lnSpc>
                <a:spcPct val="100000"/>
              </a:lnSpc>
              <a:spcBef>
                <a:spcPts val="560"/>
              </a:spcBef>
              <a:spcAft>
                <a:spcPts val="0"/>
              </a:spcAft>
              <a:buClr>
                <a:srgbClr val="2045AE"/>
              </a:buClr>
              <a:buSzPts val="2800"/>
              <a:buChar char="•"/>
            </a:pPr>
            <a:r>
              <a:rPr lang="en-US">
                <a:solidFill>
                  <a:srgbClr val="2045AE"/>
                </a:solidFill>
              </a:rPr>
              <a:t>Find and run </a:t>
            </a:r>
            <a:r>
              <a:rPr b="1" lang="en-US">
                <a:solidFill>
                  <a:srgbClr val="2045AE"/>
                </a:solidFill>
                <a:latin typeface="Arial"/>
                <a:ea typeface="Arial"/>
                <a:cs typeface="Arial"/>
                <a:sym typeface="Arial"/>
              </a:rPr>
              <a:t>configure</a:t>
            </a:r>
            <a:r>
              <a:rPr lang="en-US">
                <a:solidFill>
                  <a:srgbClr val="2045AE"/>
                </a:solidFill>
                <a:latin typeface="Arial"/>
                <a:ea typeface="Arial"/>
                <a:cs typeface="Arial"/>
                <a:sym typeface="Arial"/>
              </a:rPr>
              <a:t> from </a:t>
            </a:r>
            <a:r>
              <a:rPr lang="en-US">
                <a:solidFill>
                  <a:srgbClr val="2045AE"/>
                </a:solidFill>
              </a:rPr>
              <a:t>source code folder to create </a:t>
            </a:r>
            <a:r>
              <a:rPr b="1" lang="en-US">
                <a:solidFill>
                  <a:srgbClr val="2045AE"/>
                </a:solidFill>
                <a:latin typeface="Arial"/>
                <a:ea typeface="Arial"/>
                <a:cs typeface="Arial"/>
                <a:sym typeface="Arial"/>
              </a:rPr>
              <a:t>Makefile</a:t>
            </a:r>
            <a:br>
              <a:rPr b="1" lang="en-US"/>
            </a:br>
            <a:r>
              <a:rPr b="1" lang="en-US">
                <a:solidFill>
                  <a:srgbClr val="2045AE"/>
                </a:solidFill>
                <a:latin typeface="Arial"/>
                <a:ea typeface="Arial"/>
                <a:cs typeface="Arial"/>
                <a:sym typeface="Arial"/>
              </a:rPr>
              <a:t>./configure --help</a:t>
            </a:r>
            <a:endParaRPr sz="2400">
              <a:solidFill>
                <a:srgbClr val="2045AE"/>
              </a:solidFill>
              <a:latin typeface="Arial"/>
              <a:ea typeface="Arial"/>
              <a:cs typeface="Arial"/>
              <a:sym typeface="Arial"/>
            </a:endParaRPr>
          </a:p>
          <a:p>
            <a:pPr indent="-228600" lvl="1" marL="685800" rtl="0" algn="l">
              <a:lnSpc>
                <a:spcPct val="100000"/>
              </a:lnSpc>
              <a:spcBef>
                <a:spcPts val="480"/>
              </a:spcBef>
              <a:spcAft>
                <a:spcPts val="0"/>
              </a:spcAft>
              <a:buClr>
                <a:srgbClr val="000066"/>
              </a:buClr>
              <a:buSzPts val="2400"/>
              <a:buChar char="•"/>
            </a:pPr>
            <a:r>
              <a:rPr lang="en-US">
                <a:solidFill>
                  <a:srgbClr val="000066"/>
                </a:solidFill>
              </a:rPr>
              <a:t>Delete</a:t>
            </a:r>
            <a:r>
              <a:rPr lang="en-US">
                <a:solidFill>
                  <a:srgbClr val="000066"/>
                </a:solidFill>
                <a:latin typeface="Arial"/>
                <a:ea typeface="Arial"/>
                <a:cs typeface="Arial"/>
                <a:sym typeface="Arial"/>
              </a:rPr>
              <a:t> file </a:t>
            </a:r>
            <a:r>
              <a:rPr b="1" lang="en-US">
                <a:solidFill>
                  <a:srgbClr val="000066"/>
                </a:solidFill>
                <a:latin typeface="Arial"/>
                <a:ea typeface="Arial"/>
                <a:cs typeface="Arial"/>
                <a:sym typeface="Arial"/>
              </a:rPr>
              <a:t>config.cache</a:t>
            </a:r>
            <a:r>
              <a:rPr lang="en-US">
                <a:solidFill>
                  <a:srgbClr val="000066"/>
                </a:solidFill>
                <a:latin typeface="Arial"/>
                <a:ea typeface="Arial"/>
                <a:cs typeface="Arial"/>
                <a:sym typeface="Arial"/>
              </a:rPr>
              <a:t> </a:t>
            </a:r>
            <a:r>
              <a:rPr lang="en-US">
                <a:solidFill>
                  <a:srgbClr val="000066"/>
                </a:solidFill>
              </a:rPr>
              <a:t>if you need re-run</a:t>
            </a:r>
            <a:r>
              <a:rPr lang="en-US">
                <a:solidFill>
                  <a:srgbClr val="000066"/>
                </a:solidFill>
                <a:latin typeface="Arial"/>
                <a:ea typeface="Arial"/>
                <a:cs typeface="Arial"/>
                <a:sym typeface="Arial"/>
              </a:rPr>
              <a:t> </a:t>
            </a:r>
            <a:r>
              <a:rPr b="1" lang="en-US">
                <a:solidFill>
                  <a:srgbClr val="000066"/>
                </a:solidFill>
                <a:latin typeface="Arial"/>
                <a:ea typeface="Arial"/>
                <a:cs typeface="Arial"/>
                <a:sym typeface="Arial"/>
              </a:rPr>
              <a:t>./configure</a:t>
            </a:r>
            <a:endParaRPr>
              <a:solidFill>
                <a:srgbClr val="000066"/>
              </a:solidFill>
              <a:latin typeface="Arial"/>
              <a:ea typeface="Arial"/>
              <a:cs typeface="Arial"/>
              <a:sym typeface="Arial"/>
            </a:endParaRPr>
          </a:p>
          <a:p>
            <a:pPr indent="-228600" lvl="0" marL="228600" rtl="0" algn="l">
              <a:lnSpc>
                <a:spcPct val="100000"/>
              </a:lnSpc>
              <a:spcBef>
                <a:spcPts val="560"/>
              </a:spcBef>
              <a:spcAft>
                <a:spcPts val="0"/>
              </a:spcAft>
              <a:buClr>
                <a:srgbClr val="2045AE"/>
              </a:buClr>
              <a:buSzPts val="2800"/>
              <a:buChar char="•"/>
            </a:pPr>
            <a:r>
              <a:rPr lang="en-US">
                <a:solidFill>
                  <a:srgbClr val="2045AE"/>
                </a:solidFill>
              </a:rPr>
              <a:t>Install software</a:t>
            </a:r>
            <a:endParaRPr>
              <a:solidFill>
                <a:srgbClr val="2045AE"/>
              </a:solidFill>
            </a:endParaRPr>
          </a:p>
          <a:p>
            <a:pPr indent="-228600" lvl="1" marL="685800" rtl="0" algn="l">
              <a:lnSpc>
                <a:spcPct val="100000"/>
              </a:lnSpc>
              <a:spcBef>
                <a:spcPts val="480"/>
              </a:spcBef>
              <a:spcAft>
                <a:spcPts val="0"/>
              </a:spcAft>
              <a:buClr>
                <a:srgbClr val="000066"/>
              </a:buClr>
              <a:buSzPts val="2400"/>
              <a:buChar char="•"/>
            </a:pPr>
            <a:r>
              <a:rPr lang="en-US">
                <a:solidFill>
                  <a:srgbClr val="000066"/>
                </a:solidFill>
              </a:rPr>
              <a:t>Compile software from source code</a:t>
            </a:r>
            <a:r>
              <a:rPr lang="en-US">
                <a:solidFill>
                  <a:srgbClr val="000066"/>
                </a:solidFill>
              </a:rPr>
              <a:t>: </a:t>
            </a:r>
            <a:r>
              <a:rPr b="1" lang="en-US">
                <a:solidFill>
                  <a:srgbClr val="000066"/>
                </a:solidFill>
              </a:rPr>
              <a:t>make</a:t>
            </a:r>
            <a:endParaRPr>
              <a:solidFill>
                <a:srgbClr val="000066"/>
              </a:solidFill>
            </a:endParaRPr>
          </a:p>
          <a:p>
            <a:pPr indent="-228600" lvl="1" marL="685800" rtl="0" algn="l">
              <a:lnSpc>
                <a:spcPct val="100000"/>
              </a:lnSpc>
              <a:spcBef>
                <a:spcPts val="480"/>
              </a:spcBef>
              <a:spcAft>
                <a:spcPts val="0"/>
              </a:spcAft>
              <a:buClr>
                <a:srgbClr val="000066"/>
              </a:buClr>
              <a:buSzPts val="2400"/>
              <a:buChar char="•"/>
            </a:pPr>
            <a:r>
              <a:rPr lang="en-US">
                <a:solidFill>
                  <a:srgbClr val="000066"/>
                </a:solidFill>
              </a:rPr>
              <a:t>Install software: </a:t>
            </a:r>
            <a:r>
              <a:rPr b="1" lang="en-US">
                <a:solidFill>
                  <a:srgbClr val="000066"/>
                </a:solidFill>
              </a:rPr>
              <a:t>make install</a:t>
            </a:r>
            <a:endParaRPr>
              <a:solidFill>
                <a:srgbClr val="000066"/>
              </a:solidFill>
            </a:endParaRPr>
          </a:p>
          <a:p>
            <a:pPr indent="-228600" lvl="0" marL="228600" rtl="0" algn="l">
              <a:lnSpc>
                <a:spcPct val="100000"/>
              </a:lnSpc>
              <a:spcBef>
                <a:spcPts val="560"/>
              </a:spcBef>
              <a:spcAft>
                <a:spcPts val="0"/>
              </a:spcAft>
              <a:buClr>
                <a:srgbClr val="2045AE"/>
              </a:buClr>
              <a:buSzPts val="2800"/>
              <a:buChar char="•"/>
            </a:pPr>
            <a:r>
              <a:rPr lang="en-US">
                <a:solidFill>
                  <a:srgbClr val="2045AE"/>
                </a:solidFill>
              </a:rPr>
              <a:t>Remove sotfware</a:t>
            </a:r>
            <a:endParaRPr>
              <a:solidFill>
                <a:srgbClr val="2045AE"/>
              </a:solidFill>
            </a:endParaRPr>
          </a:p>
          <a:p>
            <a:pPr indent="-228600" lvl="1" marL="685800" rtl="0" algn="l">
              <a:lnSpc>
                <a:spcPct val="100000"/>
              </a:lnSpc>
              <a:spcBef>
                <a:spcPts val="480"/>
              </a:spcBef>
              <a:spcAft>
                <a:spcPts val="0"/>
              </a:spcAft>
              <a:buClr>
                <a:srgbClr val="000066"/>
              </a:buClr>
              <a:buSzPts val="2400"/>
              <a:buChar char="•"/>
            </a:pPr>
            <a:r>
              <a:rPr lang="en-US">
                <a:solidFill>
                  <a:srgbClr val="000066"/>
                </a:solidFill>
              </a:rPr>
              <a:t>Read</a:t>
            </a:r>
            <a:r>
              <a:rPr lang="en-US">
                <a:solidFill>
                  <a:srgbClr val="000066"/>
                </a:solidFill>
                <a:latin typeface="Arial"/>
                <a:ea typeface="Arial"/>
                <a:cs typeface="Arial"/>
                <a:sym typeface="Arial"/>
              </a:rPr>
              <a:t> </a:t>
            </a:r>
            <a:r>
              <a:rPr b="1" lang="en-US">
                <a:solidFill>
                  <a:srgbClr val="000066"/>
                </a:solidFill>
                <a:latin typeface="Arial"/>
                <a:ea typeface="Arial"/>
                <a:cs typeface="Arial"/>
                <a:sym typeface="Arial"/>
              </a:rPr>
              <a:t>README</a:t>
            </a:r>
            <a:r>
              <a:rPr b="1" i="1" lang="en-US">
                <a:solidFill>
                  <a:srgbClr val="000066"/>
                </a:solidFill>
                <a:latin typeface="Arial"/>
                <a:ea typeface="Arial"/>
                <a:cs typeface="Arial"/>
                <a:sym typeface="Arial"/>
              </a:rPr>
              <a:t> </a:t>
            </a:r>
            <a:r>
              <a:rPr lang="en-US">
                <a:solidFill>
                  <a:srgbClr val="000066"/>
                </a:solidFill>
                <a:latin typeface="Arial"/>
                <a:ea typeface="Arial"/>
                <a:cs typeface="Arial"/>
                <a:sym typeface="Arial"/>
              </a:rPr>
              <a:t>hoặc</a:t>
            </a:r>
            <a:r>
              <a:rPr b="1" i="1" lang="en-US">
                <a:solidFill>
                  <a:srgbClr val="000066"/>
                </a:solidFill>
                <a:latin typeface="Arial"/>
                <a:ea typeface="Arial"/>
                <a:cs typeface="Arial"/>
                <a:sym typeface="Arial"/>
              </a:rPr>
              <a:t> </a:t>
            </a:r>
            <a:r>
              <a:rPr b="1" lang="en-US">
                <a:solidFill>
                  <a:srgbClr val="000066"/>
                </a:solidFill>
                <a:latin typeface="Arial"/>
                <a:ea typeface="Arial"/>
                <a:cs typeface="Arial"/>
                <a:sym typeface="Arial"/>
              </a:rPr>
              <a:t>INSTALL </a:t>
            </a:r>
            <a:r>
              <a:rPr lang="en-US">
                <a:solidFill>
                  <a:srgbClr val="000066"/>
                </a:solidFill>
              </a:rPr>
              <a:t>carefully.</a:t>
            </a:r>
            <a:endParaRPr>
              <a:solidFill>
                <a:srgbClr val="000066"/>
              </a:solidFill>
            </a:endParaRPr>
          </a:p>
          <a:p>
            <a:pPr indent="-228600" lvl="1" marL="685800" rtl="0" algn="l">
              <a:lnSpc>
                <a:spcPct val="100000"/>
              </a:lnSpc>
              <a:spcBef>
                <a:spcPts val="480"/>
              </a:spcBef>
              <a:spcAft>
                <a:spcPts val="0"/>
              </a:spcAft>
              <a:buClr>
                <a:srgbClr val="000066"/>
              </a:buClr>
              <a:buSzPts val="2400"/>
              <a:buChar char="•"/>
            </a:pPr>
            <a:r>
              <a:rPr b="1" lang="en-US">
                <a:solidFill>
                  <a:srgbClr val="000066"/>
                </a:solidFill>
                <a:latin typeface="Arial"/>
                <a:ea typeface="Arial"/>
                <a:cs typeface="Arial"/>
                <a:sym typeface="Arial"/>
              </a:rPr>
              <a:t>make uninstall </a:t>
            </a:r>
            <a:r>
              <a:rPr lang="en-US">
                <a:solidFill>
                  <a:srgbClr val="000066"/>
                </a:solidFill>
              </a:rPr>
              <a:t>may work</a:t>
            </a:r>
            <a:r>
              <a:rPr lang="en-US">
                <a:solidFill>
                  <a:srgbClr val="000066"/>
                </a:solidFill>
                <a:latin typeface="Arial"/>
                <a:ea typeface="Arial"/>
                <a:cs typeface="Arial"/>
                <a:sym typeface="Arial"/>
              </a:rPr>
              <a:t>!</a:t>
            </a:r>
            <a:endParaRPr>
              <a:latin typeface="Arial"/>
              <a:ea typeface="Arial"/>
              <a:cs typeface="Arial"/>
              <a:sym typeface="Arial"/>
            </a:endParaRPr>
          </a:p>
        </p:txBody>
      </p:sp>
      <p:sp>
        <p:nvSpPr>
          <p:cNvPr id="194" name="Google Shape;194;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0"/>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Why your installer is not working</a:t>
            </a:r>
            <a:r>
              <a:rPr lang="en-US">
                <a:latin typeface="Arial"/>
                <a:ea typeface="Arial"/>
                <a:cs typeface="Arial"/>
                <a:sym typeface="Arial"/>
              </a:rPr>
              <a:t> ?</a:t>
            </a:r>
            <a:endParaRPr/>
          </a:p>
        </p:txBody>
      </p:sp>
      <p:sp>
        <p:nvSpPr>
          <p:cNvPr id="200" name="Google Shape;200;p20"/>
          <p:cNvSpPr txBox="1"/>
          <p:nvPr>
            <p:ph idx="1" type="body"/>
          </p:nvPr>
        </p:nvSpPr>
        <p:spPr>
          <a:xfrm>
            <a:off x="381000" y="1066800"/>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2045AE"/>
              </a:buClr>
              <a:buSzPts val="3200"/>
              <a:buChar char="•"/>
            </a:pPr>
            <a:r>
              <a:rPr lang="en-US" sz="3200">
                <a:solidFill>
                  <a:srgbClr val="2045AE"/>
                </a:solidFill>
              </a:rPr>
              <a:t>Missing required installation package.</a:t>
            </a:r>
            <a:endParaRPr/>
          </a:p>
          <a:p>
            <a:pPr indent="-228600" lvl="0" marL="228600" rtl="0" algn="l">
              <a:lnSpc>
                <a:spcPct val="100000"/>
              </a:lnSpc>
              <a:spcBef>
                <a:spcPts val="640"/>
              </a:spcBef>
              <a:spcAft>
                <a:spcPts val="0"/>
              </a:spcAft>
              <a:buClr>
                <a:srgbClr val="2045AE"/>
              </a:buClr>
              <a:buSzPts val="3200"/>
              <a:buChar char="•"/>
            </a:pPr>
            <a:r>
              <a:rPr lang="en-US" sz="3200">
                <a:solidFill>
                  <a:srgbClr val="2045AE"/>
                </a:solidFill>
              </a:rPr>
              <a:t>Wrong version of required installation package.</a:t>
            </a:r>
            <a:endParaRPr sz="3200">
              <a:solidFill>
                <a:srgbClr val="2045AE"/>
              </a:solidFill>
            </a:endParaRPr>
          </a:p>
          <a:p>
            <a:pPr indent="-228600" lvl="0" marL="228600" rtl="0" algn="l">
              <a:lnSpc>
                <a:spcPct val="100000"/>
              </a:lnSpc>
              <a:spcBef>
                <a:spcPts val="640"/>
              </a:spcBef>
              <a:spcAft>
                <a:spcPts val="0"/>
              </a:spcAft>
              <a:buClr>
                <a:srgbClr val="2045AE"/>
              </a:buClr>
              <a:buSzPts val="3200"/>
              <a:buChar char="•"/>
            </a:pPr>
            <a:r>
              <a:rPr lang="en-US" sz="3200">
                <a:solidFill>
                  <a:srgbClr val="2045AE"/>
                </a:solidFill>
              </a:rPr>
              <a:t>Incorrect values ​​for some parameters that you should have passed to the configure or make command.</a:t>
            </a:r>
            <a:endParaRPr/>
          </a:p>
          <a:p>
            <a:pPr indent="-228600" lvl="0" marL="228600" rtl="0" algn="l">
              <a:lnSpc>
                <a:spcPct val="100000"/>
              </a:lnSpc>
              <a:spcBef>
                <a:spcPts val="640"/>
              </a:spcBef>
              <a:spcAft>
                <a:spcPts val="0"/>
              </a:spcAft>
              <a:buClr>
                <a:srgbClr val="2045AE"/>
              </a:buClr>
              <a:buSzPts val="3200"/>
              <a:buChar char="•"/>
            </a:pPr>
            <a:r>
              <a:rPr lang="en-US" sz="3200">
                <a:solidFill>
                  <a:srgbClr val="2045AE"/>
                </a:solidFill>
              </a:rPr>
              <a:t>Missing compiler.</a:t>
            </a:r>
            <a:endParaRPr sz="3200">
              <a:solidFill>
                <a:srgbClr val="2045AE"/>
              </a:solidFill>
            </a:endParaRPr>
          </a:p>
          <a:p>
            <a:pPr indent="-228600" lvl="0" marL="228600" rtl="0" algn="l">
              <a:lnSpc>
                <a:spcPct val="100000"/>
              </a:lnSpc>
              <a:spcBef>
                <a:spcPts val="640"/>
              </a:spcBef>
              <a:spcAft>
                <a:spcPts val="0"/>
              </a:spcAft>
              <a:buClr>
                <a:srgbClr val="2045AE"/>
              </a:buClr>
              <a:buSzPts val="3200"/>
              <a:buChar char="•"/>
            </a:pPr>
            <a:r>
              <a:rPr lang="en-US" sz="3200">
                <a:solidFill>
                  <a:srgbClr val="2045AE"/>
                </a:solidFill>
              </a:rPr>
              <a:t>Error in the configure script or generated Makefile.</a:t>
            </a:r>
            <a:endParaRPr sz="3200">
              <a:solidFill>
                <a:srgbClr val="2045AE"/>
              </a:solidFill>
              <a:latin typeface="Arial"/>
              <a:ea typeface="Arial"/>
              <a:cs typeface="Arial"/>
              <a:sym typeface="Arial"/>
            </a:endParaRPr>
          </a:p>
          <a:p>
            <a:pPr indent="-228600" lvl="0" marL="228600" rtl="0" algn="l">
              <a:lnSpc>
                <a:spcPct val="100000"/>
              </a:lnSpc>
              <a:spcBef>
                <a:spcPts val="640"/>
              </a:spcBef>
              <a:spcAft>
                <a:spcPts val="0"/>
              </a:spcAft>
              <a:buClr>
                <a:srgbClr val="2045AE"/>
              </a:buClr>
              <a:buSzPts val="3200"/>
              <a:buChar char="•"/>
            </a:pPr>
            <a:r>
              <a:rPr lang="en-US" sz="3200">
                <a:solidFill>
                  <a:srgbClr val="2045AE"/>
                </a:solidFill>
              </a:rPr>
              <a:t>Error in source code.</a:t>
            </a:r>
            <a:endParaRPr/>
          </a:p>
        </p:txBody>
      </p:sp>
      <p:sp>
        <p:nvSpPr>
          <p:cNvPr id="201" name="Google Shape;201;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1"/>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t/>
            </a:r>
            <a:endParaRPr/>
          </a:p>
        </p:txBody>
      </p:sp>
      <p:sp>
        <p:nvSpPr>
          <p:cNvPr id="207" name="Google Shape;207;p21"/>
          <p:cNvSpPr txBox="1"/>
          <p:nvPr>
            <p:ph idx="1" type="body"/>
          </p:nvPr>
        </p:nvSpPr>
        <p:spPr>
          <a:xfrm>
            <a:off x="381000" y="914400"/>
            <a:ext cx="10515600" cy="4351338"/>
          </a:xfrm>
          <a:prstGeom prst="rect">
            <a:avLst/>
          </a:prstGeom>
          <a:noFill/>
          <a:ln>
            <a:noFill/>
          </a:ln>
        </p:spPr>
        <p:txBody>
          <a:bodyPr anchorCtr="0" anchor="t" bIns="45700" lIns="91425" spcFirstLastPara="1" rIns="91425" wrap="square" tIns="45700">
            <a:noAutofit/>
          </a:bodyPr>
          <a:lstStyle/>
          <a:p>
            <a:pPr indent="0" lvl="0" marL="0" rtl="0" algn="ctr">
              <a:lnSpc>
                <a:spcPct val="150000"/>
              </a:lnSpc>
              <a:spcBef>
                <a:spcPts val="0"/>
              </a:spcBef>
              <a:spcAft>
                <a:spcPts val="0"/>
              </a:spcAft>
              <a:buClr>
                <a:schemeClr val="dk1"/>
              </a:buClr>
              <a:buSzPts val="2800"/>
              <a:buNone/>
            </a:pPr>
            <a:r>
              <a:rPr lang="en-US">
                <a:latin typeface="Arial"/>
                <a:ea typeface="Arial"/>
                <a:cs typeface="Arial"/>
                <a:sym typeface="Arial"/>
              </a:rPr>
              <a:t>Thank You</a:t>
            </a:r>
            <a:endParaRPr/>
          </a:p>
          <a:p>
            <a:pPr indent="-76200" lvl="1" marL="685800" rtl="0" algn="l">
              <a:lnSpc>
                <a:spcPct val="90000"/>
              </a:lnSpc>
              <a:spcBef>
                <a:spcPts val="500"/>
              </a:spcBef>
              <a:spcAft>
                <a:spcPts val="0"/>
              </a:spcAft>
              <a:buClr>
                <a:schemeClr val="dk1"/>
              </a:buClr>
              <a:buSzPts val="2400"/>
              <a:buNone/>
            </a:pPr>
            <a:r>
              <a:t/>
            </a:r>
            <a:endParaRPr/>
          </a:p>
          <a:p>
            <a:pPr indent="-228600" lvl="1" marL="685800" rtl="0" algn="l">
              <a:lnSpc>
                <a:spcPct val="90000"/>
              </a:lnSpc>
              <a:spcBef>
                <a:spcPts val="500"/>
              </a:spcBef>
              <a:spcAft>
                <a:spcPts val="0"/>
              </a:spcAft>
              <a:buClr>
                <a:schemeClr val="dk1"/>
              </a:buClr>
              <a:buSzPts val="2400"/>
              <a:buFont typeface="Noto Sans Symbols"/>
              <a:buNone/>
            </a:pPr>
            <a:r>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208" name="Google Shape;208;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Tahoma"/>
                <a:ea typeface="Tahoma"/>
                <a:cs typeface="Tahoma"/>
                <a:sym typeface="Tahoma"/>
              </a:rPr>
              <a:t>‹#›</a:t>
            </a:fld>
            <a:endParaRPr b="0" i="0" sz="1400" u="none" cap="none" strike="noStrike">
              <a:solidFill>
                <a:schemeClr val="dk1"/>
              </a:solidFill>
              <a:latin typeface="Tahoma"/>
              <a:ea typeface="Tahoma"/>
              <a:cs typeface="Tahoma"/>
              <a:sym typeface="Tahoma"/>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lends">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2005-08-06T12:02:07Z</dcterms:created>
  <dc:creator>YWC</dc:creator>
</cp:coreProperties>
</file>