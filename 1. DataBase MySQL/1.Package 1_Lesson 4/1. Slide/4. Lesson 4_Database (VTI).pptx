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509" r:id="rId3"/>
    <p:sldId id="419" r:id="rId4"/>
    <p:sldId id="420" r:id="rId5"/>
    <p:sldId id="502" r:id="rId6"/>
    <p:sldId id="505" r:id="rId7"/>
    <p:sldId id="496" r:id="rId8"/>
    <p:sldId id="508" r:id="rId9"/>
    <p:sldId id="506" r:id="rId10"/>
    <p:sldId id="503" r:id="rId11"/>
    <p:sldId id="504" r:id="rId12"/>
    <p:sldId id="507" r:id="rId13"/>
    <p:sldId id="421" r:id="rId14"/>
    <p:sldId id="501" r:id="rId15"/>
    <p:sldId id="342" r:id="rId16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82" autoAdjust="0"/>
    <p:restoredTop sz="87958" autoAdjust="0"/>
  </p:normalViewPr>
  <p:slideViewPr>
    <p:cSldViewPr snapToGrid="0" snapToObjects="1">
      <p:cViewPr varScale="1">
        <p:scale>
          <a:sx n="37" d="100"/>
          <a:sy n="37" d="100"/>
        </p:scale>
        <p:origin x="658" y="58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okhanatil.com/2010/10/minus-and-intersect-in-mysql.html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okhanatil.com/2010/10/minus-and-intersect-in-mysql.html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745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https://gokhanatil.com/2010/10/minus-and-intersect-in-mysql.html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829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https://gokhanatil.com/2010/10/minus-and-intersect-in-mysql.html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70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15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12/14/2023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2.png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Pakage 1: Database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Lesson 4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4435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Join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Union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JOIN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INNER JOIN (JOIN)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LEFT JOIN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RIGHT JOIN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CROSS JOIN</a:t>
            </a:r>
          </a:p>
          <a:p>
            <a:pPr marL="0" indent="0" hangingPunct="1">
              <a:buNone/>
            </a:pPr>
            <a:endParaRPr lang="en-U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LEFT EXCLUDING JOIN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RIGHT EXCLUDING JOIN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FULL OUTER JOIN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FULL EXCLUDING JOIN</a:t>
            </a:r>
          </a:p>
        </p:txBody>
      </p:sp>
    </p:spTree>
    <p:extLst>
      <p:ext uri="{BB962C8B-B14F-4D97-AF65-F5344CB8AC3E}">
        <p14:creationId xmlns:p14="http://schemas.microsoft.com/office/powerpoint/2010/main" val="419055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JOIN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405" y="2350187"/>
            <a:ext cx="20771019" cy="968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9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JOIN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776" y="2915801"/>
            <a:ext cx="16693854" cy="418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75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JOIN syntax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fr-FR" dirty="0"/>
              <a:t>  INNER JOIN (JOIN) </a:t>
            </a:r>
          </a:p>
          <a:p>
            <a:pPr marL="889000" lvl="2" indent="0" hangingPunct="1">
              <a:buNone/>
            </a:pPr>
            <a:r>
              <a:rPr lang="fr-FR" dirty="0"/>
              <a:t>SELECT 	t1.column,  t2.column</a:t>
            </a:r>
          </a:p>
          <a:p>
            <a:pPr marL="889000" lvl="2" indent="0" hangingPunct="1">
              <a:buNone/>
            </a:pPr>
            <a:r>
              <a:rPr lang="fr-FR" dirty="0"/>
              <a:t>FROM 	table1 t1</a:t>
            </a:r>
          </a:p>
          <a:p>
            <a:pPr marL="889000" lvl="2" indent="0" hangingPunct="1">
              <a:buNone/>
            </a:pPr>
            <a:r>
              <a:rPr lang="fr-FR" dirty="0"/>
              <a:t>JOIN 		table2 t2	ON t1.column = t2.column</a:t>
            </a:r>
          </a:p>
        </p:txBody>
      </p:sp>
    </p:spTree>
    <p:extLst>
      <p:ext uri="{BB962C8B-B14F-4D97-AF65-F5344CB8AC3E}">
        <p14:creationId xmlns:p14="http://schemas.microsoft.com/office/powerpoint/2010/main" val="418764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Cross JOIN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fr-FR" dirty="0"/>
              <a:t> Cross JOIN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489" y="3200974"/>
            <a:ext cx="15065214" cy="894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86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72" y="4177088"/>
            <a:ext cx="19100017" cy="307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6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UNION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366382"/>
              </p:ext>
            </p:extLst>
          </p:nvPr>
        </p:nvGraphicFramePr>
        <p:xfrm>
          <a:off x="1662174" y="2400300"/>
          <a:ext cx="19771361" cy="97185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05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5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0"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3000" dirty="0">
                          <a:effectLst/>
                        </a:rPr>
                        <a:t>EXCEPT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3000" dirty="0">
                          <a:effectLst/>
                        </a:rPr>
                        <a:t>Lấy những record nằm trong câu </a:t>
                      </a:r>
                      <a:r>
                        <a:rPr lang="en-US" sz="3000" dirty="0">
                          <a:effectLst/>
                        </a:rPr>
                        <a:t>SELECT</a:t>
                      </a:r>
                      <a:r>
                        <a:rPr lang="vi-VN" sz="3000" dirty="0">
                          <a:effectLst/>
                        </a:rPr>
                        <a:t> 1 mà không tồn tại trong câu </a:t>
                      </a:r>
                      <a:r>
                        <a:rPr lang="en-US" sz="3000" dirty="0">
                          <a:effectLst/>
                        </a:rPr>
                        <a:t>SELECT</a:t>
                      </a:r>
                      <a:r>
                        <a:rPr lang="vi-VN" sz="3000" dirty="0">
                          <a:effectLst/>
                        </a:rPr>
                        <a:t> 2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4635"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3000" dirty="0">
                          <a:effectLst/>
                        </a:rPr>
                        <a:t>INTERSECT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3000" dirty="0">
                          <a:effectLst/>
                        </a:rPr>
                        <a:t>Lấy các record chung giữa 2 table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7859"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3000" dirty="0">
                          <a:effectLst/>
                        </a:rPr>
                        <a:t>UNION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000" dirty="0" err="1">
                          <a:effectLst/>
                        </a:rPr>
                        <a:t>Lấy</a:t>
                      </a:r>
                      <a:r>
                        <a:rPr lang="en-US" sz="3000" dirty="0">
                          <a:effectLst/>
                        </a:rPr>
                        <a:t> </a:t>
                      </a:r>
                      <a:r>
                        <a:rPr lang="en-US" sz="3000" dirty="0" err="1">
                          <a:effectLst/>
                        </a:rPr>
                        <a:t>các</a:t>
                      </a:r>
                      <a:r>
                        <a:rPr lang="en-US" sz="3000" dirty="0">
                          <a:effectLst/>
                        </a:rPr>
                        <a:t> record Unique </a:t>
                      </a:r>
                      <a:r>
                        <a:rPr lang="en-US" sz="3000" dirty="0" err="1">
                          <a:effectLst/>
                        </a:rPr>
                        <a:t>giữa</a:t>
                      </a:r>
                      <a:r>
                        <a:rPr lang="en-US" sz="3000" dirty="0">
                          <a:effectLst/>
                        </a:rPr>
                        <a:t> 2 </a:t>
                      </a:r>
                      <a:r>
                        <a:rPr lang="en-US" sz="3000" dirty="0" err="1">
                          <a:effectLst/>
                        </a:rPr>
                        <a:t>câu</a:t>
                      </a:r>
                      <a:r>
                        <a:rPr lang="en-US" sz="3000" dirty="0">
                          <a:effectLst/>
                        </a:rPr>
                        <a:t> SELECT</a:t>
                      </a:r>
                    </a:p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000" dirty="0">
                          <a:effectLst/>
                        </a:rPr>
                        <a:t> 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9562"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3000" dirty="0">
                          <a:effectLst/>
                        </a:rPr>
                        <a:t>UNION ALL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3000" dirty="0">
                          <a:effectLst/>
                        </a:rPr>
                        <a:t>Giống UNION nhưng sẽ lấy tất cả các record của 2 câu </a:t>
                      </a:r>
                      <a:r>
                        <a:rPr lang="en-US" sz="3000" dirty="0">
                          <a:effectLst/>
                        </a:rPr>
                        <a:t>SELECT</a:t>
                      </a:r>
                    </a:p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3000" dirty="0">
                          <a:effectLst/>
                        </a:rPr>
                        <a:t> 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477763"/>
              </p:ext>
            </p:extLst>
          </p:nvPr>
        </p:nvGraphicFramePr>
        <p:xfrm>
          <a:off x="13553445" y="3229545"/>
          <a:ext cx="2048505" cy="1584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200582" imgH="1695687" progId="Paint.Picture">
                  <p:embed/>
                </p:oleObj>
              </mc:Choice>
              <mc:Fallback>
                <p:oleObj name="Bitmap Image" r:id="rId2" imgW="2200582" imgH="1695687" progId="Paint.Picture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3445" y="3229545"/>
                        <a:ext cx="2048505" cy="15847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488649"/>
              </p:ext>
            </p:extLst>
          </p:nvPr>
        </p:nvGraphicFramePr>
        <p:xfrm>
          <a:off x="13441368" y="5395444"/>
          <a:ext cx="2272658" cy="1691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2172003" imgH="1819529" progId="Paint.Picture">
                  <p:embed/>
                </p:oleObj>
              </mc:Choice>
              <mc:Fallback>
                <p:oleObj name="Bitmap Image" r:id="rId4" imgW="2172003" imgH="1819529" progId="Paint.Picture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1368" y="5395444"/>
                        <a:ext cx="2272658" cy="16911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891785"/>
              </p:ext>
            </p:extLst>
          </p:nvPr>
        </p:nvGraphicFramePr>
        <p:xfrm>
          <a:off x="13570271" y="10279351"/>
          <a:ext cx="2143755" cy="1751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2161905" imgH="1771429" progId="Paint.Picture">
                  <p:embed/>
                </p:oleObj>
              </mc:Choice>
              <mc:Fallback>
                <p:oleObj name="Bitmap Image" r:id="rId6" imgW="2161905" imgH="1771429" progId="Paint.Picture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0271" y="10279351"/>
                        <a:ext cx="2143755" cy="17515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513599"/>
              </p:ext>
            </p:extLst>
          </p:nvPr>
        </p:nvGraphicFramePr>
        <p:xfrm>
          <a:off x="13570271" y="7807219"/>
          <a:ext cx="2143755" cy="1751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2161905" imgH="1771429" progId="Paint.Picture">
                  <p:embed/>
                </p:oleObj>
              </mc:Choice>
              <mc:Fallback>
                <p:oleObj name="Bitmap Image" r:id="rId6" imgW="2161905" imgH="1771429" progId="Paint.Picture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0271" y="7807219"/>
                        <a:ext cx="2143755" cy="17515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537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UNION Syntax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dirty="0"/>
              <a:t>SELECT 	column_name_1, column_ name_2</a:t>
            </a:r>
          </a:p>
          <a:p>
            <a:pPr marL="0" indent="0" hangingPunct="1">
              <a:buNone/>
            </a:pPr>
            <a:r>
              <a:rPr lang="en-US" dirty="0"/>
              <a:t>FROM 	table_name_1</a:t>
            </a:r>
          </a:p>
          <a:p>
            <a:pPr marL="0" indent="0" hangingPunct="1">
              <a:buNone/>
            </a:pPr>
            <a:endParaRPr lang="en-US" dirty="0"/>
          </a:p>
          <a:p>
            <a:pPr marL="0" indent="0" hangingPunct="1">
              <a:buNone/>
            </a:pPr>
            <a:r>
              <a:rPr lang="en-US" dirty="0"/>
              <a:t>UNION | UNION ALL | INTERSECT | EXCEPT</a:t>
            </a:r>
          </a:p>
          <a:p>
            <a:pPr marL="0" indent="0" hangingPunct="1">
              <a:buNone/>
            </a:pPr>
            <a:r>
              <a:rPr lang="en-US" dirty="0"/>
              <a:t> </a:t>
            </a:r>
          </a:p>
          <a:p>
            <a:pPr marL="0" indent="0" hangingPunct="1">
              <a:buNone/>
            </a:pPr>
            <a:r>
              <a:rPr lang="en-US" dirty="0"/>
              <a:t>SELECT 	column_name_3, column_ name_4</a:t>
            </a:r>
          </a:p>
          <a:p>
            <a:pPr marL="0" indent="0" hangingPunct="1">
              <a:buNone/>
            </a:pPr>
            <a:r>
              <a:rPr lang="en-US" dirty="0"/>
              <a:t>FROM 	table_name_2;</a:t>
            </a:r>
          </a:p>
        </p:txBody>
      </p:sp>
    </p:spTree>
    <p:extLst>
      <p:ext uri="{BB962C8B-B14F-4D97-AF65-F5344CB8AC3E}">
        <p14:creationId xmlns:p14="http://schemas.microsoft.com/office/powerpoint/2010/main" val="4181592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12" y="2358967"/>
            <a:ext cx="11449289" cy="71406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0043" y="3867114"/>
            <a:ext cx="11055802" cy="375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73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760" y="1483842"/>
            <a:ext cx="12750940" cy="1089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64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2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dirty="0"/>
              <a:t>Assignments for Testing System</a:t>
            </a:r>
          </a:p>
        </p:txBody>
      </p:sp>
    </p:spTree>
    <p:extLst>
      <p:ext uri="{BB962C8B-B14F-4D97-AF65-F5344CB8AC3E}">
        <p14:creationId xmlns:p14="http://schemas.microsoft.com/office/powerpoint/2010/main" val="3358299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21365</TotalTime>
  <Words>239</Words>
  <Application>Microsoft Office PowerPoint</Application>
  <PresentationFormat>Custom</PresentationFormat>
  <Paragraphs>57</Paragraphs>
  <Slides>15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Meiryo</vt:lpstr>
      <vt:lpstr> Arial (Headings)</vt:lpstr>
      <vt:lpstr>Arial</vt:lpstr>
      <vt:lpstr>Arial (Body)</vt:lpstr>
      <vt:lpstr>Calibri</vt:lpstr>
      <vt:lpstr>Helvetica Neue</vt:lpstr>
      <vt:lpstr>Helvetica Neue Light</vt:lpstr>
      <vt:lpstr>Helvetica Neue Medium</vt:lpstr>
      <vt:lpstr>Times New Roman</vt:lpstr>
      <vt:lpstr>Wingdings</vt:lpstr>
      <vt:lpstr>White</vt:lpstr>
      <vt:lpstr>Bitmap Image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1486</cp:revision>
  <cp:lastPrinted>2019-09-17T11:00:25Z</cp:lastPrinted>
  <dcterms:modified xsi:type="dcterms:W3CDTF">2023-12-14T02:07:46Z</dcterms:modified>
  <cp:category/>
</cp:coreProperties>
</file>