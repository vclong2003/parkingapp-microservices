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19" r:id="rId3"/>
    <p:sldId id="540" r:id="rId4"/>
    <p:sldId id="589" r:id="rId5"/>
    <p:sldId id="622" r:id="rId6"/>
    <p:sldId id="620" r:id="rId7"/>
    <p:sldId id="613" r:id="rId8"/>
    <p:sldId id="625" r:id="rId9"/>
    <p:sldId id="626" r:id="rId10"/>
    <p:sldId id="624" r:id="rId11"/>
    <p:sldId id="614" r:id="rId12"/>
    <p:sldId id="616" r:id="rId13"/>
    <p:sldId id="627" r:id="rId14"/>
    <p:sldId id="628" r:id="rId15"/>
    <p:sldId id="629" r:id="rId16"/>
    <p:sldId id="590" r:id="rId17"/>
    <p:sldId id="636" r:id="rId18"/>
    <p:sldId id="635" r:id="rId19"/>
    <p:sldId id="637" r:id="rId20"/>
    <p:sldId id="630" r:id="rId21"/>
    <p:sldId id="631" r:id="rId22"/>
    <p:sldId id="632" r:id="rId23"/>
    <p:sldId id="342" r:id="rId24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91754" autoAdjust="0"/>
  </p:normalViewPr>
  <p:slideViewPr>
    <p:cSldViewPr snapToGrid="0" snapToObjects="1">
      <p:cViewPr varScale="1">
        <p:scale>
          <a:sx n="34" d="100"/>
          <a:sy n="34" d="100"/>
        </p:scale>
        <p:origin x="141" y="3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23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557995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Collection &amp; Map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Comparing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Generic</a:t>
            </a:r>
          </a:p>
          <a:p>
            <a:pPr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Collection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12" name="Text Placeholder 1"/>
          <p:cNvSpPr txBox="1">
            <a:spLocks/>
          </p:cNvSpPr>
          <p:nvPr/>
        </p:nvSpPr>
        <p:spPr>
          <a:xfrm>
            <a:off x="1857376" y="2335127"/>
            <a:ext cx="16481424" cy="305188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s-ES" dirty="0" err="1"/>
              <a:t>Array</a:t>
            </a:r>
            <a:r>
              <a:rPr lang="es-ES" dirty="0"/>
              <a:t> can </a:t>
            </a:r>
            <a:r>
              <a:rPr lang="es-ES" dirty="0" err="1"/>
              <a:t>manage</a:t>
            </a:r>
            <a:r>
              <a:rPr lang="es-ES" dirty="0"/>
              <a:t> </a:t>
            </a:r>
            <a:r>
              <a:rPr lang="es-ES" dirty="0" err="1"/>
              <a:t>objet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primitive</a:t>
            </a: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Collection</a:t>
            </a:r>
            <a:r>
              <a:rPr lang="es-ES" dirty="0"/>
              <a:t> can </a:t>
            </a:r>
            <a:r>
              <a:rPr lang="es-ES" dirty="0" err="1"/>
              <a:t>only</a:t>
            </a:r>
            <a:r>
              <a:rPr lang="es-ES" dirty="0"/>
              <a:t> </a:t>
            </a:r>
            <a:r>
              <a:rPr lang="es-ES" dirty="0" err="1"/>
              <a:t>manage</a:t>
            </a:r>
            <a:r>
              <a:rPr lang="es-ES" dirty="0"/>
              <a:t> </a:t>
            </a:r>
            <a:r>
              <a:rPr lang="es-ES" dirty="0" err="1"/>
              <a:t>object</a:t>
            </a: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Polymorphism</a:t>
            </a: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endParaRPr lang="es-E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39" y="5209973"/>
            <a:ext cx="17352542" cy="687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1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List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Type</a:t>
            </a:r>
            <a:endParaRPr lang="es-E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ArrayList</a:t>
            </a:r>
            <a:endParaRPr lang="es-E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Stack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008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vi-VN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ArrayList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vi-VN" dirty="0"/>
              <a:t>Ini</a:t>
            </a:r>
            <a:r>
              <a:rPr lang="en-US" dirty="0"/>
              <a:t>t</a:t>
            </a:r>
            <a:endParaRPr lang="vi-V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664" y="3368950"/>
            <a:ext cx="8247647" cy="32162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664" y="7111871"/>
            <a:ext cx="12868915" cy="616258"/>
          </a:xfrm>
          <a:prstGeom prst="rect">
            <a:avLst/>
          </a:prstGeom>
        </p:spPr>
      </p:pic>
      <p:sp>
        <p:nvSpPr>
          <p:cNvPr id="6" name="Text Placeholder 1"/>
          <p:cNvSpPr txBox="1">
            <a:spLocks/>
          </p:cNvSpPr>
          <p:nvPr/>
        </p:nvSpPr>
        <p:spPr>
          <a:xfrm>
            <a:off x="1857376" y="8283260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vi-VN" dirty="0"/>
              <a:t>Get</a:t>
            </a:r>
            <a:r>
              <a:rPr lang="en-US" dirty="0"/>
              <a:t> Data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71420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List’s Method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vi-VN" dirty="0"/>
              <a:t> size()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vi-VN" dirty="0"/>
              <a:t> get()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vi-VN" dirty="0"/>
              <a:t> remove()</a:t>
            </a:r>
            <a:r>
              <a:rPr lang="en-ID" dirty="0"/>
              <a:t> </a:t>
            </a:r>
            <a:endParaRPr lang="es-ES" dirty="0"/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vi-VN" dirty="0"/>
              <a:t>clear()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271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Stack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Methods</a:t>
            </a:r>
            <a:endParaRPr lang="es-E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pop()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push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peek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isFull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isEmpty</a:t>
            </a:r>
            <a:r>
              <a:rPr lang="es-ES" dirty="0"/>
              <a:t>()</a:t>
            </a:r>
          </a:p>
        </p:txBody>
      </p:sp>
      <p:pic>
        <p:nvPicPr>
          <p:cNvPr id="5" name="Picture 4" descr="Biá»u diá»n ngÄn xáº¿p (Stack)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150" y="2335126"/>
            <a:ext cx="11554572" cy="87569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716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Queue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Methods</a:t>
            </a:r>
            <a:endParaRPr lang="es-E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enqueue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dequeue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peek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isFull</a:t>
            </a:r>
            <a:r>
              <a:rPr lang="es-ES" dirty="0"/>
              <a:t>()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s-ES" dirty="0"/>
              <a:t> </a:t>
            </a:r>
            <a:r>
              <a:rPr lang="es-ES" dirty="0" err="1"/>
              <a:t>isEmpty</a:t>
            </a:r>
            <a:r>
              <a:rPr lang="es-ES" dirty="0"/>
              <a:t>()</a:t>
            </a:r>
          </a:p>
        </p:txBody>
      </p:sp>
      <p:pic>
        <p:nvPicPr>
          <p:cNvPr id="6" name="Picture 5" descr="Cáº¥u trÃºc dá»¯ liá»u hÃ ng Äá»£i (Queue)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229" y="4104253"/>
            <a:ext cx="14014354" cy="45626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9652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49" y="571498"/>
            <a:ext cx="15080147" cy="800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Accessing by Index &amp; neighborhood 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n-ID" dirty="0"/>
              <a:t>Accessing by Index (Ex: </a:t>
            </a:r>
            <a:r>
              <a:rPr lang="en-ID" dirty="0" err="1"/>
              <a:t>ArrayList</a:t>
            </a:r>
            <a:r>
              <a:rPr lang="en-ID" dirty="0"/>
              <a:t>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Accessing by neighbourhood (</a:t>
            </a:r>
            <a:r>
              <a:rPr lang="en-ID" dirty="0" err="1"/>
              <a:t>HashSet</a:t>
            </a:r>
            <a:r>
              <a:rPr lang="en-ID" dirty="0"/>
              <a:t>, </a:t>
            </a:r>
            <a:r>
              <a:rPr lang="en-ID" dirty="0" err="1"/>
              <a:t>LinkedList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746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Set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12400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Unique</a:t>
            </a:r>
            <a:r>
              <a:rPr lang="es-ES" dirty="0"/>
              <a:t> </a:t>
            </a:r>
            <a:r>
              <a:rPr lang="es-ES" dirty="0" err="1"/>
              <a:t>element</a:t>
            </a:r>
            <a:endParaRPr lang="es-E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9718" y="5234614"/>
            <a:ext cx="8796482" cy="30744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84" y="3575149"/>
            <a:ext cx="9531725" cy="86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5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Map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930" y="3909775"/>
            <a:ext cx="19031086" cy="6983511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Managing key-value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0230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0" y="3386063"/>
            <a:ext cx="14810455" cy="49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244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Comparing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s-ES" dirty="0" err="1"/>
              <a:t>Equals</a:t>
            </a:r>
            <a:r>
              <a:rPr lang="es-ES" dirty="0"/>
              <a:t>()</a:t>
            </a:r>
          </a:p>
          <a:p>
            <a:pPr marL="0" indent="0" hangingPunct="1">
              <a:buNone/>
            </a:pPr>
            <a:r>
              <a:rPr lang="es-ES" dirty="0"/>
              <a:t>	</a:t>
            </a:r>
            <a:r>
              <a:rPr lang="es-ES" dirty="0" err="1"/>
              <a:t>Hashcode</a:t>
            </a:r>
            <a:r>
              <a:rPr lang="es-ES" dirty="0"/>
              <a:t>()</a:t>
            </a:r>
          </a:p>
          <a:p>
            <a:pPr marL="0" indent="0" hangingPunct="1">
              <a:buNone/>
            </a:pPr>
            <a:endParaRPr lang="es-ES" dirty="0"/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n-ID" dirty="0"/>
              <a:t>Comparable (1 criteria)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Comparator (multiple criteria)</a:t>
            </a:r>
          </a:p>
        </p:txBody>
      </p:sp>
    </p:spTree>
    <p:extLst>
      <p:ext uri="{BB962C8B-B14F-4D97-AF65-F5344CB8AC3E}">
        <p14:creationId xmlns:p14="http://schemas.microsoft.com/office/powerpoint/2010/main" val="261162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Comparable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400300"/>
            <a:ext cx="10915650" cy="92954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499" y="2214562"/>
            <a:ext cx="9639851" cy="5872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49" y="8653462"/>
            <a:ext cx="6862208" cy="331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69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Comparator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489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n-ID" dirty="0"/>
              <a:t>Common datatype as Object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Restrict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Cannot </a:t>
            </a:r>
            <a:r>
              <a:rPr lang="en-ID" dirty="0" err="1"/>
              <a:t>init</a:t>
            </a:r>
            <a:r>
              <a:rPr lang="en-ID" dirty="0"/>
              <a:t> object which has T datatype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Cannot using static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ID" dirty="0"/>
              <a:t>  Type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Class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55923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Generic For Class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81" y="10925224"/>
            <a:ext cx="17155769" cy="670146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13178050" y="3968885"/>
            <a:ext cx="3715966" cy="2424560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114" y="2393475"/>
            <a:ext cx="5924196" cy="71049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17" y="2393474"/>
            <a:ext cx="6432309" cy="73925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323" y="2393475"/>
            <a:ext cx="6302707" cy="739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29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857376" y="2335126"/>
            <a:ext cx="16481424" cy="96104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s-ES" dirty="0"/>
              <a:t> </a:t>
            </a:r>
            <a:r>
              <a:rPr lang="en-ID" dirty="0" err="1"/>
              <a:t>ArrayList</a:t>
            </a:r>
            <a:r>
              <a:rPr lang="en-ID" dirty="0"/>
              <a:t>, List</a:t>
            </a:r>
          </a:p>
          <a:p>
            <a:pPr marL="0" indent="0" hangingPunct="1">
              <a:buNone/>
            </a:pPr>
            <a:endParaRPr lang="en-ID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901" y="3427199"/>
            <a:ext cx="10198935" cy="6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15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Generic for methods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28" y="1734669"/>
            <a:ext cx="6743700" cy="52004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90" y="2683935"/>
            <a:ext cx="8144897" cy="267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056" y="7477558"/>
            <a:ext cx="9686323" cy="47703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233" y="8159854"/>
            <a:ext cx="6424466" cy="2950772"/>
          </a:xfrm>
          <a:prstGeom prst="rect">
            <a:avLst/>
          </a:prstGeom>
        </p:spPr>
      </p:pic>
      <p:sp>
        <p:nvSpPr>
          <p:cNvPr id="4" name="Right Arrow 3"/>
          <p:cNvSpPr/>
          <p:nvPr/>
        </p:nvSpPr>
        <p:spPr>
          <a:xfrm>
            <a:off x="8501983" y="2999046"/>
            <a:ext cx="3721396" cy="2041451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2850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Generic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571584"/>
            <a:ext cx="8763000" cy="79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1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Wildcard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4" name="Picture 3" descr="generic trong java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860" y="3089910"/>
            <a:ext cx="12854940" cy="5806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277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Example (class)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716" y="1697934"/>
            <a:ext cx="8882684" cy="104364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9" y="1697933"/>
            <a:ext cx="8701959" cy="1043642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567530" y="5088835"/>
            <a:ext cx="3856383" cy="2027582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52597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25209</TotalTime>
  <Words>209</Words>
  <Application>Microsoft Office PowerPoint</Application>
  <PresentationFormat>Custom</PresentationFormat>
  <Paragraphs>72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Meiryo</vt:lpstr>
      <vt:lpstr>Arial (Body)</vt:lpstr>
      <vt:lpstr>Calibri</vt:lpstr>
      <vt:lpstr>Courier New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2614</cp:revision>
  <cp:lastPrinted>2019-09-17T11:00:25Z</cp:lastPrinted>
  <dcterms:modified xsi:type="dcterms:W3CDTF">2024-01-15T04:08:14Z</dcterms:modified>
  <cp:category/>
</cp:coreProperties>
</file>