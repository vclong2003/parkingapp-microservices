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</p:sldIdLst>
  <p:sldSz cx="24384000" cy="13716000"/>
  <p:notesSz cx="6797675" cy="9929813"/>
  <p:embeddedFontLst>
    <p:embeddedFont>
      <p:font typeface="Helvetica Neue" panose="020B0604020202020204" charset="0"/>
      <p:regular r:id="rId30"/>
      <p:bold r:id="rId31"/>
      <p:italic r:id="rId32"/>
      <p:boldItalic r:id="rId33"/>
    </p:embeddedFont>
    <p:embeddedFont>
      <p:font typeface="Helvetica Neue Light" panose="020B0604020202020204" charset="0"/>
      <p:regular r:id="rId34"/>
      <p:bold r:id="rId35"/>
      <p:italic r:id="rId36"/>
      <p:boldItalic r:id="rId37"/>
    </p:embeddedFont>
    <p:embeddedFont>
      <p:font typeface="Meiryo" panose="020B0604030504040204" pitchFamily="34" charset="-128"/>
      <p:regular r:id="rId38"/>
      <p:bold r:id="rId39"/>
      <p:italic r:id="rId40"/>
      <p:boldItalic r:id="rId41"/>
    </p:embeddedFont>
    <p:embeddedFont>
      <p:font typeface="Montserrat" panose="000005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rJtx/qTDcYzSCp+uKQRhfg6zR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149" y="61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30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lang="en-US"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32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017131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3" descr="A screenshot of a cell phon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3"/>
          <p:cNvSpPr txBox="1"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3"/>
          <p:cNvSpPr txBox="1">
            <a:spLocks noGrp="1"/>
          </p:cNvSpPr>
          <p:nvPr>
            <p:ph type="sldNum" idx="12"/>
          </p:nvPr>
        </p:nvSpPr>
        <p:spPr>
          <a:xfrm>
            <a:off x="8820083" y="13156977"/>
            <a:ext cx="6743833" cy="48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  <a:defRPr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</a:t>
            </a:r>
            <a:r>
              <a:rPr lang="en-US" i="1"/>
              <a:t>© </a:t>
            </a:r>
            <a:r>
              <a:rPr lang="en-US"/>
              <a:t>VTI Academy All Right Reserved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4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8;p34"/>
          <p:cNvSpPr/>
          <p:nvPr/>
        </p:nvSpPr>
        <p:spPr>
          <a:xfrm>
            <a:off x="0" y="12670972"/>
            <a:ext cx="24384001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endParaRPr sz="36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4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Copyright </a:t>
            </a:r>
            <a:r>
              <a:rPr lang="en-US" sz="3200" b="1" i="1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</a:t>
            </a:r>
            <a:r>
              <a:rPr lang="en-US" sz="32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VTI Academy All Right Reserved </a:t>
            </a:r>
            <a:endParaRPr sz="32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" name="Google Shape;20;p34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" name="Google Shape;21;p34"/>
          <p:cNvCxnSpPr/>
          <p:nvPr/>
        </p:nvCxnSpPr>
        <p:spPr>
          <a:xfrm>
            <a:off x="0" y="12670972"/>
            <a:ext cx="24384001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2" name="Google Shape;22;p34" descr="A picture containing drawing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252277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5"/>
          <p:cNvSpPr txBox="1">
            <a:spLocks noGrp="1"/>
          </p:cNvSpPr>
          <p:nvPr>
            <p:ph type="title"/>
          </p:nvPr>
        </p:nvSpPr>
        <p:spPr>
          <a:xfrm>
            <a:off x="1845217" y="357188"/>
            <a:ext cx="18701657" cy="171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sldNum" idx="12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35"/>
          <p:cNvCxnSpPr/>
          <p:nvPr/>
        </p:nvCxnSpPr>
        <p:spPr>
          <a:xfrm>
            <a:off x="1845217" y="1893677"/>
            <a:ext cx="18701657" cy="0"/>
          </a:xfrm>
          <a:prstGeom prst="straightConnector1">
            <a:avLst/>
          </a:prstGeom>
          <a:noFill/>
          <a:ln w="38100" cap="rnd" cmpd="sng">
            <a:solidFill>
              <a:srgbClr val="057BB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" name="Google Shape;29;p35" descr="A close up of a sig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31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>
            <a:lvl1pPr marL="457200" marR="0" lvl="0" indent="-63373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3373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3373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3373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33729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33729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33729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33729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33729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31"/>
          <p:cNvSpPr txBox="1">
            <a:spLocks noGrp="1"/>
          </p:cNvSpPr>
          <p:nvPr>
            <p:ph type="sldNum" idx="1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sz="2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" descr="A picture containing drawing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Helvetica Neue"/>
              <a:buNone/>
            </a:pPr>
            <a:r>
              <a:rPr lang="en-US" sz="3100" b="1" i="0" u="none" strike="noStrike" cap="none">
                <a:solidFill>
                  <a:srgbClr val="0079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WAY TO ENTERPRISE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215678" y="5637091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Helvetica Neue"/>
              <a:buNone/>
            </a:pPr>
            <a:r>
              <a:rPr lang="en-US" sz="10000" b="0" i="0" u="none" strike="noStrike" cap="none">
                <a:solidFill>
                  <a:srgbClr val="0079B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 </a:t>
            </a:r>
            <a:endParaRPr sz="10000" b="0" i="0" u="none" strike="noStrike" cap="none">
              <a:solidFill>
                <a:srgbClr val="0079B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8200"/>
              <a:buFont typeface="Calibri"/>
              <a:buNone/>
            </a:pPr>
            <a:r>
              <a:rPr lang="en-US">
                <a:solidFill>
                  <a:srgbClr val="0079B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eiryo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lang="en-US" sz="2200" b="0" i="1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lang="en-US" sz="2200" b="0" i="0" u="none" strike="noStrike" cap="none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Constructor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Package</a:t>
            </a:r>
            <a:endParaRPr sz="6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Access Modifier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OOP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000000"/>
              </a:buClr>
              <a:buSzPts val="3960"/>
              <a:buFont typeface="Noto Sans Symbols"/>
              <a:buChar char="❑"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Assignments</a:t>
            </a:r>
            <a:endParaRPr sz="6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 txBox="1"/>
          <p:nvPr/>
        </p:nvSpPr>
        <p:spPr>
          <a:xfrm>
            <a:off x="1857376" y="2335126"/>
            <a:ext cx="16481423" cy="878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Purpose: Init Object</a:t>
            </a:r>
            <a:endParaRPr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Multiple Constructors</a:t>
            </a:r>
            <a:endParaRPr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Default Constructor: no parameter</a:t>
            </a: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28625" marR="0" lvl="0" indent="-2349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20605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0150" y="1948955"/>
            <a:ext cx="11050892" cy="4486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41008" y="2143265"/>
            <a:ext cx="5863522" cy="309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34269" y="7691417"/>
            <a:ext cx="6476999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50" y="8947744"/>
            <a:ext cx="12469022" cy="303876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6725596" y="6782732"/>
            <a:ext cx="1457879" cy="181737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endParaRPr sz="30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7639733" y="5074921"/>
            <a:ext cx="1577340" cy="218037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endParaRPr sz="30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4502" y="2199321"/>
            <a:ext cx="19679758" cy="5355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00128" y="8562011"/>
            <a:ext cx="5863522" cy="309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6768" y="1916084"/>
            <a:ext cx="7137952" cy="10390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Default Constructor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42494" y="3875446"/>
            <a:ext cx="490537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6469" y="4276724"/>
            <a:ext cx="490537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8391833" y="4822722"/>
            <a:ext cx="2890683" cy="109138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endParaRPr sz="30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Package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2867" y="3322864"/>
            <a:ext cx="20345342" cy="4449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Package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5392" y="1694496"/>
            <a:ext cx="13082588" cy="1067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Access Modifier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5195" y="4055218"/>
            <a:ext cx="10075333" cy="634031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 txBox="1"/>
          <p:nvPr/>
        </p:nvSpPr>
        <p:spPr>
          <a:xfrm>
            <a:off x="1857376" y="2335126"/>
            <a:ext cx="16481423" cy="878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Class, constructor, method, property</a:t>
            </a: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20605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7552" y="1754607"/>
            <a:ext cx="9227247" cy="905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Getter &amp; Setter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3240" y="1803974"/>
            <a:ext cx="10196226" cy="9285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5985" y="3598176"/>
            <a:ext cx="10958151" cy="3503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95985" y="7737996"/>
            <a:ext cx="9456544" cy="2048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Getter &amp; Setter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5985" y="3598176"/>
            <a:ext cx="10958151" cy="3503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5985" y="7688904"/>
            <a:ext cx="8885610" cy="2369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002" y="2200072"/>
            <a:ext cx="11191875" cy="83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OOP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748" y="3945108"/>
            <a:ext cx="18770099" cy="46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4 Properties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857376" y="2335127"/>
            <a:ext cx="16481423" cy="785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Encapsulation (đóng gói)</a:t>
            </a:r>
            <a:endParaRPr/>
          </a:p>
          <a:p>
            <a:pPr marL="611187" marR="0" lvl="0" indent="-61118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Inheritance (kế thừa)</a:t>
            </a:r>
            <a:endParaRPr/>
          </a:p>
          <a:p>
            <a:pPr marL="611187" marR="0" lvl="0" indent="-61118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Abstraction (trìu tượng)</a:t>
            </a:r>
            <a:endParaRPr/>
          </a:p>
          <a:p>
            <a:pPr marL="611187" marR="0" lvl="0" indent="-61118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Polymorphism (tính đa hình)</a:t>
            </a: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20605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Encapsulation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7" descr="Image result for Encapsulation jva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1999" y="4943045"/>
            <a:ext cx="11453201" cy="731897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1857376" y="2335126"/>
            <a:ext cx="16481423" cy="878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Access modifier: Private</a:t>
            </a:r>
            <a:endParaRPr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Getter / Setter</a:t>
            </a:r>
            <a:endParaRPr/>
          </a:p>
          <a:p>
            <a:pPr marL="428625" marR="0" lvl="0" indent="-2349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20605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096000" y="607317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1857376" y="2335126"/>
            <a:ext cx="16481423" cy="878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Keyword: Extend </a:t>
            </a:r>
            <a:endParaRPr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Multi level inheritance</a:t>
            </a:r>
            <a:endParaRPr/>
          </a:p>
          <a:p>
            <a:pPr marL="1055687" marR="0" lvl="1" indent="-61118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Direct superclass (1 level)</a:t>
            </a:r>
            <a:endParaRPr/>
          </a:p>
          <a:p>
            <a:pPr marL="1055687" marR="0" lvl="1" indent="-61118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Indirect superclass (2 level)</a:t>
            </a: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61118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Char char="o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Single inheritance</a:t>
            </a:r>
            <a:endParaRPr/>
          </a:p>
          <a:p>
            <a:pPr marL="428625" marR="0" lvl="0" indent="-2349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20605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200149" y="571498"/>
            <a:ext cx="11041011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Constructor Inheritance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172706" y="9133715"/>
            <a:ext cx="714971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Montserrat"/>
              <a:buNone/>
            </a:pPr>
            <a:r>
              <a:rPr lang="en-US" sz="3200" b="1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Init constructor from child to parent</a:t>
            </a:r>
            <a:endParaRPr sz="3200" b="1" i="1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1908" y="2161597"/>
            <a:ext cx="8515939" cy="343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0149" y="2161597"/>
            <a:ext cx="8275370" cy="340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0136" y="6392749"/>
            <a:ext cx="9061923" cy="202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41160" y="6204354"/>
            <a:ext cx="8316749" cy="2207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1857376" y="2335127"/>
            <a:ext cx="16481423" cy="250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Abstract class </a:t>
            </a: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Interface</a:t>
            </a: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20605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Abstract class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1857376" y="2335127"/>
            <a:ext cx="16481423" cy="250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object but not completed yet</a:t>
            </a:r>
            <a:endParaRPr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Noto Sans Symbols"/>
              <a:buChar char="⮚"/>
            </a:pPr>
            <a:r>
              <a:rPr lang="en-US" sz="4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abstract class, abstract method</a:t>
            </a: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55687" marR="0" lvl="1" indent="-20605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Courier New"/>
              <a:buNone/>
            </a:pPr>
            <a:endParaRPr sz="4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0506" y="3939212"/>
            <a:ext cx="8637758" cy="493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50418" y="1656271"/>
            <a:ext cx="7816143" cy="3421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50418" y="5340455"/>
            <a:ext cx="8565711" cy="3409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0418" y="9012950"/>
            <a:ext cx="8881312" cy="351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300" y="3367054"/>
            <a:ext cx="9639300" cy="671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0150" y="3900081"/>
            <a:ext cx="9332170" cy="605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4281" y="3900081"/>
            <a:ext cx="9001430" cy="5442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3037" y="1944598"/>
            <a:ext cx="12792479" cy="4836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5195" y="7533394"/>
            <a:ext cx="10688165" cy="2831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53860" y="2140868"/>
            <a:ext cx="12224401" cy="554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62431" y="8416717"/>
            <a:ext cx="8960582" cy="2300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6000" b="1" i="0" u="none" strike="noStrike" cap="none">
              <a:solidFill>
                <a:srgbClr val="4F81B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9496" y="1964987"/>
            <a:ext cx="10019465" cy="6213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7816" y="8458625"/>
            <a:ext cx="9270949" cy="2752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lang="en-US" sz="2200" b="0" i="1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lang="en-US" sz="2200" b="0" i="0" u="none" strike="noStrike" cap="non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Helvetica Neue"/>
              <a:buNone/>
            </a:pPr>
            <a:r>
              <a:rPr lang="en-US" sz="8800" b="0" i="0" u="none" strike="noStrike" cap="none">
                <a:solidFill>
                  <a:srgbClr val="0051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Custom</PresentationFormat>
  <Paragraphs>57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Meiryo</vt:lpstr>
      <vt:lpstr>Helvetica Neue</vt:lpstr>
      <vt:lpstr>Montserrat</vt:lpstr>
      <vt:lpstr>Noto Sans Symbols</vt:lpstr>
      <vt:lpstr>Calibri</vt:lpstr>
      <vt:lpstr>Helvetica Neue Light</vt:lpstr>
      <vt:lpstr>Courier New</vt:lpstr>
      <vt:lpstr>Arial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Anh Quan (VTI.GA)</dc:creator>
  <cp:lastModifiedBy>Nguyen Dao</cp:lastModifiedBy>
  <cp:revision>3</cp:revision>
  <dcterms:modified xsi:type="dcterms:W3CDTF">2024-01-15T02:17:32Z</dcterms:modified>
</cp:coreProperties>
</file>