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419" r:id="rId3"/>
    <p:sldId id="496" r:id="rId4"/>
    <p:sldId id="513" r:id="rId5"/>
    <p:sldId id="514" r:id="rId6"/>
    <p:sldId id="518" r:id="rId7"/>
    <p:sldId id="519" r:id="rId8"/>
    <p:sldId id="515" r:id="rId9"/>
    <p:sldId id="522" r:id="rId10"/>
    <p:sldId id="526" r:id="rId11"/>
    <p:sldId id="527" r:id="rId12"/>
    <p:sldId id="517" r:id="rId13"/>
    <p:sldId id="521" r:id="rId14"/>
    <p:sldId id="528" r:id="rId15"/>
    <p:sldId id="529" r:id="rId16"/>
    <p:sldId id="530" r:id="rId17"/>
    <p:sldId id="537" r:id="rId18"/>
    <p:sldId id="523" r:id="rId19"/>
    <p:sldId id="516" r:id="rId20"/>
    <p:sldId id="524" r:id="rId21"/>
    <p:sldId id="525" r:id="rId22"/>
    <p:sldId id="531" r:id="rId23"/>
    <p:sldId id="532" r:id="rId24"/>
    <p:sldId id="533" r:id="rId25"/>
    <p:sldId id="534" r:id="rId26"/>
    <p:sldId id="535" r:id="rId27"/>
    <p:sldId id="536" r:id="rId28"/>
    <p:sldId id="342" r:id="rId29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82" autoAdjust="0"/>
    <p:restoredTop sz="81806" autoAdjust="0"/>
  </p:normalViewPr>
  <p:slideViewPr>
    <p:cSldViewPr snapToGrid="0" snapToObjects="1">
      <p:cViewPr varScale="1">
        <p:scale>
          <a:sx n="32" d="100"/>
          <a:sy n="32" d="100"/>
        </p:scale>
        <p:origin x="285" y="29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661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28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070762" y="619912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</a:p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Datatype Casting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Wrapper Classes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Auto boxing &amp; unboxing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String Handling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Object’s Method</a:t>
            </a:r>
          </a:p>
          <a:p>
            <a:pPr defTabSz="914400">
              <a:defRPr/>
            </a:pPr>
            <a:r>
              <a:rPr lang="en-US" altLang="en-US" sz="6600" b="0" noProof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Datatype 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Casting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7"/>
            <a:ext cx="16481424" cy="25035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Implicit (Widening - </a:t>
            </a:r>
            <a:r>
              <a:rPr lang="en-ID" dirty="0" err="1"/>
              <a:t>Upcasting</a:t>
            </a:r>
            <a:r>
              <a:rPr lang="en-ID" dirty="0"/>
              <a:t>) 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Explicit (Narrowing - </a:t>
            </a:r>
            <a:r>
              <a:rPr lang="en-ID" dirty="0" err="1"/>
              <a:t>Downcasting</a:t>
            </a:r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2989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Widening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4043362"/>
            <a:ext cx="12172950" cy="81691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7B3769-F4EA-428C-9843-F50551A47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619" y="1862405"/>
            <a:ext cx="11192311" cy="182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57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Narrowing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606" y="4496846"/>
            <a:ext cx="14373527" cy="7105649"/>
          </a:xfrm>
          <a:prstGeom prst="rect">
            <a:avLst/>
          </a:prstGeom>
        </p:spPr>
      </p:pic>
      <p:pic>
        <p:nvPicPr>
          <p:cNvPr id="6" name="Picture 2" descr="ep-kieu-du-lieu-thu-hep">
            <a:extLst>
              <a:ext uri="{FF2B5EF4-FFF2-40B4-BE49-F238E27FC236}">
                <a16:creationId xmlns:a16="http://schemas.microsoft.com/office/drawing/2014/main" id="{8C9576EE-DA10-439F-B79A-000D93306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092" y="1843354"/>
            <a:ext cx="8572557" cy="200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649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40" y="2926080"/>
            <a:ext cx="15325344" cy="7607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9025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2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168" y="3643226"/>
            <a:ext cx="20978202" cy="469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99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Primitive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857376" y="2335126"/>
            <a:ext cx="16481424" cy="878397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Đặc</a:t>
            </a:r>
            <a:r>
              <a:rPr lang="en-ID" dirty="0"/>
              <a:t> </a:t>
            </a:r>
            <a:r>
              <a:rPr lang="en-ID" dirty="0" err="1"/>
              <a:t>điểm</a:t>
            </a:r>
            <a:endParaRPr lang="en-ID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ID" dirty="0"/>
              <a:t>Datatype: </a:t>
            </a:r>
            <a:r>
              <a:rPr lang="en-ID" dirty="0" err="1"/>
              <a:t>viết</a:t>
            </a:r>
            <a:r>
              <a:rPr lang="en-ID" dirty="0"/>
              <a:t> </a:t>
            </a:r>
            <a:r>
              <a:rPr lang="en-ID" dirty="0" err="1"/>
              <a:t>thường</a:t>
            </a:r>
            <a:r>
              <a:rPr lang="en-ID" dirty="0"/>
              <a:t>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vi-VN" dirty="0"/>
              <a:t>Khi khai báo int a = 5 thì java sẽ tìm trong bảng String constant xem có giá trị 5 không. Nếu có thì con trỏ a sẽ trỏ tới giá trị 5</a:t>
            </a:r>
            <a:endParaRPr lang="en-US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pt-BR" dirty="0"/>
              <a:t>So sánh thì dùng ==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pt-BR" dirty="0"/>
              <a:t>Có phạm vi giá trị trong datatype khai báo</a:t>
            </a:r>
          </a:p>
          <a:p>
            <a:pPr marL="444500" lvl="1" indent="0" hangingPunct="1">
              <a:buNone/>
            </a:pPr>
            <a:r>
              <a:rPr lang="pt-BR" dirty="0"/>
              <a:t>    VD: byte thì sẽ khai báo được số từ -127 </a:t>
            </a:r>
            <a:r>
              <a:rPr lang="pt-BR" dirty="0">
                <a:sym typeface="Wingdings" panose="05000000000000000000" pitchFamily="2" charset="2"/>
              </a:rPr>
              <a:t> 128</a:t>
            </a:r>
            <a:endParaRPr lang="en-ID" dirty="0"/>
          </a:p>
          <a:p>
            <a:pPr lvl="1" hangingPunct="1">
              <a:buFont typeface="Courier New" panose="02070309020205020404" pitchFamily="49" charset="0"/>
              <a:buChar char="o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34287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149" y="3541690"/>
            <a:ext cx="12121167" cy="363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27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Default value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857376" y="2335126"/>
            <a:ext cx="16481424" cy="878397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byte, short, </a:t>
            </a:r>
            <a:r>
              <a:rPr lang="en-ID" dirty="0" err="1"/>
              <a:t>int</a:t>
            </a:r>
            <a:r>
              <a:rPr lang="en-ID" dirty="0"/>
              <a:t>, long: 0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float, double: 0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char, string: null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boolean</a:t>
            </a:r>
            <a:r>
              <a:rPr lang="en-ID" dirty="0"/>
              <a:t>: false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04954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756" y="3151393"/>
            <a:ext cx="9464004" cy="36123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1680" y="3326491"/>
            <a:ext cx="8294298" cy="297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29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Wrapper Class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40206" y="4803854"/>
            <a:ext cx="16481424" cy="1097280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Đặc</a:t>
            </a:r>
            <a:r>
              <a:rPr lang="en-ID" dirty="0"/>
              <a:t> </a:t>
            </a:r>
            <a:r>
              <a:rPr lang="en-ID" dirty="0" err="1"/>
              <a:t>điểm</a:t>
            </a:r>
            <a:endParaRPr lang="en-ID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ID" dirty="0"/>
              <a:t>Datatype: </a:t>
            </a:r>
            <a:r>
              <a:rPr lang="en-ID" dirty="0" err="1"/>
              <a:t>viết</a:t>
            </a:r>
            <a:r>
              <a:rPr lang="en-ID" dirty="0"/>
              <a:t> </a:t>
            </a:r>
            <a:r>
              <a:rPr lang="en-ID" dirty="0" err="1"/>
              <a:t>hoa</a:t>
            </a:r>
            <a:r>
              <a:rPr lang="en-ID" dirty="0"/>
              <a:t> </a:t>
            </a:r>
            <a:r>
              <a:rPr lang="en-ID" dirty="0" err="1"/>
              <a:t>chữ</a:t>
            </a:r>
            <a:r>
              <a:rPr lang="en-ID" dirty="0"/>
              <a:t> </a:t>
            </a:r>
            <a:r>
              <a:rPr lang="en-ID" dirty="0" err="1"/>
              <a:t>cái</a:t>
            </a:r>
            <a:r>
              <a:rPr lang="en-ID" dirty="0"/>
              <a:t> </a:t>
            </a:r>
            <a:r>
              <a:rPr lang="en-ID" dirty="0" err="1"/>
              <a:t>đầu</a:t>
            </a:r>
            <a:endParaRPr lang="en-ID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vi-VN" dirty="0"/>
              <a:t>Khởi tạo String a  = new String (</a:t>
            </a:r>
            <a:r>
              <a:rPr lang="en-US" dirty="0"/>
              <a:t>“</a:t>
            </a:r>
            <a:r>
              <a:rPr lang="en-US" dirty="0" err="1"/>
              <a:t>Nguyễn</a:t>
            </a:r>
            <a:r>
              <a:rPr lang="en-US" dirty="0"/>
              <a:t>"</a:t>
            </a:r>
            <a:r>
              <a:rPr lang="vi-VN" dirty="0"/>
              <a:t>); thì java sẽ tạo 1 đối tượng String trong Heap Memory</a:t>
            </a:r>
            <a:endParaRPr lang="en-US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pt-BR" dirty="0"/>
              <a:t>So sánh thì dùng </a:t>
            </a:r>
            <a:r>
              <a:rPr lang="vi-VN" dirty="0"/>
              <a:t>phương thức equals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617" y="1595401"/>
            <a:ext cx="6605643" cy="320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6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749" y="4123577"/>
            <a:ext cx="10577022" cy="239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96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Default value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394" y="3177155"/>
            <a:ext cx="10395701" cy="32685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957" y="7730954"/>
            <a:ext cx="8010339" cy="290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69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1056701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Default value for </a:t>
            </a: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Init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Object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434" y="7686710"/>
            <a:ext cx="8010339" cy="29000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09" y="3144206"/>
            <a:ext cx="9952756" cy="323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38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1056701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Default value for </a:t>
            </a: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Init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Object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624" y="3056158"/>
            <a:ext cx="10356603" cy="30496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888" y="7969778"/>
            <a:ext cx="10618276" cy="220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19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1056701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Default value for </a:t>
            </a: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Init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Object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658" y="2129474"/>
            <a:ext cx="13214554" cy="62563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651" y="8964700"/>
            <a:ext cx="8731045" cy="315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232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Boxing &amp; Unboxing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90" y="2924777"/>
            <a:ext cx="10875925" cy="3152796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1640206" y="2060654"/>
            <a:ext cx="16481424" cy="104830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Boxing (Primitive </a:t>
            </a:r>
            <a:r>
              <a:rPr lang="en-ID" dirty="0">
                <a:sym typeface="Wingdings" panose="05000000000000000000" pitchFamily="2" charset="2"/>
              </a:rPr>
              <a:t> Object)</a:t>
            </a:r>
            <a:endParaRPr lang="en-ID" dirty="0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40206" y="6417924"/>
            <a:ext cx="16481424" cy="104830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Unboxing (Object</a:t>
            </a:r>
            <a:r>
              <a:rPr lang="en-ID" dirty="0">
                <a:sym typeface="Wingdings" panose="05000000000000000000" pitchFamily="2" charset="2"/>
              </a:rPr>
              <a:t> </a:t>
            </a:r>
            <a:r>
              <a:rPr lang="en-ID" dirty="0"/>
              <a:t>Primitive)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290" y="7729936"/>
            <a:ext cx="10875925" cy="304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51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String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40206" y="2060654"/>
            <a:ext cx="16481424" cy="104830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Primitive &amp; </a:t>
            </a:r>
            <a:r>
              <a:rPr lang="en-ID"/>
              <a:t>Wrapper class</a:t>
            </a:r>
            <a:endParaRPr lang="en-ID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3680222"/>
            <a:ext cx="12022290" cy="326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77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String Comparing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724" y="2742247"/>
            <a:ext cx="17483455" cy="8436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6604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String Comparing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87" y="2035174"/>
            <a:ext cx="14303693" cy="9074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189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Object’s Method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40206" y="2060654"/>
            <a:ext cx="16481424" cy="566602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toString</a:t>
            </a:r>
            <a:r>
              <a:rPr lang="en-ID" dirty="0"/>
              <a:t>()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hashCode</a:t>
            </a:r>
            <a:r>
              <a:rPr lang="en-ID" dirty="0"/>
              <a:t>()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equals()</a:t>
            </a:r>
          </a:p>
        </p:txBody>
      </p:sp>
    </p:spTree>
    <p:extLst>
      <p:ext uri="{BB962C8B-B14F-4D97-AF65-F5344CB8AC3E}">
        <p14:creationId xmlns:p14="http://schemas.microsoft.com/office/powerpoint/2010/main" val="1676610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toString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() Method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711" y="2545042"/>
            <a:ext cx="11625059" cy="5454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164" y="9159052"/>
            <a:ext cx="10259095" cy="213073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122" y="2817455"/>
            <a:ext cx="8949743" cy="490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89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toString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() Method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9739" y="2981290"/>
            <a:ext cx="8945181" cy="4196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0306355"/>
            <a:ext cx="8843454" cy="21688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66" y="1712083"/>
            <a:ext cx="13286987" cy="807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74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equals() Method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1905" y="4052692"/>
            <a:ext cx="10575400" cy="41534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69" y="1754948"/>
            <a:ext cx="10172176" cy="87489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422" y="10658340"/>
            <a:ext cx="9427246" cy="187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equals() Method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130" y="2324641"/>
            <a:ext cx="11029950" cy="66074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77" y="1936021"/>
            <a:ext cx="11822523" cy="86938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3382" y="10079514"/>
            <a:ext cx="9427246" cy="187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28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Order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40206" y="2060654"/>
            <a:ext cx="16481424" cy="566602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Comparable &amp; </a:t>
            </a:r>
            <a:r>
              <a:rPr lang="en-ID"/>
              <a:t>Comparator (Tìm hiểu thêm)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45546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21872</TotalTime>
  <Words>284</Words>
  <Application>Microsoft Office PowerPoint</Application>
  <PresentationFormat>Custom</PresentationFormat>
  <Paragraphs>61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Meiryo</vt:lpstr>
      <vt:lpstr>Arial (Body)</vt:lpstr>
      <vt:lpstr>Calibri</vt:lpstr>
      <vt:lpstr>Courier New</vt:lpstr>
      <vt:lpstr>Helvetica Neue</vt:lpstr>
      <vt:lpstr>Helvetica Neue Light</vt:lpstr>
      <vt:lpstr>Helvetica Neue Medium</vt:lpstr>
      <vt:lpstr>Tahoma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1874</cp:revision>
  <cp:lastPrinted>2019-09-17T11:00:25Z</cp:lastPrinted>
  <dcterms:modified xsi:type="dcterms:W3CDTF">2024-01-15T01:59:36Z</dcterms:modified>
  <cp:category/>
</cp:coreProperties>
</file>