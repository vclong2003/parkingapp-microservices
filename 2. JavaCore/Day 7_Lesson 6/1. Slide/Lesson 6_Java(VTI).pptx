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56" r:id="rId2"/>
    <p:sldId id="419" r:id="rId3"/>
    <p:sldId id="496" r:id="rId4"/>
    <p:sldId id="546" r:id="rId5"/>
    <p:sldId id="570" r:id="rId6"/>
    <p:sldId id="571" r:id="rId7"/>
    <p:sldId id="572" r:id="rId8"/>
    <p:sldId id="548" r:id="rId9"/>
    <p:sldId id="576" r:id="rId10"/>
    <p:sldId id="580" r:id="rId11"/>
    <p:sldId id="581" r:id="rId12"/>
    <p:sldId id="574" r:id="rId13"/>
    <p:sldId id="560" r:id="rId14"/>
    <p:sldId id="582" r:id="rId15"/>
    <p:sldId id="584" r:id="rId16"/>
    <p:sldId id="575" r:id="rId17"/>
    <p:sldId id="583" r:id="rId18"/>
    <p:sldId id="577" r:id="rId19"/>
    <p:sldId id="578" r:id="rId20"/>
    <p:sldId id="579" r:id="rId21"/>
    <p:sldId id="342" r:id="rId22"/>
  </p:sldIdLst>
  <p:sldSz cx="24384000" cy="13716000"/>
  <p:notesSz cx="6797675" cy="9929813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B040"/>
    <a:srgbClr val="F25A29"/>
    <a:srgbClr val="F35A29"/>
    <a:srgbClr val="4372C4"/>
    <a:srgbClr val="ED1C24"/>
    <a:srgbClr val="E4C622"/>
    <a:srgbClr val="B9D532"/>
    <a:srgbClr val="7BC242"/>
    <a:srgbClr val="E4C721"/>
    <a:srgbClr val="45B7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682" autoAdjust="0"/>
    <p:restoredTop sz="93979" autoAdjust="0"/>
  </p:normalViewPr>
  <p:slideViewPr>
    <p:cSldViewPr snapToGrid="0" snapToObjects="1">
      <p:cViewPr varScale="1">
        <p:scale>
          <a:sx n="35" d="100"/>
          <a:sy n="35" d="100"/>
        </p:scale>
        <p:origin x="72" y="32"/>
      </p:cViewPr>
      <p:guideLst>
        <p:guide orient="horz" pos="4320"/>
        <p:guide pos="7680"/>
      </p:guideLst>
    </p:cSldViewPr>
  </p:slideViewPr>
  <p:outlineViewPr>
    <p:cViewPr>
      <p:scale>
        <a:sx n="33" d="100"/>
        <a:sy n="33" d="100"/>
      </p:scale>
      <p:origin x="0" y="-932"/>
    </p:cViewPr>
  </p:outlin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C9682A-6338-40E2-9ACD-2A3FF92BB3F1}" type="datetime1">
              <a:rPr lang="en-US" smtClean="0"/>
              <a:t>1/15/2024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AC4568-2AE6-42F2-B295-3769A765E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770683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3" name="Shape 23"/>
          <p:cNvSpPr>
            <a:spLocks noGrp="1"/>
          </p:cNvSpPr>
          <p:nvPr>
            <p:ph type="body" sz="quarter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53044357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8362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0717220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Lỗi</a:t>
            </a:r>
            <a:r>
              <a:rPr lang="en-GB" dirty="0"/>
              <a:t> convert </a:t>
            </a:r>
            <a:r>
              <a:rPr lang="en-GB" dirty="0" err="1"/>
              <a:t>dữ</a:t>
            </a:r>
            <a:r>
              <a:rPr lang="en-GB" dirty="0"/>
              <a:t> </a:t>
            </a:r>
            <a:r>
              <a:rPr lang="en-GB" dirty="0" err="1"/>
              <a:t>liệu</a:t>
            </a:r>
            <a:r>
              <a:rPr lang="en-GB" dirty="0"/>
              <a:t>, </a:t>
            </a:r>
            <a:r>
              <a:rPr lang="en-GB" dirty="0" err="1"/>
              <a:t>kiểu</a:t>
            </a:r>
            <a:r>
              <a:rPr lang="en-GB" dirty="0"/>
              <a:t> int </a:t>
            </a:r>
            <a:r>
              <a:rPr lang="en-GB" dirty="0" err="1"/>
              <a:t>nhưng</a:t>
            </a:r>
            <a:r>
              <a:rPr lang="en-GB" dirty="0"/>
              <a:t> </a:t>
            </a:r>
            <a:r>
              <a:rPr lang="en-GB" dirty="0" err="1"/>
              <a:t>lại</a:t>
            </a:r>
            <a:r>
              <a:rPr lang="en-GB" dirty="0"/>
              <a:t> </a:t>
            </a:r>
            <a:r>
              <a:rPr lang="en-GB" dirty="0" err="1"/>
              <a:t>nhập</a:t>
            </a:r>
            <a:r>
              <a:rPr lang="en-GB" dirty="0"/>
              <a:t> </a:t>
            </a:r>
            <a:r>
              <a:rPr lang="en-GB" dirty="0" err="1"/>
              <a:t>vào</a:t>
            </a:r>
            <a:r>
              <a:rPr lang="en-GB" dirty="0"/>
              <a:t> </a:t>
            </a:r>
            <a:r>
              <a:rPr lang="en-GB"/>
              <a:t>1 string </a:t>
            </a:r>
          </a:p>
        </p:txBody>
      </p:sp>
    </p:spTree>
    <p:extLst>
      <p:ext uri="{BB962C8B-B14F-4D97-AF65-F5344CB8AC3E}">
        <p14:creationId xmlns:p14="http://schemas.microsoft.com/office/powerpoint/2010/main" val="12908006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FE536F65-AC83-4CA5-A319-75AFC58D4B3B}" type="slidenum">
              <a:rPr lang="en-US" smtClean="0">
                <a:solidFill>
                  <a:prstClr val="black"/>
                </a:solidFill>
                <a:latin typeface="Calibri"/>
                <a:ea typeface=""/>
                <a:cs typeface=""/>
              </a:rPr>
              <a:pPr/>
              <a:t>21</a:t>
            </a:fld>
            <a:endParaRPr lang="en-US" dirty="0">
              <a:solidFill>
                <a:prstClr val="black"/>
              </a:solidFill>
              <a:latin typeface="Calibri"/>
              <a:ea typeface=""/>
              <a:cs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1228631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FA04767-AA7B-4F3E-BCFB-179D9E0CC0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017132" y="859479"/>
            <a:ext cx="2950192" cy="113183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9C049C43-2C50-4372-822C-DA510E94A2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C608E076-FA65-406B-B46F-9B423DB8E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5217" y="357188"/>
            <a:ext cx="15794390" cy="1710326"/>
          </a:xfrm>
        </p:spPr>
        <p:txBody>
          <a:bodyPr>
            <a:normAutofit/>
          </a:bodyPr>
          <a:lstStyle>
            <a:lvl1pPr algn="l">
              <a:defRPr sz="8200"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820083" y="13156977"/>
            <a:ext cx="6743833" cy="482823"/>
          </a:xfrm>
        </p:spPr>
        <p:txBody>
          <a:bodyPr/>
          <a:lstStyle>
            <a:lvl1pPr>
              <a:defRPr sz="220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r>
              <a:rPr lang="vi-VN" dirty="0">
                <a:solidFill>
                  <a:schemeClr val="bg1"/>
                </a:solidFill>
              </a:rPr>
              <a:t>Copyright </a:t>
            </a:r>
            <a:r>
              <a:rPr lang="de-DE" i="1" dirty="0">
                <a:solidFill>
                  <a:schemeClr val="bg1"/>
                </a:solidFill>
              </a:rPr>
              <a:t>© </a:t>
            </a:r>
            <a:r>
              <a:rPr lang="de-DE" dirty="0">
                <a:solidFill>
                  <a:schemeClr val="bg1"/>
                </a:solidFill>
              </a:rPr>
              <a:t>VTI Academy All Right Reserved</a:t>
            </a:r>
            <a:r>
              <a:rPr lang="vi-VN" dirty="0">
                <a:solidFill>
                  <a:schemeClr val="bg1"/>
                </a:solidFill>
              </a:rPr>
              <a:t> </a:t>
            </a:r>
            <a:endParaRPr lang="uk-UA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Google Shape;23;p3"/>
          <p:cNvCxnSpPr/>
          <p:nvPr/>
        </p:nvCxnSpPr>
        <p:spPr>
          <a:xfrm>
            <a:off x="482600" y="1412390"/>
            <a:ext cx="21521992" cy="0"/>
          </a:xfrm>
          <a:prstGeom prst="straightConnector1">
            <a:avLst/>
          </a:prstGeom>
          <a:noFill/>
          <a:ln w="19050" cap="flat" cmpd="sng">
            <a:solidFill>
              <a:srgbClr val="3C5A9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3"/>
          <p:cNvSpPr/>
          <p:nvPr/>
        </p:nvSpPr>
        <p:spPr>
          <a:xfrm>
            <a:off x="0" y="12670972"/>
            <a:ext cx="24384000" cy="1045028"/>
          </a:xfrm>
          <a:prstGeom prst="rect">
            <a:avLst/>
          </a:prstGeom>
          <a:solidFill>
            <a:srgbClr val="3C5A99"/>
          </a:solidFill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6781639" y="12854932"/>
            <a:ext cx="10458958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r>
              <a:rPr lang="vi-VN" dirty="0">
                <a:solidFill>
                  <a:schemeClr val="bg1"/>
                </a:solidFill>
              </a:rPr>
              <a:t>Copyright </a:t>
            </a:r>
            <a:r>
              <a:rPr lang="de-DE" i="1" dirty="0">
                <a:solidFill>
                  <a:schemeClr val="bg1"/>
                </a:solidFill>
              </a:rPr>
              <a:t>© </a:t>
            </a:r>
            <a:r>
              <a:rPr lang="de-DE" dirty="0">
                <a:solidFill>
                  <a:schemeClr val="bg1"/>
                </a:solidFill>
              </a:rPr>
              <a:t>VTI Academy All Right Reserved</a:t>
            </a:r>
            <a:r>
              <a:rPr lang="vi-VN" dirty="0">
                <a:solidFill>
                  <a:schemeClr val="bg1"/>
                </a:solidFill>
              </a:rPr>
              <a:t> </a:t>
            </a:r>
            <a:endParaRPr lang="uk-UA" dirty="0">
              <a:solidFill>
                <a:schemeClr val="bg1"/>
              </a:solidFill>
            </a:endParaRPr>
          </a:p>
        </p:txBody>
      </p:sp>
      <p:cxnSp>
        <p:nvCxnSpPr>
          <p:cNvPr id="26" name="Google Shape;26;p3"/>
          <p:cNvCxnSpPr/>
          <p:nvPr/>
        </p:nvCxnSpPr>
        <p:spPr>
          <a:xfrm>
            <a:off x="14610736" y="1412390"/>
            <a:ext cx="7393856" cy="0"/>
          </a:xfrm>
          <a:prstGeom prst="straightConnector1">
            <a:avLst/>
          </a:prstGeom>
          <a:noFill/>
          <a:ln w="1905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7" name="Google Shape;27;p3"/>
          <p:cNvCxnSpPr/>
          <p:nvPr/>
        </p:nvCxnSpPr>
        <p:spPr>
          <a:xfrm>
            <a:off x="0" y="12670972"/>
            <a:ext cx="24384000" cy="0"/>
          </a:xfrm>
          <a:prstGeom prst="straightConnector1">
            <a:avLst/>
          </a:prstGeom>
          <a:noFill/>
          <a:ln w="1905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BF365656-3C2C-401A-A261-7849E1DCB5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2276" y="-25180"/>
            <a:ext cx="5131724" cy="1437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871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8E076-FA65-406B-B46F-9B423DB8E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5217" y="357188"/>
            <a:ext cx="18701658" cy="1710326"/>
          </a:xfrm>
        </p:spPr>
        <p:txBody>
          <a:bodyPr>
            <a:normAutofit/>
          </a:bodyPr>
          <a:lstStyle>
            <a:lvl1pPr algn="l">
              <a:defRPr sz="8200"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4B674F-1420-4DF2-8459-B3931B4964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06980E3F-CE96-4267-B841-15E317674931}" type="datetimeFigureOut">
              <a:rPr lang="en-US" smtClean="0"/>
              <a:t>1/15/2024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EB1A97-058D-4695-BDEE-1CB388B84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E0EE83-65C2-45C2-B15E-F5BF3C6B9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62817" y="13073062"/>
            <a:ext cx="448840" cy="482823"/>
          </a:xfrm>
        </p:spPr>
        <p:txBody>
          <a:bodyPr/>
          <a:lstStyle/>
          <a:p>
            <a:fld id="{76CA7329-12AB-4100-8DDD-19BE59417CE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0641B02-D364-4240-835E-FF32F0F89CB6}"/>
              </a:ext>
            </a:extLst>
          </p:cNvPr>
          <p:cNvCxnSpPr/>
          <p:nvPr userDrawn="1"/>
        </p:nvCxnSpPr>
        <p:spPr>
          <a:xfrm>
            <a:off x="1845217" y="1893677"/>
            <a:ext cx="18701658" cy="0"/>
          </a:xfrm>
          <a:prstGeom prst="line">
            <a:avLst/>
          </a:prstGeom>
          <a:ln w="38100" cap="rnd">
            <a:solidFill>
              <a:srgbClr val="057BBA">
                <a:alpha val="80000"/>
              </a:srgbClr>
            </a:solidFill>
          </a:ln>
          <a:effectLst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id="{F3C5E42B-5773-41D1-82C9-A3B7861809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12883" y="427995"/>
            <a:ext cx="2645634" cy="1639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217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5790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>
            <a:spAutoFit/>
          </a:bodyPr>
          <a:lstStyle>
            <a:lvl1pPr>
              <a:defRPr sz="22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49" r:id="rId2"/>
    <p:sldLayoutId id="2147483655" r:id="rId3"/>
    <p:sldLayoutId id="2147483656" r:id="rId4"/>
    <p:sldLayoutId id="2147483657" r:id="rId5"/>
  </p:sldLayoutIdLst>
  <p:transition spd="med"/>
  <p:txStyles>
    <p:titleStyle>
      <a:lvl1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11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055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500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944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389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2833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3278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3722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4167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5C73E9A0-1581-412A-9370-80FB5A08E4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650" y="1753558"/>
            <a:ext cx="5103775" cy="142974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3535C99-41AF-418B-BEDD-F28650092074}"/>
              </a:ext>
            </a:extLst>
          </p:cNvPr>
          <p:cNvSpPr/>
          <p:nvPr/>
        </p:nvSpPr>
        <p:spPr>
          <a:xfrm>
            <a:off x="1795790" y="3025157"/>
            <a:ext cx="5636029" cy="569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3100" dirty="0">
                <a:solidFill>
                  <a:schemeClr val="accent1">
                    <a:lumMod val="75000"/>
                  </a:schemeClr>
                </a:solidFill>
                <a:latin typeface="+mj-lt"/>
                <a:ea typeface="Meiryo" charset="-128"/>
                <a:cs typeface="Meiryo" charset="-128"/>
              </a:rPr>
              <a:t>WAY TO ENTERPRISE</a:t>
            </a:r>
          </a:p>
        </p:txBody>
      </p:sp>
      <p:sp>
        <p:nvSpPr>
          <p:cNvPr id="5" name="Google Shape;90;p9">
            <a:extLst>
              <a:ext uri="{FF2B5EF4-FFF2-40B4-BE49-F238E27FC236}">
                <a16:creationId xmlns:a16="http://schemas.microsoft.com/office/drawing/2014/main" id="{DB753221-CAE6-4172-B420-253F82036F95}"/>
              </a:ext>
            </a:extLst>
          </p:cNvPr>
          <p:cNvSpPr txBox="1">
            <a:spLocks/>
          </p:cNvSpPr>
          <p:nvPr/>
        </p:nvSpPr>
        <p:spPr>
          <a:xfrm>
            <a:off x="948815" y="5634158"/>
            <a:ext cx="22486370" cy="131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1pPr>
            <a:lvl2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hangingPunct="1">
              <a:lnSpc>
                <a:spcPct val="90000"/>
              </a:lnSpc>
              <a:buClr>
                <a:srgbClr val="1E4E79"/>
              </a:buClr>
              <a:buSzPts val="4400"/>
            </a:pPr>
            <a:r>
              <a:rPr lang="en-US" altLang="en-US" sz="10000">
                <a:solidFill>
                  <a:schemeClr val="accent1">
                    <a:lumMod val="75000"/>
                  </a:schemeClr>
                </a:solidFill>
              </a:rPr>
              <a:t>Java</a:t>
            </a:r>
            <a:endParaRPr lang="en-US" sz="100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ja-JP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00" b="0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Copyright </a:t>
            </a:r>
            <a:r>
              <a:rPr lang="en-GB" sz="2200" b="0" i="1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© </a:t>
            </a:r>
            <a:r>
              <a:rPr lang="en-GB" sz="2200" b="0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VTI Academy All Rights Reserved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DE6175F-EC54-41CE-AC36-9254032B4CC2}"/>
              </a:ext>
            </a:extLst>
          </p:cNvPr>
          <p:cNvSpPr txBox="1">
            <a:spLocks/>
          </p:cNvSpPr>
          <p:nvPr/>
        </p:nvSpPr>
        <p:spPr bwMode="auto">
          <a:xfrm>
            <a:off x="1845217" y="3116480"/>
            <a:ext cx="21401314" cy="9329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q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Debug</a:t>
            </a:r>
          </a:p>
          <a:p>
            <a:pPr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Handling Exception</a:t>
            </a:r>
          </a:p>
          <a:p>
            <a:pPr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</a:t>
            </a:r>
            <a:r>
              <a:rPr lang="en-US" altLang="en-US" sz="6600" b="0" noProof="0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Assignments</a:t>
            </a:r>
            <a:endParaRPr kumimoji="0" lang="en-US" altLang="en-US" sz="6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(Body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3794139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cs typeface="Tahoma" panose="020B0604030504040204" pitchFamily="34" charset="0"/>
              </a:rPr>
              <a:t>Debug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7" name="Text Placeholder 1"/>
          <p:cNvSpPr txBox="1">
            <a:spLocks/>
          </p:cNvSpPr>
          <p:nvPr/>
        </p:nvSpPr>
        <p:spPr>
          <a:xfrm>
            <a:off x="1857376" y="2335126"/>
            <a:ext cx="16481424" cy="8783977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/>
              <a:t> </a:t>
            </a:r>
            <a:r>
              <a:rPr lang="en-US" dirty="0"/>
              <a:t>Breakpoint</a:t>
            </a:r>
            <a:endParaRPr lang="nb-NO" dirty="0"/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nb-NO" dirty="0"/>
              <a:t> Debug mode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nb-NO" dirty="0"/>
              <a:t> Expression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nb-NO" dirty="0"/>
              <a:t> Variable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endParaRPr lang="en-ID" dirty="0"/>
          </a:p>
          <a:p>
            <a:pPr lvl="1" hangingPunct="1">
              <a:buFont typeface="Courier New" panose="02070309020205020404" pitchFamily="49" charset="0"/>
              <a:buChar char="o"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112989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Breakpoint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11" name="Picture 10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9242" y="2511026"/>
            <a:ext cx="10910894" cy="28780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994142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cs typeface="Tahoma" panose="020B0604030504040204" pitchFamily="34" charset="0"/>
              </a:rPr>
              <a:t>Debug Mode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6228" y="7874019"/>
            <a:ext cx="17770986" cy="240134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 Placeholder 1"/>
          <p:cNvSpPr txBox="1">
            <a:spLocks/>
          </p:cNvSpPr>
          <p:nvPr/>
        </p:nvSpPr>
        <p:spPr>
          <a:xfrm>
            <a:off x="8398618" y="10692755"/>
            <a:ext cx="16481424" cy="1022995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ID" i="1" dirty="0"/>
              <a:t>Debug Mode (Alt + Shift + D + J)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endParaRPr lang="en-ID" dirty="0"/>
          </a:p>
        </p:txBody>
      </p:sp>
      <p:sp>
        <p:nvSpPr>
          <p:cNvPr id="5" name="Text Placeholder 1"/>
          <p:cNvSpPr txBox="1">
            <a:spLocks/>
          </p:cNvSpPr>
          <p:nvPr/>
        </p:nvSpPr>
        <p:spPr>
          <a:xfrm>
            <a:off x="1857376" y="2335127"/>
            <a:ext cx="16481424" cy="5121506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/>
              <a:t> </a:t>
            </a:r>
            <a:r>
              <a:rPr lang="en-US" dirty="0"/>
              <a:t>Step into (F5)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nb-NO" dirty="0"/>
              <a:t> Step return (F7)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nb-NO" dirty="0"/>
              <a:t> Step over (F6)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nb-NO" dirty="0"/>
              <a:t> Resume (F8)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nb-NO" dirty="0"/>
              <a:t> Stop (Ctrl + F2)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endParaRPr lang="en-ID" dirty="0"/>
          </a:p>
          <a:p>
            <a:pPr lvl="1" hangingPunct="1">
              <a:buFont typeface="Courier New" panose="02070309020205020404" pitchFamily="49" charset="0"/>
              <a:buChar char="o"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8101134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Expression</a:t>
            </a:r>
          </a:p>
        </p:txBody>
      </p:sp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487" y="2937753"/>
            <a:ext cx="10466964" cy="7042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94882" y="3491063"/>
            <a:ext cx="10545661" cy="51304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16927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Variable</a:t>
            </a:r>
          </a:p>
        </p:txBody>
      </p:sp>
      <p:pic>
        <p:nvPicPr>
          <p:cNvPr id="7" name="Picture 6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6540" y="4691697"/>
            <a:ext cx="8291486" cy="28180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30410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Handling Exception</a:t>
            </a: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857376" y="2335126"/>
            <a:ext cx="16481424" cy="9610439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/>
              <a:t> </a:t>
            </a:r>
            <a:r>
              <a:rPr lang="es-ES" dirty="0" err="1"/>
              <a:t>Catching</a:t>
            </a:r>
            <a:r>
              <a:rPr lang="es-ES" dirty="0"/>
              <a:t> 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s-ES" dirty="0"/>
              <a:t> Compile error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s-ES" dirty="0"/>
              <a:t> </a:t>
            </a:r>
            <a:r>
              <a:rPr lang="es-ES" dirty="0" err="1"/>
              <a:t>Logical</a:t>
            </a:r>
            <a:r>
              <a:rPr lang="es-ES" dirty="0"/>
              <a:t> error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endParaRPr lang="es-ES" dirty="0"/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nb-NO" dirty="0"/>
              <a:t> Common Exception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nb-NO" dirty="0"/>
              <a:t> ArrayIndexOutOfBoundException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nb-NO" dirty="0"/>
              <a:t> ArithmeticException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nb-NO" dirty="0"/>
              <a:t> NullPointerException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endParaRPr lang="en-ID" dirty="0"/>
          </a:p>
          <a:p>
            <a:pPr lvl="1" hangingPunct="1">
              <a:buFont typeface="Courier New" panose="02070309020205020404" pitchFamily="49" charset="0"/>
              <a:buChar char="o"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494918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49" y="571498"/>
            <a:ext cx="13390493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err="1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ArrayIndexOutOfBoundException</a:t>
            </a:r>
            <a:endParaRPr lang="en-US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9597" y="2444779"/>
            <a:ext cx="9828154" cy="311442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2891" y="6864700"/>
            <a:ext cx="11101893" cy="1722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0619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49" y="571498"/>
            <a:ext cx="13390493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err="1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ArithmeticException</a:t>
            </a:r>
            <a:endParaRPr lang="en-US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3454" y="1802389"/>
            <a:ext cx="8581467" cy="412720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4580" y="7394532"/>
            <a:ext cx="9899213" cy="1948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7518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49" y="571498"/>
            <a:ext cx="13390493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err="1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InputMismatchException</a:t>
            </a:r>
            <a:endParaRPr lang="en-US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3831" y="2046585"/>
            <a:ext cx="10831636" cy="491080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3830" y="7537064"/>
            <a:ext cx="11511425" cy="3307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635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Exception</a:t>
            </a:r>
          </a:p>
        </p:txBody>
      </p:sp>
      <p:pic>
        <p:nvPicPr>
          <p:cNvPr id="5" name="Picture 4" descr="Hình ảnh có liên quan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8733" y="2534527"/>
            <a:ext cx="13364714" cy="86717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623920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Syntax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3997" y="3198334"/>
            <a:ext cx="6960215" cy="4960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250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Example 1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3439" y="1921820"/>
            <a:ext cx="11717176" cy="665459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9306020"/>
            <a:ext cx="6108507" cy="1656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9157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Example 2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9454" y="2059044"/>
            <a:ext cx="10697822" cy="947040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88235" y="2186555"/>
            <a:ext cx="7241778" cy="250035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93270" y="5775866"/>
            <a:ext cx="6808246" cy="2453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596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Throw &amp; Throws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4747" y="1961321"/>
            <a:ext cx="16417788" cy="386300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9031" y="7289178"/>
            <a:ext cx="18677875" cy="2292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8999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Example 1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3221" y="4426613"/>
            <a:ext cx="10983350" cy="25109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099" y="2203898"/>
            <a:ext cx="11305969" cy="9467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3559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Example 2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348" y="1470305"/>
            <a:ext cx="7871791" cy="1090945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057" y="1894398"/>
            <a:ext cx="10765820" cy="379328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95611" y="6167336"/>
            <a:ext cx="6832798" cy="22203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59965" y="9579333"/>
            <a:ext cx="7948229" cy="2347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7578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Stack Trace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7433" y="2581285"/>
            <a:ext cx="15886167" cy="37416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5251" y="7412602"/>
            <a:ext cx="11986280" cy="3540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712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Custom Exception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1077" y="2221057"/>
            <a:ext cx="13853034" cy="467666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7373" y="8897263"/>
            <a:ext cx="10097698" cy="130292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615" y="3274605"/>
            <a:ext cx="7831187" cy="2410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749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00" b="0" dirty="0">
                <a:solidFill>
                  <a:schemeClr val="tx1"/>
                </a:solidFill>
                <a:latin typeface="Meiryo" charset="-128"/>
                <a:ea typeface="Meiryo" charset="-128"/>
                <a:cs typeface="Meiryo" charset="-128"/>
              </a:rPr>
              <a:t>Copyright </a:t>
            </a:r>
            <a:r>
              <a:rPr lang="en-GB" sz="2200" b="0" i="1" dirty="0">
                <a:solidFill>
                  <a:schemeClr val="tx1"/>
                </a:solidFill>
                <a:latin typeface="Meiryo" charset="-128"/>
                <a:ea typeface="Meiryo" charset="-128"/>
                <a:cs typeface="Meiryo" charset="-128"/>
              </a:rPr>
              <a:t>© </a:t>
            </a:r>
            <a:r>
              <a:rPr lang="en-GB" sz="2200" b="0" dirty="0">
                <a:solidFill>
                  <a:schemeClr val="tx1"/>
                </a:solidFill>
                <a:latin typeface="Meiryo" charset="-128"/>
                <a:ea typeface="Meiryo" charset="-128"/>
                <a:cs typeface="Meiryo" charset="-128"/>
              </a:rPr>
              <a:t>VTI Academy All Rights Reserved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3CDD7E-E173-4A74-9533-427DE02233F9}"/>
              </a:ext>
            </a:extLst>
          </p:cNvPr>
          <p:cNvSpPr/>
          <p:nvPr/>
        </p:nvSpPr>
        <p:spPr>
          <a:xfrm>
            <a:off x="7195160" y="5450175"/>
            <a:ext cx="10095282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8800" b="0" cap="none" spc="0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582079886"/>
      </p:ext>
    </p:extLst>
  </p:cSld>
  <p:clrMapOvr>
    <a:masterClrMapping/>
  </p:clrMapOvr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23752</TotalTime>
  <Words>138</Words>
  <Application>Microsoft Office PowerPoint</Application>
  <PresentationFormat>Custom</PresentationFormat>
  <Paragraphs>47</Paragraphs>
  <Slides>21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Meiryo</vt:lpstr>
      <vt:lpstr>Arial (Body)</vt:lpstr>
      <vt:lpstr>Calibri</vt:lpstr>
      <vt:lpstr>Courier New</vt:lpstr>
      <vt:lpstr>Helvetica Neue</vt:lpstr>
      <vt:lpstr>Helvetica Neue Light</vt:lpstr>
      <vt:lpstr>Helvetica Neue Medium</vt:lpstr>
      <vt:lpstr>Tahoma</vt:lpstr>
      <vt:lpstr>Wingdings</vt:lpstr>
      <vt:lpstr>White</vt:lpstr>
      <vt:lpstr>PowerPoint Presentation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Nguyen Anh Quan (VTI.GA)</dc:creator>
  <cp:keywords/>
  <dc:description/>
  <cp:lastModifiedBy>Nguyen Dao</cp:lastModifiedBy>
  <cp:revision>2271</cp:revision>
  <cp:lastPrinted>2019-09-17T11:00:25Z</cp:lastPrinted>
  <dcterms:modified xsi:type="dcterms:W3CDTF">2024-01-15T06:32:26Z</dcterms:modified>
  <cp:category/>
</cp:coreProperties>
</file>