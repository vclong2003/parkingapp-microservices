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3716000" cx="24384000"/>
  <p:notesSz cx="6797675" cy="9929800"/>
  <p:embeddedFontLst>
    <p:embeddedFont>
      <p:font typeface="Roboto Condensed"/>
      <p:regular r:id="rId26"/>
      <p:bold r:id="rId27"/>
      <p:italic r:id="rId28"/>
      <p:boldItalic r:id="rId29"/>
    </p:embeddedFont>
    <p:embeddedFont>
      <p:font typeface="Helvetica Neue"/>
      <p:regular r:id="rId30"/>
      <p:bold r:id="rId31"/>
      <p:italic r:id="rId32"/>
      <p:boldItalic r:id="rId33"/>
    </p:embeddedFont>
    <p:embeddedFont>
      <p:font typeface="Helvetica Neue Ligh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38" roundtripDataSignature="AMtx7mi50vSWsXglFHHSBhquiCrMWMzZ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Condensed-regular.fntdata"/><Relationship Id="rId25" Type="http://schemas.openxmlformats.org/officeDocument/2006/relationships/slide" Target="slides/slide20.xml"/><Relationship Id="rId28" Type="http://schemas.openxmlformats.org/officeDocument/2006/relationships/font" Target="fonts/RobotoCondensed-italic.fntdata"/><Relationship Id="rId27" Type="http://schemas.openxmlformats.org/officeDocument/2006/relationships/font" Target="fonts/RobotoCondense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35" Type="http://schemas.openxmlformats.org/officeDocument/2006/relationships/font" Target="fonts/HelveticaNeueLight-bold.fntdata"/><Relationship Id="rId12" Type="http://schemas.openxmlformats.org/officeDocument/2006/relationships/slide" Target="slides/slide7.xml"/><Relationship Id="rId34" Type="http://schemas.openxmlformats.org/officeDocument/2006/relationships/font" Target="fonts/HelveticaNeueLight-regular.fntdata"/><Relationship Id="rId15" Type="http://schemas.openxmlformats.org/officeDocument/2006/relationships/slide" Target="slides/slide10.xml"/><Relationship Id="rId37" Type="http://schemas.openxmlformats.org/officeDocument/2006/relationships/font" Target="fonts/HelveticaNeueLight-boldItalic.fntdata"/><Relationship Id="rId14" Type="http://schemas.openxmlformats.org/officeDocument/2006/relationships/slide" Target="slides/slide9.xml"/><Relationship Id="rId36" Type="http://schemas.openxmlformats.org/officeDocument/2006/relationships/font" Target="fonts/HelveticaNeueLight-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2" name="Google Shape;52;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52d99e9c6_0_179: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8" name="Google Shape;58;g3352d99e9c6_0_17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52d99e9c6_0_184: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 name="Google Shape;64;g3352d99e9c6_0_18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52d99e9c6_0_190: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1" name="Google Shape;71;g3352d99e9c6_0_19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52d99e9c6_0_197: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8" name="Google Shape;78;g3352d99e9c6_0_19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352d99e9c6_0_204: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5" name="Google Shape;85;g3352d99e9c6_0_20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52d99e9c6_0_211: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2" name="Google Shape;92;g3352d99e9c6_0_21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52d99e9c6_0_219: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8" name="Google Shape;98;g3352d99e9c6_0_21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 name="Google Shape;104;p4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3: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0" name="Google Shape;110;p4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6" name="Google Shape;116;p4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2" name="Google Shape;122;p4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8" name="Google Shape;128;p4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4" name="Google Shape;134;p4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0" name="Google Shape;140;p4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6" name="Google Shape;146;p5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2: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4" name="Google Shape;154;p5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1" name="Google Shape;161;p5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31" name="Shape 31"/>
        <p:cNvGrpSpPr/>
        <p:nvPr/>
      </p:nvGrpSpPr>
      <p:grpSpPr>
        <a:xfrm>
          <a:off x="0" y="0"/>
          <a:ext cx="0" cy="0"/>
          <a:chOff x="0" y="0"/>
          <a:chExt cx="0" cy="0"/>
        </a:xfrm>
      </p:grpSpPr>
      <p:sp>
        <p:nvSpPr>
          <p:cNvPr id="32" name="Google Shape;32;g3352d99e9c6_0_170"/>
          <p:cNvSpPr txBox="1"/>
          <p:nvPr>
            <p:ph type="title"/>
          </p:nvPr>
        </p:nvSpPr>
        <p:spPr>
          <a:xfrm>
            <a:off x="457200" y="457200"/>
            <a:ext cx="21031200" cy="1089000"/>
          </a:xfrm>
          <a:prstGeom prst="rect">
            <a:avLst/>
          </a:prstGeom>
          <a:noFill/>
          <a:ln>
            <a:noFill/>
          </a:ln>
        </p:spPr>
        <p:txBody>
          <a:bodyPr anchorCtr="0" anchor="ctr" bIns="91400" lIns="182850" spcFirstLastPara="1" rIns="182850" wrap="square" tIns="91400">
            <a:noAutofit/>
          </a:bodyPr>
          <a:lstStyle>
            <a:lvl1pPr lvl="0" algn="l">
              <a:lnSpc>
                <a:spcPct val="90000"/>
              </a:lnSpc>
              <a:spcBef>
                <a:spcPts val="0"/>
              </a:spcBef>
              <a:spcAft>
                <a:spcPts val="0"/>
              </a:spcAft>
              <a:buSzPts val="2800"/>
              <a:buNone/>
              <a:defRPr/>
            </a:lvl1pPr>
            <a:lvl2pPr lvl="1" algn="l">
              <a:lnSpc>
                <a:spcPct val="90000"/>
              </a:lnSpc>
              <a:spcBef>
                <a:spcPts val="0"/>
              </a:spcBef>
              <a:spcAft>
                <a:spcPts val="0"/>
              </a:spcAft>
              <a:buSzPts val="2800"/>
              <a:buNone/>
              <a:defRPr/>
            </a:lvl2pPr>
            <a:lvl3pPr lvl="2" algn="l">
              <a:lnSpc>
                <a:spcPct val="90000"/>
              </a:lnSpc>
              <a:spcBef>
                <a:spcPts val="0"/>
              </a:spcBef>
              <a:spcAft>
                <a:spcPts val="0"/>
              </a:spcAft>
              <a:buSzPts val="2800"/>
              <a:buNone/>
              <a:defRPr/>
            </a:lvl3pPr>
            <a:lvl4pPr lvl="3" algn="l">
              <a:lnSpc>
                <a:spcPct val="90000"/>
              </a:lnSpc>
              <a:spcBef>
                <a:spcPts val="0"/>
              </a:spcBef>
              <a:spcAft>
                <a:spcPts val="0"/>
              </a:spcAft>
              <a:buSzPts val="2800"/>
              <a:buNone/>
              <a:defRPr/>
            </a:lvl4pPr>
            <a:lvl5pPr lvl="4" algn="l">
              <a:lnSpc>
                <a:spcPct val="90000"/>
              </a:lnSpc>
              <a:spcBef>
                <a:spcPts val="0"/>
              </a:spcBef>
              <a:spcAft>
                <a:spcPts val="0"/>
              </a:spcAft>
              <a:buSzPts val="2800"/>
              <a:buNone/>
              <a:defRPr/>
            </a:lvl5pPr>
            <a:lvl6pPr lvl="5" algn="l">
              <a:lnSpc>
                <a:spcPct val="90000"/>
              </a:lnSpc>
              <a:spcBef>
                <a:spcPts val="0"/>
              </a:spcBef>
              <a:spcAft>
                <a:spcPts val="0"/>
              </a:spcAft>
              <a:buSzPts val="2800"/>
              <a:buNone/>
              <a:defRPr/>
            </a:lvl6pPr>
            <a:lvl7pPr lvl="6" algn="l">
              <a:lnSpc>
                <a:spcPct val="90000"/>
              </a:lnSpc>
              <a:spcBef>
                <a:spcPts val="0"/>
              </a:spcBef>
              <a:spcAft>
                <a:spcPts val="0"/>
              </a:spcAft>
              <a:buSzPts val="2800"/>
              <a:buNone/>
              <a:defRPr/>
            </a:lvl7pPr>
            <a:lvl8pPr lvl="7" algn="l">
              <a:lnSpc>
                <a:spcPct val="90000"/>
              </a:lnSpc>
              <a:spcBef>
                <a:spcPts val="0"/>
              </a:spcBef>
              <a:spcAft>
                <a:spcPts val="0"/>
              </a:spcAft>
              <a:buSzPts val="2800"/>
              <a:buNone/>
              <a:defRPr/>
            </a:lvl8pPr>
            <a:lvl9pPr lvl="8" algn="l">
              <a:lnSpc>
                <a:spcPct val="90000"/>
              </a:lnSpc>
              <a:spcBef>
                <a:spcPts val="0"/>
              </a:spcBef>
              <a:spcAft>
                <a:spcPts val="0"/>
              </a:spcAft>
              <a:buSzPts val="2800"/>
              <a:buNone/>
              <a:defRPr/>
            </a:lvl9pPr>
          </a:lstStyle>
          <a:p/>
        </p:txBody>
      </p:sp>
      <p:sp>
        <p:nvSpPr>
          <p:cNvPr id="33" name="Google Shape;33;g3352d99e9c6_0_170"/>
          <p:cNvSpPr txBox="1"/>
          <p:nvPr>
            <p:ph idx="1" type="body"/>
          </p:nvPr>
        </p:nvSpPr>
        <p:spPr>
          <a:xfrm>
            <a:off x="762000" y="2133600"/>
            <a:ext cx="21031200" cy="8702400"/>
          </a:xfrm>
          <a:prstGeom prst="rect">
            <a:avLst/>
          </a:prstGeom>
          <a:noFill/>
          <a:ln>
            <a:noFill/>
          </a:ln>
        </p:spPr>
        <p:txBody>
          <a:bodyPr anchorCtr="0" anchor="t" bIns="91400" lIns="182850" spcFirstLastPara="1" rIns="182850" wrap="square" tIns="91400">
            <a:noAutofit/>
          </a:bodyPr>
          <a:lstStyle>
            <a:lvl1pPr indent="-457200" lvl="0" marL="457200" algn="l">
              <a:lnSpc>
                <a:spcPct val="90000"/>
              </a:lnSpc>
              <a:spcBef>
                <a:spcPts val="2000"/>
              </a:spcBef>
              <a:spcAft>
                <a:spcPts val="0"/>
              </a:spcAft>
              <a:buClr>
                <a:schemeClr val="dk1"/>
              </a:buClr>
              <a:buSzPts val="3600"/>
              <a:buChar char="•"/>
              <a:defRPr/>
            </a:lvl1pPr>
            <a:lvl2pPr indent="-457200" lvl="1" marL="914400" algn="l">
              <a:lnSpc>
                <a:spcPct val="90000"/>
              </a:lnSpc>
              <a:spcBef>
                <a:spcPts val="1000"/>
              </a:spcBef>
              <a:spcAft>
                <a:spcPts val="0"/>
              </a:spcAft>
              <a:buClr>
                <a:schemeClr val="dk1"/>
              </a:buClr>
              <a:buSzPts val="3600"/>
              <a:buChar char="•"/>
              <a:defRPr/>
            </a:lvl2pPr>
            <a:lvl3pPr indent="-457200" lvl="2" marL="1371600" algn="l">
              <a:lnSpc>
                <a:spcPct val="90000"/>
              </a:lnSpc>
              <a:spcBef>
                <a:spcPts val="1000"/>
              </a:spcBef>
              <a:spcAft>
                <a:spcPts val="0"/>
              </a:spcAft>
              <a:buClr>
                <a:schemeClr val="dk1"/>
              </a:buClr>
              <a:buSzPts val="3600"/>
              <a:buChar char="•"/>
              <a:defRPr/>
            </a:lvl3pPr>
            <a:lvl4pPr indent="-457200" lvl="3" marL="1828800" algn="l">
              <a:lnSpc>
                <a:spcPct val="90000"/>
              </a:lnSpc>
              <a:spcBef>
                <a:spcPts val="1000"/>
              </a:spcBef>
              <a:spcAft>
                <a:spcPts val="0"/>
              </a:spcAft>
              <a:buClr>
                <a:schemeClr val="dk1"/>
              </a:buClr>
              <a:buSzPts val="3600"/>
              <a:buChar char="•"/>
              <a:defRPr/>
            </a:lvl4pPr>
            <a:lvl5pPr indent="-457200" lvl="4" marL="2286000" algn="l">
              <a:lnSpc>
                <a:spcPct val="90000"/>
              </a:lnSpc>
              <a:spcBef>
                <a:spcPts val="1000"/>
              </a:spcBef>
              <a:spcAft>
                <a:spcPts val="0"/>
              </a:spcAft>
              <a:buClr>
                <a:schemeClr val="dk1"/>
              </a:buClr>
              <a:buSzPts val="3600"/>
              <a:buChar char="•"/>
              <a:defRPr/>
            </a:lvl5pPr>
            <a:lvl6pPr indent="-457200" lvl="5" marL="2743200" algn="l">
              <a:lnSpc>
                <a:spcPct val="90000"/>
              </a:lnSpc>
              <a:spcBef>
                <a:spcPts val="1000"/>
              </a:spcBef>
              <a:spcAft>
                <a:spcPts val="0"/>
              </a:spcAft>
              <a:buClr>
                <a:schemeClr val="dk1"/>
              </a:buClr>
              <a:buSzPts val="3600"/>
              <a:buChar char="•"/>
              <a:defRPr/>
            </a:lvl6pPr>
            <a:lvl7pPr indent="-457200" lvl="6" marL="3200400" algn="l">
              <a:lnSpc>
                <a:spcPct val="90000"/>
              </a:lnSpc>
              <a:spcBef>
                <a:spcPts val="1000"/>
              </a:spcBef>
              <a:spcAft>
                <a:spcPts val="0"/>
              </a:spcAft>
              <a:buClr>
                <a:schemeClr val="dk1"/>
              </a:buClr>
              <a:buSzPts val="3600"/>
              <a:buChar char="•"/>
              <a:defRPr/>
            </a:lvl7pPr>
            <a:lvl8pPr indent="-457200" lvl="7" marL="3657600" algn="l">
              <a:lnSpc>
                <a:spcPct val="90000"/>
              </a:lnSpc>
              <a:spcBef>
                <a:spcPts val="1000"/>
              </a:spcBef>
              <a:spcAft>
                <a:spcPts val="0"/>
              </a:spcAft>
              <a:buClr>
                <a:schemeClr val="dk1"/>
              </a:buClr>
              <a:buSzPts val="3600"/>
              <a:buChar char="•"/>
              <a:defRPr/>
            </a:lvl8pPr>
            <a:lvl9pPr indent="-457200" lvl="8" marL="4114800" algn="l">
              <a:lnSpc>
                <a:spcPct val="90000"/>
              </a:lnSpc>
              <a:spcBef>
                <a:spcPts val="1000"/>
              </a:spcBef>
              <a:spcAft>
                <a:spcPts val="0"/>
              </a:spcAft>
              <a:buClr>
                <a:schemeClr val="dk1"/>
              </a:buClr>
              <a:buSzPts val="3600"/>
              <a:buChar char="•"/>
              <a:defRPr/>
            </a:lvl9pPr>
          </a:lstStyle>
          <a:p/>
        </p:txBody>
      </p:sp>
      <p:sp>
        <p:nvSpPr>
          <p:cNvPr id="34" name="Google Shape;34;g3352d99e9c6_0_170"/>
          <p:cNvSpPr txBox="1"/>
          <p:nvPr>
            <p:ph idx="12" type="sldNum"/>
          </p:nvPr>
        </p:nvSpPr>
        <p:spPr>
          <a:xfrm>
            <a:off x="17221200" y="12712700"/>
            <a:ext cx="5486400" cy="730200"/>
          </a:xfrm>
          <a:prstGeom prst="rect">
            <a:avLst/>
          </a:prstGeom>
          <a:noFill/>
          <a:ln>
            <a:noFill/>
          </a:ln>
        </p:spPr>
        <p:txBody>
          <a:bodyPr anchorCtr="0" anchor="ctr" bIns="91400" lIns="182850" spcFirstLastPara="1" rIns="182850" wrap="square" tIns="914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pic>
        <p:nvPicPr>
          <p:cNvPr descr="A picture containing drawing&#10;&#10;Description automatically generated" id="39" name="Google Shape;39;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40" name="Google Shape;40;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41" name="Google Shape;41;p1"/>
          <p:cNvSpPr txBox="1"/>
          <p:nvPr/>
        </p:nvSpPr>
        <p:spPr>
          <a:xfrm>
            <a:off x="1215678" y="4549070"/>
            <a:ext cx="22486370" cy="3064304"/>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lang="en-US" sz="10000">
                <a:solidFill>
                  <a:srgbClr val="0079BF"/>
                </a:solidFill>
                <a:latin typeface="Helvetica Neue"/>
                <a:ea typeface="Helvetica Neue"/>
                <a:cs typeface="Helvetica Neue"/>
                <a:sym typeface="Helvetica Neue"/>
              </a:rPr>
              <a:t>CI/CD</a:t>
            </a:r>
            <a:endParaRPr b="0" i="0" sz="10000" u="none" cap="none" strike="noStrike">
              <a:solidFill>
                <a:srgbClr val="0079BF"/>
              </a:solidFill>
              <a:latin typeface="Helvetica Neue"/>
              <a:ea typeface="Helvetica Neue"/>
              <a:cs typeface="Helvetica Neue"/>
              <a:sym typeface="Helvetica Neue"/>
            </a:endParaRPr>
          </a:p>
        </p:txBody>
      </p:sp>
      <p:sp>
        <p:nvSpPr>
          <p:cNvPr id="42" name="Google Shape;42;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8" name="Google Shape;48;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9" name="Google Shape;49;p2"/>
          <p:cNvSpPr txBox="1"/>
          <p:nvPr/>
        </p:nvSpPr>
        <p:spPr>
          <a:xfrm>
            <a:off x="1845217" y="3116480"/>
            <a:ext cx="21401400" cy="7746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lang="en-US" sz="6600"/>
              <a:t>Build: Continuous </a:t>
            </a:r>
            <a:r>
              <a:rPr lang="en-US" sz="6600"/>
              <a:t>Integration</a:t>
            </a:r>
            <a:r>
              <a:rPr b="0" i="0" lang="en-US" sz="6600" u="none" cap="none" strike="noStrike">
                <a:solidFill>
                  <a:srgbClr val="000000"/>
                </a:solidFill>
                <a:latin typeface="Arial"/>
                <a:ea typeface="Arial"/>
                <a:cs typeface="Arial"/>
                <a:sym typeface="Arial"/>
              </a:rPr>
              <a:t> </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lang="en-US" sz="6600"/>
              <a:t>Multi Repos vs Monorepo</a:t>
            </a:r>
            <a:endParaRPr/>
          </a:p>
          <a:p>
            <a:pPr indent="-342900" lvl="0" marL="342900" marR="0" rtl="0" algn="l">
              <a:lnSpc>
                <a:spcPct val="100000"/>
              </a:lnSpc>
              <a:spcBef>
                <a:spcPts val="0"/>
              </a:spcBef>
              <a:spcAft>
                <a:spcPts val="0"/>
              </a:spcAft>
              <a:buClr>
                <a:srgbClr val="000000"/>
              </a:buClr>
              <a:buSzPts val="3960"/>
              <a:buFont typeface="Noto Sans Symbols"/>
              <a:buChar char="❑"/>
            </a:pPr>
            <a:r>
              <a:rPr lang="en-US" sz="6600"/>
              <a:t>Deploy: Continuous Delivery/Deployment </a:t>
            </a:r>
            <a:endParaRPr/>
          </a:p>
          <a:p>
            <a:pPr indent="-342900" lvl="0" marL="342900" marR="0" rtl="0" algn="l">
              <a:lnSpc>
                <a:spcPct val="100000"/>
              </a:lnSpc>
              <a:spcBef>
                <a:spcPts val="0"/>
              </a:spcBef>
              <a:spcAft>
                <a:spcPts val="0"/>
              </a:spcAft>
              <a:buClr>
                <a:srgbClr val="000000"/>
              </a:buClr>
              <a:buSzPts val="3960"/>
              <a:buFont typeface="Noto Sans Symbols"/>
              <a:buChar char="❑"/>
            </a:pPr>
            <a:r>
              <a:rPr lang="en-US" sz="6600"/>
              <a:t>CI/CD example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0"/>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Continuous</a:t>
            </a:r>
            <a:r>
              <a:rPr b="1" lang="en-US" sz="6000">
                <a:solidFill>
                  <a:srgbClr val="4F81BD"/>
                </a:solidFill>
              </a:rPr>
              <a:t> Intergration</a:t>
            </a:r>
            <a:endParaRPr b="1" i="0" sz="6000" u="none" cap="none" strike="noStrike">
              <a:solidFill>
                <a:srgbClr val="4F81BD"/>
              </a:solidFill>
              <a:latin typeface="Arial"/>
              <a:ea typeface="Arial"/>
              <a:cs typeface="Arial"/>
              <a:sym typeface="Arial"/>
            </a:endParaRPr>
          </a:p>
        </p:txBody>
      </p:sp>
      <p:sp>
        <p:nvSpPr>
          <p:cNvPr id="55" name="Google Shape;55;p20"/>
          <p:cNvSpPr txBox="1"/>
          <p:nvPr/>
        </p:nvSpPr>
        <p:spPr>
          <a:xfrm>
            <a:off x="1507750" y="2233750"/>
            <a:ext cx="20389500" cy="1045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200"/>
              <a:t>Mục đích: </a:t>
            </a:r>
            <a:r>
              <a:rPr lang="en-US" sz="4200"/>
              <a:t>mục tiêu cốt lõi là giữ cho mọi người luôn đồng bộ với nhau, điều này được thực hiện bằng cách thường xuyên đảm bảo rằng code mới được đẩy lên có thể tích hợp đúng với code hiện có </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rPr b="1" lang="en-US" sz="4200"/>
              <a:t>Cách thực hiện:  </a:t>
            </a:r>
            <a:r>
              <a:rPr lang="en-US" sz="4200"/>
              <a:t>Để làm được điều đó, một máy chủ CI sẽ phát hiện khi có mã được commit, lấy mã xuống và thực hiện một số bước kiểm tra, chẳng hạn như đảm bảo code có thể biên dịch được và các bài kiểm thử đều vượt qua.</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rPr lang="en-US" sz="4200">
                <a:solidFill>
                  <a:schemeClr val="dk1"/>
                </a:solidFill>
              </a:rPr>
              <a:t>Trong quá trình này, chúng ta thường tạo ra các </a:t>
            </a:r>
            <a:r>
              <a:rPr b="1" lang="en-US" sz="4200">
                <a:solidFill>
                  <a:schemeClr val="dk1"/>
                </a:solidFill>
              </a:rPr>
              <a:t>artifact</a:t>
            </a:r>
            <a:r>
              <a:rPr lang="en-US" sz="4200">
                <a:solidFill>
                  <a:schemeClr val="dk1"/>
                </a:solidFill>
              </a:rPr>
              <a:t> (tệp hoặc gói phần mềm, docker image) để sử dụng cho các bước xác thực tiếp theo, chẳng hạn như triển khai một dịch vụ đang chạy để kiểm thử trên đó</a:t>
            </a:r>
            <a:r>
              <a:rPr lang="en-US" sz="4200">
                <a:latin typeface="Roboto Condensed"/>
                <a:ea typeface="Roboto Condensed"/>
                <a:cs typeface="Roboto Condensed"/>
                <a:sym typeface="Roboto Condensed"/>
              </a:rPr>
              <a:t>.</a:t>
            </a:r>
            <a:endParaRPr sz="4200">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sz="4200">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lang="en-US" sz="4200"/>
              <a:t>Để có thể tái sử dụng các artifact này, chúng ta lưu trữ chúng trong một kho lưu trữ nào đó (repo, docker registry, …), có thể do công cụ CI cung cấp hoặc là một hệ thống riêng biệt</a:t>
            </a:r>
            <a:endParaRPr sz="4200"/>
          </a:p>
          <a:p>
            <a:pPr indent="0" lvl="0" marL="0" marR="0" rtl="0" algn="l">
              <a:lnSpc>
                <a:spcPct val="100000"/>
              </a:lnSpc>
              <a:spcBef>
                <a:spcPts val="0"/>
              </a:spcBef>
              <a:spcAft>
                <a:spcPts val="0"/>
              </a:spcAft>
              <a:buNone/>
            </a:pPr>
            <a:r>
              <a:t/>
            </a:r>
            <a:endParaRPr sz="4300">
              <a:latin typeface="Roboto Condensed"/>
              <a:ea typeface="Roboto Condensed"/>
              <a:cs typeface="Roboto Condensed"/>
              <a:sym typeface="Roboto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g3352d99e9c6_0_179"/>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Continuous Intergration</a:t>
            </a:r>
            <a:endParaRPr b="1" i="0" sz="6000" u="none" cap="none" strike="noStrike">
              <a:solidFill>
                <a:srgbClr val="4F81BD"/>
              </a:solidFill>
              <a:latin typeface="Arial"/>
              <a:ea typeface="Arial"/>
              <a:cs typeface="Arial"/>
              <a:sym typeface="Arial"/>
            </a:endParaRPr>
          </a:p>
        </p:txBody>
      </p:sp>
      <p:sp>
        <p:nvSpPr>
          <p:cNvPr id="61" name="Google Shape;61;g3352d99e9c6_0_179"/>
          <p:cNvSpPr txBox="1"/>
          <p:nvPr/>
        </p:nvSpPr>
        <p:spPr>
          <a:xfrm>
            <a:off x="1507750" y="2233750"/>
            <a:ext cx="20389500" cy="657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200"/>
              <a:t>Tác dụng của CI:</a:t>
            </a:r>
            <a:endParaRPr b="1" sz="4200"/>
          </a:p>
          <a:p>
            <a:pPr indent="-495300" lvl="0" marL="457200" marR="0" rtl="0" algn="l">
              <a:lnSpc>
                <a:spcPct val="100000"/>
              </a:lnSpc>
              <a:spcBef>
                <a:spcPts val="0"/>
              </a:spcBef>
              <a:spcAft>
                <a:spcPts val="0"/>
              </a:spcAft>
              <a:buSzPts val="4200"/>
              <a:buChar char="-"/>
            </a:pPr>
            <a:r>
              <a:rPr lang="en-US" sz="4200"/>
              <a:t>Lấy phản hồi nhanh về chất lượng code: thông qua các test, scan, build</a:t>
            </a:r>
            <a:endParaRPr sz="4200"/>
          </a:p>
          <a:p>
            <a:pPr indent="-495300" lvl="0" marL="457200" marR="0" rtl="0" algn="l">
              <a:lnSpc>
                <a:spcPct val="100000"/>
              </a:lnSpc>
              <a:spcBef>
                <a:spcPts val="0"/>
              </a:spcBef>
              <a:spcAft>
                <a:spcPts val="0"/>
              </a:spcAft>
              <a:buSzPts val="4200"/>
              <a:buChar char="-"/>
            </a:pPr>
            <a:r>
              <a:rPr lang="en-US" sz="4200"/>
              <a:t>Tạo các artifact tự động, mapping giữa source code và artifact version</a:t>
            </a:r>
            <a:endParaRPr sz="4200"/>
          </a:p>
          <a:p>
            <a:pPr indent="-495300" lvl="0" marL="457200" marR="0" rtl="0" algn="l">
              <a:lnSpc>
                <a:spcPct val="100000"/>
              </a:lnSpc>
              <a:spcBef>
                <a:spcPts val="0"/>
              </a:spcBef>
              <a:spcAft>
                <a:spcPts val="0"/>
              </a:spcAft>
              <a:buSzPts val="4200"/>
              <a:buChar char="-"/>
            </a:pPr>
            <a:r>
              <a:rPr lang="en-US" sz="4200"/>
              <a:t>Tăng tốc độ phát triển phần mềm</a:t>
            </a:r>
            <a:endParaRPr sz="4200"/>
          </a:p>
          <a:p>
            <a:pPr indent="-495300" lvl="0" marL="457200" marR="0" rtl="0" algn="l">
              <a:lnSpc>
                <a:spcPct val="100000"/>
              </a:lnSpc>
              <a:spcBef>
                <a:spcPts val="0"/>
              </a:spcBef>
              <a:spcAft>
                <a:spcPts val="0"/>
              </a:spcAft>
              <a:buSzPts val="4200"/>
              <a:buChar char="-"/>
            </a:pPr>
            <a:r>
              <a:rPr lang="en-US" sz="4200"/>
              <a:t>Dễ khoanh vùng, xử lý khi có lỗi</a:t>
            </a:r>
            <a:endParaRPr sz="4200"/>
          </a:p>
          <a:p>
            <a:pPr indent="0" lvl="0" marL="45720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300">
              <a:latin typeface="Roboto Condensed"/>
              <a:ea typeface="Roboto Condensed"/>
              <a:cs typeface="Roboto Condensed"/>
              <a:sym typeface="Roboto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352d99e9c6_0_184"/>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Continuous Intergration</a:t>
            </a:r>
            <a:endParaRPr b="1" i="0" sz="6000" u="none" cap="none" strike="noStrike">
              <a:solidFill>
                <a:srgbClr val="4F81BD"/>
              </a:solidFill>
              <a:latin typeface="Arial"/>
              <a:ea typeface="Arial"/>
              <a:cs typeface="Arial"/>
              <a:sym typeface="Arial"/>
            </a:endParaRPr>
          </a:p>
        </p:txBody>
      </p:sp>
      <p:sp>
        <p:nvSpPr>
          <p:cNvPr id="67" name="Google Shape;67;g3352d99e9c6_0_184"/>
          <p:cNvSpPr txBox="1"/>
          <p:nvPr/>
        </p:nvSpPr>
        <p:spPr>
          <a:xfrm>
            <a:off x="1507750" y="2233750"/>
            <a:ext cx="9583200" cy="1174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200"/>
              <a:t>CI trigger</a:t>
            </a:r>
            <a:r>
              <a:rPr b="1" lang="en-US" sz="4200"/>
              <a:t>:</a:t>
            </a:r>
            <a:endParaRPr b="1" sz="4200"/>
          </a:p>
          <a:p>
            <a:pPr indent="-495300" lvl="0" marL="457200" marR="0" rtl="0" algn="l">
              <a:lnSpc>
                <a:spcPct val="100000"/>
              </a:lnSpc>
              <a:spcBef>
                <a:spcPts val="0"/>
              </a:spcBef>
              <a:spcAft>
                <a:spcPts val="0"/>
              </a:spcAft>
              <a:buSzPts val="4200"/>
              <a:buChar char="-"/>
            </a:pPr>
            <a:r>
              <a:rPr lang="en-US" sz="4200"/>
              <a:t>Thông thường CI pipeline được trigger khi có commit được push lên SCM (git) theo 1 quy tắc nhất định: ví dụ push lên branch nhất định, hoặc merge request vào branch nhất định, hoặc thay đổi trong folder nhất định, ….</a:t>
            </a:r>
            <a:endParaRPr sz="4200"/>
          </a:p>
          <a:p>
            <a:pPr indent="0" lvl="0" marL="0" marR="0" rtl="0" algn="l">
              <a:lnSpc>
                <a:spcPct val="100000"/>
              </a:lnSpc>
              <a:spcBef>
                <a:spcPts val="0"/>
              </a:spcBef>
              <a:spcAft>
                <a:spcPts val="0"/>
              </a:spcAft>
              <a:buNone/>
            </a:pPr>
            <a:r>
              <a:t/>
            </a:r>
            <a:endParaRPr sz="4200"/>
          </a:p>
          <a:p>
            <a:pPr indent="-495300" lvl="0" marL="457200" marR="0" rtl="0" algn="l">
              <a:lnSpc>
                <a:spcPct val="100000"/>
              </a:lnSpc>
              <a:spcBef>
                <a:spcPts val="0"/>
              </a:spcBef>
              <a:spcAft>
                <a:spcPts val="0"/>
              </a:spcAft>
              <a:buSzPts val="4200"/>
              <a:buChar char="-"/>
            </a:pPr>
            <a:r>
              <a:rPr lang="en-US" sz="4200"/>
              <a:t>Hoặc CI tool có thể kiểm tra định kỳ SCM xem có thay đổi gì mới không, nếu có thì trigger pipeline (cách này ít dùng)</a:t>
            </a:r>
            <a:endParaRPr sz="4200"/>
          </a:p>
          <a:p>
            <a:pPr indent="0" lvl="0" marL="45720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200"/>
          </a:p>
          <a:p>
            <a:pPr indent="0" lvl="0" marL="0" marR="0" rtl="0" algn="l">
              <a:lnSpc>
                <a:spcPct val="100000"/>
              </a:lnSpc>
              <a:spcBef>
                <a:spcPts val="0"/>
              </a:spcBef>
              <a:spcAft>
                <a:spcPts val="0"/>
              </a:spcAft>
              <a:buNone/>
            </a:pPr>
            <a:r>
              <a:t/>
            </a:r>
            <a:endParaRPr sz="4300">
              <a:latin typeface="Roboto Condensed"/>
              <a:ea typeface="Roboto Condensed"/>
              <a:cs typeface="Roboto Condensed"/>
              <a:sym typeface="Roboto Condensed"/>
            </a:endParaRPr>
          </a:p>
        </p:txBody>
      </p:sp>
      <p:pic>
        <p:nvPicPr>
          <p:cNvPr id="68" name="Google Shape;68;g3352d99e9c6_0_184"/>
          <p:cNvPicPr preferRelativeResize="0"/>
          <p:nvPr/>
        </p:nvPicPr>
        <p:blipFill>
          <a:blip r:embed="rId3">
            <a:alphaModFix/>
          </a:blip>
          <a:stretch>
            <a:fillRect/>
          </a:stretch>
        </p:blipFill>
        <p:spPr>
          <a:xfrm>
            <a:off x="11090800" y="3089925"/>
            <a:ext cx="11380025" cy="6572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352d99e9c6_0_190"/>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Continuous Intergration</a:t>
            </a:r>
            <a:endParaRPr b="1" i="0" sz="6000" u="none" cap="none" strike="noStrike">
              <a:solidFill>
                <a:srgbClr val="4F81BD"/>
              </a:solidFill>
              <a:latin typeface="Arial"/>
              <a:ea typeface="Arial"/>
              <a:cs typeface="Arial"/>
              <a:sym typeface="Arial"/>
            </a:endParaRPr>
          </a:p>
        </p:txBody>
      </p:sp>
      <p:sp>
        <p:nvSpPr>
          <p:cNvPr id="74" name="Google Shape;74;g3352d99e9c6_0_190"/>
          <p:cNvSpPr txBox="1"/>
          <p:nvPr/>
        </p:nvSpPr>
        <p:spPr>
          <a:xfrm>
            <a:off x="1507750" y="2233750"/>
            <a:ext cx="9453600" cy="720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200"/>
              <a:t>CI </a:t>
            </a:r>
            <a:r>
              <a:rPr b="1" lang="en-US" sz="4200"/>
              <a:t>stages</a:t>
            </a:r>
            <a:r>
              <a:rPr b="1" lang="en-US" sz="4200"/>
              <a:t>: </a:t>
            </a:r>
            <a:r>
              <a:rPr b="1" lang="en-US" sz="4200"/>
              <a:t>thông thường gồm các step sau:</a:t>
            </a:r>
            <a:endParaRPr b="1" sz="4200"/>
          </a:p>
          <a:p>
            <a:pPr indent="-495300" lvl="0" marL="457200" marR="0" rtl="0" algn="l">
              <a:lnSpc>
                <a:spcPct val="100000"/>
              </a:lnSpc>
              <a:spcBef>
                <a:spcPts val="0"/>
              </a:spcBef>
              <a:spcAft>
                <a:spcPts val="0"/>
              </a:spcAft>
              <a:buSzPts val="4200"/>
              <a:buChar char="-"/>
            </a:pPr>
            <a:r>
              <a:rPr lang="en-US" sz="4200"/>
              <a:t>Build: Biên dịch từ mã nguồn sang binary (sang .jar, docker image, …)</a:t>
            </a:r>
            <a:endParaRPr sz="4200"/>
          </a:p>
          <a:p>
            <a:pPr indent="-495300" lvl="0" marL="457200" marR="0" rtl="0" algn="l">
              <a:lnSpc>
                <a:spcPct val="100000"/>
              </a:lnSpc>
              <a:spcBef>
                <a:spcPts val="0"/>
              </a:spcBef>
              <a:spcAft>
                <a:spcPts val="0"/>
              </a:spcAft>
              <a:buSzPts val="4200"/>
              <a:buChar char="-"/>
            </a:pPr>
            <a:r>
              <a:rPr lang="en-US" sz="4200"/>
              <a:t>Test: thực hiện các test như unit test, security test, quality test, …</a:t>
            </a:r>
            <a:endParaRPr sz="4200"/>
          </a:p>
          <a:p>
            <a:pPr indent="-495300" lvl="0" marL="457200" marR="0" rtl="0" algn="l">
              <a:lnSpc>
                <a:spcPct val="100000"/>
              </a:lnSpc>
              <a:spcBef>
                <a:spcPts val="0"/>
              </a:spcBef>
              <a:spcAft>
                <a:spcPts val="0"/>
              </a:spcAft>
              <a:buSzPts val="4200"/>
              <a:buChar char="-"/>
            </a:pPr>
            <a:r>
              <a:rPr lang="en-US" sz="4200"/>
              <a:t>Artifact: Lưu binary lên các kho repo sau khi các bước trên hoàn thành, ví dụ: lưu lên docker repo</a:t>
            </a:r>
            <a:endParaRPr sz="4200"/>
          </a:p>
          <a:p>
            <a:pPr indent="0" lvl="0" marL="0" marR="0" rtl="0" algn="l">
              <a:lnSpc>
                <a:spcPct val="100000"/>
              </a:lnSpc>
              <a:spcBef>
                <a:spcPts val="0"/>
              </a:spcBef>
              <a:spcAft>
                <a:spcPts val="0"/>
              </a:spcAft>
              <a:buNone/>
            </a:pPr>
            <a:r>
              <a:rPr lang="en-US" sz="4200"/>
              <a:t>Nếu 1 stage fail =&gt; các stage sau sẽ không được thực hiện</a:t>
            </a:r>
            <a:endParaRPr sz="4300">
              <a:latin typeface="Roboto Condensed"/>
              <a:ea typeface="Roboto Condensed"/>
              <a:cs typeface="Roboto Condensed"/>
              <a:sym typeface="Roboto Condensed"/>
            </a:endParaRPr>
          </a:p>
        </p:txBody>
      </p:sp>
      <p:pic>
        <p:nvPicPr>
          <p:cNvPr id="75" name="Google Shape;75;g3352d99e9c6_0_190"/>
          <p:cNvPicPr preferRelativeResize="0"/>
          <p:nvPr/>
        </p:nvPicPr>
        <p:blipFill>
          <a:blip r:embed="rId3">
            <a:alphaModFix/>
          </a:blip>
          <a:stretch>
            <a:fillRect/>
          </a:stretch>
        </p:blipFill>
        <p:spPr>
          <a:xfrm>
            <a:off x="10961350" y="3093050"/>
            <a:ext cx="11453075" cy="5258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352d99e9c6_0_197"/>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Multi repos vs Monorepo</a:t>
            </a:r>
            <a:endParaRPr b="1" i="0" sz="6000" u="none" cap="none" strike="noStrike">
              <a:solidFill>
                <a:srgbClr val="4F81BD"/>
              </a:solidFill>
              <a:latin typeface="Arial"/>
              <a:ea typeface="Arial"/>
              <a:cs typeface="Arial"/>
              <a:sym typeface="Arial"/>
            </a:endParaRPr>
          </a:p>
        </p:txBody>
      </p:sp>
      <p:sp>
        <p:nvSpPr>
          <p:cNvPr id="81" name="Google Shape;81;g3352d99e9c6_0_197"/>
          <p:cNvSpPr txBox="1"/>
          <p:nvPr/>
        </p:nvSpPr>
        <p:spPr>
          <a:xfrm>
            <a:off x="1507750" y="2233750"/>
            <a:ext cx="9453600" cy="994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000"/>
              <a:t>Multi repos</a:t>
            </a:r>
            <a:r>
              <a:rPr b="1" lang="en-US" sz="4000"/>
              <a:t>: </a:t>
            </a:r>
            <a:r>
              <a:rPr b="1" lang="en-US" sz="4000"/>
              <a:t>Mỗi một microservice là 1 repo riêng và có luồng CI riêng</a:t>
            </a:r>
            <a:endParaRPr b="1" sz="4000"/>
          </a:p>
          <a:p>
            <a:pPr indent="0" lvl="0" marL="0" marR="0" rtl="0" algn="l">
              <a:lnSpc>
                <a:spcPct val="100000"/>
              </a:lnSpc>
              <a:spcBef>
                <a:spcPts val="0"/>
              </a:spcBef>
              <a:spcAft>
                <a:spcPts val="0"/>
              </a:spcAft>
              <a:buNone/>
            </a:pPr>
            <a:r>
              <a:t/>
            </a:r>
            <a:endParaRPr sz="4000"/>
          </a:p>
          <a:p>
            <a:pPr indent="0" lvl="0" marL="0" marR="0" rtl="0" algn="l">
              <a:lnSpc>
                <a:spcPct val="100000"/>
              </a:lnSpc>
              <a:spcBef>
                <a:spcPts val="0"/>
              </a:spcBef>
              <a:spcAft>
                <a:spcPts val="0"/>
              </a:spcAft>
              <a:buNone/>
            </a:pPr>
            <a:r>
              <a:rPr b="1" i="1" lang="en-US" sz="4000"/>
              <a:t>Ưu:</a:t>
            </a:r>
            <a:endParaRPr b="1" i="1" sz="4000"/>
          </a:p>
          <a:p>
            <a:pPr indent="-482600" lvl="0" marL="457200" marR="0" rtl="0" algn="l">
              <a:lnSpc>
                <a:spcPct val="100000"/>
              </a:lnSpc>
              <a:spcBef>
                <a:spcPts val="0"/>
              </a:spcBef>
              <a:spcAft>
                <a:spcPts val="0"/>
              </a:spcAft>
              <a:buSzPts val="4000"/>
              <a:buChar char="-"/>
            </a:pPr>
            <a:r>
              <a:rPr lang="en-US" sz="4000"/>
              <a:t>Việc setup CI/CD pipeline cho từng service đơn giản, không ảnh hưởng đến các service khác</a:t>
            </a:r>
            <a:endParaRPr sz="4000"/>
          </a:p>
          <a:p>
            <a:pPr indent="-482600" lvl="0" marL="457200" marR="0" rtl="0" algn="l">
              <a:lnSpc>
                <a:spcPct val="100000"/>
              </a:lnSpc>
              <a:spcBef>
                <a:spcPts val="0"/>
              </a:spcBef>
              <a:spcAft>
                <a:spcPts val="0"/>
              </a:spcAft>
              <a:buSzPts val="4000"/>
              <a:buChar char="-"/>
            </a:pPr>
            <a:r>
              <a:rPr lang="en-US" sz="4000"/>
              <a:t>Dễ phân quyền, cho những ai được phép tác động lên service nào</a:t>
            </a:r>
            <a:endParaRPr sz="4000"/>
          </a:p>
          <a:p>
            <a:pPr indent="0" lvl="0" marL="0" marR="0" rtl="0" algn="l">
              <a:lnSpc>
                <a:spcPct val="100000"/>
              </a:lnSpc>
              <a:spcBef>
                <a:spcPts val="0"/>
              </a:spcBef>
              <a:spcAft>
                <a:spcPts val="0"/>
              </a:spcAft>
              <a:buNone/>
            </a:pPr>
            <a:r>
              <a:t/>
            </a:r>
            <a:endParaRPr sz="4000"/>
          </a:p>
          <a:p>
            <a:pPr indent="0" lvl="0" marL="0" marR="0" rtl="0" algn="l">
              <a:lnSpc>
                <a:spcPct val="100000"/>
              </a:lnSpc>
              <a:spcBef>
                <a:spcPts val="0"/>
              </a:spcBef>
              <a:spcAft>
                <a:spcPts val="0"/>
              </a:spcAft>
              <a:buNone/>
            </a:pPr>
            <a:r>
              <a:rPr b="1" i="1" lang="en-US" sz="4000"/>
              <a:t>Nhược:</a:t>
            </a:r>
            <a:endParaRPr b="1" i="1" sz="4000"/>
          </a:p>
          <a:p>
            <a:pPr indent="-482600" lvl="0" marL="457200" marR="0" rtl="0" algn="l">
              <a:lnSpc>
                <a:spcPct val="100000"/>
              </a:lnSpc>
              <a:spcBef>
                <a:spcPts val="0"/>
              </a:spcBef>
              <a:spcAft>
                <a:spcPts val="0"/>
              </a:spcAft>
              <a:buSzPts val="4000"/>
              <a:buChar char="-"/>
            </a:pPr>
            <a:r>
              <a:rPr lang="en-US" sz="4000"/>
              <a:t>Quản lý nhiều CI/CD pipeline phức tạp</a:t>
            </a:r>
            <a:endParaRPr sz="4000"/>
          </a:p>
          <a:p>
            <a:pPr indent="-482600" lvl="0" marL="457200" marR="0" rtl="0" algn="l">
              <a:lnSpc>
                <a:spcPct val="100000"/>
              </a:lnSpc>
              <a:spcBef>
                <a:spcPts val="0"/>
              </a:spcBef>
              <a:spcAft>
                <a:spcPts val="0"/>
              </a:spcAft>
              <a:buSzPts val="4000"/>
              <a:buChar char="-"/>
            </a:pPr>
            <a:r>
              <a:rPr lang="en-US" sz="4000"/>
              <a:t>Nếu có 1 thay đổi cần thực hiện ở nhiều service cùng lúc =&gt; việc build, test, deploy riêng lẻ sẽ gây khó quản lý, dễ lỗi</a:t>
            </a:r>
            <a:endParaRPr sz="4000"/>
          </a:p>
        </p:txBody>
      </p:sp>
      <p:pic>
        <p:nvPicPr>
          <p:cNvPr id="82" name="Google Shape;82;g3352d99e9c6_0_197"/>
          <p:cNvPicPr preferRelativeResize="0"/>
          <p:nvPr/>
        </p:nvPicPr>
        <p:blipFill>
          <a:blip r:embed="rId3">
            <a:alphaModFix/>
          </a:blip>
          <a:stretch>
            <a:fillRect/>
          </a:stretch>
        </p:blipFill>
        <p:spPr>
          <a:xfrm>
            <a:off x="11298125" y="2826998"/>
            <a:ext cx="11706225" cy="6610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352d99e9c6_0_204"/>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Multi repos vs Monorepo</a:t>
            </a:r>
            <a:endParaRPr b="1" i="0" sz="6000" u="none" cap="none" strike="noStrike">
              <a:solidFill>
                <a:srgbClr val="4F81BD"/>
              </a:solidFill>
              <a:latin typeface="Arial"/>
              <a:ea typeface="Arial"/>
              <a:cs typeface="Arial"/>
              <a:sym typeface="Arial"/>
            </a:endParaRPr>
          </a:p>
        </p:txBody>
      </p:sp>
      <p:sp>
        <p:nvSpPr>
          <p:cNvPr id="88" name="Google Shape;88;g3352d99e9c6_0_204"/>
          <p:cNvSpPr txBox="1"/>
          <p:nvPr/>
        </p:nvSpPr>
        <p:spPr>
          <a:xfrm>
            <a:off x="1507750" y="2233750"/>
            <a:ext cx="9453600" cy="932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000"/>
              <a:t>Monorepo</a:t>
            </a:r>
            <a:r>
              <a:rPr b="1" lang="en-US" sz="4000"/>
              <a:t>: </a:t>
            </a:r>
            <a:r>
              <a:rPr b="1" lang="en-US" sz="4000"/>
              <a:t>Tất cả microservice chung 1 repo và mỗi service là 1 thư mục con riêng</a:t>
            </a:r>
            <a:endParaRPr b="1" sz="4000"/>
          </a:p>
          <a:p>
            <a:pPr indent="0" lvl="0" marL="0" marR="0" rtl="0" algn="l">
              <a:lnSpc>
                <a:spcPct val="100000"/>
              </a:lnSpc>
              <a:spcBef>
                <a:spcPts val="0"/>
              </a:spcBef>
              <a:spcAft>
                <a:spcPts val="0"/>
              </a:spcAft>
              <a:buNone/>
            </a:pPr>
            <a:r>
              <a:t/>
            </a:r>
            <a:endParaRPr sz="4000"/>
          </a:p>
          <a:p>
            <a:pPr indent="0" lvl="0" marL="0" marR="0" rtl="0" algn="l">
              <a:lnSpc>
                <a:spcPct val="100000"/>
              </a:lnSpc>
              <a:spcBef>
                <a:spcPts val="0"/>
              </a:spcBef>
              <a:spcAft>
                <a:spcPts val="0"/>
              </a:spcAft>
              <a:buNone/>
            </a:pPr>
            <a:r>
              <a:rPr b="1" i="1" lang="en-US" sz="4000"/>
              <a:t>Ưu:</a:t>
            </a:r>
            <a:endParaRPr b="1" i="1" sz="4000"/>
          </a:p>
          <a:p>
            <a:pPr indent="-482600" lvl="0" marL="457200" marR="0" rtl="0" algn="l">
              <a:lnSpc>
                <a:spcPct val="100000"/>
              </a:lnSpc>
              <a:spcBef>
                <a:spcPts val="0"/>
              </a:spcBef>
              <a:spcAft>
                <a:spcPts val="0"/>
              </a:spcAft>
              <a:buSzPts val="4000"/>
              <a:buChar char="-"/>
            </a:pPr>
            <a:r>
              <a:rPr lang="en-US" sz="4000"/>
              <a:t>Quản lý CI/CD pipeline tập trung đơn giản</a:t>
            </a:r>
            <a:endParaRPr sz="4000"/>
          </a:p>
          <a:p>
            <a:pPr indent="-482600" lvl="0" marL="457200" marR="0" rtl="0" algn="l">
              <a:lnSpc>
                <a:spcPct val="100000"/>
              </a:lnSpc>
              <a:spcBef>
                <a:spcPts val="0"/>
              </a:spcBef>
              <a:spcAft>
                <a:spcPts val="0"/>
              </a:spcAft>
              <a:buSzPts val="4000"/>
              <a:buChar char="-"/>
            </a:pPr>
            <a:r>
              <a:rPr lang="en-US" sz="4000"/>
              <a:t>Có thể thực hiện các thay đổi lớn giữa các microservice đơn giản, tối ưu hơn</a:t>
            </a:r>
            <a:endParaRPr sz="4000"/>
          </a:p>
          <a:p>
            <a:pPr indent="0" lvl="0" marL="0" marR="0" rtl="0" algn="l">
              <a:lnSpc>
                <a:spcPct val="100000"/>
              </a:lnSpc>
              <a:spcBef>
                <a:spcPts val="0"/>
              </a:spcBef>
              <a:spcAft>
                <a:spcPts val="0"/>
              </a:spcAft>
              <a:buNone/>
            </a:pPr>
            <a:r>
              <a:rPr b="1" i="1" lang="en-US" sz="4000"/>
              <a:t>Nhược:</a:t>
            </a:r>
            <a:endParaRPr b="1" i="1" sz="4000"/>
          </a:p>
          <a:p>
            <a:pPr indent="-482600" lvl="0" marL="457200" marR="0" rtl="0" algn="l">
              <a:lnSpc>
                <a:spcPct val="100000"/>
              </a:lnSpc>
              <a:spcBef>
                <a:spcPts val="0"/>
              </a:spcBef>
              <a:spcAft>
                <a:spcPts val="0"/>
              </a:spcAft>
              <a:buSzPts val="4000"/>
              <a:buChar char="-"/>
            </a:pPr>
            <a:r>
              <a:rPr lang="en-US" sz="4000"/>
              <a:t>Việc setup CI/CD sao cho thay đổi 1 service không ảnh hưởng service khác sẽ phức tạp hơn</a:t>
            </a:r>
            <a:endParaRPr sz="4000"/>
          </a:p>
          <a:p>
            <a:pPr indent="-482600" lvl="0" marL="457200" marR="0" rtl="0" algn="l">
              <a:lnSpc>
                <a:spcPct val="100000"/>
              </a:lnSpc>
              <a:spcBef>
                <a:spcPts val="0"/>
              </a:spcBef>
              <a:spcAft>
                <a:spcPts val="0"/>
              </a:spcAft>
              <a:buSzPts val="4000"/>
              <a:buChar char="-"/>
            </a:pPr>
            <a:r>
              <a:rPr lang="en-US" sz="4000"/>
              <a:t>Việc phân quyền cho từng service phức tạp hơn</a:t>
            </a:r>
            <a:endParaRPr sz="4000"/>
          </a:p>
        </p:txBody>
      </p:sp>
      <p:pic>
        <p:nvPicPr>
          <p:cNvPr id="89" name="Google Shape;89;g3352d99e9c6_0_204"/>
          <p:cNvPicPr preferRelativeResize="0"/>
          <p:nvPr/>
        </p:nvPicPr>
        <p:blipFill>
          <a:blip r:embed="rId3">
            <a:alphaModFix/>
          </a:blip>
          <a:stretch>
            <a:fillRect/>
          </a:stretch>
        </p:blipFill>
        <p:spPr>
          <a:xfrm>
            <a:off x="11359550" y="2757973"/>
            <a:ext cx="11706225" cy="6610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352d99e9c6_0_211"/>
          <p:cNvSpPr txBox="1"/>
          <p:nvPr/>
        </p:nvSpPr>
        <p:spPr>
          <a:xfrm>
            <a:off x="1200151" y="571500"/>
            <a:ext cx="176757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Continuous Delivery/Deployment</a:t>
            </a:r>
            <a:endParaRPr b="1" i="0" sz="6000" u="none" cap="none" strike="noStrike">
              <a:solidFill>
                <a:srgbClr val="4F81BD"/>
              </a:solidFill>
              <a:latin typeface="Arial"/>
              <a:ea typeface="Arial"/>
              <a:cs typeface="Arial"/>
              <a:sym typeface="Arial"/>
            </a:endParaRPr>
          </a:p>
        </p:txBody>
      </p:sp>
      <p:sp>
        <p:nvSpPr>
          <p:cNvPr id="95" name="Google Shape;95;g3352d99e9c6_0_211"/>
          <p:cNvSpPr txBox="1"/>
          <p:nvPr/>
        </p:nvSpPr>
        <p:spPr>
          <a:xfrm>
            <a:off x="1507750" y="2233750"/>
            <a:ext cx="197034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000"/>
              <a:t>Mục đích: </a:t>
            </a:r>
            <a:r>
              <a:rPr lang="en-US" sz="4000"/>
              <a:t>Giúp triển khai ứng dụng nhanh hơn, an toàn và ít rủi ro hơn. Bằng cách tự động hóa các quá trình build, test, chuẩn bị triển khai.</a:t>
            </a:r>
            <a:endParaRPr sz="4000"/>
          </a:p>
          <a:p>
            <a:pPr indent="0" lvl="0" marL="0" marR="0" rtl="0" algn="l">
              <a:lnSpc>
                <a:spcPct val="100000"/>
              </a:lnSpc>
              <a:spcBef>
                <a:spcPts val="0"/>
              </a:spcBef>
              <a:spcAft>
                <a:spcPts val="0"/>
              </a:spcAft>
              <a:buNone/>
            </a:pPr>
            <a:r>
              <a:t/>
            </a:r>
            <a:endParaRPr sz="4000"/>
          </a:p>
          <a:p>
            <a:pPr indent="0" lvl="0" marL="0" marR="0" rtl="0" algn="l">
              <a:lnSpc>
                <a:spcPct val="100000"/>
              </a:lnSpc>
              <a:spcBef>
                <a:spcPts val="0"/>
              </a:spcBef>
              <a:spcAft>
                <a:spcPts val="0"/>
              </a:spcAft>
              <a:buNone/>
            </a:pPr>
            <a:r>
              <a:rPr b="1" lang="en-US" sz="4000"/>
              <a:t>Cách thực hiện:</a:t>
            </a:r>
            <a:endParaRPr b="1" sz="4000"/>
          </a:p>
          <a:p>
            <a:pPr indent="-482600" lvl="0" marL="457200" marR="0" rtl="0" algn="l">
              <a:lnSpc>
                <a:spcPct val="100000"/>
              </a:lnSpc>
              <a:spcBef>
                <a:spcPts val="0"/>
              </a:spcBef>
              <a:spcAft>
                <a:spcPts val="0"/>
              </a:spcAft>
              <a:buSzPts val="4000"/>
              <a:buChar char="-"/>
            </a:pPr>
            <a:r>
              <a:rPr lang="en-US" sz="4000"/>
              <a:t>Máy chủ CD phát hiện có artifact mới (phiên bản mới, docker image mới, …) </a:t>
            </a:r>
            <a:endParaRPr sz="4000"/>
          </a:p>
          <a:p>
            <a:pPr indent="-482600" lvl="0" marL="457200" marR="0" rtl="0" algn="l">
              <a:lnSpc>
                <a:spcPct val="100000"/>
              </a:lnSpc>
              <a:spcBef>
                <a:spcPts val="0"/>
              </a:spcBef>
              <a:spcAft>
                <a:spcPts val="0"/>
              </a:spcAft>
              <a:buSzPts val="4000"/>
              <a:buChar char="-"/>
            </a:pPr>
            <a:r>
              <a:rPr lang="en-US" sz="4000"/>
              <a:t>Máy chủ CD sử dụng artifact mới để triển khai vào môi trường (</a:t>
            </a:r>
            <a:r>
              <a:rPr lang="en-US" sz="4000"/>
              <a:t>staging</a:t>
            </a:r>
            <a:r>
              <a:rPr lang="en-US" sz="4000"/>
              <a:t>/production) theo các pipeline được </a:t>
            </a:r>
            <a:r>
              <a:rPr lang="en-US" sz="4000"/>
              <a:t>định</a:t>
            </a:r>
            <a:r>
              <a:rPr lang="en-US" sz="4000"/>
              <a:t> nghĩa trước</a:t>
            </a:r>
            <a:endParaRPr sz="4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352d99e9c6_0_219"/>
          <p:cNvSpPr txBox="1"/>
          <p:nvPr/>
        </p:nvSpPr>
        <p:spPr>
          <a:xfrm>
            <a:off x="1200151" y="571500"/>
            <a:ext cx="176757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Continuous Delivery/Deployment</a:t>
            </a:r>
            <a:endParaRPr b="1" i="0" sz="6000" u="none" cap="none" strike="noStrike">
              <a:solidFill>
                <a:srgbClr val="4F81BD"/>
              </a:solidFill>
              <a:latin typeface="Arial"/>
              <a:ea typeface="Arial"/>
              <a:cs typeface="Arial"/>
              <a:sym typeface="Arial"/>
            </a:endParaRPr>
          </a:p>
        </p:txBody>
      </p:sp>
      <p:sp>
        <p:nvSpPr>
          <p:cNvPr id="101" name="Google Shape;101;g3352d99e9c6_0_219"/>
          <p:cNvSpPr txBox="1"/>
          <p:nvPr/>
        </p:nvSpPr>
        <p:spPr>
          <a:xfrm>
            <a:off x="1507750" y="2233750"/>
            <a:ext cx="19703400" cy="686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4000"/>
              <a:t>Infrastructure as Code (IAC)</a:t>
            </a:r>
            <a:r>
              <a:rPr b="1" lang="en-US" sz="4000"/>
              <a:t>: </a:t>
            </a:r>
            <a:r>
              <a:rPr lang="en-US" sz="4000"/>
              <a:t>Là phương pháp quản lý và cung cấp hạ tầng, ứng dụng bằng code thay vì chạy bằng tay</a:t>
            </a:r>
            <a:r>
              <a:rPr lang="en-US" sz="4000"/>
              <a:t>.</a:t>
            </a:r>
            <a:endParaRPr sz="4000"/>
          </a:p>
          <a:p>
            <a:pPr indent="0" lvl="0" marL="0" marR="0" rtl="0" algn="l">
              <a:lnSpc>
                <a:spcPct val="100000"/>
              </a:lnSpc>
              <a:spcBef>
                <a:spcPts val="0"/>
              </a:spcBef>
              <a:spcAft>
                <a:spcPts val="0"/>
              </a:spcAft>
              <a:buNone/>
            </a:pPr>
            <a:r>
              <a:t/>
            </a:r>
            <a:endParaRPr sz="4000"/>
          </a:p>
          <a:p>
            <a:pPr indent="0" lvl="0" marL="0" marR="0" rtl="0" algn="l">
              <a:lnSpc>
                <a:spcPct val="100000"/>
              </a:lnSpc>
              <a:spcBef>
                <a:spcPts val="0"/>
              </a:spcBef>
              <a:spcAft>
                <a:spcPts val="0"/>
              </a:spcAft>
              <a:buNone/>
            </a:pPr>
            <a:r>
              <a:rPr b="1" lang="en-US" sz="4000"/>
              <a:t>Ví dụ IAC được dùng trong CD:</a:t>
            </a:r>
            <a:endParaRPr b="1" sz="4000"/>
          </a:p>
          <a:p>
            <a:pPr indent="-482600" lvl="0" marL="457200" marR="0" rtl="0" algn="l">
              <a:lnSpc>
                <a:spcPct val="100000"/>
              </a:lnSpc>
              <a:spcBef>
                <a:spcPts val="0"/>
              </a:spcBef>
              <a:spcAft>
                <a:spcPts val="0"/>
              </a:spcAft>
              <a:buSzPts val="4000"/>
              <a:buChar char="-"/>
            </a:pPr>
            <a:r>
              <a:rPr lang="en-US" sz="4000"/>
              <a:t>docker-compose: Thay vì sử dụng docker run thủ công thì định nghĩa các thành phần của hạ tầng, ứng dụng như network, volume, container trong 1 file code</a:t>
            </a:r>
            <a:endParaRPr sz="4000"/>
          </a:p>
          <a:p>
            <a:pPr indent="-482600" lvl="0" marL="457200" marR="0" rtl="0" algn="l">
              <a:lnSpc>
                <a:spcPct val="100000"/>
              </a:lnSpc>
              <a:spcBef>
                <a:spcPts val="0"/>
              </a:spcBef>
              <a:spcAft>
                <a:spcPts val="0"/>
              </a:spcAft>
              <a:buSzPts val="4000"/>
              <a:buChar char="-"/>
            </a:pPr>
            <a:r>
              <a:rPr lang="en-US" sz="4000"/>
              <a:t>ansible: Thay vì cài đặt phần mềm, chạy câu lệnh trên server bằng tay thì sử dụng ansible để tự động hóa</a:t>
            </a:r>
            <a:endParaRPr sz="4000"/>
          </a:p>
          <a:p>
            <a:pPr indent="-482600" lvl="0" marL="457200" marR="0" rtl="0" algn="l">
              <a:lnSpc>
                <a:spcPct val="100000"/>
              </a:lnSpc>
              <a:spcBef>
                <a:spcPts val="0"/>
              </a:spcBef>
              <a:spcAft>
                <a:spcPts val="0"/>
              </a:spcAft>
              <a:buSzPts val="4000"/>
              <a:buChar char="-"/>
            </a:pPr>
            <a:r>
              <a:rPr lang="en-US" sz="4000"/>
              <a:t>kubernetes helm chart: Thay vì viết manifest cho ứng dụng thủ công thì dùng helm chart để quản lý manifest, version tự động hóa</a:t>
            </a:r>
            <a:endParaRPr sz="4000"/>
          </a:p>
          <a:p>
            <a:pPr indent="-482600" lvl="0" marL="457200" marR="0" rtl="0" algn="l">
              <a:lnSpc>
                <a:spcPct val="100000"/>
              </a:lnSpc>
              <a:spcBef>
                <a:spcPts val="0"/>
              </a:spcBef>
              <a:spcAft>
                <a:spcPts val="0"/>
              </a:spcAft>
              <a:buSzPts val="4000"/>
              <a:buChar char="-"/>
            </a:pPr>
            <a:r>
              <a:rPr lang="en-US" sz="4000"/>
              <a:t>…</a:t>
            </a:r>
            <a:endParaRPr sz="4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2"/>
          <p:cNvSpPr txBox="1"/>
          <p:nvPr/>
        </p:nvSpPr>
        <p:spPr>
          <a:xfrm>
            <a:off x="1200149" y="571498"/>
            <a:ext cx="16063723" cy="6207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4F81BD"/>
              </a:buClr>
              <a:buSzPts val="6000"/>
              <a:buFont typeface="Noto Sans Symbols"/>
              <a:buNone/>
            </a:pPr>
            <a:r>
              <a:rPr b="1" lang="en-US" sz="6000">
                <a:solidFill>
                  <a:srgbClr val="4F81BD"/>
                </a:solidFill>
              </a:rPr>
              <a:t>CI/CD Example</a:t>
            </a:r>
            <a:endParaRPr b="1" i="0" sz="6000" u="none" cap="none" strike="noStrike">
              <a:solidFill>
                <a:srgbClr val="4F81BD"/>
              </a:solidFill>
              <a:latin typeface="Arial"/>
              <a:ea typeface="Arial"/>
              <a:cs typeface="Arial"/>
              <a:sym typeface="Arial"/>
            </a:endParaRPr>
          </a:p>
        </p:txBody>
      </p:sp>
      <p:pic>
        <p:nvPicPr>
          <p:cNvPr id="107" name="Google Shape;107;p42"/>
          <p:cNvPicPr preferRelativeResize="0"/>
          <p:nvPr/>
        </p:nvPicPr>
        <p:blipFill rotWithShape="1">
          <a:blip r:embed="rId3">
            <a:alphaModFix/>
          </a:blip>
          <a:srcRect b="0" l="0" r="0" t="0"/>
          <a:stretch/>
        </p:blipFill>
        <p:spPr>
          <a:xfrm>
            <a:off x="810358" y="2941982"/>
            <a:ext cx="22763283" cy="783203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3"/>
          <p:cNvSpPr txBox="1"/>
          <p:nvPr/>
        </p:nvSpPr>
        <p:spPr>
          <a:xfrm>
            <a:off x="1200149" y="571498"/>
            <a:ext cx="160638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CI</a:t>
            </a:r>
            <a:r>
              <a:rPr b="1" lang="en-US" sz="6000">
                <a:solidFill>
                  <a:srgbClr val="4F81BD"/>
                </a:solidFill>
              </a:rPr>
              <a:t>/CD Example</a:t>
            </a:r>
            <a:endParaRPr b="1" i="0" sz="6000" u="none" cap="none" strike="noStrike">
              <a:solidFill>
                <a:srgbClr val="4F81BD"/>
              </a:solidFill>
              <a:latin typeface="Arial"/>
              <a:ea typeface="Arial"/>
              <a:cs typeface="Arial"/>
              <a:sym typeface="Arial"/>
            </a:endParaRPr>
          </a:p>
        </p:txBody>
      </p:sp>
      <p:pic>
        <p:nvPicPr>
          <p:cNvPr id="113" name="Google Shape;113;p43"/>
          <p:cNvPicPr preferRelativeResize="0"/>
          <p:nvPr/>
        </p:nvPicPr>
        <p:blipFill rotWithShape="1">
          <a:blip r:embed="rId3">
            <a:alphaModFix/>
          </a:blip>
          <a:srcRect b="0" l="0" r="0" t="0"/>
          <a:stretch/>
        </p:blipFill>
        <p:spPr>
          <a:xfrm>
            <a:off x="2794435" y="2136913"/>
            <a:ext cx="18795130" cy="94421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4"/>
          <p:cNvSpPr txBox="1"/>
          <p:nvPr/>
        </p:nvSpPr>
        <p:spPr>
          <a:xfrm>
            <a:off x="1200149" y="571498"/>
            <a:ext cx="16063723" cy="6207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4F81BD"/>
              </a:buClr>
              <a:buSzPts val="6000"/>
              <a:buFont typeface="Noto Sans Symbols"/>
              <a:buNone/>
            </a:pPr>
            <a:r>
              <a:rPr b="1" lang="en-US" sz="6000">
                <a:solidFill>
                  <a:srgbClr val="4F81BD"/>
                </a:solidFill>
              </a:rPr>
              <a:t>CI/CD Example</a:t>
            </a:r>
            <a:endParaRPr b="1" i="0" sz="6000" u="none" cap="none" strike="noStrike">
              <a:solidFill>
                <a:srgbClr val="4F81BD"/>
              </a:solidFill>
              <a:latin typeface="Arial"/>
              <a:ea typeface="Arial"/>
              <a:cs typeface="Arial"/>
              <a:sym typeface="Arial"/>
            </a:endParaRPr>
          </a:p>
        </p:txBody>
      </p:sp>
      <p:pic>
        <p:nvPicPr>
          <p:cNvPr id="119" name="Google Shape;119;p44"/>
          <p:cNvPicPr preferRelativeResize="0"/>
          <p:nvPr/>
        </p:nvPicPr>
        <p:blipFill rotWithShape="1">
          <a:blip r:embed="rId3">
            <a:alphaModFix/>
          </a:blip>
          <a:srcRect b="0" l="0" r="0" t="0"/>
          <a:stretch/>
        </p:blipFill>
        <p:spPr>
          <a:xfrm>
            <a:off x="2163701" y="1610138"/>
            <a:ext cx="20056597" cy="1099877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5"/>
          <p:cNvSpPr txBox="1"/>
          <p:nvPr/>
        </p:nvSpPr>
        <p:spPr>
          <a:xfrm>
            <a:off x="1200149" y="571498"/>
            <a:ext cx="16063723" cy="6207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4F81BD"/>
              </a:buClr>
              <a:buSzPts val="6000"/>
              <a:buFont typeface="Noto Sans Symbols"/>
              <a:buNone/>
            </a:pPr>
            <a:r>
              <a:rPr b="1" lang="en-US" sz="6000">
                <a:solidFill>
                  <a:srgbClr val="4F81BD"/>
                </a:solidFill>
              </a:rPr>
              <a:t>CI/CD Example</a:t>
            </a:r>
            <a:endParaRPr/>
          </a:p>
        </p:txBody>
      </p:sp>
      <p:pic>
        <p:nvPicPr>
          <p:cNvPr id="125" name="Google Shape;125;p45"/>
          <p:cNvPicPr preferRelativeResize="0"/>
          <p:nvPr/>
        </p:nvPicPr>
        <p:blipFill rotWithShape="1">
          <a:blip r:embed="rId3">
            <a:alphaModFix/>
          </a:blip>
          <a:srcRect b="0" l="0" r="0" t="0"/>
          <a:stretch/>
        </p:blipFill>
        <p:spPr>
          <a:xfrm>
            <a:off x="719067" y="1451113"/>
            <a:ext cx="22945865" cy="10813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7"/>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4F81BD"/>
              </a:buClr>
              <a:buSzPts val="6000"/>
              <a:buFont typeface="Noto Sans Symbols"/>
              <a:buNone/>
            </a:pPr>
            <a:r>
              <a:rPr b="1" lang="en-US" sz="6000">
                <a:solidFill>
                  <a:srgbClr val="4F81BD"/>
                </a:solidFill>
              </a:rPr>
              <a:t>CI/CD Example</a:t>
            </a:r>
            <a:endParaRPr b="1" i="0" sz="6000" u="none" cap="none" strike="noStrike">
              <a:solidFill>
                <a:srgbClr val="4F81BD"/>
              </a:solidFill>
              <a:latin typeface="Arial"/>
              <a:ea typeface="Arial"/>
              <a:cs typeface="Arial"/>
              <a:sym typeface="Arial"/>
            </a:endParaRPr>
          </a:p>
        </p:txBody>
      </p:sp>
      <p:pic>
        <p:nvPicPr>
          <p:cNvPr id="131" name="Google Shape;131;p47"/>
          <p:cNvPicPr preferRelativeResize="0"/>
          <p:nvPr/>
        </p:nvPicPr>
        <p:blipFill rotWithShape="1">
          <a:blip r:embed="rId3">
            <a:alphaModFix/>
          </a:blip>
          <a:srcRect b="0" l="0" r="0" t="0"/>
          <a:stretch/>
        </p:blipFill>
        <p:spPr>
          <a:xfrm>
            <a:off x="1941234" y="2424226"/>
            <a:ext cx="20501531" cy="88675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8"/>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4F81BD"/>
              </a:buClr>
              <a:buSzPts val="6000"/>
              <a:buFont typeface="Noto Sans Symbols"/>
              <a:buNone/>
            </a:pPr>
            <a:r>
              <a:rPr b="1" lang="en-US" sz="6000">
                <a:solidFill>
                  <a:srgbClr val="4F81BD"/>
                </a:solidFill>
              </a:rPr>
              <a:t>CI/CD Example</a:t>
            </a:r>
            <a:endParaRPr b="1" i="0" sz="6000" u="none" cap="none" strike="noStrike">
              <a:solidFill>
                <a:srgbClr val="4F81BD"/>
              </a:solidFill>
              <a:latin typeface="Arial"/>
              <a:ea typeface="Arial"/>
              <a:cs typeface="Arial"/>
              <a:sym typeface="Arial"/>
            </a:endParaRPr>
          </a:p>
        </p:txBody>
      </p:sp>
      <p:pic>
        <p:nvPicPr>
          <p:cNvPr id="137" name="Google Shape;137;p48"/>
          <p:cNvPicPr preferRelativeResize="0"/>
          <p:nvPr/>
        </p:nvPicPr>
        <p:blipFill rotWithShape="1">
          <a:blip r:embed="rId3">
            <a:alphaModFix/>
          </a:blip>
          <a:srcRect b="0" l="0" r="0" t="0"/>
          <a:stretch/>
        </p:blipFill>
        <p:spPr>
          <a:xfrm>
            <a:off x="1879774" y="1527526"/>
            <a:ext cx="20624451" cy="106609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9"/>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Lab</a:t>
            </a:r>
            <a:endParaRPr b="1" i="0" sz="6000" u="none" cap="none" strike="noStrike">
              <a:solidFill>
                <a:srgbClr val="4F81BD"/>
              </a:solidFill>
              <a:latin typeface="Arial"/>
              <a:ea typeface="Arial"/>
              <a:cs typeface="Arial"/>
              <a:sym typeface="Arial"/>
            </a:endParaRPr>
          </a:p>
        </p:txBody>
      </p:sp>
      <p:sp>
        <p:nvSpPr>
          <p:cNvPr id="143" name="Google Shape;143;p49"/>
          <p:cNvSpPr txBox="1"/>
          <p:nvPr/>
        </p:nvSpPr>
        <p:spPr>
          <a:xfrm>
            <a:off x="1200150" y="2341025"/>
            <a:ext cx="20049300" cy="594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sng" cap="none" strike="noStrike">
                <a:solidFill>
                  <a:srgbClr val="000000"/>
                </a:solidFill>
                <a:latin typeface="Arial"/>
                <a:ea typeface="Arial"/>
                <a:cs typeface="Arial"/>
                <a:sym typeface="Arial"/>
              </a:rPr>
              <a:t>Requirements</a:t>
            </a:r>
            <a:r>
              <a:rPr b="0" i="0" lang="en-US" sz="4000" u="none" cap="none" strike="noStrike">
                <a:solidFill>
                  <a:srgbClr val="000000"/>
                </a:solidFill>
                <a:latin typeface="Arial"/>
                <a:ea typeface="Arial"/>
                <a:cs typeface="Arial"/>
                <a:sym typeface="Arial"/>
              </a:rPr>
              <a:t>:</a:t>
            </a:r>
            <a:endParaRPr/>
          </a:p>
          <a:p>
            <a:pPr indent="-571500" lvl="0" marL="571500" marR="0" rtl="0" algn="l">
              <a:lnSpc>
                <a:spcPct val="100000"/>
              </a:lnSpc>
              <a:spcBef>
                <a:spcPts val="0"/>
              </a:spcBef>
              <a:spcAft>
                <a:spcPts val="0"/>
              </a:spcAft>
              <a:buClr>
                <a:srgbClr val="000000"/>
              </a:buClr>
              <a:buSzPts val="3960"/>
              <a:buFont typeface="Arial"/>
              <a:buChar char="•"/>
            </a:pPr>
            <a:r>
              <a:rPr b="1" lang="en-US" sz="4000"/>
              <a:t>Github:</a:t>
            </a:r>
            <a:endParaRPr b="1" sz="4000"/>
          </a:p>
          <a:p>
            <a:pPr indent="-482600" lvl="1" marL="914400" marR="0" rtl="0" algn="l">
              <a:lnSpc>
                <a:spcPct val="100000"/>
              </a:lnSpc>
              <a:spcBef>
                <a:spcPts val="0"/>
              </a:spcBef>
              <a:spcAft>
                <a:spcPts val="0"/>
              </a:spcAft>
              <a:buSzPts val="4000"/>
              <a:buChar char="○"/>
            </a:pPr>
            <a:r>
              <a:rPr b="1" lang="en-US" sz="4000"/>
              <a:t>Source code</a:t>
            </a:r>
            <a:endParaRPr b="1" sz="4000"/>
          </a:p>
          <a:p>
            <a:pPr indent="-482600" lvl="1" marL="914400" marR="0" rtl="0" algn="l">
              <a:lnSpc>
                <a:spcPct val="100000"/>
              </a:lnSpc>
              <a:spcBef>
                <a:spcPts val="0"/>
              </a:spcBef>
              <a:spcAft>
                <a:spcPts val="0"/>
              </a:spcAft>
              <a:buSzPts val="4000"/>
              <a:buChar char="○"/>
            </a:pPr>
            <a:r>
              <a:rPr b="1" lang="en-US" sz="4000"/>
              <a:t>Dockerfile, Docker compose in repo</a:t>
            </a:r>
            <a:endParaRPr b="1" sz="4000"/>
          </a:p>
          <a:p>
            <a:pPr indent="-571500" lvl="0" marL="571500" marR="0" rtl="0" algn="l">
              <a:lnSpc>
                <a:spcPct val="100000"/>
              </a:lnSpc>
              <a:spcBef>
                <a:spcPts val="0"/>
              </a:spcBef>
              <a:spcAft>
                <a:spcPts val="0"/>
              </a:spcAft>
              <a:buClr>
                <a:srgbClr val="000000"/>
              </a:buClr>
              <a:buSzPts val="3960"/>
              <a:buFont typeface="Arial"/>
              <a:buChar char="•"/>
            </a:pPr>
            <a:r>
              <a:rPr b="1" lang="en-US" sz="4000"/>
              <a:t>Setup a </a:t>
            </a:r>
            <a:r>
              <a:rPr b="1" lang="en-US" sz="4000"/>
              <a:t>self host</a:t>
            </a:r>
            <a:r>
              <a:rPr b="1" lang="en-US" sz="4000"/>
              <a:t> runner:</a:t>
            </a:r>
            <a:endParaRPr b="1" sz="4000"/>
          </a:p>
          <a:p>
            <a:pPr indent="-482600" lvl="1" marL="914400" marR="0" rtl="0" algn="l">
              <a:lnSpc>
                <a:spcPct val="100000"/>
              </a:lnSpc>
              <a:spcBef>
                <a:spcPts val="0"/>
              </a:spcBef>
              <a:spcAft>
                <a:spcPts val="0"/>
              </a:spcAft>
              <a:buSzPts val="4000"/>
              <a:buChar char="○"/>
            </a:pPr>
            <a:r>
              <a:rPr b="1" lang="en-US" sz="4000"/>
              <a:t>java (with same version in pom.xml), </a:t>
            </a:r>
            <a:r>
              <a:rPr b="1" lang="en-US" sz="4000"/>
              <a:t>maven</a:t>
            </a:r>
            <a:r>
              <a:rPr b="1" lang="en-US" sz="4000"/>
              <a:t> installed </a:t>
            </a:r>
            <a:endParaRPr b="1" sz="4000"/>
          </a:p>
          <a:p>
            <a:pPr indent="-480060" lvl="1" marL="914400" marR="0" rtl="0" algn="l">
              <a:lnSpc>
                <a:spcPct val="100000"/>
              </a:lnSpc>
              <a:spcBef>
                <a:spcPts val="0"/>
              </a:spcBef>
              <a:spcAft>
                <a:spcPts val="0"/>
              </a:spcAft>
              <a:buClr>
                <a:srgbClr val="000000"/>
              </a:buClr>
              <a:buSzPts val="3960"/>
              <a:buFont typeface="Arial"/>
              <a:buChar char="○"/>
            </a:pPr>
            <a:r>
              <a:rPr b="1" lang="en-US" sz="4000"/>
              <a:t>user can run docker</a:t>
            </a:r>
            <a:endParaRPr b="1" i="0" sz="40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960"/>
              <a:buFont typeface="Arial"/>
              <a:buChar char="•"/>
            </a:pPr>
            <a:r>
              <a:rPr b="1" lang="en-US" sz="4000"/>
              <a:t>Setup github action workflow</a:t>
            </a:r>
            <a:endParaRPr b="1" sz="4000"/>
          </a:p>
          <a:p>
            <a:pPr indent="-482600" lvl="1" marL="914400" marR="0" rtl="0" algn="l">
              <a:lnSpc>
                <a:spcPct val="100000"/>
              </a:lnSpc>
              <a:spcBef>
                <a:spcPts val="0"/>
              </a:spcBef>
              <a:spcAft>
                <a:spcPts val="0"/>
              </a:spcAft>
              <a:buSzPts val="4000"/>
              <a:buChar char="○"/>
            </a:pPr>
            <a:r>
              <a:rPr b="1" lang="en-US" sz="4000"/>
              <a:t>ENV variables in Secrets</a:t>
            </a:r>
            <a:endParaRPr b="1" sz="4000"/>
          </a:p>
          <a:p>
            <a:pPr indent="-320040" lvl="0" marL="571500" marR="0" rtl="0" algn="l">
              <a:lnSpc>
                <a:spcPct val="100000"/>
              </a:lnSpc>
              <a:spcBef>
                <a:spcPts val="0"/>
              </a:spcBef>
              <a:spcAft>
                <a:spcPts val="0"/>
              </a:spcAft>
              <a:buClr>
                <a:srgbClr val="000000"/>
              </a:buClr>
              <a:buSzPts val="396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0"/>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Example</a:t>
            </a:r>
            <a:endParaRPr b="1" i="0" sz="6000" u="none" cap="none" strike="noStrike">
              <a:solidFill>
                <a:srgbClr val="4F81BD"/>
              </a:solidFill>
              <a:latin typeface="Arial"/>
              <a:ea typeface="Arial"/>
              <a:cs typeface="Arial"/>
              <a:sym typeface="Arial"/>
            </a:endParaRPr>
          </a:p>
        </p:txBody>
      </p:sp>
      <p:pic>
        <p:nvPicPr>
          <p:cNvPr id="149" name="Google Shape;149;p50"/>
          <p:cNvPicPr preferRelativeResize="0"/>
          <p:nvPr/>
        </p:nvPicPr>
        <p:blipFill>
          <a:blip r:embed="rId3">
            <a:alphaModFix/>
          </a:blip>
          <a:stretch>
            <a:fillRect/>
          </a:stretch>
        </p:blipFill>
        <p:spPr>
          <a:xfrm>
            <a:off x="11828000" y="2144374"/>
            <a:ext cx="8745774" cy="4319700"/>
          </a:xfrm>
          <a:prstGeom prst="rect">
            <a:avLst/>
          </a:prstGeom>
          <a:noFill/>
          <a:ln>
            <a:noFill/>
          </a:ln>
        </p:spPr>
      </p:pic>
      <p:pic>
        <p:nvPicPr>
          <p:cNvPr id="150" name="Google Shape;150;p50"/>
          <p:cNvPicPr preferRelativeResize="0"/>
          <p:nvPr/>
        </p:nvPicPr>
        <p:blipFill>
          <a:blip r:embed="rId4">
            <a:alphaModFix/>
          </a:blip>
          <a:stretch>
            <a:fillRect/>
          </a:stretch>
        </p:blipFill>
        <p:spPr>
          <a:xfrm>
            <a:off x="1705125" y="2131699"/>
            <a:ext cx="9048499" cy="4484787"/>
          </a:xfrm>
          <a:prstGeom prst="rect">
            <a:avLst/>
          </a:prstGeom>
          <a:noFill/>
          <a:ln>
            <a:noFill/>
          </a:ln>
        </p:spPr>
      </p:pic>
      <p:pic>
        <p:nvPicPr>
          <p:cNvPr id="151" name="Google Shape;151;p50"/>
          <p:cNvPicPr preferRelativeResize="0"/>
          <p:nvPr/>
        </p:nvPicPr>
        <p:blipFill>
          <a:blip r:embed="rId5">
            <a:alphaModFix/>
          </a:blip>
          <a:stretch>
            <a:fillRect/>
          </a:stretch>
        </p:blipFill>
        <p:spPr>
          <a:xfrm>
            <a:off x="1705125" y="7129326"/>
            <a:ext cx="13968151" cy="4484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52"/>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Example</a:t>
            </a:r>
            <a:endParaRPr b="1" i="0" sz="6000" u="none" cap="none" strike="noStrike">
              <a:solidFill>
                <a:srgbClr val="4F81BD"/>
              </a:solidFill>
              <a:latin typeface="Arial"/>
              <a:ea typeface="Arial"/>
              <a:cs typeface="Arial"/>
              <a:sym typeface="Arial"/>
            </a:endParaRPr>
          </a:p>
        </p:txBody>
      </p:sp>
      <p:pic>
        <p:nvPicPr>
          <p:cNvPr id="157" name="Google Shape;157;p52"/>
          <p:cNvPicPr preferRelativeResize="0"/>
          <p:nvPr/>
        </p:nvPicPr>
        <p:blipFill>
          <a:blip r:embed="rId3">
            <a:alphaModFix/>
          </a:blip>
          <a:stretch>
            <a:fillRect/>
          </a:stretch>
        </p:blipFill>
        <p:spPr>
          <a:xfrm>
            <a:off x="1489975" y="1639325"/>
            <a:ext cx="10702025" cy="7677728"/>
          </a:xfrm>
          <a:prstGeom prst="rect">
            <a:avLst/>
          </a:prstGeom>
          <a:noFill/>
          <a:ln>
            <a:noFill/>
          </a:ln>
        </p:spPr>
      </p:pic>
      <p:pic>
        <p:nvPicPr>
          <p:cNvPr id="158" name="Google Shape;158;p52"/>
          <p:cNvPicPr preferRelativeResize="0"/>
          <p:nvPr/>
        </p:nvPicPr>
        <p:blipFill>
          <a:blip r:embed="rId4">
            <a:alphaModFix/>
          </a:blip>
          <a:stretch>
            <a:fillRect/>
          </a:stretch>
        </p:blipFill>
        <p:spPr>
          <a:xfrm>
            <a:off x="12442650" y="1885150"/>
            <a:ext cx="10825851" cy="4972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1"/>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Example</a:t>
            </a:r>
            <a:endParaRPr b="1" i="0" sz="6000" u="none" cap="none" strike="noStrike">
              <a:solidFill>
                <a:srgbClr val="4F81BD"/>
              </a:solidFill>
              <a:latin typeface="Arial"/>
              <a:ea typeface="Arial"/>
              <a:cs typeface="Arial"/>
              <a:sym typeface="Arial"/>
            </a:endParaRPr>
          </a:p>
        </p:txBody>
      </p:sp>
      <p:pic>
        <p:nvPicPr>
          <p:cNvPr id="164" name="Google Shape;164;p51"/>
          <p:cNvPicPr preferRelativeResize="0"/>
          <p:nvPr/>
        </p:nvPicPr>
        <p:blipFill>
          <a:blip r:embed="rId3">
            <a:alphaModFix/>
          </a:blip>
          <a:stretch>
            <a:fillRect/>
          </a:stretch>
        </p:blipFill>
        <p:spPr>
          <a:xfrm>
            <a:off x="1585550" y="2320549"/>
            <a:ext cx="16884323" cy="59560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