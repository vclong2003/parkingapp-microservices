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13716000" cx="24384000"/>
  <p:notesSz cx="6797675" cy="9929800"/>
  <p:embeddedFontLst>
    <p:embeddedFont>
      <p:font typeface="Roboto Condensed"/>
      <p:regular r:id="rId30"/>
      <p:bold r:id="rId31"/>
      <p:italic r:id="rId32"/>
      <p:boldItalic r:id="rId33"/>
    </p:embeddedFont>
    <p:embeddedFont>
      <p:font typeface="Helvetica Neue"/>
      <p:regular r:id="rId34"/>
      <p:bold r:id="rId35"/>
      <p:italic r:id="rId36"/>
      <p:boldItalic r:id="rId37"/>
    </p:embeddedFont>
    <p:embeddedFont>
      <p:font typeface="Helvetica Neue Light"/>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320">
          <p15:clr>
            <a:srgbClr val="A4A3A4"/>
          </p15:clr>
        </p15:guide>
        <p15:guide id="2" pos="7680">
          <p15:clr>
            <a:srgbClr val="A4A3A4"/>
          </p15:clr>
        </p15:guide>
      </p15:sldGuideLst>
    </p:ext>
    <p:ext uri="GoogleSlidesCustomDataVersion2">
      <go:slidesCustomData xmlns:go="http://customooxmlschemas.google.com/" r:id="rId42" roundtripDataSignature="AMtx7mjYjwOIidjLsHnlM/efTOSreot7L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320" orient="horz"/>
        <p:guide pos="76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HelveticaNeueLight-italic.fntdata"/><Relationship Id="rId20" Type="http://schemas.openxmlformats.org/officeDocument/2006/relationships/slide" Target="slides/slide15.xml"/><Relationship Id="rId42" Type="http://customschemas.google.com/relationships/presentationmetadata" Target="metadata"/><Relationship Id="rId41" Type="http://schemas.openxmlformats.org/officeDocument/2006/relationships/font" Target="fonts/HelveticaNeueLight-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Condensed-bold.fntdata"/><Relationship Id="rId30" Type="http://schemas.openxmlformats.org/officeDocument/2006/relationships/font" Target="fonts/RobotoCondensed-regular.fntdata"/><Relationship Id="rId11" Type="http://schemas.openxmlformats.org/officeDocument/2006/relationships/slide" Target="slides/slide6.xml"/><Relationship Id="rId33" Type="http://schemas.openxmlformats.org/officeDocument/2006/relationships/font" Target="fonts/RobotoCondensed-boldItalic.fntdata"/><Relationship Id="rId10" Type="http://schemas.openxmlformats.org/officeDocument/2006/relationships/slide" Target="slides/slide5.xml"/><Relationship Id="rId32" Type="http://schemas.openxmlformats.org/officeDocument/2006/relationships/font" Target="fonts/RobotoCondensed-italic.fntdata"/><Relationship Id="rId13" Type="http://schemas.openxmlformats.org/officeDocument/2006/relationships/slide" Target="slides/slide8.xml"/><Relationship Id="rId35" Type="http://schemas.openxmlformats.org/officeDocument/2006/relationships/font" Target="fonts/HelveticaNeue-bold.fntdata"/><Relationship Id="rId12" Type="http://schemas.openxmlformats.org/officeDocument/2006/relationships/slide" Target="slides/slide7.xml"/><Relationship Id="rId34" Type="http://schemas.openxmlformats.org/officeDocument/2006/relationships/font" Target="fonts/HelveticaNeue-regular.fntdata"/><Relationship Id="rId15" Type="http://schemas.openxmlformats.org/officeDocument/2006/relationships/slide" Target="slides/slide10.xml"/><Relationship Id="rId37" Type="http://schemas.openxmlformats.org/officeDocument/2006/relationships/font" Target="fonts/HelveticaNeue-boldItalic.fntdata"/><Relationship Id="rId14" Type="http://schemas.openxmlformats.org/officeDocument/2006/relationships/slide" Target="slides/slide9.xml"/><Relationship Id="rId36" Type="http://schemas.openxmlformats.org/officeDocument/2006/relationships/font" Target="fonts/HelveticaNeue-italic.fntdata"/><Relationship Id="rId17" Type="http://schemas.openxmlformats.org/officeDocument/2006/relationships/slide" Target="slides/slide12.xml"/><Relationship Id="rId39" Type="http://schemas.openxmlformats.org/officeDocument/2006/relationships/font" Target="fonts/HelveticaNeueLight-bold.fntdata"/><Relationship Id="rId16" Type="http://schemas.openxmlformats.org/officeDocument/2006/relationships/slide" Target="slides/slide11.xml"/><Relationship Id="rId38" Type="http://schemas.openxmlformats.org/officeDocument/2006/relationships/font" Target="fonts/HelveticaNeueLight-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1pPr>
            <a:lvl2pPr indent="-228600" lvl="1" marL="9144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2pPr>
            <a:lvl3pPr indent="-228600" lvl="2" marL="13716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3pPr>
            <a:lvl4pPr indent="-228600" lvl="3" marL="18288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4pPr>
            <a:lvl5pPr indent="-228600" lvl="4" marL="22860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5pPr>
            <a:lvl6pPr indent="-228600" lvl="5" marL="27432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6pPr>
            <a:lvl7pPr indent="-228600" lvl="6" marL="32004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7pPr>
            <a:lvl8pPr indent="-228600" lvl="7" marL="36576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8pPr>
            <a:lvl9pPr indent="-228600" lvl="8" marL="41148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1: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 name="Google Shape;33;p1: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2: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 name="Google Shape;41;p2: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18: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 name="Google Shape;48;p18: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19: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55" name="Google Shape;55;p19: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20: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2" name="Google Shape;62;p20: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21: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9" name="Google Shape;69;p21: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22: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77" name="Google Shape;77;p22: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23: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4" name="Google Shape;84;p23: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4: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2" name="Google Shape;92;p24: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5: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9" name="Google Shape;99;p25: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6: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6" name="Google Shape;106;p26: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27: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13" name="Google Shape;113;p27: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8: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0" name="Google Shape;120;p28: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4: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27" name="Google Shape;127;p4: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29: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34" name="Google Shape;134;p29: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30: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41" name="Google Shape;141;p30: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31: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48" name="Google Shape;148;p31: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32: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55" name="Google Shape;155;p32: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33: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62" name="Google Shape;162;p33: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34: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69" name="Google Shape;169;p34: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35: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76" name="Google Shape;176;p35: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36: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83" name="Google Shape;183;p36: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37: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90" name="Google Shape;190;p37: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38: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98" name="Google Shape;198;p38: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bg>
      <p:bgPr>
        <a:gradFill>
          <a:gsLst>
            <a:gs pos="0">
              <a:schemeClr val="lt1"/>
            </a:gs>
            <a:gs pos="17000">
              <a:schemeClr val="lt1"/>
            </a:gs>
            <a:gs pos="67000">
              <a:srgbClr val="F1FAFE"/>
            </a:gs>
            <a:gs pos="83000">
              <a:srgbClr val="FFEACC"/>
            </a:gs>
            <a:gs pos="100000">
              <a:srgbClr val="62C5FB"/>
            </a:gs>
          </a:gsLst>
          <a:path path="circle">
            <a:fillToRect b="100%" r="100%"/>
          </a:path>
          <a:tileRect l="-100%" t="-100%"/>
        </a:gradFill>
      </p:bgPr>
    </p:bg>
    <p:spTree>
      <p:nvGrpSpPr>
        <p:cNvPr id="9" name="Shape 9"/>
        <p:cNvGrpSpPr/>
        <p:nvPr/>
      </p:nvGrpSpPr>
      <p:grpSpPr>
        <a:xfrm>
          <a:off x="0" y="0"/>
          <a:ext cx="0" cy="0"/>
          <a:chOff x="0" y="0"/>
          <a:chExt cx="0" cy="0"/>
        </a:xfrm>
      </p:grpSpPr>
      <p:pic>
        <p:nvPicPr>
          <p:cNvPr id="10" name="Google Shape;10;p13"/>
          <p:cNvPicPr preferRelativeResize="0"/>
          <p:nvPr/>
        </p:nvPicPr>
        <p:blipFill rotWithShape="1">
          <a:blip r:embed="rId2">
            <a:alphaModFix/>
          </a:blip>
          <a:srcRect b="0" l="0" r="0" t="0"/>
          <a:stretch/>
        </p:blipFill>
        <p:spPr>
          <a:xfrm>
            <a:off x="21017131" y="859479"/>
            <a:ext cx="2950192" cy="1131834"/>
          </a:xfrm>
          <a:prstGeom prst="rect">
            <a:avLst/>
          </a:prstGeom>
          <a:noFill/>
          <a:ln>
            <a:noFill/>
          </a:ln>
        </p:spPr>
      </p:pic>
      <p:pic>
        <p:nvPicPr>
          <p:cNvPr id="11" name="Google Shape;11;p13"/>
          <p:cNvPicPr preferRelativeResize="0"/>
          <p:nvPr/>
        </p:nvPicPr>
        <p:blipFill rotWithShape="1">
          <a:blip r:embed="rId3">
            <a:alphaModFix/>
          </a:blip>
          <a:srcRect b="0" l="0" r="0" t="0"/>
          <a:stretch/>
        </p:blipFill>
        <p:spPr>
          <a:xfrm>
            <a:off x="0" y="0"/>
            <a:ext cx="24384000" cy="13716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2" name="Shape 12"/>
        <p:cNvGrpSpPr/>
        <p:nvPr/>
      </p:nvGrpSpPr>
      <p:grpSpPr>
        <a:xfrm>
          <a:off x="0" y="0"/>
          <a:ext cx="0" cy="0"/>
          <a:chOff x="0" y="0"/>
          <a:chExt cx="0" cy="0"/>
        </a:xfrm>
      </p:grpSpPr>
      <p:pic>
        <p:nvPicPr>
          <p:cNvPr descr="A screenshot of a cell phone&#10;&#10;Description automatically generated" id="13" name="Google Shape;13;p14"/>
          <p:cNvPicPr preferRelativeResize="0"/>
          <p:nvPr/>
        </p:nvPicPr>
        <p:blipFill rotWithShape="1">
          <a:blip r:embed="rId2">
            <a:alphaModFix/>
          </a:blip>
          <a:srcRect b="0" l="0" r="0" t="0"/>
          <a:stretch/>
        </p:blipFill>
        <p:spPr>
          <a:xfrm>
            <a:off x="0" y="0"/>
            <a:ext cx="24384000" cy="13716000"/>
          </a:xfrm>
          <a:prstGeom prst="rect">
            <a:avLst/>
          </a:prstGeom>
          <a:noFill/>
          <a:ln>
            <a:noFill/>
          </a:ln>
        </p:spPr>
      </p:pic>
      <p:sp>
        <p:nvSpPr>
          <p:cNvPr id="14" name="Google Shape;14;p14"/>
          <p:cNvSpPr txBox="1"/>
          <p:nvPr>
            <p:ph type="title"/>
          </p:nvPr>
        </p:nvSpPr>
        <p:spPr>
          <a:xfrm>
            <a:off x="1845217" y="357188"/>
            <a:ext cx="15794390" cy="1710326"/>
          </a:xfrm>
          <a:prstGeom prst="rect">
            <a:avLst/>
          </a:prstGeom>
          <a:noFill/>
          <a:ln>
            <a:noFill/>
          </a:ln>
        </p:spPr>
        <p:txBody>
          <a:bodyPr anchorCtr="0" anchor="ctr" bIns="71425" lIns="71425" spcFirstLastPara="1" rIns="71425" wrap="square" tIns="71425">
            <a:normAutofit/>
          </a:bodyPr>
          <a:lstStyle>
            <a:lvl1pPr lvl="0" algn="l">
              <a:lnSpc>
                <a:spcPct val="100000"/>
              </a:lnSpc>
              <a:spcBef>
                <a:spcPts val="0"/>
              </a:spcBef>
              <a:spcAft>
                <a:spcPts val="0"/>
              </a:spcAft>
              <a:buClr>
                <a:srgbClr val="000000"/>
              </a:buClr>
              <a:buSzPts val="8200"/>
              <a:buFont typeface="Meiryo"/>
              <a:buNone/>
              <a:defRPr sz="8200">
                <a:latin typeface="Meiryo"/>
                <a:ea typeface="Meiryo"/>
                <a:cs typeface="Meiryo"/>
                <a:sym typeface="Meiryo"/>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5" name="Google Shape;15;p14"/>
          <p:cNvSpPr txBox="1"/>
          <p:nvPr>
            <p:ph idx="12" type="sldNum"/>
          </p:nvPr>
        </p:nvSpPr>
        <p:spPr>
          <a:xfrm>
            <a:off x="8820083" y="13156977"/>
            <a:ext cx="6743833" cy="482823"/>
          </a:xfrm>
          <a:prstGeom prst="rect">
            <a:avLst/>
          </a:prstGeom>
          <a:noFill/>
          <a:ln>
            <a:noFill/>
          </a:ln>
        </p:spPr>
        <p:txBody>
          <a:bodyPr anchorCtr="0" anchor="t" bIns="71425" lIns="71425" spcFirstLastPara="1" rIns="71425" wrap="square" tIns="71425">
            <a:spAutoFit/>
          </a:bodyPr>
          <a:lstStyle>
            <a:lvl1pPr indent="0" lvl="0"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1pPr>
            <a:lvl2pPr indent="0" lvl="1"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2pPr>
            <a:lvl3pPr indent="0" lvl="2"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3pPr>
            <a:lvl4pPr indent="0" lvl="3"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4pPr>
            <a:lvl5pPr indent="0" lvl="4"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5pPr>
            <a:lvl6pPr indent="0" lvl="5"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6pPr>
            <a:lvl7pPr indent="0" lvl="6"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7pPr>
            <a:lvl8pPr indent="0" lvl="7"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8pPr>
            <a:lvl9pPr indent="0" lvl="8"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9pPr>
          </a:lstStyle>
          <a:p>
            <a:pPr indent="0" lvl="0" marL="0" rtl="0" algn="ctr">
              <a:spcBef>
                <a:spcPts val="0"/>
              </a:spcBef>
              <a:spcAft>
                <a:spcPts val="0"/>
              </a:spcAft>
              <a:buNone/>
            </a:pPr>
            <a:r>
              <a:rPr lang="en-US"/>
              <a:t>Copyright </a:t>
            </a:r>
            <a:r>
              <a:rPr i="1" lang="en-US"/>
              <a:t>© </a:t>
            </a:r>
            <a:r>
              <a:rPr lang="en-US"/>
              <a:t>VTI Academy All Right Reserved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p:spTree>
      <p:nvGrpSpPr>
        <p:cNvPr id="16" name="Shape 16"/>
        <p:cNvGrpSpPr/>
        <p:nvPr/>
      </p:nvGrpSpPr>
      <p:grpSpPr>
        <a:xfrm>
          <a:off x="0" y="0"/>
          <a:ext cx="0" cy="0"/>
          <a:chOff x="0" y="0"/>
          <a:chExt cx="0" cy="0"/>
        </a:xfrm>
      </p:grpSpPr>
      <p:cxnSp>
        <p:nvCxnSpPr>
          <p:cNvPr id="17" name="Google Shape;17;p15"/>
          <p:cNvCxnSpPr/>
          <p:nvPr/>
        </p:nvCxnSpPr>
        <p:spPr>
          <a:xfrm>
            <a:off x="482600" y="1412390"/>
            <a:ext cx="21521992" cy="0"/>
          </a:xfrm>
          <a:prstGeom prst="straightConnector1">
            <a:avLst/>
          </a:prstGeom>
          <a:noFill/>
          <a:ln cap="flat" cmpd="sng" w="19050">
            <a:solidFill>
              <a:srgbClr val="3C5A99"/>
            </a:solidFill>
            <a:prstDash val="solid"/>
            <a:miter lim="800000"/>
            <a:headEnd len="sm" w="sm" type="none"/>
            <a:tailEnd len="sm" w="sm" type="none"/>
          </a:ln>
        </p:spPr>
      </p:cxnSp>
      <p:sp>
        <p:nvSpPr>
          <p:cNvPr id="18" name="Google Shape;18;p15"/>
          <p:cNvSpPr/>
          <p:nvPr/>
        </p:nvSpPr>
        <p:spPr>
          <a:xfrm>
            <a:off x="0" y="12670972"/>
            <a:ext cx="24384001" cy="1045028"/>
          </a:xfrm>
          <a:prstGeom prst="rect">
            <a:avLst/>
          </a:prstGeom>
          <a:solidFill>
            <a:srgbClr val="3C5A99"/>
          </a:solidFill>
          <a:ln>
            <a:noFill/>
          </a:ln>
        </p:spPr>
        <p:txBody>
          <a:bodyPr anchorCtr="0" anchor="ctr" bIns="91400" lIns="182850" spcFirstLastPara="1" rIns="182850" wrap="square" tIns="91400">
            <a:noAutofit/>
          </a:bodyPr>
          <a:lstStyle/>
          <a:p>
            <a:pPr indent="0" lvl="0" marL="0" marR="0" rtl="0" algn="ctr">
              <a:lnSpc>
                <a:spcPct val="100000"/>
              </a:lnSpc>
              <a:spcBef>
                <a:spcPts val="0"/>
              </a:spcBef>
              <a:spcAft>
                <a:spcPts val="0"/>
              </a:spcAft>
              <a:buClr>
                <a:srgbClr val="000000"/>
              </a:buClr>
              <a:buSzPts val="3600"/>
              <a:buFont typeface="Helvetica Neue"/>
              <a:buNone/>
            </a:pPr>
            <a:r>
              <a:t/>
            </a:r>
            <a:endParaRPr b="1" i="0" sz="3600" u="none" cap="none" strike="noStrike">
              <a:solidFill>
                <a:schemeClr val="lt1"/>
              </a:solidFill>
              <a:latin typeface="Calibri"/>
              <a:ea typeface="Calibri"/>
              <a:cs typeface="Calibri"/>
              <a:sym typeface="Calibri"/>
            </a:endParaRPr>
          </a:p>
        </p:txBody>
      </p:sp>
      <p:sp>
        <p:nvSpPr>
          <p:cNvPr id="19" name="Google Shape;19;p15"/>
          <p:cNvSpPr/>
          <p:nvPr/>
        </p:nvSpPr>
        <p:spPr>
          <a:xfrm>
            <a:off x="6781639" y="12854932"/>
            <a:ext cx="10458958" cy="677108"/>
          </a:xfrm>
          <a:prstGeom prst="rect">
            <a:avLst/>
          </a:prstGeom>
          <a:noFill/>
          <a:ln>
            <a:noFill/>
          </a:ln>
        </p:spPr>
        <p:txBody>
          <a:bodyPr anchorCtr="0" anchor="t" bIns="91400" lIns="182850" spcFirstLastPara="1" rIns="182850" wrap="square" tIns="91400">
            <a:noAutofit/>
          </a:bodyPr>
          <a:lstStyle/>
          <a:p>
            <a:pPr indent="0" lvl="0" marL="0" marR="0" rtl="0" algn="ctr">
              <a:lnSpc>
                <a:spcPct val="100000"/>
              </a:lnSpc>
              <a:spcBef>
                <a:spcPts val="0"/>
              </a:spcBef>
              <a:spcAft>
                <a:spcPts val="0"/>
              </a:spcAft>
              <a:buClr>
                <a:schemeClr val="lt1"/>
              </a:buClr>
              <a:buSzPts val="3200"/>
              <a:buFont typeface="Helvetica Neue"/>
              <a:buNone/>
            </a:pPr>
            <a:r>
              <a:rPr b="1" i="0" lang="en-US" sz="3200" u="none" cap="none" strike="noStrike">
                <a:solidFill>
                  <a:schemeClr val="lt1"/>
                </a:solidFill>
                <a:latin typeface="Helvetica Neue"/>
                <a:ea typeface="Helvetica Neue"/>
                <a:cs typeface="Helvetica Neue"/>
                <a:sym typeface="Helvetica Neue"/>
              </a:rPr>
              <a:t>Copyright </a:t>
            </a:r>
            <a:r>
              <a:rPr b="1" i="1" lang="en-US" sz="3200" u="none" cap="none" strike="noStrike">
                <a:solidFill>
                  <a:schemeClr val="lt1"/>
                </a:solidFill>
                <a:latin typeface="Helvetica Neue"/>
                <a:ea typeface="Helvetica Neue"/>
                <a:cs typeface="Helvetica Neue"/>
                <a:sym typeface="Helvetica Neue"/>
              </a:rPr>
              <a:t>© </a:t>
            </a:r>
            <a:r>
              <a:rPr b="1" i="0" lang="en-US" sz="3200" u="none" cap="none" strike="noStrike">
                <a:solidFill>
                  <a:schemeClr val="lt1"/>
                </a:solidFill>
                <a:latin typeface="Helvetica Neue"/>
                <a:ea typeface="Helvetica Neue"/>
                <a:cs typeface="Helvetica Neue"/>
                <a:sym typeface="Helvetica Neue"/>
              </a:rPr>
              <a:t>VTI Academy All Right Reserved </a:t>
            </a:r>
            <a:endParaRPr b="1" i="0" sz="3200" u="none" cap="none" strike="noStrike">
              <a:solidFill>
                <a:schemeClr val="lt1"/>
              </a:solidFill>
              <a:latin typeface="Helvetica Neue"/>
              <a:ea typeface="Helvetica Neue"/>
              <a:cs typeface="Helvetica Neue"/>
              <a:sym typeface="Helvetica Neue"/>
            </a:endParaRPr>
          </a:p>
        </p:txBody>
      </p:sp>
      <p:cxnSp>
        <p:nvCxnSpPr>
          <p:cNvPr id="20" name="Google Shape;20;p15"/>
          <p:cNvCxnSpPr/>
          <p:nvPr/>
        </p:nvCxnSpPr>
        <p:spPr>
          <a:xfrm>
            <a:off x="14610736" y="1412390"/>
            <a:ext cx="7393856" cy="0"/>
          </a:xfrm>
          <a:prstGeom prst="straightConnector1">
            <a:avLst/>
          </a:prstGeom>
          <a:noFill/>
          <a:ln cap="flat" cmpd="sng" w="19050">
            <a:solidFill>
              <a:srgbClr val="FFC000"/>
            </a:solidFill>
            <a:prstDash val="solid"/>
            <a:miter lim="800000"/>
            <a:headEnd len="sm" w="sm" type="none"/>
            <a:tailEnd len="sm" w="sm" type="none"/>
          </a:ln>
        </p:spPr>
      </p:cxnSp>
      <p:cxnSp>
        <p:nvCxnSpPr>
          <p:cNvPr id="21" name="Google Shape;21;p15"/>
          <p:cNvCxnSpPr/>
          <p:nvPr/>
        </p:nvCxnSpPr>
        <p:spPr>
          <a:xfrm>
            <a:off x="0" y="12670972"/>
            <a:ext cx="24384001" cy="0"/>
          </a:xfrm>
          <a:prstGeom prst="straightConnector1">
            <a:avLst/>
          </a:prstGeom>
          <a:noFill/>
          <a:ln cap="flat" cmpd="sng" w="19050">
            <a:solidFill>
              <a:srgbClr val="FFC000"/>
            </a:solidFill>
            <a:prstDash val="solid"/>
            <a:miter lim="800000"/>
            <a:headEnd len="sm" w="sm" type="none"/>
            <a:tailEnd len="sm" w="sm" type="none"/>
          </a:ln>
        </p:spPr>
      </p:cxnSp>
      <p:pic>
        <p:nvPicPr>
          <p:cNvPr descr="A picture containing drawing&#10;&#10;Description automatically generated" id="22" name="Google Shape;22;p15"/>
          <p:cNvPicPr preferRelativeResize="0"/>
          <p:nvPr/>
        </p:nvPicPr>
        <p:blipFill rotWithShape="1">
          <a:blip r:embed="rId2">
            <a:alphaModFix/>
          </a:blip>
          <a:srcRect b="0" l="0" r="0" t="0"/>
          <a:stretch/>
        </p:blipFill>
        <p:spPr>
          <a:xfrm>
            <a:off x="19252277" y="-25180"/>
            <a:ext cx="5131724" cy="143757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gradFill>
          <a:gsLst>
            <a:gs pos="0">
              <a:schemeClr val="lt1"/>
            </a:gs>
            <a:gs pos="17000">
              <a:schemeClr val="lt1"/>
            </a:gs>
            <a:gs pos="67000">
              <a:srgbClr val="F1FAFE"/>
            </a:gs>
            <a:gs pos="83000">
              <a:srgbClr val="FFEACC"/>
            </a:gs>
            <a:gs pos="100000">
              <a:srgbClr val="62C5FB"/>
            </a:gs>
          </a:gsLst>
          <a:path path="circle">
            <a:fillToRect b="100%" r="100%"/>
          </a:path>
          <a:tileRect l="-100%" t="-100%"/>
        </a:gradFill>
      </p:bgPr>
    </p:bg>
    <p:spTree>
      <p:nvGrpSpPr>
        <p:cNvPr id="23" name="Shape 23"/>
        <p:cNvGrpSpPr/>
        <p:nvPr/>
      </p:nvGrpSpPr>
      <p:grpSpPr>
        <a:xfrm>
          <a:off x="0" y="0"/>
          <a:ext cx="0" cy="0"/>
          <a:chOff x="0" y="0"/>
          <a:chExt cx="0" cy="0"/>
        </a:xfrm>
      </p:grpSpPr>
      <p:sp>
        <p:nvSpPr>
          <p:cNvPr id="24" name="Google Shape;24;p16"/>
          <p:cNvSpPr txBox="1"/>
          <p:nvPr>
            <p:ph type="title"/>
          </p:nvPr>
        </p:nvSpPr>
        <p:spPr>
          <a:xfrm>
            <a:off x="1845217" y="357188"/>
            <a:ext cx="18701657" cy="1710326"/>
          </a:xfrm>
          <a:prstGeom prst="rect">
            <a:avLst/>
          </a:prstGeom>
          <a:noFill/>
          <a:ln>
            <a:noFill/>
          </a:ln>
        </p:spPr>
        <p:txBody>
          <a:bodyPr anchorCtr="0" anchor="ctr" bIns="71425" lIns="71425" spcFirstLastPara="1" rIns="71425" wrap="square" tIns="71425">
            <a:normAutofit/>
          </a:bodyPr>
          <a:lstStyle>
            <a:lvl1pPr lvl="0" algn="l">
              <a:lnSpc>
                <a:spcPct val="100000"/>
              </a:lnSpc>
              <a:spcBef>
                <a:spcPts val="0"/>
              </a:spcBef>
              <a:spcAft>
                <a:spcPts val="0"/>
              </a:spcAft>
              <a:buClr>
                <a:srgbClr val="000000"/>
              </a:buClr>
              <a:buSzPts val="8200"/>
              <a:buFont typeface="Meiryo"/>
              <a:buNone/>
              <a:defRPr sz="8200">
                <a:latin typeface="Meiryo"/>
                <a:ea typeface="Meiryo"/>
                <a:cs typeface="Meiryo"/>
                <a:sym typeface="Meiryo"/>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5" name="Google Shape;25;p16"/>
          <p:cNvSpPr txBox="1"/>
          <p:nvPr>
            <p:ph idx="10" type="dt"/>
          </p:nvPr>
        </p:nvSpPr>
        <p:spPr>
          <a:xfrm>
            <a:off x="1676400" y="12712701"/>
            <a:ext cx="5486400" cy="73025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9pPr>
          </a:lstStyle>
          <a:p/>
        </p:txBody>
      </p:sp>
      <p:sp>
        <p:nvSpPr>
          <p:cNvPr id="26" name="Google Shape;26;p16"/>
          <p:cNvSpPr txBox="1"/>
          <p:nvPr>
            <p:ph idx="11" type="ftr"/>
          </p:nvPr>
        </p:nvSpPr>
        <p:spPr>
          <a:xfrm>
            <a:off x="8077200" y="12712701"/>
            <a:ext cx="8229600" cy="73025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9pPr>
          </a:lstStyle>
          <a:p/>
        </p:txBody>
      </p:sp>
      <p:sp>
        <p:nvSpPr>
          <p:cNvPr id="27" name="Google Shape;27;p16"/>
          <p:cNvSpPr txBox="1"/>
          <p:nvPr>
            <p:ph idx="12" type="sldNum"/>
          </p:nvPr>
        </p:nvSpPr>
        <p:spPr>
          <a:xfrm>
            <a:off x="11962817" y="13073062"/>
            <a:ext cx="448840" cy="482823"/>
          </a:xfrm>
          <a:prstGeom prst="rect">
            <a:avLst/>
          </a:prstGeom>
          <a:noFill/>
          <a:ln>
            <a:noFill/>
          </a:ln>
        </p:spPr>
        <p:txBody>
          <a:bodyPr anchorCtr="0" anchor="t" bIns="71425" lIns="71425" spcFirstLastPara="1" rIns="71425" wrap="square" tIns="71425">
            <a:spAutoFit/>
          </a:bodyPr>
          <a:lstStyle>
            <a:lvl1pPr indent="0" lvl="0"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cxnSp>
        <p:nvCxnSpPr>
          <p:cNvPr id="28" name="Google Shape;28;p16"/>
          <p:cNvCxnSpPr/>
          <p:nvPr/>
        </p:nvCxnSpPr>
        <p:spPr>
          <a:xfrm>
            <a:off x="1845217" y="1893677"/>
            <a:ext cx="18701657" cy="0"/>
          </a:xfrm>
          <a:prstGeom prst="straightConnector1">
            <a:avLst/>
          </a:prstGeom>
          <a:noFill/>
          <a:ln cap="rnd" cmpd="sng" w="38100">
            <a:solidFill>
              <a:srgbClr val="057BBA">
                <a:alpha val="80000"/>
              </a:srgbClr>
            </a:solidFill>
            <a:prstDash val="solid"/>
            <a:round/>
            <a:headEnd len="sm" w="sm" type="none"/>
            <a:tailEnd len="sm" w="sm" type="none"/>
          </a:ln>
        </p:spPr>
      </p:cxnSp>
      <p:pic>
        <p:nvPicPr>
          <p:cNvPr descr="A close up of a sign&#10;&#10;Description automatically generated" id="29" name="Google Shape;29;p16"/>
          <p:cNvPicPr preferRelativeResize="0"/>
          <p:nvPr/>
        </p:nvPicPr>
        <p:blipFill rotWithShape="1">
          <a:blip r:embed="rId2">
            <a:alphaModFix/>
          </a:blip>
          <a:srcRect b="0" l="0" r="0" t="0"/>
          <a:stretch/>
        </p:blipFill>
        <p:spPr>
          <a:xfrm>
            <a:off x="20812883" y="427995"/>
            <a:ext cx="2645634" cy="1639519"/>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Only">
  <p:cSld name="2_Title Only">
    <p:bg>
      <p:bgPr>
        <a:gradFill>
          <a:gsLst>
            <a:gs pos="0">
              <a:schemeClr val="lt1"/>
            </a:gs>
            <a:gs pos="17000">
              <a:schemeClr val="lt1"/>
            </a:gs>
            <a:gs pos="67000">
              <a:srgbClr val="F1FAFE"/>
            </a:gs>
            <a:gs pos="83000">
              <a:srgbClr val="FFEACC"/>
            </a:gs>
            <a:gs pos="100000">
              <a:srgbClr val="62C5FB"/>
            </a:gs>
          </a:gsLst>
          <a:path path="circle">
            <a:fillToRect b="100%" r="100%"/>
          </a:path>
          <a:tileRect l="-100%" t="-100%"/>
        </a:gradFill>
      </p:bgPr>
    </p:bg>
    <p:spTree>
      <p:nvGrpSpPr>
        <p:cNvPr id="30" name="Shape 3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4387453" y="357187"/>
            <a:ext cx="15609095" cy="3036095"/>
          </a:xfrm>
          <a:prstGeom prst="rect">
            <a:avLst/>
          </a:prstGeom>
          <a:noFill/>
          <a:ln>
            <a:noFill/>
          </a:ln>
        </p:spPr>
        <p:txBody>
          <a:bodyPr anchorCtr="0" anchor="ctr" bIns="71425" lIns="71425" spcFirstLastPara="1" rIns="71425" wrap="square" tIns="71425">
            <a:normAutofit/>
          </a:bodyPr>
          <a:lstStyle>
            <a:lvl1pPr lvl="0"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9pPr>
          </a:lstStyle>
          <a:p/>
        </p:txBody>
      </p:sp>
      <p:sp>
        <p:nvSpPr>
          <p:cNvPr id="7" name="Google Shape;7;p12"/>
          <p:cNvSpPr txBox="1"/>
          <p:nvPr>
            <p:ph idx="1" type="body"/>
          </p:nvPr>
        </p:nvSpPr>
        <p:spPr>
          <a:xfrm>
            <a:off x="4387453" y="3643312"/>
            <a:ext cx="15609095" cy="8840392"/>
          </a:xfrm>
          <a:prstGeom prst="rect">
            <a:avLst/>
          </a:prstGeom>
          <a:noFill/>
          <a:ln>
            <a:noFill/>
          </a:ln>
        </p:spPr>
        <p:txBody>
          <a:bodyPr anchorCtr="0" anchor="ctr" bIns="71425" lIns="71425" spcFirstLastPara="1" rIns="71425" wrap="square" tIns="71425">
            <a:normAutofit/>
          </a:bodyPr>
          <a:lstStyle>
            <a:lvl1pPr indent="-633730" lvl="0" marL="4572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1pPr>
            <a:lvl2pPr indent="-633730" lvl="1" marL="9144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2pPr>
            <a:lvl3pPr indent="-633730" lvl="2" marL="13716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3pPr>
            <a:lvl4pPr indent="-633730" lvl="3" marL="18288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4pPr>
            <a:lvl5pPr indent="-633729" lvl="4" marL="22860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5pPr>
            <a:lvl6pPr indent="-633729" lvl="5" marL="27432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6pPr>
            <a:lvl7pPr indent="-633729" lvl="6" marL="32004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7pPr>
            <a:lvl8pPr indent="-633729" lvl="7" marL="36576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8pPr>
            <a:lvl9pPr indent="-633729" lvl="8" marL="41148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9pPr>
          </a:lstStyle>
          <a:p/>
        </p:txBody>
      </p:sp>
      <p:sp>
        <p:nvSpPr>
          <p:cNvPr id="8" name="Google Shape;8;p12"/>
          <p:cNvSpPr txBox="1"/>
          <p:nvPr>
            <p:ph idx="12" type="sldNum"/>
          </p:nvPr>
        </p:nvSpPr>
        <p:spPr>
          <a:xfrm>
            <a:off x="11954103" y="13073062"/>
            <a:ext cx="466269" cy="477671"/>
          </a:xfrm>
          <a:prstGeom prst="rect">
            <a:avLst/>
          </a:prstGeom>
          <a:noFill/>
          <a:ln>
            <a:noFill/>
          </a:ln>
        </p:spPr>
        <p:txBody>
          <a:bodyPr anchorCtr="0" anchor="t" bIns="71425" lIns="71425" spcFirstLastPara="1" rIns="71425" wrap="square" tIns="71425">
            <a:spAutoFit/>
          </a:bodyPr>
          <a:lstStyle>
            <a:lvl1pPr indent="0" lvl="0"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1pPr>
            <a:lvl2pPr indent="0" lvl="1"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2pPr>
            <a:lvl3pPr indent="0" lvl="2"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3pPr>
            <a:lvl4pPr indent="0" lvl="3"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4pPr>
            <a:lvl5pPr indent="0" lvl="4"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5pPr>
            <a:lvl6pPr indent="0" lvl="5"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6pPr>
            <a:lvl7pPr indent="0" lvl="6"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7pPr>
            <a:lvl8pPr indent="0" lvl="7"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8pPr>
            <a:lvl9pPr indent="0" lvl="8"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1.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 name="Shape 34"/>
        <p:cNvGrpSpPr/>
        <p:nvPr/>
      </p:nvGrpSpPr>
      <p:grpSpPr>
        <a:xfrm>
          <a:off x="0" y="0"/>
          <a:ext cx="0" cy="0"/>
          <a:chOff x="0" y="0"/>
          <a:chExt cx="0" cy="0"/>
        </a:xfrm>
      </p:grpSpPr>
      <p:pic>
        <p:nvPicPr>
          <p:cNvPr descr="A picture containing drawing&#10;&#10;Description automatically generated" id="35" name="Google Shape;35;p1"/>
          <p:cNvPicPr preferRelativeResize="0"/>
          <p:nvPr/>
        </p:nvPicPr>
        <p:blipFill rotWithShape="1">
          <a:blip r:embed="rId3">
            <a:alphaModFix/>
          </a:blip>
          <a:srcRect b="0" l="0" r="0" t="0"/>
          <a:stretch/>
        </p:blipFill>
        <p:spPr>
          <a:xfrm>
            <a:off x="1313650" y="1753558"/>
            <a:ext cx="5103775" cy="1429741"/>
          </a:xfrm>
          <a:prstGeom prst="rect">
            <a:avLst/>
          </a:prstGeom>
          <a:noFill/>
          <a:ln>
            <a:noFill/>
          </a:ln>
        </p:spPr>
      </p:pic>
      <p:sp>
        <p:nvSpPr>
          <p:cNvPr id="36" name="Google Shape;36;p1"/>
          <p:cNvSpPr/>
          <p:nvPr/>
        </p:nvSpPr>
        <p:spPr>
          <a:xfrm>
            <a:off x="1795790" y="3025157"/>
            <a:ext cx="5636029" cy="5693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9BF"/>
              </a:buClr>
              <a:buSzPts val="3100"/>
              <a:buFont typeface="Helvetica Neue"/>
              <a:buNone/>
            </a:pPr>
            <a:r>
              <a:rPr b="1" i="0" lang="en-US" sz="3100" u="none" cap="none" strike="noStrike">
                <a:solidFill>
                  <a:srgbClr val="0079BF"/>
                </a:solidFill>
                <a:latin typeface="Helvetica Neue"/>
                <a:ea typeface="Helvetica Neue"/>
                <a:cs typeface="Helvetica Neue"/>
                <a:sym typeface="Helvetica Neue"/>
              </a:rPr>
              <a:t>WAY TO ENTERPRISE</a:t>
            </a:r>
            <a:endParaRPr b="0" i="0" sz="1400" u="none" cap="none" strike="noStrike">
              <a:solidFill>
                <a:srgbClr val="000000"/>
              </a:solidFill>
              <a:latin typeface="Arial"/>
              <a:ea typeface="Arial"/>
              <a:cs typeface="Arial"/>
              <a:sym typeface="Arial"/>
            </a:endParaRPr>
          </a:p>
        </p:txBody>
      </p:sp>
      <p:sp>
        <p:nvSpPr>
          <p:cNvPr id="37" name="Google Shape;37;p1"/>
          <p:cNvSpPr txBox="1"/>
          <p:nvPr/>
        </p:nvSpPr>
        <p:spPr>
          <a:xfrm>
            <a:off x="1215678" y="4549070"/>
            <a:ext cx="22486370" cy="3064304"/>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79BF"/>
              </a:buClr>
              <a:buSzPts val="4400"/>
              <a:buFont typeface="Helvetica Neue"/>
              <a:buNone/>
            </a:pPr>
            <a:r>
              <a:rPr b="0" i="0" lang="en-US" sz="10000" u="none" cap="none" strike="noStrike">
                <a:solidFill>
                  <a:srgbClr val="0079BF"/>
                </a:solidFill>
                <a:latin typeface="Helvetica Neue"/>
                <a:ea typeface="Helvetica Neue"/>
                <a:cs typeface="Helvetica Neue"/>
                <a:sym typeface="Helvetica Neue"/>
              </a:rPr>
              <a:t>Application Delivery Controller</a:t>
            </a:r>
            <a:endParaRPr/>
          </a:p>
          <a:p>
            <a:pPr indent="0" lvl="0" marL="0" marR="0" rtl="0" algn="ctr">
              <a:lnSpc>
                <a:spcPct val="90000"/>
              </a:lnSpc>
              <a:spcBef>
                <a:spcPts val="0"/>
              </a:spcBef>
              <a:spcAft>
                <a:spcPts val="0"/>
              </a:spcAft>
              <a:buClr>
                <a:srgbClr val="0079BF"/>
              </a:buClr>
              <a:buSzPts val="4400"/>
              <a:buFont typeface="Helvetica Neue"/>
              <a:buNone/>
            </a:pPr>
            <a:r>
              <a:rPr b="0" i="0" lang="en-US" sz="10000" u="none" cap="none" strike="noStrike">
                <a:solidFill>
                  <a:srgbClr val="0079BF"/>
                </a:solidFill>
                <a:latin typeface="Helvetica Neue"/>
                <a:ea typeface="Helvetica Neue"/>
                <a:cs typeface="Helvetica Neue"/>
                <a:sym typeface="Helvetica Neue"/>
              </a:rPr>
              <a:t>- Git</a:t>
            </a:r>
            <a:endParaRPr b="0" i="0" sz="10000" u="none" cap="none" strike="noStrike">
              <a:solidFill>
                <a:srgbClr val="0079BF"/>
              </a:solidFill>
              <a:latin typeface="Helvetica Neue"/>
              <a:ea typeface="Helvetica Neue"/>
              <a:cs typeface="Helvetica Neue"/>
              <a:sym typeface="Helvetica Neue"/>
            </a:endParaRPr>
          </a:p>
        </p:txBody>
      </p:sp>
      <p:sp>
        <p:nvSpPr>
          <p:cNvPr id="38" name="Google Shape;38;p1"/>
          <p:cNvSpPr txBox="1"/>
          <p:nvPr/>
        </p:nvSpPr>
        <p:spPr>
          <a:xfrm>
            <a:off x="1795790" y="8295495"/>
            <a:ext cx="11871552" cy="284166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9BF"/>
              </a:buClr>
              <a:buSzPts val="3000"/>
              <a:buFont typeface="Arial"/>
              <a:buNone/>
            </a:pPr>
            <a:r>
              <a:rPr b="1" i="0" lang="en-US" sz="5000" u="none" cap="none" strike="noStrike">
                <a:solidFill>
                  <a:srgbClr val="0079BF"/>
                </a:solidFill>
                <a:latin typeface="Arial"/>
                <a:ea typeface="Arial"/>
                <a:cs typeface="Arial"/>
                <a:sym typeface="Arial"/>
              </a:rPr>
              <a:t>VTI ACADEMY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79BF"/>
              </a:buClr>
              <a:buSzPts val="3000"/>
              <a:buFont typeface="Arial"/>
              <a:buNone/>
            </a:pPr>
            <a:r>
              <a:rPr b="1" i="0" lang="en-US" sz="5000" u="none" cap="none" strike="noStrike">
                <a:solidFill>
                  <a:srgbClr val="0079BF"/>
                </a:solidFill>
                <a:latin typeface="Arial"/>
                <a:ea typeface="Arial"/>
                <a:cs typeface="Arial"/>
                <a:sym typeface="Arial"/>
              </a:rPr>
              <a:t>Author: </a:t>
            </a:r>
            <a:r>
              <a:rPr b="1" i="0" lang="en-US" sz="5000" u="sng" cap="none" strike="noStrike">
                <a:solidFill>
                  <a:srgbClr val="0079BF"/>
                </a:solidFill>
                <a:latin typeface="Arial"/>
                <a:ea typeface="Arial"/>
                <a:cs typeface="Arial"/>
                <a:sym typeface="Arial"/>
              </a:rPr>
              <a:t>namviet0710@gmail.com</a:t>
            </a:r>
            <a:endParaRPr b="1" i="0" sz="5000" u="none" cap="none" strike="noStrike">
              <a:solidFill>
                <a:srgbClr val="0079BF"/>
              </a:solidFill>
              <a:latin typeface="Arial"/>
              <a:ea typeface="Arial"/>
              <a:cs typeface="Arial"/>
              <a:sym typeface="Arial"/>
            </a:endParaRPr>
          </a:p>
          <a:p>
            <a:pPr indent="0" lvl="0" marL="0" marR="0" rtl="0" algn="l">
              <a:lnSpc>
                <a:spcPct val="100000"/>
              </a:lnSpc>
              <a:spcBef>
                <a:spcPts val="1000"/>
              </a:spcBef>
              <a:spcAft>
                <a:spcPts val="0"/>
              </a:spcAft>
              <a:buClr>
                <a:srgbClr val="0079BF"/>
              </a:buClr>
              <a:buSzPts val="3000"/>
              <a:buFont typeface="Arial"/>
              <a:buNone/>
            </a:pPr>
            <a:r>
              <a:rPr b="1" i="0" lang="en-US" sz="5000" u="none" cap="none" strike="noStrike">
                <a:solidFill>
                  <a:srgbClr val="0079BF"/>
                </a:solidFill>
                <a:latin typeface="Arial"/>
                <a:ea typeface="Arial"/>
                <a:cs typeface="Arial"/>
                <a:sym typeface="Arial"/>
              </a:rPr>
              <a:t>February 2024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sp>
        <p:nvSpPr>
          <p:cNvPr id="43" name="Google Shape;43;p2"/>
          <p:cNvSpPr txBox="1"/>
          <p:nvPr>
            <p:ph type="title"/>
          </p:nvPr>
        </p:nvSpPr>
        <p:spPr>
          <a:xfrm>
            <a:off x="1845217" y="357188"/>
            <a:ext cx="15794390" cy="1710326"/>
          </a:xfrm>
          <a:prstGeom prst="rect">
            <a:avLst/>
          </a:prstGeom>
          <a:noFill/>
          <a:ln>
            <a:noFill/>
          </a:ln>
        </p:spPr>
        <p:txBody>
          <a:bodyPr anchorCtr="0" anchor="ctr" bIns="71425" lIns="71425" spcFirstLastPara="1" rIns="71425" wrap="square" tIns="71425">
            <a:normAutofit/>
          </a:bodyPr>
          <a:lstStyle/>
          <a:p>
            <a:pPr indent="0" lvl="0" marL="0" rtl="0" algn="l">
              <a:lnSpc>
                <a:spcPct val="100000"/>
              </a:lnSpc>
              <a:spcBef>
                <a:spcPts val="0"/>
              </a:spcBef>
              <a:spcAft>
                <a:spcPts val="0"/>
              </a:spcAft>
              <a:buClr>
                <a:srgbClr val="0079BF"/>
              </a:buClr>
              <a:buSzPts val="8200"/>
              <a:buFont typeface="Calibri"/>
              <a:buNone/>
            </a:pPr>
            <a:r>
              <a:rPr lang="en-US">
                <a:solidFill>
                  <a:srgbClr val="0079BF"/>
                </a:solidFill>
                <a:latin typeface="Calibri"/>
                <a:ea typeface="Calibri"/>
                <a:cs typeface="Calibri"/>
                <a:sym typeface="Calibri"/>
              </a:rPr>
              <a:t>Agenda</a:t>
            </a:r>
            <a:endParaRPr/>
          </a:p>
        </p:txBody>
      </p:sp>
      <p:sp>
        <p:nvSpPr>
          <p:cNvPr id="44" name="Google Shape;44;p2"/>
          <p:cNvSpPr/>
          <p:nvPr/>
        </p:nvSpPr>
        <p:spPr>
          <a:xfrm>
            <a:off x="8898777" y="13198291"/>
            <a:ext cx="6688049"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2200"/>
              <a:buFont typeface="Meiryo"/>
              <a:buNone/>
            </a:pPr>
            <a:r>
              <a:rPr b="0" i="0" lang="en-US" sz="2200" u="none" cap="none" strike="noStrike">
                <a:solidFill>
                  <a:schemeClr val="lt1"/>
                </a:solidFill>
                <a:latin typeface="Meiryo"/>
                <a:ea typeface="Meiryo"/>
                <a:cs typeface="Meiryo"/>
                <a:sym typeface="Meiryo"/>
              </a:rPr>
              <a:t>Copyright </a:t>
            </a:r>
            <a:r>
              <a:rPr b="0" i="1" lang="en-US" sz="2200" u="none" cap="none" strike="noStrike">
                <a:solidFill>
                  <a:schemeClr val="lt1"/>
                </a:solidFill>
                <a:latin typeface="Meiryo"/>
                <a:ea typeface="Meiryo"/>
                <a:cs typeface="Meiryo"/>
                <a:sym typeface="Meiryo"/>
              </a:rPr>
              <a:t>© </a:t>
            </a:r>
            <a:r>
              <a:rPr b="0" i="0" lang="en-US" sz="2200" u="none" cap="none" strike="noStrike">
                <a:solidFill>
                  <a:schemeClr val="lt1"/>
                </a:solidFill>
                <a:latin typeface="Meiryo"/>
                <a:ea typeface="Meiryo"/>
                <a:cs typeface="Meiryo"/>
                <a:sym typeface="Meiryo"/>
              </a:rPr>
              <a:t>VTI Academy All Rights Reserved </a:t>
            </a:r>
            <a:endParaRPr b="0" i="0" sz="1400" u="none" cap="none" strike="noStrike">
              <a:solidFill>
                <a:srgbClr val="000000"/>
              </a:solidFill>
              <a:latin typeface="Arial"/>
              <a:ea typeface="Arial"/>
              <a:cs typeface="Arial"/>
              <a:sym typeface="Arial"/>
            </a:endParaRPr>
          </a:p>
        </p:txBody>
      </p:sp>
      <p:sp>
        <p:nvSpPr>
          <p:cNvPr id="45" name="Google Shape;45;p2"/>
          <p:cNvSpPr txBox="1"/>
          <p:nvPr/>
        </p:nvSpPr>
        <p:spPr>
          <a:xfrm>
            <a:off x="1845217" y="3116480"/>
            <a:ext cx="21401314" cy="774659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000000"/>
                </a:solidFill>
                <a:latin typeface="Arial"/>
                <a:ea typeface="Arial"/>
                <a:cs typeface="Arial"/>
                <a:sym typeface="Arial"/>
              </a:rPr>
              <a:t> Application Delivery Controller</a:t>
            </a:r>
            <a:endParaRPr/>
          </a:p>
          <a:p>
            <a:pPr indent="-342900" lvl="0"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000000"/>
                </a:solidFill>
                <a:latin typeface="Arial"/>
                <a:ea typeface="Arial"/>
                <a:cs typeface="Arial"/>
                <a:sym typeface="Arial"/>
              </a:rPr>
              <a:t> Git</a:t>
            </a:r>
            <a:endParaRPr/>
          </a:p>
          <a:p>
            <a:pPr indent="0" lvl="0" marL="0" marR="0" rtl="0" algn="l">
              <a:lnSpc>
                <a:spcPct val="100000"/>
              </a:lnSpc>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pic>
        <p:nvPicPr>
          <p:cNvPr descr="A picture containing drawing&#10;&#10;Description automatically generated" id="50" name="Google Shape;50;p18"/>
          <p:cNvPicPr preferRelativeResize="0"/>
          <p:nvPr/>
        </p:nvPicPr>
        <p:blipFill rotWithShape="1">
          <a:blip r:embed="rId3">
            <a:alphaModFix/>
          </a:blip>
          <a:srcRect b="0" l="0" r="0" t="0"/>
          <a:stretch/>
        </p:blipFill>
        <p:spPr>
          <a:xfrm>
            <a:off x="1313650" y="1753558"/>
            <a:ext cx="5103775" cy="1429741"/>
          </a:xfrm>
          <a:prstGeom prst="rect">
            <a:avLst/>
          </a:prstGeom>
          <a:noFill/>
          <a:ln>
            <a:noFill/>
          </a:ln>
        </p:spPr>
      </p:pic>
      <p:sp>
        <p:nvSpPr>
          <p:cNvPr id="51" name="Google Shape;51;p18"/>
          <p:cNvSpPr/>
          <p:nvPr/>
        </p:nvSpPr>
        <p:spPr>
          <a:xfrm>
            <a:off x="1795790" y="3025157"/>
            <a:ext cx="5636029" cy="5693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9BF"/>
              </a:buClr>
              <a:buSzPts val="3100"/>
              <a:buFont typeface="Helvetica Neue"/>
              <a:buNone/>
            </a:pPr>
            <a:r>
              <a:rPr b="1" i="0" lang="en-US" sz="3100" u="none" cap="none" strike="noStrike">
                <a:solidFill>
                  <a:srgbClr val="0079BF"/>
                </a:solidFill>
                <a:latin typeface="Helvetica Neue"/>
                <a:ea typeface="Helvetica Neue"/>
                <a:cs typeface="Helvetica Neue"/>
                <a:sym typeface="Helvetica Neue"/>
              </a:rPr>
              <a:t>WAY TO ENTERPRISE</a:t>
            </a:r>
            <a:endParaRPr b="0" i="0" sz="1400" u="none" cap="none" strike="noStrike">
              <a:solidFill>
                <a:srgbClr val="000000"/>
              </a:solidFill>
              <a:latin typeface="Arial"/>
              <a:ea typeface="Arial"/>
              <a:cs typeface="Arial"/>
              <a:sym typeface="Arial"/>
            </a:endParaRPr>
          </a:p>
        </p:txBody>
      </p:sp>
      <p:sp>
        <p:nvSpPr>
          <p:cNvPr id="52" name="Google Shape;52;p18"/>
          <p:cNvSpPr txBox="1"/>
          <p:nvPr/>
        </p:nvSpPr>
        <p:spPr>
          <a:xfrm>
            <a:off x="948815" y="5847518"/>
            <a:ext cx="11432161" cy="131775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79BF"/>
              </a:buClr>
              <a:buSzPts val="4400"/>
              <a:buFont typeface="Helvetica Neue"/>
              <a:buNone/>
            </a:pPr>
            <a:r>
              <a:rPr b="0" i="0" lang="en-US" sz="10000" u="none" cap="none" strike="noStrike">
                <a:solidFill>
                  <a:srgbClr val="0079BF"/>
                </a:solidFill>
                <a:latin typeface="Helvetica Neue"/>
                <a:ea typeface="Helvetica Neue"/>
                <a:cs typeface="Helvetica Neue"/>
                <a:sym typeface="Helvetica Neue"/>
              </a:rPr>
              <a:t>Application Delivery Controller</a:t>
            </a:r>
            <a:endParaRPr b="0" i="0" sz="10000" u="none" cap="none" strike="noStrike">
              <a:solidFill>
                <a:srgbClr val="0079BF"/>
              </a:solidFill>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9"/>
          <p:cNvSpPr txBox="1"/>
          <p:nvPr/>
        </p:nvSpPr>
        <p:spPr>
          <a:xfrm>
            <a:off x="1200149" y="571498"/>
            <a:ext cx="11242635"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Caching Server</a:t>
            </a:r>
            <a:endParaRPr b="1" i="0" sz="6000" u="none" cap="none" strike="noStrike">
              <a:solidFill>
                <a:srgbClr val="4F81BD"/>
              </a:solidFill>
              <a:latin typeface="Arial"/>
              <a:ea typeface="Arial"/>
              <a:cs typeface="Arial"/>
              <a:sym typeface="Arial"/>
            </a:endParaRPr>
          </a:p>
        </p:txBody>
      </p:sp>
      <p:sp>
        <p:nvSpPr>
          <p:cNvPr id="58" name="Google Shape;58;p19"/>
          <p:cNvSpPr txBox="1"/>
          <p:nvPr/>
        </p:nvSpPr>
        <p:spPr>
          <a:xfrm>
            <a:off x="2486786" y="6858000"/>
            <a:ext cx="19410427" cy="501675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Roboto Condensed"/>
                <a:ea typeface="Roboto Condensed"/>
                <a:cs typeface="Roboto Condensed"/>
                <a:sym typeface="Roboto Condensed"/>
              </a:rPr>
              <a:t>Benefits</a:t>
            </a:r>
            <a:r>
              <a:rPr b="0" i="0" lang="en-US" sz="3200" u="none" cap="none" strike="noStrike">
                <a:solidFill>
                  <a:srgbClr val="000000"/>
                </a:solidFill>
                <a:latin typeface="Roboto Condensed"/>
                <a:ea typeface="Roboto Condensed"/>
                <a:cs typeface="Roboto Condensed"/>
                <a:sym typeface="Roboto Condensed"/>
              </a:rPr>
              <a:t>:</a:t>
            </a:r>
            <a:endParaRPr/>
          </a:p>
          <a:p>
            <a:pPr indent="-457200" lvl="0" marL="457200" marR="0" rtl="0" algn="l">
              <a:lnSpc>
                <a:spcPct val="100000"/>
              </a:lnSpc>
              <a:spcBef>
                <a:spcPts val="0"/>
              </a:spcBef>
              <a:spcAft>
                <a:spcPts val="0"/>
              </a:spcAft>
              <a:buClr>
                <a:srgbClr val="000000"/>
              </a:buClr>
              <a:buSzPts val="3960"/>
              <a:buFont typeface="Arial"/>
              <a:buChar char="•"/>
            </a:pPr>
            <a:r>
              <a:rPr b="0" i="1" lang="en-US" sz="3200" u="none" cap="none" strike="noStrike">
                <a:solidFill>
                  <a:srgbClr val="000000"/>
                </a:solidFill>
                <a:latin typeface="Roboto Condensed"/>
                <a:ea typeface="Roboto Condensed"/>
                <a:cs typeface="Roboto Condensed"/>
                <a:sym typeface="Roboto Condensed"/>
              </a:rPr>
              <a:t>Reduced Latency</a:t>
            </a:r>
            <a:r>
              <a:rPr b="0" i="0" lang="en-US" sz="3200" u="none" cap="none" strike="noStrike">
                <a:solidFill>
                  <a:srgbClr val="000000"/>
                </a:solidFill>
                <a:latin typeface="Roboto Condensed"/>
                <a:ea typeface="Roboto Condensed"/>
                <a:cs typeface="Roboto Condensed"/>
                <a:sym typeface="Roboto Condensed"/>
              </a:rPr>
              <a:t>: Caching allows for faster retrieval of data by serving it directly from the cache, reducing the time taken to fetch it from the original server.</a:t>
            </a:r>
            <a:endParaRPr/>
          </a:p>
          <a:p>
            <a:pPr indent="-457200" lvl="0" marL="457200" marR="0" rtl="0" algn="l">
              <a:lnSpc>
                <a:spcPct val="100000"/>
              </a:lnSpc>
              <a:spcBef>
                <a:spcPts val="0"/>
              </a:spcBef>
              <a:spcAft>
                <a:spcPts val="0"/>
              </a:spcAft>
              <a:buClr>
                <a:srgbClr val="000000"/>
              </a:buClr>
              <a:buSzPts val="3960"/>
              <a:buFont typeface="Arial"/>
              <a:buChar char="•"/>
            </a:pPr>
            <a:r>
              <a:rPr b="0" i="1" lang="en-US" sz="3200" u="none" cap="none" strike="noStrike">
                <a:solidFill>
                  <a:srgbClr val="000000"/>
                </a:solidFill>
                <a:latin typeface="Roboto Condensed"/>
                <a:ea typeface="Roboto Condensed"/>
                <a:cs typeface="Roboto Condensed"/>
                <a:sym typeface="Roboto Condensed"/>
              </a:rPr>
              <a:t>Bandwidth Savings</a:t>
            </a:r>
            <a:r>
              <a:rPr b="0" i="0" lang="en-US" sz="3200" u="none" cap="none" strike="noStrike">
                <a:solidFill>
                  <a:srgbClr val="000000"/>
                </a:solidFill>
                <a:latin typeface="Roboto Condensed"/>
                <a:ea typeface="Roboto Condensed"/>
                <a:cs typeface="Roboto Condensed"/>
                <a:sym typeface="Roboto Condensed"/>
              </a:rPr>
              <a:t>: By serving cached content, it minimizes the amount of data that needs to travel across the network.</a:t>
            </a:r>
            <a:endParaRPr/>
          </a:p>
          <a:p>
            <a:pPr indent="-457200" lvl="0" marL="457200" marR="0" rtl="0" algn="l">
              <a:lnSpc>
                <a:spcPct val="100000"/>
              </a:lnSpc>
              <a:spcBef>
                <a:spcPts val="0"/>
              </a:spcBef>
              <a:spcAft>
                <a:spcPts val="0"/>
              </a:spcAft>
              <a:buClr>
                <a:srgbClr val="000000"/>
              </a:buClr>
              <a:buSzPts val="3960"/>
              <a:buFont typeface="Arial"/>
              <a:buChar char="•"/>
            </a:pPr>
            <a:r>
              <a:rPr b="0" i="1" lang="en-US" sz="3200" u="none" cap="none" strike="noStrike">
                <a:solidFill>
                  <a:srgbClr val="000000"/>
                </a:solidFill>
                <a:latin typeface="Roboto Condensed"/>
                <a:ea typeface="Roboto Condensed"/>
                <a:cs typeface="Roboto Condensed"/>
                <a:sym typeface="Roboto Condensed"/>
              </a:rPr>
              <a:t>Improved Load Management</a:t>
            </a:r>
            <a:r>
              <a:rPr b="0" i="0" lang="en-US" sz="3200" u="none" cap="none" strike="noStrike">
                <a:solidFill>
                  <a:srgbClr val="000000"/>
                </a:solidFill>
                <a:latin typeface="Roboto Condensed"/>
                <a:ea typeface="Roboto Condensed"/>
                <a:cs typeface="Roboto Condensed"/>
                <a:sym typeface="Roboto Condensed"/>
              </a:rPr>
              <a:t>: It alleviates the load on backend servers, allowing them to handle more requests or perform other functions more effectively.</a:t>
            </a:r>
            <a:endParaRPr/>
          </a:p>
          <a:p>
            <a:pPr indent="-457200" lvl="0" marL="457200" marR="0" rtl="0" algn="l">
              <a:lnSpc>
                <a:spcPct val="100000"/>
              </a:lnSpc>
              <a:spcBef>
                <a:spcPts val="0"/>
              </a:spcBef>
              <a:spcAft>
                <a:spcPts val="0"/>
              </a:spcAft>
              <a:buClr>
                <a:srgbClr val="000000"/>
              </a:buClr>
              <a:buSzPts val="3960"/>
              <a:buFont typeface="Arial"/>
              <a:buChar char="•"/>
            </a:pPr>
            <a:r>
              <a:rPr b="0" i="1" lang="en-US" sz="3200" u="none" cap="none" strike="noStrike">
                <a:solidFill>
                  <a:srgbClr val="000000"/>
                </a:solidFill>
                <a:latin typeface="Roboto Condensed"/>
                <a:ea typeface="Roboto Condensed"/>
                <a:cs typeface="Roboto Condensed"/>
                <a:sym typeface="Roboto Condensed"/>
              </a:rPr>
              <a:t>Enhanced User Experience</a:t>
            </a:r>
            <a:r>
              <a:rPr b="0" i="0" lang="en-US" sz="3200" u="none" cap="none" strike="noStrike">
                <a:solidFill>
                  <a:srgbClr val="000000"/>
                </a:solidFill>
                <a:latin typeface="Roboto Condensed"/>
                <a:ea typeface="Roboto Condensed"/>
                <a:cs typeface="Roboto Condensed"/>
                <a:sym typeface="Roboto Condensed"/>
              </a:rPr>
              <a:t>: Faster access to content leads to a better user experience, which is critical for high-traffic websites and applications.</a:t>
            </a:r>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Roboto Condensed"/>
              <a:ea typeface="Roboto Condensed"/>
              <a:cs typeface="Roboto Condensed"/>
              <a:sym typeface="Roboto Condensed"/>
            </a:endParaRPr>
          </a:p>
        </p:txBody>
      </p:sp>
      <p:sp>
        <p:nvSpPr>
          <p:cNvPr id="59" name="Google Shape;59;p19"/>
          <p:cNvSpPr txBox="1"/>
          <p:nvPr/>
        </p:nvSpPr>
        <p:spPr>
          <a:xfrm>
            <a:off x="2486786" y="2818845"/>
            <a:ext cx="19410427" cy="206210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Roboto Condensed"/>
                <a:ea typeface="Roboto Condensed"/>
                <a:cs typeface="Roboto Condensed"/>
                <a:sym typeface="Roboto Condensed"/>
              </a:rPr>
              <a:t>Function</a:t>
            </a:r>
            <a:r>
              <a:rPr b="0" i="0" lang="en-US" sz="3200" u="none" cap="none" strike="noStrike">
                <a:solidFill>
                  <a:srgbClr val="000000"/>
                </a:solidFill>
                <a:latin typeface="Roboto Condensed"/>
                <a:ea typeface="Roboto Condensed"/>
                <a:cs typeface="Roboto Condensed"/>
                <a:sym typeface="Roboto Condensed"/>
              </a:rPr>
              <a:t>:</a:t>
            </a:r>
            <a:endParaRPr/>
          </a:p>
          <a:p>
            <a:pPr indent="0" lvl="8" marL="0" marR="0" rtl="0" algn="l">
              <a:lnSpc>
                <a:spcPct val="100000"/>
              </a:lnSpc>
              <a:spcBef>
                <a:spcPts val="0"/>
              </a:spcBef>
              <a:spcAft>
                <a:spcPts val="0"/>
              </a:spcAft>
              <a:buNone/>
            </a:pPr>
            <a:r>
              <a:rPr b="0" i="0" lang="en-US" sz="3200" u="none" cap="none" strike="noStrike">
                <a:solidFill>
                  <a:srgbClr val="000000"/>
                </a:solidFill>
                <a:latin typeface="Roboto Condensed"/>
                <a:ea typeface="Roboto Condensed"/>
                <a:cs typeface="Roboto Condensed"/>
                <a:sym typeface="Roboto Condensed"/>
              </a:rPr>
              <a:t>A caching server stores copies of frequently requested content or data close to the clients that use them. By temporarily storing this data, caching servers reduce the need for repetitive access to backend servers, thereby speeding up response times and reducing bandwidth usage.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20"/>
          <p:cNvSpPr txBox="1"/>
          <p:nvPr/>
        </p:nvSpPr>
        <p:spPr>
          <a:xfrm>
            <a:off x="1200149" y="571498"/>
            <a:ext cx="11242635"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Caching Server</a:t>
            </a:r>
            <a:endParaRPr b="1" i="0" sz="6000" u="none" cap="none" strike="noStrike">
              <a:solidFill>
                <a:srgbClr val="4F81BD"/>
              </a:solidFill>
              <a:latin typeface="Arial"/>
              <a:ea typeface="Arial"/>
              <a:cs typeface="Arial"/>
              <a:sym typeface="Arial"/>
            </a:endParaRPr>
          </a:p>
        </p:txBody>
      </p:sp>
      <p:sp>
        <p:nvSpPr>
          <p:cNvPr id="65" name="Google Shape;65;p20"/>
          <p:cNvSpPr txBox="1"/>
          <p:nvPr/>
        </p:nvSpPr>
        <p:spPr>
          <a:xfrm>
            <a:off x="2486785" y="5227422"/>
            <a:ext cx="19410427" cy="649408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Roboto Condensed"/>
                <a:ea typeface="Roboto Condensed"/>
                <a:cs typeface="Roboto Condensed"/>
                <a:sym typeface="Roboto Condensed"/>
              </a:rPr>
              <a:t>Tools</a:t>
            </a:r>
            <a:r>
              <a:rPr b="0" i="0" lang="en-US" sz="3200" u="none" cap="none" strike="noStrike">
                <a:solidFill>
                  <a:srgbClr val="000000"/>
                </a:solidFill>
                <a:latin typeface="Roboto Condensed"/>
                <a:ea typeface="Roboto Condensed"/>
                <a:cs typeface="Roboto Condensed"/>
                <a:sym typeface="Roboto Condensed"/>
              </a:rPr>
              <a:t>:</a:t>
            </a:r>
            <a:endParaRPr/>
          </a:p>
          <a:p>
            <a:pPr indent="0" lvl="0" marL="0" marR="0" rtl="0" algn="l">
              <a:lnSpc>
                <a:spcPct val="100000"/>
              </a:lnSpc>
              <a:spcBef>
                <a:spcPts val="0"/>
              </a:spcBef>
              <a:spcAft>
                <a:spcPts val="0"/>
              </a:spcAft>
              <a:buNone/>
            </a:pPr>
            <a:r>
              <a:rPr b="1" i="0" lang="en-US" sz="3200" u="sng" cap="none" strike="noStrike">
                <a:solidFill>
                  <a:srgbClr val="000000"/>
                </a:solidFill>
                <a:latin typeface="Roboto Condensed"/>
                <a:ea typeface="Roboto Condensed"/>
                <a:cs typeface="Roboto Condensed"/>
                <a:sym typeface="Roboto Condensed"/>
              </a:rPr>
              <a:t>Redis:</a:t>
            </a:r>
            <a:endParaRPr/>
          </a:p>
          <a:p>
            <a:pPr indent="-457200" lvl="0" marL="457200" marR="0" rtl="0" algn="l">
              <a:lnSpc>
                <a:spcPct val="100000"/>
              </a:lnSpc>
              <a:spcBef>
                <a:spcPts val="0"/>
              </a:spcBef>
              <a:spcAft>
                <a:spcPts val="0"/>
              </a:spcAft>
              <a:buClr>
                <a:srgbClr val="000000"/>
              </a:buClr>
              <a:buSzPts val="3960"/>
              <a:buFont typeface="Arial"/>
              <a:buChar char="•"/>
            </a:pPr>
            <a:r>
              <a:rPr b="0" i="1" lang="en-US" sz="3200" u="none" cap="none" strike="noStrike">
                <a:solidFill>
                  <a:srgbClr val="000000"/>
                </a:solidFill>
                <a:latin typeface="Roboto Condensed"/>
                <a:ea typeface="Roboto Condensed"/>
                <a:cs typeface="Roboto Condensed"/>
                <a:sym typeface="Roboto Condensed"/>
              </a:rPr>
              <a:t>Description</a:t>
            </a:r>
            <a:r>
              <a:rPr b="0" i="0" lang="en-US" sz="3200" u="none" cap="none" strike="noStrike">
                <a:solidFill>
                  <a:srgbClr val="000000"/>
                </a:solidFill>
                <a:latin typeface="Roboto Condensed"/>
                <a:ea typeface="Roboto Condensed"/>
                <a:cs typeface="Roboto Condensed"/>
                <a:sym typeface="Roboto Condensed"/>
              </a:rPr>
              <a:t>: Redis is an in-memory data structure store, often used as a distributed cache. It supports various data structures and provides high-performance storage for frequently accessed data.</a:t>
            </a:r>
            <a:endParaRPr/>
          </a:p>
          <a:p>
            <a:pPr indent="-457200" lvl="0" marL="457200" marR="0" rtl="0" algn="l">
              <a:lnSpc>
                <a:spcPct val="100000"/>
              </a:lnSpc>
              <a:spcBef>
                <a:spcPts val="0"/>
              </a:spcBef>
              <a:spcAft>
                <a:spcPts val="0"/>
              </a:spcAft>
              <a:buClr>
                <a:srgbClr val="000000"/>
              </a:buClr>
              <a:buSzPts val="3960"/>
              <a:buFont typeface="Arial"/>
              <a:buChar char="•"/>
            </a:pPr>
            <a:r>
              <a:rPr b="0" i="1" lang="en-US" sz="3200" u="none" cap="none" strike="noStrike">
                <a:solidFill>
                  <a:srgbClr val="000000"/>
                </a:solidFill>
                <a:latin typeface="Roboto Condensed"/>
                <a:ea typeface="Roboto Condensed"/>
                <a:cs typeface="Roboto Condensed"/>
                <a:sym typeface="Roboto Condensed"/>
              </a:rPr>
              <a:t>Use Case</a:t>
            </a:r>
            <a:r>
              <a:rPr b="0" i="0" lang="en-US" sz="3200" u="none" cap="none" strike="noStrike">
                <a:solidFill>
                  <a:srgbClr val="000000"/>
                </a:solidFill>
                <a:latin typeface="Roboto Condensed"/>
                <a:ea typeface="Roboto Condensed"/>
                <a:cs typeface="Roboto Condensed"/>
                <a:sym typeface="Roboto Condensed"/>
              </a:rPr>
              <a:t>: Widely used for caching database queries, session management, and real-time data analytics.</a:t>
            </a:r>
            <a:endParaRPr/>
          </a:p>
          <a:p>
            <a:pPr indent="-205740" lvl="0" marL="457200" marR="0" rtl="0" algn="l">
              <a:lnSpc>
                <a:spcPct val="100000"/>
              </a:lnSpc>
              <a:spcBef>
                <a:spcPts val="0"/>
              </a:spcBef>
              <a:spcAft>
                <a:spcPts val="0"/>
              </a:spcAft>
              <a:buClr>
                <a:srgbClr val="000000"/>
              </a:buClr>
              <a:buSzPts val="3960"/>
              <a:buFont typeface="Arial"/>
              <a:buNone/>
            </a:pPr>
            <a:r>
              <a:t/>
            </a:r>
            <a:endParaRPr b="0" i="0" sz="3200" u="none" cap="none" strike="noStrike">
              <a:solidFill>
                <a:srgbClr val="000000"/>
              </a:solidFill>
              <a:latin typeface="Roboto Condensed"/>
              <a:ea typeface="Roboto Condensed"/>
              <a:cs typeface="Roboto Condensed"/>
              <a:sym typeface="Roboto Condensed"/>
            </a:endParaRPr>
          </a:p>
          <a:p>
            <a:pPr indent="0" lvl="0" marL="0" marR="0" rtl="0" algn="l">
              <a:lnSpc>
                <a:spcPct val="100000"/>
              </a:lnSpc>
              <a:spcBef>
                <a:spcPts val="0"/>
              </a:spcBef>
              <a:spcAft>
                <a:spcPts val="0"/>
              </a:spcAft>
              <a:buNone/>
            </a:pPr>
            <a:r>
              <a:rPr b="1" i="0" lang="en-US" sz="3200" u="sng" cap="none" strike="noStrike">
                <a:solidFill>
                  <a:srgbClr val="000000"/>
                </a:solidFill>
                <a:latin typeface="Roboto Condensed"/>
                <a:ea typeface="Roboto Condensed"/>
                <a:cs typeface="Roboto Condensed"/>
                <a:sym typeface="Roboto Condensed"/>
              </a:rPr>
              <a:t>Varnish Cache:</a:t>
            </a:r>
            <a:endParaRPr/>
          </a:p>
          <a:p>
            <a:pPr indent="-457200" lvl="0" marL="457200" marR="0" rtl="0" algn="l">
              <a:lnSpc>
                <a:spcPct val="100000"/>
              </a:lnSpc>
              <a:spcBef>
                <a:spcPts val="0"/>
              </a:spcBef>
              <a:spcAft>
                <a:spcPts val="0"/>
              </a:spcAft>
              <a:buClr>
                <a:srgbClr val="000000"/>
              </a:buClr>
              <a:buSzPts val="3960"/>
              <a:buFont typeface="Arial"/>
              <a:buChar char="•"/>
            </a:pPr>
            <a:r>
              <a:rPr b="0" i="1" lang="en-US" sz="3200" u="none" cap="none" strike="noStrike">
                <a:solidFill>
                  <a:srgbClr val="000000"/>
                </a:solidFill>
                <a:latin typeface="Roboto Condensed"/>
                <a:ea typeface="Roboto Condensed"/>
                <a:cs typeface="Roboto Condensed"/>
                <a:sym typeface="Roboto Condensed"/>
              </a:rPr>
              <a:t>Description</a:t>
            </a:r>
            <a:r>
              <a:rPr b="0" i="0" lang="en-US" sz="3200" u="none" cap="none" strike="noStrike">
                <a:solidFill>
                  <a:srgbClr val="000000"/>
                </a:solidFill>
                <a:latin typeface="Roboto Condensed"/>
                <a:ea typeface="Roboto Condensed"/>
                <a:cs typeface="Roboto Condensed"/>
                <a:sym typeface="Roboto Condensed"/>
              </a:rPr>
              <a:t>: Varnish is a web application accelerator or HTTP reverse proxy. It is designed for content-heavy dynamic web sites as well as APIs. Varnish can cache content in memory, significantly speeding up response times for web pages.</a:t>
            </a:r>
            <a:endParaRPr/>
          </a:p>
          <a:p>
            <a:pPr indent="-457200" lvl="0" marL="457200" marR="0" rtl="0" algn="l">
              <a:lnSpc>
                <a:spcPct val="100000"/>
              </a:lnSpc>
              <a:spcBef>
                <a:spcPts val="0"/>
              </a:spcBef>
              <a:spcAft>
                <a:spcPts val="0"/>
              </a:spcAft>
              <a:buClr>
                <a:srgbClr val="000000"/>
              </a:buClr>
              <a:buSzPts val="3960"/>
              <a:buFont typeface="Arial"/>
              <a:buChar char="•"/>
            </a:pPr>
            <a:r>
              <a:rPr b="0" i="1" lang="en-US" sz="3200" u="none" cap="none" strike="noStrike">
                <a:solidFill>
                  <a:srgbClr val="000000"/>
                </a:solidFill>
                <a:latin typeface="Roboto Condensed"/>
                <a:ea typeface="Roboto Condensed"/>
                <a:cs typeface="Roboto Condensed"/>
                <a:sym typeface="Roboto Condensed"/>
              </a:rPr>
              <a:t>Use Case</a:t>
            </a:r>
            <a:r>
              <a:rPr b="0" i="0" lang="en-US" sz="3200" u="none" cap="none" strike="noStrike">
                <a:solidFill>
                  <a:srgbClr val="000000"/>
                </a:solidFill>
                <a:latin typeface="Roboto Condensed"/>
                <a:ea typeface="Roboto Condensed"/>
                <a:cs typeface="Roboto Condensed"/>
                <a:sym typeface="Roboto Condensed"/>
              </a:rPr>
              <a:t>: Often used by large media companies and e-commerce sites to deliver content quickly and reduce load on origin servers.</a:t>
            </a:r>
            <a:endParaRPr/>
          </a:p>
        </p:txBody>
      </p:sp>
      <p:sp>
        <p:nvSpPr>
          <p:cNvPr id="66" name="Google Shape;66;p20"/>
          <p:cNvSpPr txBox="1"/>
          <p:nvPr/>
        </p:nvSpPr>
        <p:spPr>
          <a:xfrm>
            <a:off x="2486785" y="2507949"/>
            <a:ext cx="19410427" cy="206210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Roboto Condensed"/>
                <a:ea typeface="Roboto Condensed"/>
                <a:cs typeface="Roboto Condensed"/>
                <a:sym typeface="Roboto Condensed"/>
              </a:rPr>
              <a:t>Example:</a:t>
            </a:r>
            <a:endParaRPr/>
          </a:p>
          <a:p>
            <a:pPr indent="0" lvl="0" marL="0" marR="0" rtl="0" algn="l">
              <a:lnSpc>
                <a:spcPct val="100000"/>
              </a:lnSpc>
              <a:spcBef>
                <a:spcPts val="0"/>
              </a:spcBef>
              <a:spcAft>
                <a:spcPts val="0"/>
              </a:spcAft>
              <a:buNone/>
            </a:pPr>
            <a:r>
              <a:rPr b="0" i="0" lang="en-US" sz="3200" u="none" cap="none" strike="noStrike">
                <a:solidFill>
                  <a:srgbClr val="000000"/>
                </a:solidFill>
                <a:latin typeface="Roboto Condensed"/>
                <a:ea typeface="Roboto Condensed"/>
                <a:cs typeface="Roboto Condensed"/>
                <a:sym typeface="Roboto Condensed"/>
              </a:rPr>
              <a:t>Web Content Caching: When users request a webpage, the caching server saves a copy. Subsequent requests for the same page are served from the cache, which is significantly faster than generating the page from scratch every time.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21"/>
          <p:cNvSpPr txBox="1"/>
          <p:nvPr/>
        </p:nvSpPr>
        <p:spPr>
          <a:xfrm>
            <a:off x="1200149" y="571498"/>
            <a:ext cx="11242635"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Load Balancer</a:t>
            </a:r>
            <a:endParaRPr b="1" i="0" sz="6000" u="none" cap="none" strike="noStrike">
              <a:solidFill>
                <a:srgbClr val="4F81BD"/>
              </a:solidFill>
              <a:latin typeface="Arial"/>
              <a:ea typeface="Arial"/>
              <a:cs typeface="Arial"/>
              <a:sym typeface="Arial"/>
            </a:endParaRPr>
          </a:p>
        </p:txBody>
      </p:sp>
      <p:sp>
        <p:nvSpPr>
          <p:cNvPr id="72" name="Google Shape;72;p21"/>
          <p:cNvSpPr txBox="1"/>
          <p:nvPr/>
        </p:nvSpPr>
        <p:spPr>
          <a:xfrm>
            <a:off x="2486785" y="5227422"/>
            <a:ext cx="19410427" cy="25545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Roboto Condensed"/>
                <a:ea typeface="Roboto Condensed"/>
                <a:cs typeface="Roboto Condensed"/>
                <a:sym typeface="Roboto Condensed"/>
              </a:rPr>
              <a:t>Types of Load Balancing:</a:t>
            </a:r>
            <a:endParaRPr/>
          </a:p>
          <a:p>
            <a:pPr indent="-457200" lvl="0" marL="457200" marR="0" rtl="0" algn="l">
              <a:lnSpc>
                <a:spcPct val="100000"/>
              </a:lnSpc>
              <a:spcBef>
                <a:spcPts val="0"/>
              </a:spcBef>
              <a:spcAft>
                <a:spcPts val="0"/>
              </a:spcAft>
              <a:buClr>
                <a:srgbClr val="000000"/>
              </a:buClr>
              <a:buSzPts val="3960"/>
              <a:buFont typeface="Arial"/>
              <a:buChar char="•"/>
            </a:pPr>
            <a:r>
              <a:rPr b="0" i="1" lang="en-US" sz="3200" u="none" cap="none" strike="noStrike">
                <a:solidFill>
                  <a:srgbClr val="000000"/>
                </a:solidFill>
                <a:latin typeface="Roboto Condensed"/>
                <a:ea typeface="Roboto Condensed"/>
                <a:cs typeface="Roboto Condensed"/>
                <a:sym typeface="Roboto Condensed"/>
              </a:rPr>
              <a:t>Round Robin</a:t>
            </a:r>
            <a:r>
              <a:rPr b="0" i="0" lang="en-US" sz="3200" u="none" cap="none" strike="noStrike">
                <a:solidFill>
                  <a:srgbClr val="000000"/>
                </a:solidFill>
                <a:latin typeface="Roboto Condensed"/>
                <a:ea typeface="Roboto Condensed"/>
                <a:cs typeface="Roboto Condensed"/>
                <a:sym typeface="Roboto Condensed"/>
              </a:rPr>
              <a:t>: Distributes requests sequentially across all servers.</a:t>
            </a:r>
            <a:endParaRPr/>
          </a:p>
          <a:p>
            <a:pPr indent="-457200" lvl="0" marL="457200" marR="0" rtl="0" algn="l">
              <a:lnSpc>
                <a:spcPct val="100000"/>
              </a:lnSpc>
              <a:spcBef>
                <a:spcPts val="0"/>
              </a:spcBef>
              <a:spcAft>
                <a:spcPts val="0"/>
              </a:spcAft>
              <a:buClr>
                <a:srgbClr val="000000"/>
              </a:buClr>
              <a:buSzPts val="3960"/>
              <a:buFont typeface="Arial"/>
              <a:buChar char="•"/>
            </a:pPr>
            <a:r>
              <a:rPr b="0" i="1" lang="en-US" sz="3200" u="none" cap="none" strike="noStrike">
                <a:solidFill>
                  <a:srgbClr val="000000"/>
                </a:solidFill>
                <a:latin typeface="Roboto Condensed"/>
                <a:ea typeface="Roboto Condensed"/>
                <a:cs typeface="Roboto Condensed"/>
                <a:sym typeface="Roboto Condensed"/>
              </a:rPr>
              <a:t>Least Connections</a:t>
            </a:r>
            <a:r>
              <a:rPr b="0" i="0" lang="en-US" sz="3200" u="none" cap="none" strike="noStrike">
                <a:solidFill>
                  <a:srgbClr val="000000"/>
                </a:solidFill>
                <a:latin typeface="Roboto Condensed"/>
                <a:ea typeface="Roboto Condensed"/>
                <a:cs typeface="Roboto Condensed"/>
                <a:sym typeface="Roboto Condensed"/>
              </a:rPr>
              <a:t>: Directs traffic to the server with the fewest active connections.</a:t>
            </a:r>
            <a:endParaRPr/>
          </a:p>
          <a:p>
            <a:pPr indent="-457200" lvl="0" marL="457200" marR="0" rtl="0" algn="l">
              <a:lnSpc>
                <a:spcPct val="100000"/>
              </a:lnSpc>
              <a:spcBef>
                <a:spcPts val="0"/>
              </a:spcBef>
              <a:spcAft>
                <a:spcPts val="0"/>
              </a:spcAft>
              <a:buClr>
                <a:srgbClr val="000000"/>
              </a:buClr>
              <a:buSzPts val="3960"/>
              <a:buFont typeface="Arial"/>
              <a:buChar char="•"/>
            </a:pPr>
            <a:r>
              <a:rPr b="0" i="1" lang="en-US" sz="3200" u="none" cap="none" strike="noStrike">
                <a:solidFill>
                  <a:srgbClr val="000000"/>
                </a:solidFill>
                <a:latin typeface="Roboto Condensed"/>
                <a:ea typeface="Roboto Condensed"/>
                <a:cs typeface="Roboto Condensed"/>
                <a:sym typeface="Roboto Condensed"/>
              </a:rPr>
              <a:t>IP Hash</a:t>
            </a:r>
            <a:r>
              <a:rPr b="0" i="0" lang="en-US" sz="3200" u="none" cap="none" strike="noStrike">
                <a:solidFill>
                  <a:srgbClr val="000000"/>
                </a:solidFill>
                <a:latin typeface="Roboto Condensed"/>
                <a:ea typeface="Roboto Condensed"/>
                <a:cs typeface="Roboto Condensed"/>
                <a:sym typeface="Roboto Condensed"/>
              </a:rPr>
              <a:t>: Routes traffic based on the IP address of the client, ensuring the same client always connects to the same server.</a:t>
            </a:r>
            <a:endParaRPr/>
          </a:p>
        </p:txBody>
      </p:sp>
      <p:sp>
        <p:nvSpPr>
          <p:cNvPr id="73" name="Google Shape;73;p21"/>
          <p:cNvSpPr txBox="1"/>
          <p:nvPr/>
        </p:nvSpPr>
        <p:spPr>
          <a:xfrm>
            <a:off x="2486784" y="2178765"/>
            <a:ext cx="19410427" cy="206210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Roboto Condensed"/>
                <a:ea typeface="Roboto Condensed"/>
                <a:cs typeface="Roboto Condensed"/>
                <a:sym typeface="Roboto Condensed"/>
              </a:rPr>
              <a:t>Function:</a:t>
            </a:r>
            <a:endParaRPr/>
          </a:p>
          <a:p>
            <a:pPr indent="0" lvl="0" marL="0" marR="0" rtl="0" algn="l">
              <a:lnSpc>
                <a:spcPct val="100000"/>
              </a:lnSpc>
              <a:spcBef>
                <a:spcPts val="0"/>
              </a:spcBef>
              <a:spcAft>
                <a:spcPts val="0"/>
              </a:spcAft>
              <a:buNone/>
            </a:pPr>
            <a:r>
              <a:rPr b="0" i="0" lang="en-US" sz="3200" u="none" cap="none" strike="noStrike">
                <a:solidFill>
                  <a:srgbClr val="000000"/>
                </a:solidFill>
                <a:latin typeface="Roboto Condensed"/>
                <a:ea typeface="Roboto Condensed"/>
                <a:cs typeface="Roboto Condensed"/>
                <a:sym typeface="Roboto Condensed"/>
              </a:rPr>
              <a:t>A load balancer distributes incoming network or application traffic across multiple servers or resources to ensure no single server becomes overwhelmed. This helps maintain system reliability and enhances the overall performance of applications.</a:t>
            </a:r>
            <a:endParaRPr/>
          </a:p>
        </p:txBody>
      </p:sp>
      <p:sp>
        <p:nvSpPr>
          <p:cNvPr id="74" name="Google Shape;74;p21"/>
          <p:cNvSpPr txBox="1"/>
          <p:nvPr/>
        </p:nvSpPr>
        <p:spPr>
          <a:xfrm>
            <a:off x="2486783" y="8512489"/>
            <a:ext cx="19410427" cy="35394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Roboto Condensed"/>
                <a:ea typeface="Roboto Condensed"/>
                <a:cs typeface="Roboto Condensed"/>
                <a:sym typeface="Roboto Condensed"/>
              </a:rPr>
              <a:t>Benefits</a:t>
            </a:r>
            <a:r>
              <a:rPr b="0" i="0" lang="en-US" sz="3200" u="none" cap="none" strike="noStrike">
                <a:solidFill>
                  <a:srgbClr val="000000"/>
                </a:solidFill>
                <a:latin typeface="Roboto Condensed"/>
                <a:ea typeface="Roboto Condensed"/>
                <a:cs typeface="Roboto Condensed"/>
                <a:sym typeface="Roboto Condensed"/>
              </a:rPr>
              <a:t>:</a:t>
            </a:r>
            <a:endParaRPr/>
          </a:p>
          <a:p>
            <a:pPr indent="-457200" lvl="0" marL="457200" marR="0" rtl="0" algn="l">
              <a:lnSpc>
                <a:spcPct val="100000"/>
              </a:lnSpc>
              <a:spcBef>
                <a:spcPts val="0"/>
              </a:spcBef>
              <a:spcAft>
                <a:spcPts val="0"/>
              </a:spcAft>
              <a:buClr>
                <a:srgbClr val="000000"/>
              </a:buClr>
              <a:buSzPts val="3960"/>
              <a:buFont typeface="Arial"/>
              <a:buChar char="•"/>
            </a:pPr>
            <a:r>
              <a:rPr b="0" i="1" lang="en-US" sz="3200" u="none" cap="none" strike="noStrike">
                <a:solidFill>
                  <a:srgbClr val="000000"/>
                </a:solidFill>
                <a:latin typeface="Roboto Condensed"/>
                <a:ea typeface="Roboto Condensed"/>
                <a:cs typeface="Roboto Condensed"/>
                <a:sym typeface="Roboto Condensed"/>
              </a:rPr>
              <a:t>Scalability</a:t>
            </a:r>
            <a:r>
              <a:rPr b="0" i="0" lang="en-US" sz="3200" u="none" cap="none" strike="noStrike">
                <a:solidFill>
                  <a:srgbClr val="000000"/>
                </a:solidFill>
                <a:latin typeface="Roboto Condensed"/>
                <a:ea typeface="Roboto Condensed"/>
                <a:cs typeface="Roboto Condensed"/>
                <a:sym typeface="Roboto Condensed"/>
              </a:rPr>
              <a:t>: Allows systems to handle increased traffic by distributing the load evenly across multiple servers.</a:t>
            </a:r>
            <a:endParaRPr/>
          </a:p>
          <a:p>
            <a:pPr indent="-457200" lvl="0" marL="457200" marR="0" rtl="0" algn="l">
              <a:lnSpc>
                <a:spcPct val="100000"/>
              </a:lnSpc>
              <a:spcBef>
                <a:spcPts val="0"/>
              </a:spcBef>
              <a:spcAft>
                <a:spcPts val="0"/>
              </a:spcAft>
              <a:buClr>
                <a:srgbClr val="000000"/>
              </a:buClr>
              <a:buSzPts val="3960"/>
              <a:buFont typeface="Arial"/>
              <a:buChar char="•"/>
            </a:pPr>
            <a:r>
              <a:rPr b="0" i="1" lang="en-US" sz="3200" u="none" cap="none" strike="noStrike">
                <a:solidFill>
                  <a:srgbClr val="000000"/>
                </a:solidFill>
                <a:latin typeface="Roboto Condensed"/>
                <a:ea typeface="Roboto Condensed"/>
                <a:cs typeface="Roboto Condensed"/>
                <a:sym typeface="Roboto Condensed"/>
              </a:rPr>
              <a:t>High Availability</a:t>
            </a:r>
            <a:r>
              <a:rPr b="0" i="0" lang="en-US" sz="3200" u="none" cap="none" strike="noStrike">
                <a:solidFill>
                  <a:srgbClr val="000000"/>
                </a:solidFill>
                <a:latin typeface="Roboto Condensed"/>
                <a:ea typeface="Roboto Condensed"/>
                <a:cs typeface="Roboto Condensed"/>
                <a:sym typeface="Roboto Condensed"/>
              </a:rPr>
              <a:t>: Ensures continuous availability of applications by redirecting traffic from failed or overloaded servers to healthy ones.</a:t>
            </a:r>
            <a:endParaRPr/>
          </a:p>
          <a:p>
            <a:pPr indent="-457200" lvl="0" marL="457200" marR="0" rtl="0" algn="l">
              <a:lnSpc>
                <a:spcPct val="100000"/>
              </a:lnSpc>
              <a:spcBef>
                <a:spcPts val="0"/>
              </a:spcBef>
              <a:spcAft>
                <a:spcPts val="0"/>
              </a:spcAft>
              <a:buClr>
                <a:srgbClr val="000000"/>
              </a:buClr>
              <a:buSzPts val="3960"/>
              <a:buFont typeface="Arial"/>
              <a:buChar char="•"/>
            </a:pPr>
            <a:r>
              <a:rPr b="0" i="1" lang="en-US" sz="3200" u="none" cap="none" strike="noStrike">
                <a:solidFill>
                  <a:srgbClr val="000000"/>
                </a:solidFill>
                <a:latin typeface="Roboto Condensed"/>
                <a:ea typeface="Roboto Condensed"/>
                <a:cs typeface="Roboto Condensed"/>
                <a:sym typeface="Roboto Condensed"/>
              </a:rPr>
              <a:t>Optimized Resource Utilization</a:t>
            </a:r>
            <a:r>
              <a:rPr b="0" i="0" lang="en-US" sz="3200" u="none" cap="none" strike="noStrike">
                <a:solidFill>
                  <a:srgbClr val="000000"/>
                </a:solidFill>
                <a:latin typeface="Roboto Condensed"/>
                <a:ea typeface="Roboto Condensed"/>
                <a:cs typeface="Roboto Condensed"/>
                <a:sym typeface="Roboto Condensed"/>
              </a:rPr>
              <a:t>: Balances the load efficiently, preventing any single server from becoming a bottleneck.</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22"/>
          <p:cNvSpPr txBox="1"/>
          <p:nvPr/>
        </p:nvSpPr>
        <p:spPr>
          <a:xfrm>
            <a:off x="1200149" y="571498"/>
            <a:ext cx="11242635"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Load Balancer</a:t>
            </a:r>
            <a:endParaRPr b="1" i="0" sz="6000" u="none" cap="none" strike="noStrike">
              <a:solidFill>
                <a:srgbClr val="4F81BD"/>
              </a:solidFill>
              <a:latin typeface="Arial"/>
              <a:ea typeface="Arial"/>
              <a:cs typeface="Arial"/>
              <a:sym typeface="Arial"/>
            </a:endParaRPr>
          </a:p>
        </p:txBody>
      </p:sp>
      <p:sp>
        <p:nvSpPr>
          <p:cNvPr id="80" name="Google Shape;80;p22"/>
          <p:cNvSpPr txBox="1"/>
          <p:nvPr/>
        </p:nvSpPr>
        <p:spPr>
          <a:xfrm>
            <a:off x="2486784" y="5801131"/>
            <a:ext cx="19410427" cy="5509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Roboto Condensed"/>
                <a:ea typeface="Roboto Condensed"/>
                <a:cs typeface="Roboto Condensed"/>
                <a:sym typeface="Roboto Condensed"/>
              </a:rPr>
              <a:t>Tools</a:t>
            </a:r>
            <a:r>
              <a:rPr b="0" i="0" lang="en-US" sz="3200" u="none" cap="none" strike="noStrike">
                <a:solidFill>
                  <a:srgbClr val="000000"/>
                </a:solidFill>
                <a:latin typeface="Roboto Condensed"/>
                <a:ea typeface="Roboto Condensed"/>
                <a:cs typeface="Roboto Condensed"/>
                <a:sym typeface="Roboto Condensed"/>
              </a:rPr>
              <a:t>:</a:t>
            </a:r>
            <a:endParaRPr/>
          </a:p>
          <a:p>
            <a:pPr indent="0" lvl="0" marL="0" marR="0" rtl="0" algn="l">
              <a:lnSpc>
                <a:spcPct val="100000"/>
              </a:lnSpc>
              <a:spcBef>
                <a:spcPts val="0"/>
              </a:spcBef>
              <a:spcAft>
                <a:spcPts val="0"/>
              </a:spcAft>
              <a:buNone/>
            </a:pPr>
            <a:r>
              <a:rPr b="1" i="0" lang="en-US" sz="3200" u="sng" cap="none" strike="noStrike">
                <a:solidFill>
                  <a:srgbClr val="000000"/>
                </a:solidFill>
                <a:latin typeface="Roboto Condensed"/>
                <a:ea typeface="Roboto Condensed"/>
                <a:cs typeface="Roboto Condensed"/>
                <a:sym typeface="Roboto Condensed"/>
              </a:rPr>
              <a:t>HAProxy</a:t>
            </a:r>
            <a:r>
              <a:rPr b="0" i="0" lang="en-US" sz="3200" u="none" cap="none" strike="noStrike">
                <a:solidFill>
                  <a:srgbClr val="000000"/>
                </a:solidFill>
                <a:latin typeface="Roboto Condensed"/>
                <a:ea typeface="Roboto Condensed"/>
                <a:cs typeface="Roboto Condensed"/>
                <a:sym typeface="Roboto Condensed"/>
              </a:rPr>
              <a:t>:</a:t>
            </a:r>
            <a:endParaRPr/>
          </a:p>
          <a:p>
            <a:pPr indent="-457200" lvl="0" marL="457200" marR="0" rtl="0" algn="l">
              <a:lnSpc>
                <a:spcPct val="100000"/>
              </a:lnSpc>
              <a:spcBef>
                <a:spcPts val="0"/>
              </a:spcBef>
              <a:spcAft>
                <a:spcPts val="0"/>
              </a:spcAft>
              <a:buClr>
                <a:srgbClr val="000000"/>
              </a:buClr>
              <a:buSzPts val="3960"/>
              <a:buFont typeface="Arial"/>
              <a:buChar char="•"/>
            </a:pPr>
            <a:r>
              <a:rPr b="0" i="0" lang="en-US" sz="3200" u="none" cap="none" strike="noStrike">
                <a:solidFill>
                  <a:srgbClr val="000000"/>
                </a:solidFill>
                <a:latin typeface="Roboto Condensed"/>
                <a:ea typeface="Roboto Condensed"/>
                <a:cs typeface="Roboto Condensed"/>
                <a:sym typeface="Roboto Condensed"/>
              </a:rPr>
              <a:t>Description: HAProxy is a reliable, high-performance load balancer and proxy server for TCP and HTTP applications. It is open-source and widely used in production environments.</a:t>
            </a:r>
            <a:endParaRPr/>
          </a:p>
          <a:p>
            <a:pPr indent="-457200" lvl="0" marL="457200" marR="0" rtl="0" algn="l">
              <a:lnSpc>
                <a:spcPct val="100000"/>
              </a:lnSpc>
              <a:spcBef>
                <a:spcPts val="0"/>
              </a:spcBef>
              <a:spcAft>
                <a:spcPts val="0"/>
              </a:spcAft>
              <a:buClr>
                <a:srgbClr val="000000"/>
              </a:buClr>
              <a:buSzPts val="3960"/>
              <a:buFont typeface="Arial"/>
              <a:buChar char="•"/>
            </a:pPr>
            <a:r>
              <a:rPr b="0" i="0" lang="en-US" sz="3200" u="none" cap="none" strike="noStrike">
                <a:solidFill>
                  <a:srgbClr val="000000"/>
                </a:solidFill>
                <a:latin typeface="Roboto Condensed"/>
                <a:ea typeface="Roboto Condensed"/>
                <a:cs typeface="Roboto Condensed"/>
                <a:sym typeface="Roboto Condensed"/>
              </a:rPr>
              <a:t>Use Case: Suitable for large-scale web services and applications requiring high availability and efficient load distribution.</a:t>
            </a:r>
            <a:endParaRPr/>
          </a:p>
          <a:p>
            <a:pPr indent="0" lvl="0" marL="0" marR="0" rtl="0" algn="l">
              <a:lnSpc>
                <a:spcPct val="100000"/>
              </a:lnSpc>
              <a:spcBef>
                <a:spcPts val="0"/>
              </a:spcBef>
              <a:spcAft>
                <a:spcPts val="0"/>
              </a:spcAft>
              <a:buNone/>
            </a:pPr>
            <a:r>
              <a:t/>
            </a:r>
            <a:endParaRPr b="0" i="0" sz="3200" u="none" cap="none" strike="noStrike">
              <a:solidFill>
                <a:srgbClr val="000000"/>
              </a:solidFill>
              <a:latin typeface="Roboto Condensed"/>
              <a:ea typeface="Roboto Condensed"/>
              <a:cs typeface="Roboto Condensed"/>
              <a:sym typeface="Roboto Condensed"/>
            </a:endParaRPr>
          </a:p>
          <a:p>
            <a:pPr indent="0" lvl="0" marL="0" marR="0" rtl="0" algn="l">
              <a:lnSpc>
                <a:spcPct val="100000"/>
              </a:lnSpc>
              <a:spcBef>
                <a:spcPts val="0"/>
              </a:spcBef>
              <a:spcAft>
                <a:spcPts val="0"/>
              </a:spcAft>
              <a:buNone/>
            </a:pPr>
            <a:r>
              <a:rPr b="1" i="0" lang="en-US" sz="3200" u="sng" cap="none" strike="noStrike">
                <a:solidFill>
                  <a:srgbClr val="000000"/>
                </a:solidFill>
                <a:latin typeface="Roboto Condensed"/>
                <a:ea typeface="Roboto Condensed"/>
                <a:cs typeface="Roboto Condensed"/>
                <a:sym typeface="Roboto Condensed"/>
              </a:rPr>
              <a:t>NGINX</a:t>
            </a:r>
            <a:r>
              <a:rPr b="0" i="0" lang="en-US" sz="3200" u="none" cap="none" strike="noStrike">
                <a:solidFill>
                  <a:srgbClr val="000000"/>
                </a:solidFill>
                <a:latin typeface="Roboto Condensed"/>
                <a:ea typeface="Roboto Condensed"/>
                <a:cs typeface="Roboto Condensed"/>
                <a:sym typeface="Roboto Condensed"/>
              </a:rPr>
              <a:t>:</a:t>
            </a:r>
            <a:endParaRPr/>
          </a:p>
          <a:p>
            <a:pPr indent="-457200" lvl="0" marL="457200" marR="0" rtl="0" algn="l">
              <a:lnSpc>
                <a:spcPct val="100000"/>
              </a:lnSpc>
              <a:spcBef>
                <a:spcPts val="0"/>
              </a:spcBef>
              <a:spcAft>
                <a:spcPts val="0"/>
              </a:spcAft>
              <a:buClr>
                <a:srgbClr val="000000"/>
              </a:buClr>
              <a:buSzPts val="3960"/>
              <a:buFont typeface="Arial"/>
              <a:buChar char="•"/>
            </a:pPr>
            <a:r>
              <a:rPr b="0" i="0" lang="en-US" sz="3200" u="none" cap="none" strike="noStrike">
                <a:solidFill>
                  <a:srgbClr val="000000"/>
                </a:solidFill>
                <a:latin typeface="Roboto Condensed"/>
                <a:ea typeface="Roboto Condensed"/>
                <a:cs typeface="Roboto Condensed"/>
                <a:sym typeface="Roboto Condensed"/>
              </a:rPr>
              <a:t>Description: NGINX, initially developed as a web server, also functions as a load balancer and reverse proxy. It excels in handling many concurrent connections with low resource usage.</a:t>
            </a:r>
            <a:endParaRPr/>
          </a:p>
          <a:p>
            <a:pPr indent="-457200" lvl="0" marL="457200" marR="0" rtl="0" algn="l">
              <a:lnSpc>
                <a:spcPct val="100000"/>
              </a:lnSpc>
              <a:spcBef>
                <a:spcPts val="0"/>
              </a:spcBef>
              <a:spcAft>
                <a:spcPts val="0"/>
              </a:spcAft>
              <a:buClr>
                <a:srgbClr val="000000"/>
              </a:buClr>
              <a:buSzPts val="3960"/>
              <a:buFont typeface="Arial"/>
              <a:buChar char="•"/>
            </a:pPr>
            <a:r>
              <a:rPr b="0" i="0" lang="en-US" sz="3200" u="none" cap="none" strike="noStrike">
                <a:solidFill>
                  <a:srgbClr val="000000"/>
                </a:solidFill>
                <a:latin typeface="Roboto Condensed"/>
                <a:ea typeface="Roboto Condensed"/>
                <a:cs typeface="Roboto Condensed"/>
                <a:sym typeface="Roboto Condensed"/>
              </a:rPr>
              <a:t>Use Case: Used for load balancing in high-traffic web applications and services.</a:t>
            </a:r>
            <a:endParaRPr/>
          </a:p>
        </p:txBody>
      </p:sp>
      <p:sp>
        <p:nvSpPr>
          <p:cNvPr id="81" name="Google Shape;81;p22"/>
          <p:cNvSpPr txBox="1"/>
          <p:nvPr/>
        </p:nvSpPr>
        <p:spPr>
          <a:xfrm>
            <a:off x="2486784" y="2711841"/>
            <a:ext cx="19410427"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Roboto Condensed"/>
                <a:ea typeface="Roboto Condensed"/>
                <a:cs typeface="Roboto Condensed"/>
                <a:sym typeface="Roboto Condensed"/>
              </a:rPr>
              <a:t>Example</a:t>
            </a:r>
            <a:r>
              <a:rPr b="0" i="0" lang="en-US" sz="3200" u="none" cap="none" strike="noStrike">
                <a:solidFill>
                  <a:srgbClr val="000000"/>
                </a:solidFill>
                <a:latin typeface="Roboto Condensed"/>
                <a:ea typeface="Roboto Condensed"/>
                <a:cs typeface="Roboto Condensed"/>
                <a:sym typeface="Roboto Condensed"/>
              </a:rPr>
              <a:t>:</a:t>
            </a:r>
            <a:endParaRPr/>
          </a:p>
          <a:p>
            <a:pPr indent="0" lvl="0" marL="0" marR="0" rtl="0" algn="l">
              <a:lnSpc>
                <a:spcPct val="100000"/>
              </a:lnSpc>
              <a:spcBef>
                <a:spcPts val="0"/>
              </a:spcBef>
              <a:spcAft>
                <a:spcPts val="0"/>
              </a:spcAft>
              <a:buNone/>
            </a:pPr>
            <a:r>
              <a:rPr b="0" i="0" lang="en-US" sz="3200" u="none" cap="none" strike="noStrike">
                <a:solidFill>
                  <a:srgbClr val="000000"/>
                </a:solidFill>
                <a:latin typeface="Roboto Condensed"/>
                <a:ea typeface="Roboto Condensed"/>
                <a:cs typeface="Roboto Condensed"/>
                <a:sym typeface="Roboto Condensed"/>
              </a:rPr>
              <a:t>Web Servers Load Balancing: In a high-traffic scenario, a load balancer directs requests to a pool of web servers, distributing the load evenly to prevent any server from becoming overwhelmed.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23"/>
          <p:cNvSpPr txBox="1"/>
          <p:nvPr/>
        </p:nvSpPr>
        <p:spPr>
          <a:xfrm>
            <a:off x="1200149" y="571498"/>
            <a:ext cx="11242635"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Load Balancer – HA Proxy</a:t>
            </a:r>
            <a:endParaRPr b="1" i="0" sz="6000" u="none" cap="none" strike="noStrike">
              <a:solidFill>
                <a:srgbClr val="4F81BD"/>
              </a:solidFill>
              <a:latin typeface="Arial"/>
              <a:ea typeface="Arial"/>
              <a:cs typeface="Arial"/>
              <a:sym typeface="Arial"/>
            </a:endParaRPr>
          </a:p>
        </p:txBody>
      </p:sp>
      <p:pic>
        <p:nvPicPr>
          <p:cNvPr id="87" name="Google Shape;87;p23"/>
          <p:cNvPicPr preferRelativeResize="0"/>
          <p:nvPr/>
        </p:nvPicPr>
        <p:blipFill rotWithShape="1">
          <a:blip r:embed="rId3">
            <a:alphaModFix/>
          </a:blip>
          <a:srcRect b="0" l="0" r="0" t="0"/>
          <a:stretch/>
        </p:blipFill>
        <p:spPr>
          <a:xfrm>
            <a:off x="1200149" y="1822224"/>
            <a:ext cx="9091218" cy="4807176"/>
          </a:xfrm>
          <a:prstGeom prst="rect">
            <a:avLst/>
          </a:prstGeom>
          <a:noFill/>
          <a:ln>
            <a:noFill/>
          </a:ln>
        </p:spPr>
      </p:pic>
      <p:pic>
        <p:nvPicPr>
          <p:cNvPr id="88" name="Google Shape;88;p23"/>
          <p:cNvPicPr preferRelativeResize="0"/>
          <p:nvPr/>
        </p:nvPicPr>
        <p:blipFill rotWithShape="1">
          <a:blip r:embed="rId4">
            <a:alphaModFix/>
          </a:blip>
          <a:srcRect b="0" l="0" r="0" t="0"/>
          <a:stretch/>
        </p:blipFill>
        <p:spPr>
          <a:xfrm>
            <a:off x="14225185" y="1626636"/>
            <a:ext cx="7783915" cy="10665894"/>
          </a:xfrm>
          <a:prstGeom prst="rect">
            <a:avLst/>
          </a:prstGeom>
          <a:noFill/>
          <a:ln>
            <a:noFill/>
          </a:ln>
        </p:spPr>
      </p:pic>
      <p:sp>
        <p:nvSpPr>
          <p:cNvPr id="89" name="Google Shape;89;p23"/>
          <p:cNvSpPr txBox="1"/>
          <p:nvPr/>
        </p:nvSpPr>
        <p:spPr>
          <a:xfrm>
            <a:off x="711200" y="7610499"/>
            <a:ext cx="12807868" cy="4524315"/>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rgbClr val="000000"/>
              </a:buClr>
              <a:buSzPts val="3960"/>
              <a:buFont typeface="Arial"/>
              <a:buChar char="•"/>
            </a:pPr>
            <a:r>
              <a:rPr b="0" i="0" lang="en-US" sz="3200" u="none" cap="none" strike="noStrike">
                <a:solidFill>
                  <a:srgbClr val="000000"/>
                </a:solidFill>
                <a:latin typeface="Roboto Condensed"/>
                <a:ea typeface="Roboto Condensed"/>
                <a:cs typeface="Roboto Condensed"/>
                <a:sym typeface="Roboto Condensed"/>
              </a:rPr>
              <a:t>In this example, I create a HAProxy docker container which working as a Load Balancer for 3 Elastic nodes.</a:t>
            </a:r>
            <a:endParaRPr/>
          </a:p>
          <a:p>
            <a:pPr indent="-457200" lvl="0" marL="457200" marR="0" rtl="0" algn="l">
              <a:lnSpc>
                <a:spcPct val="100000"/>
              </a:lnSpc>
              <a:spcBef>
                <a:spcPts val="0"/>
              </a:spcBef>
              <a:spcAft>
                <a:spcPts val="0"/>
              </a:spcAft>
              <a:buClr>
                <a:srgbClr val="000000"/>
              </a:buClr>
              <a:buSzPts val="3960"/>
              <a:buFont typeface="Arial"/>
              <a:buChar char="•"/>
            </a:pPr>
            <a:r>
              <a:rPr b="0" i="0" lang="en-US" sz="3200" u="none" cap="none" strike="noStrike">
                <a:solidFill>
                  <a:srgbClr val="000000"/>
                </a:solidFill>
                <a:latin typeface="Roboto Condensed"/>
                <a:ea typeface="Roboto Condensed"/>
                <a:cs typeface="Roboto Condensed"/>
                <a:sym typeface="Roboto Condensed"/>
              </a:rPr>
              <a:t>All of the config is written in 1936 haproxy.cfg file, then mount to the container.</a:t>
            </a:r>
            <a:endParaRPr/>
          </a:p>
          <a:p>
            <a:pPr indent="-457200" lvl="0" marL="457200" marR="0" rtl="0" algn="l">
              <a:lnSpc>
                <a:spcPct val="100000"/>
              </a:lnSpc>
              <a:spcBef>
                <a:spcPts val="0"/>
              </a:spcBef>
              <a:spcAft>
                <a:spcPts val="0"/>
              </a:spcAft>
              <a:buClr>
                <a:srgbClr val="000000"/>
              </a:buClr>
              <a:buSzPts val="3960"/>
              <a:buFont typeface="Arial"/>
              <a:buChar char="•"/>
            </a:pPr>
            <a:r>
              <a:rPr b="0" i="0" lang="en-US" sz="3200" u="none" cap="none" strike="noStrike">
                <a:solidFill>
                  <a:srgbClr val="000000"/>
                </a:solidFill>
                <a:latin typeface="Roboto Condensed"/>
                <a:ea typeface="Roboto Condensed"/>
                <a:cs typeface="Roboto Condensed"/>
                <a:sym typeface="Roboto Condensed"/>
              </a:rPr>
              <a:t>Port 1936 is used for the HAProxy statistics page, which provides a web-based dashboard for monitoring the status of HAProxy and the backends it manages.</a:t>
            </a:r>
            <a:endParaRPr/>
          </a:p>
          <a:p>
            <a:pPr indent="-457200" lvl="0" marL="457200" marR="0" rtl="0" algn="l">
              <a:lnSpc>
                <a:spcPct val="100000"/>
              </a:lnSpc>
              <a:spcBef>
                <a:spcPts val="0"/>
              </a:spcBef>
              <a:spcAft>
                <a:spcPts val="0"/>
              </a:spcAft>
              <a:buClr>
                <a:srgbClr val="000000"/>
              </a:buClr>
              <a:buSzPts val="3960"/>
              <a:buFont typeface="Arial"/>
              <a:buChar char="•"/>
            </a:pPr>
            <a:r>
              <a:rPr b="0" i="0" lang="en-US" sz="3200" u="none" cap="none" strike="noStrike">
                <a:solidFill>
                  <a:srgbClr val="000000"/>
                </a:solidFill>
                <a:latin typeface="Roboto Condensed"/>
                <a:ea typeface="Roboto Condensed"/>
                <a:cs typeface="Roboto Condensed"/>
                <a:sym typeface="Roboto Condensed"/>
              </a:rPr>
              <a:t>Port 9200 is port of Elastic nodes.</a:t>
            </a:r>
            <a:endParaRPr/>
          </a:p>
          <a:p>
            <a:pPr indent="-457200" lvl="0" marL="457200" marR="0" rtl="0" algn="l">
              <a:lnSpc>
                <a:spcPct val="100000"/>
              </a:lnSpc>
              <a:spcBef>
                <a:spcPts val="0"/>
              </a:spcBef>
              <a:spcAft>
                <a:spcPts val="0"/>
              </a:spcAft>
              <a:buClr>
                <a:srgbClr val="000000"/>
              </a:buClr>
              <a:buSzPts val="3960"/>
              <a:buFont typeface="Arial"/>
              <a:buChar char="•"/>
            </a:pPr>
            <a:r>
              <a:rPr b="0" i="0" lang="en-US" sz="3200" u="none" cap="none" strike="noStrike">
                <a:solidFill>
                  <a:srgbClr val="000000"/>
                </a:solidFill>
                <a:latin typeface="Roboto Condensed"/>
                <a:ea typeface="Roboto Condensed"/>
                <a:cs typeface="Roboto Condensed"/>
                <a:sym typeface="Roboto Condensed"/>
              </a:rPr>
              <a:t>es0, es1, es2 is the names of 3 Elastic docker containers.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4"/>
          <p:cNvSpPr txBox="1"/>
          <p:nvPr/>
        </p:nvSpPr>
        <p:spPr>
          <a:xfrm>
            <a:off x="1200149" y="571498"/>
            <a:ext cx="11242635"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Reverse Proxy</a:t>
            </a:r>
            <a:endParaRPr b="1" i="0" sz="6000" u="none" cap="none" strike="noStrike">
              <a:solidFill>
                <a:srgbClr val="4F81BD"/>
              </a:solidFill>
              <a:latin typeface="Arial"/>
              <a:ea typeface="Arial"/>
              <a:cs typeface="Arial"/>
              <a:sym typeface="Arial"/>
            </a:endParaRPr>
          </a:p>
        </p:txBody>
      </p:sp>
      <p:sp>
        <p:nvSpPr>
          <p:cNvPr id="95" name="Google Shape;95;p24"/>
          <p:cNvSpPr txBox="1"/>
          <p:nvPr/>
        </p:nvSpPr>
        <p:spPr>
          <a:xfrm>
            <a:off x="2486783" y="6718291"/>
            <a:ext cx="19410427" cy="45243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Roboto Condensed"/>
                <a:ea typeface="Roboto Condensed"/>
                <a:cs typeface="Roboto Condensed"/>
                <a:sym typeface="Roboto Condensed"/>
              </a:rPr>
              <a:t>Benefits</a:t>
            </a:r>
            <a:r>
              <a:rPr b="0" i="0" lang="en-US" sz="3200" u="none" cap="none" strike="noStrike">
                <a:solidFill>
                  <a:srgbClr val="000000"/>
                </a:solidFill>
                <a:latin typeface="Roboto Condensed"/>
                <a:ea typeface="Roboto Condensed"/>
                <a:cs typeface="Roboto Condensed"/>
                <a:sym typeface="Roboto Condensed"/>
              </a:rPr>
              <a:t>:</a:t>
            </a:r>
            <a:endParaRPr/>
          </a:p>
          <a:p>
            <a:pPr indent="-457200" lvl="0" marL="457200" marR="0" rtl="0" algn="l">
              <a:lnSpc>
                <a:spcPct val="100000"/>
              </a:lnSpc>
              <a:spcBef>
                <a:spcPts val="0"/>
              </a:spcBef>
              <a:spcAft>
                <a:spcPts val="0"/>
              </a:spcAft>
              <a:buClr>
                <a:srgbClr val="000000"/>
              </a:buClr>
              <a:buSzPts val="3960"/>
              <a:buFont typeface="Arial"/>
              <a:buChar char="•"/>
            </a:pPr>
            <a:r>
              <a:rPr b="0" i="1" lang="en-US" sz="3200" u="none" cap="none" strike="noStrike">
                <a:solidFill>
                  <a:srgbClr val="000000"/>
                </a:solidFill>
                <a:latin typeface="Roboto Condensed"/>
                <a:ea typeface="Roboto Condensed"/>
                <a:cs typeface="Roboto Condensed"/>
                <a:sym typeface="Roboto Condensed"/>
              </a:rPr>
              <a:t>Security</a:t>
            </a:r>
            <a:r>
              <a:rPr b="0" i="0" lang="en-US" sz="3200" u="none" cap="none" strike="noStrike">
                <a:solidFill>
                  <a:srgbClr val="000000"/>
                </a:solidFill>
                <a:latin typeface="Roboto Condensed"/>
                <a:ea typeface="Roboto Condensed"/>
                <a:cs typeface="Roboto Condensed"/>
                <a:sym typeface="Roboto Condensed"/>
              </a:rPr>
              <a:t>: By masking the backend servers, a reverse proxy can protect them from direct attacks and handle SSL/TLS termination to offload encryption processing.</a:t>
            </a:r>
            <a:endParaRPr/>
          </a:p>
          <a:p>
            <a:pPr indent="-457200" lvl="0" marL="457200" marR="0" rtl="0" algn="l">
              <a:lnSpc>
                <a:spcPct val="100000"/>
              </a:lnSpc>
              <a:spcBef>
                <a:spcPts val="0"/>
              </a:spcBef>
              <a:spcAft>
                <a:spcPts val="0"/>
              </a:spcAft>
              <a:buClr>
                <a:srgbClr val="000000"/>
              </a:buClr>
              <a:buSzPts val="3960"/>
              <a:buFont typeface="Arial"/>
              <a:buChar char="•"/>
            </a:pPr>
            <a:r>
              <a:rPr b="0" i="1" lang="en-US" sz="3200" u="none" cap="none" strike="noStrike">
                <a:solidFill>
                  <a:srgbClr val="000000"/>
                </a:solidFill>
                <a:latin typeface="Roboto Condensed"/>
                <a:ea typeface="Roboto Condensed"/>
                <a:cs typeface="Roboto Condensed"/>
                <a:sym typeface="Roboto Condensed"/>
              </a:rPr>
              <a:t>Load Balancing</a:t>
            </a:r>
            <a:r>
              <a:rPr b="0" i="0" lang="en-US" sz="3200" u="none" cap="none" strike="noStrike">
                <a:solidFill>
                  <a:srgbClr val="000000"/>
                </a:solidFill>
                <a:latin typeface="Roboto Condensed"/>
                <a:ea typeface="Roboto Condensed"/>
                <a:cs typeface="Roboto Condensed"/>
                <a:sym typeface="Roboto Condensed"/>
              </a:rPr>
              <a:t>: It can distribute incoming traffic to multiple servers, ensuring efficient use of resources and improved performance.</a:t>
            </a:r>
            <a:endParaRPr/>
          </a:p>
          <a:p>
            <a:pPr indent="-457200" lvl="0" marL="457200" marR="0" rtl="0" algn="l">
              <a:lnSpc>
                <a:spcPct val="100000"/>
              </a:lnSpc>
              <a:spcBef>
                <a:spcPts val="0"/>
              </a:spcBef>
              <a:spcAft>
                <a:spcPts val="0"/>
              </a:spcAft>
              <a:buClr>
                <a:srgbClr val="000000"/>
              </a:buClr>
              <a:buSzPts val="3960"/>
              <a:buFont typeface="Arial"/>
              <a:buChar char="•"/>
            </a:pPr>
            <a:r>
              <a:rPr b="0" i="1" lang="en-US" sz="3200" u="none" cap="none" strike="noStrike">
                <a:solidFill>
                  <a:srgbClr val="000000"/>
                </a:solidFill>
                <a:latin typeface="Roboto Condensed"/>
                <a:ea typeface="Roboto Condensed"/>
                <a:cs typeface="Roboto Condensed"/>
                <a:sym typeface="Roboto Condensed"/>
              </a:rPr>
              <a:t>Content Compression and Caching</a:t>
            </a:r>
            <a:r>
              <a:rPr b="0" i="0" lang="en-US" sz="3200" u="none" cap="none" strike="noStrike">
                <a:solidFill>
                  <a:srgbClr val="000000"/>
                </a:solidFill>
                <a:latin typeface="Roboto Condensed"/>
                <a:ea typeface="Roboto Condensed"/>
                <a:cs typeface="Roboto Condensed"/>
                <a:sym typeface="Roboto Condensed"/>
              </a:rPr>
              <a:t>: It can compress outgoing responses and cache them, reducing bandwidth usage and speeding up response times.</a:t>
            </a:r>
            <a:endParaRPr/>
          </a:p>
          <a:p>
            <a:pPr indent="-457200" lvl="0" marL="457200" marR="0" rtl="0" algn="l">
              <a:lnSpc>
                <a:spcPct val="100000"/>
              </a:lnSpc>
              <a:spcBef>
                <a:spcPts val="0"/>
              </a:spcBef>
              <a:spcAft>
                <a:spcPts val="0"/>
              </a:spcAft>
              <a:buClr>
                <a:srgbClr val="000000"/>
              </a:buClr>
              <a:buSzPts val="3960"/>
              <a:buFont typeface="Arial"/>
              <a:buChar char="•"/>
            </a:pPr>
            <a:r>
              <a:rPr b="0" i="1" lang="en-US" sz="3200" u="none" cap="none" strike="noStrike">
                <a:solidFill>
                  <a:srgbClr val="000000"/>
                </a:solidFill>
                <a:latin typeface="Roboto Condensed"/>
                <a:ea typeface="Roboto Condensed"/>
                <a:cs typeface="Roboto Condensed"/>
                <a:sym typeface="Roboto Condensed"/>
              </a:rPr>
              <a:t>Simplified Client Configuration</a:t>
            </a:r>
            <a:r>
              <a:rPr b="0" i="0" lang="en-US" sz="3200" u="none" cap="none" strike="noStrike">
                <a:solidFill>
                  <a:srgbClr val="000000"/>
                </a:solidFill>
                <a:latin typeface="Roboto Condensed"/>
                <a:ea typeface="Roboto Condensed"/>
                <a:cs typeface="Roboto Condensed"/>
                <a:sym typeface="Roboto Condensed"/>
              </a:rPr>
              <a:t>: Clients only need to interact with the reverse proxy, not the actual servers, simplifying network configurations.</a:t>
            </a:r>
            <a:endParaRPr/>
          </a:p>
        </p:txBody>
      </p:sp>
      <p:sp>
        <p:nvSpPr>
          <p:cNvPr id="96" name="Google Shape;96;p24"/>
          <p:cNvSpPr txBox="1"/>
          <p:nvPr/>
        </p:nvSpPr>
        <p:spPr>
          <a:xfrm>
            <a:off x="2486783" y="2924199"/>
            <a:ext cx="19410427" cy="206210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Roboto Condensed"/>
                <a:ea typeface="Roboto Condensed"/>
                <a:cs typeface="Roboto Condensed"/>
                <a:sym typeface="Roboto Condensed"/>
              </a:rPr>
              <a:t>Function</a:t>
            </a:r>
            <a:r>
              <a:rPr b="0" i="0" lang="en-US" sz="3200" u="none" cap="none" strike="noStrike">
                <a:solidFill>
                  <a:srgbClr val="000000"/>
                </a:solidFill>
                <a:latin typeface="Roboto Condensed"/>
                <a:ea typeface="Roboto Condensed"/>
                <a:cs typeface="Roboto Condensed"/>
                <a:sym typeface="Roboto Condensed"/>
              </a:rPr>
              <a:t>:</a:t>
            </a:r>
            <a:endParaRPr/>
          </a:p>
          <a:p>
            <a:pPr indent="0" lvl="0" marL="0" marR="0" rtl="0" algn="l">
              <a:lnSpc>
                <a:spcPct val="100000"/>
              </a:lnSpc>
              <a:spcBef>
                <a:spcPts val="0"/>
              </a:spcBef>
              <a:spcAft>
                <a:spcPts val="0"/>
              </a:spcAft>
              <a:buNone/>
            </a:pPr>
            <a:r>
              <a:rPr b="0" i="0" lang="en-US" sz="3200" u="none" cap="none" strike="noStrike">
                <a:solidFill>
                  <a:srgbClr val="000000"/>
                </a:solidFill>
                <a:latin typeface="Roboto Condensed"/>
                <a:ea typeface="Roboto Condensed"/>
                <a:cs typeface="Roboto Condensed"/>
                <a:sym typeface="Roboto Condensed"/>
              </a:rPr>
              <a:t>A reverse proxy acts as an intermediary between clients and backend servers. It forwards client requests to the appropriate server and then returns the server's response to the client. This helps protect servers from direct exposure to the internet, enhance security, and balance the load.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5"/>
          <p:cNvSpPr txBox="1"/>
          <p:nvPr/>
        </p:nvSpPr>
        <p:spPr>
          <a:xfrm>
            <a:off x="1200149" y="571498"/>
            <a:ext cx="11242635"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Reverse Proxy</a:t>
            </a:r>
            <a:endParaRPr b="1" i="0" sz="6000" u="none" cap="none" strike="noStrike">
              <a:solidFill>
                <a:srgbClr val="4F81BD"/>
              </a:solidFill>
              <a:latin typeface="Arial"/>
              <a:ea typeface="Arial"/>
              <a:cs typeface="Arial"/>
              <a:sym typeface="Arial"/>
            </a:endParaRPr>
          </a:p>
        </p:txBody>
      </p:sp>
      <p:sp>
        <p:nvSpPr>
          <p:cNvPr id="102" name="Google Shape;102;p25"/>
          <p:cNvSpPr txBox="1"/>
          <p:nvPr/>
        </p:nvSpPr>
        <p:spPr>
          <a:xfrm>
            <a:off x="2486784" y="5324052"/>
            <a:ext cx="19410427" cy="649408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Roboto Condensed"/>
                <a:ea typeface="Roboto Condensed"/>
                <a:cs typeface="Roboto Condensed"/>
                <a:sym typeface="Roboto Condensed"/>
              </a:rPr>
              <a:t>Tools</a:t>
            </a:r>
            <a:r>
              <a:rPr b="0" i="0" lang="en-US" sz="3200" u="none" cap="none" strike="noStrike">
                <a:solidFill>
                  <a:srgbClr val="000000"/>
                </a:solidFill>
                <a:latin typeface="Roboto Condensed"/>
                <a:ea typeface="Roboto Condensed"/>
                <a:cs typeface="Roboto Condensed"/>
                <a:sym typeface="Roboto Condensed"/>
              </a:rPr>
              <a:t>:</a:t>
            </a:r>
            <a:endParaRPr/>
          </a:p>
          <a:p>
            <a:pPr indent="0" lvl="0" marL="0" marR="0" rtl="0" algn="l">
              <a:lnSpc>
                <a:spcPct val="100000"/>
              </a:lnSpc>
              <a:spcBef>
                <a:spcPts val="0"/>
              </a:spcBef>
              <a:spcAft>
                <a:spcPts val="0"/>
              </a:spcAft>
              <a:buNone/>
            </a:pPr>
            <a:r>
              <a:rPr b="1" i="0" lang="en-US" sz="3200" u="sng" cap="none" strike="noStrike">
                <a:solidFill>
                  <a:srgbClr val="000000"/>
                </a:solidFill>
                <a:latin typeface="Roboto Condensed"/>
                <a:ea typeface="Roboto Condensed"/>
                <a:cs typeface="Roboto Condensed"/>
                <a:sym typeface="Roboto Condensed"/>
              </a:rPr>
              <a:t>Nginx</a:t>
            </a:r>
            <a:r>
              <a:rPr b="0" i="0" lang="en-US" sz="3200" u="none" cap="none" strike="noStrike">
                <a:solidFill>
                  <a:srgbClr val="000000"/>
                </a:solidFill>
                <a:latin typeface="Roboto Condensed"/>
                <a:ea typeface="Roboto Condensed"/>
                <a:cs typeface="Roboto Condensed"/>
                <a:sym typeface="Roboto Condensed"/>
              </a:rPr>
              <a:t>:</a:t>
            </a:r>
            <a:endParaRPr/>
          </a:p>
          <a:p>
            <a:pPr indent="-457200" lvl="0" marL="457200" marR="0" rtl="0" algn="l">
              <a:lnSpc>
                <a:spcPct val="100000"/>
              </a:lnSpc>
              <a:spcBef>
                <a:spcPts val="0"/>
              </a:spcBef>
              <a:spcAft>
                <a:spcPts val="0"/>
              </a:spcAft>
              <a:buClr>
                <a:srgbClr val="000000"/>
              </a:buClr>
              <a:buSzPts val="3960"/>
              <a:buFont typeface="Arial"/>
              <a:buChar char="•"/>
            </a:pPr>
            <a:r>
              <a:rPr b="0" i="1" lang="en-US" sz="3200" u="none" cap="none" strike="noStrike">
                <a:solidFill>
                  <a:srgbClr val="000000"/>
                </a:solidFill>
                <a:latin typeface="Roboto Condensed"/>
                <a:ea typeface="Roboto Condensed"/>
                <a:cs typeface="Roboto Condensed"/>
                <a:sym typeface="Roboto Condensed"/>
              </a:rPr>
              <a:t>Description</a:t>
            </a:r>
            <a:r>
              <a:rPr b="0" i="0" lang="en-US" sz="3200" u="none" cap="none" strike="noStrike">
                <a:solidFill>
                  <a:srgbClr val="000000"/>
                </a:solidFill>
                <a:latin typeface="Roboto Condensed"/>
                <a:ea typeface="Roboto Condensed"/>
                <a:cs typeface="Roboto Condensed"/>
                <a:sym typeface="Roboto Condensed"/>
              </a:rPr>
              <a:t>: In addition to being a web server and load balancer, NGINX is commonly used as a reverse proxy server. It forwards client requests to backend servers and handles tasks like SSL termination and load balancing.</a:t>
            </a:r>
            <a:endParaRPr/>
          </a:p>
          <a:p>
            <a:pPr indent="-457200" lvl="0" marL="457200" marR="0" rtl="0" algn="l">
              <a:lnSpc>
                <a:spcPct val="100000"/>
              </a:lnSpc>
              <a:spcBef>
                <a:spcPts val="0"/>
              </a:spcBef>
              <a:spcAft>
                <a:spcPts val="0"/>
              </a:spcAft>
              <a:buClr>
                <a:srgbClr val="000000"/>
              </a:buClr>
              <a:buSzPts val="3960"/>
              <a:buFont typeface="Arial"/>
              <a:buChar char="•"/>
            </a:pPr>
            <a:r>
              <a:rPr b="0" i="1" lang="en-US" sz="3200" u="none" cap="none" strike="noStrike">
                <a:solidFill>
                  <a:srgbClr val="000000"/>
                </a:solidFill>
                <a:latin typeface="Roboto Condensed"/>
                <a:ea typeface="Roboto Condensed"/>
                <a:cs typeface="Roboto Condensed"/>
                <a:sym typeface="Roboto Condensed"/>
              </a:rPr>
              <a:t>Use Case</a:t>
            </a:r>
            <a:r>
              <a:rPr b="0" i="0" lang="en-US" sz="3200" u="none" cap="none" strike="noStrike">
                <a:solidFill>
                  <a:srgbClr val="000000"/>
                </a:solidFill>
                <a:latin typeface="Roboto Condensed"/>
                <a:ea typeface="Roboto Condensed"/>
                <a:cs typeface="Roboto Condensed"/>
                <a:sym typeface="Roboto Condensed"/>
              </a:rPr>
              <a:t>: Ideal for improving security and performance by acting as an intermediary between clients and backend servers</a:t>
            </a:r>
            <a:endParaRPr/>
          </a:p>
          <a:p>
            <a:pPr indent="0" lvl="0" marL="0" marR="0" rtl="0" algn="l">
              <a:lnSpc>
                <a:spcPct val="100000"/>
              </a:lnSpc>
              <a:spcBef>
                <a:spcPts val="0"/>
              </a:spcBef>
              <a:spcAft>
                <a:spcPts val="0"/>
              </a:spcAft>
              <a:buNone/>
            </a:pPr>
            <a:r>
              <a:rPr b="0" i="0" lang="en-US" sz="3200" u="none" cap="none" strike="noStrike">
                <a:solidFill>
                  <a:srgbClr val="000000"/>
                </a:solidFill>
                <a:latin typeface="Roboto Condensed"/>
                <a:ea typeface="Roboto Condensed"/>
                <a:cs typeface="Roboto Condensed"/>
                <a:sym typeface="Roboto Condensed"/>
              </a:rPr>
              <a:t>.</a:t>
            </a:r>
            <a:endParaRPr/>
          </a:p>
          <a:p>
            <a:pPr indent="0" lvl="0" marL="0" marR="0" rtl="0" algn="l">
              <a:lnSpc>
                <a:spcPct val="100000"/>
              </a:lnSpc>
              <a:spcBef>
                <a:spcPts val="0"/>
              </a:spcBef>
              <a:spcAft>
                <a:spcPts val="0"/>
              </a:spcAft>
              <a:buNone/>
            </a:pPr>
            <a:r>
              <a:rPr b="1" i="0" lang="en-US" sz="3200" u="sng" cap="none" strike="noStrike">
                <a:solidFill>
                  <a:srgbClr val="000000"/>
                </a:solidFill>
                <a:latin typeface="Roboto Condensed"/>
                <a:ea typeface="Roboto Condensed"/>
                <a:cs typeface="Roboto Condensed"/>
                <a:sym typeface="Roboto Condensed"/>
              </a:rPr>
              <a:t>Apache HTTP Server (mod_proxy):</a:t>
            </a:r>
            <a:endParaRPr b="0" i="0" sz="3200" u="none" cap="none" strike="noStrike">
              <a:solidFill>
                <a:srgbClr val="000000"/>
              </a:solidFill>
              <a:latin typeface="Roboto Condensed"/>
              <a:ea typeface="Roboto Condensed"/>
              <a:cs typeface="Roboto Condensed"/>
              <a:sym typeface="Roboto Condensed"/>
            </a:endParaRPr>
          </a:p>
          <a:p>
            <a:pPr indent="-457200" lvl="0" marL="457200" marR="0" rtl="0" algn="l">
              <a:lnSpc>
                <a:spcPct val="100000"/>
              </a:lnSpc>
              <a:spcBef>
                <a:spcPts val="0"/>
              </a:spcBef>
              <a:spcAft>
                <a:spcPts val="0"/>
              </a:spcAft>
              <a:buClr>
                <a:srgbClr val="000000"/>
              </a:buClr>
              <a:buSzPts val="3960"/>
              <a:buFont typeface="Arial"/>
              <a:buChar char="•"/>
            </a:pPr>
            <a:r>
              <a:rPr b="0" i="1" lang="en-US" sz="3200" u="none" cap="none" strike="noStrike">
                <a:solidFill>
                  <a:srgbClr val="000000"/>
                </a:solidFill>
                <a:latin typeface="Roboto Condensed"/>
                <a:ea typeface="Roboto Condensed"/>
                <a:cs typeface="Roboto Condensed"/>
                <a:sym typeface="Roboto Condensed"/>
              </a:rPr>
              <a:t>Description</a:t>
            </a:r>
            <a:r>
              <a:rPr b="0" i="0" lang="en-US" sz="3200" u="none" cap="none" strike="noStrike">
                <a:solidFill>
                  <a:srgbClr val="000000"/>
                </a:solidFill>
                <a:latin typeface="Roboto Condensed"/>
                <a:ea typeface="Roboto Condensed"/>
                <a:cs typeface="Roboto Condensed"/>
                <a:sym typeface="Roboto Condensed"/>
              </a:rPr>
              <a:t>: Apache HTTP Server can be configured as a reverse proxy using the mod_proxy module. It supports HTTP, HTTPS, and FTP protocols and can forward requests to other servers.</a:t>
            </a:r>
            <a:endParaRPr/>
          </a:p>
          <a:p>
            <a:pPr indent="-457200" lvl="0" marL="457200" marR="0" rtl="0" algn="l">
              <a:lnSpc>
                <a:spcPct val="100000"/>
              </a:lnSpc>
              <a:spcBef>
                <a:spcPts val="0"/>
              </a:spcBef>
              <a:spcAft>
                <a:spcPts val="0"/>
              </a:spcAft>
              <a:buClr>
                <a:srgbClr val="000000"/>
              </a:buClr>
              <a:buSzPts val="3960"/>
              <a:buFont typeface="Arial"/>
              <a:buChar char="•"/>
            </a:pPr>
            <a:r>
              <a:rPr b="0" i="1" lang="en-US" sz="3200" u="none" cap="none" strike="noStrike">
                <a:solidFill>
                  <a:srgbClr val="000000"/>
                </a:solidFill>
                <a:latin typeface="Roboto Condensed"/>
                <a:ea typeface="Roboto Condensed"/>
                <a:cs typeface="Roboto Condensed"/>
                <a:sym typeface="Roboto Condensed"/>
              </a:rPr>
              <a:t>Use Case</a:t>
            </a:r>
            <a:r>
              <a:rPr b="0" i="0" lang="en-US" sz="3200" u="none" cap="none" strike="noStrike">
                <a:solidFill>
                  <a:srgbClr val="000000"/>
                </a:solidFill>
                <a:latin typeface="Roboto Condensed"/>
                <a:ea typeface="Roboto Condensed"/>
                <a:cs typeface="Roboto Condensed"/>
                <a:sym typeface="Roboto Condensed"/>
              </a:rPr>
              <a:t>: Useful for managing complex web applications and distributing requests among multiple backend servers.</a:t>
            </a:r>
            <a:endParaRPr/>
          </a:p>
        </p:txBody>
      </p:sp>
      <p:sp>
        <p:nvSpPr>
          <p:cNvPr id="103" name="Google Shape;103;p25"/>
          <p:cNvSpPr txBox="1"/>
          <p:nvPr/>
        </p:nvSpPr>
        <p:spPr>
          <a:xfrm>
            <a:off x="2486784" y="2711841"/>
            <a:ext cx="19410427"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Roboto Condensed"/>
                <a:ea typeface="Roboto Condensed"/>
                <a:cs typeface="Roboto Condensed"/>
                <a:sym typeface="Roboto Condensed"/>
              </a:rPr>
              <a:t>Example</a:t>
            </a:r>
            <a:r>
              <a:rPr b="0" i="0" lang="en-US" sz="3200" u="none" cap="none" strike="noStrike">
                <a:solidFill>
                  <a:srgbClr val="000000"/>
                </a:solidFill>
                <a:latin typeface="Roboto Condensed"/>
                <a:ea typeface="Roboto Condensed"/>
                <a:cs typeface="Roboto Condensed"/>
                <a:sym typeface="Roboto Condensed"/>
              </a:rPr>
              <a:t>:</a:t>
            </a:r>
            <a:endParaRPr/>
          </a:p>
          <a:p>
            <a:pPr indent="0" lvl="0" marL="0" marR="0" rtl="0" algn="l">
              <a:lnSpc>
                <a:spcPct val="100000"/>
              </a:lnSpc>
              <a:spcBef>
                <a:spcPts val="0"/>
              </a:spcBef>
              <a:spcAft>
                <a:spcPts val="0"/>
              </a:spcAft>
              <a:buNone/>
            </a:pPr>
            <a:r>
              <a:rPr b="0" i="0" lang="en-US" sz="3200" u="none" cap="none" strike="noStrike">
                <a:solidFill>
                  <a:srgbClr val="000000"/>
                </a:solidFill>
                <a:latin typeface="Roboto Condensed"/>
                <a:ea typeface="Roboto Condensed"/>
                <a:cs typeface="Roboto Condensed"/>
                <a:sym typeface="Roboto Condensed"/>
              </a:rPr>
              <a:t>Web Application Firewall (WAF): A reverse proxy can inspect incoming traffic for malicious activity before it reaches the backend servers, enhancing the security of web applications.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6"/>
          <p:cNvSpPr txBox="1"/>
          <p:nvPr/>
        </p:nvSpPr>
        <p:spPr>
          <a:xfrm>
            <a:off x="1200149" y="571498"/>
            <a:ext cx="11242635"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Monitor Server</a:t>
            </a:r>
            <a:endParaRPr b="1" i="0" sz="6000" u="none" cap="none" strike="noStrike">
              <a:solidFill>
                <a:srgbClr val="4F81BD"/>
              </a:solidFill>
              <a:latin typeface="Arial"/>
              <a:ea typeface="Arial"/>
              <a:cs typeface="Arial"/>
              <a:sym typeface="Arial"/>
            </a:endParaRPr>
          </a:p>
        </p:txBody>
      </p:sp>
      <p:sp>
        <p:nvSpPr>
          <p:cNvPr id="109" name="Google Shape;109;p26"/>
          <p:cNvSpPr txBox="1"/>
          <p:nvPr/>
        </p:nvSpPr>
        <p:spPr>
          <a:xfrm>
            <a:off x="2486783" y="6718291"/>
            <a:ext cx="19410427" cy="45243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Roboto Condensed"/>
                <a:ea typeface="Roboto Condensed"/>
                <a:cs typeface="Roboto Condensed"/>
                <a:sym typeface="Roboto Condensed"/>
              </a:rPr>
              <a:t>Benefits</a:t>
            </a:r>
            <a:r>
              <a:rPr b="0" i="0" lang="en-US" sz="3200" u="none" cap="none" strike="noStrike">
                <a:solidFill>
                  <a:srgbClr val="000000"/>
                </a:solidFill>
                <a:latin typeface="Roboto Condensed"/>
                <a:ea typeface="Roboto Condensed"/>
                <a:cs typeface="Roboto Condensed"/>
                <a:sym typeface="Roboto Condensed"/>
              </a:rPr>
              <a:t>:</a:t>
            </a:r>
            <a:endParaRPr/>
          </a:p>
          <a:p>
            <a:pPr indent="-457200" lvl="0" marL="457200" marR="0" rtl="0" algn="l">
              <a:lnSpc>
                <a:spcPct val="100000"/>
              </a:lnSpc>
              <a:spcBef>
                <a:spcPts val="0"/>
              </a:spcBef>
              <a:spcAft>
                <a:spcPts val="0"/>
              </a:spcAft>
              <a:buClr>
                <a:srgbClr val="000000"/>
              </a:buClr>
              <a:buSzPts val="3960"/>
              <a:buFont typeface="Arial"/>
              <a:buChar char="•"/>
            </a:pPr>
            <a:r>
              <a:rPr b="0" i="1" lang="en-US" sz="3200" u="none" cap="none" strike="noStrike">
                <a:solidFill>
                  <a:srgbClr val="000000"/>
                </a:solidFill>
                <a:latin typeface="Roboto Condensed"/>
                <a:ea typeface="Roboto Condensed"/>
                <a:cs typeface="Roboto Condensed"/>
                <a:sym typeface="Roboto Condensed"/>
              </a:rPr>
              <a:t>Proactive Issue Detection</a:t>
            </a:r>
            <a:r>
              <a:rPr b="0" i="0" lang="en-US" sz="3200" u="none" cap="none" strike="noStrike">
                <a:solidFill>
                  <a:srgbClr val="000000"/>
                </a:solidFill>
                <a:latin typeface="Roboto Condensed"/>
                <a:ea typeface="Roboto Condensed"/>
                <a:cs typeface="Roboto Condensed"/>
                <a:sym typeface="Roboto Condensed"/>
              </a:rPr>
              <a:t>: Continuous monitoring allows for the early detection of problems, often before they impact end users.</a:t>
            </a:r>
            <a:endParaRPr/>
          </a:p>
          <a:p>
            <a:pPr indent="-457200" lvl="0" marL="457200" marR="0" rtl="0" algn="l">
              <a:lnSpc>
                <a:spcPct val="100000"/>
              </a:lnSpc>
              <a:spcBef>
                <a:spcPts val="0"/>
              </a:spcBef>
              <a:spcAft>
                <a:spcPts val="0"/>
              </a:spcAft>
              <a:buClr>
                <a:srgbClr val="000000"/>
              </a:buClr>
              <a:buSzPts val="3960"/>
              <a:buFont typeface="Arial"/>
              <a:buChar char="•"/>
            </a:pPr>
            <a:r>
              <a:rPr b="0" i="1" lang="en-US" sz="3200" u="none" cap="none" strike="noStrike">
                <a:solidFill>
                  <a:srgbClr val="000000"/>
                </a:solidFill>
                <a:latin typeface="Roboto Condensed"/>
                <a:ea typeface="Roboto Condensed"/>
                <a:cs typeface="Roboto Condensed"/>
                <a:sym typeface="Roboto Condensed"/>
              </a:rPr>
              <a:t>Performance Optimization</a:t>
            </a:r>
            <a:r>
              <a:rPr b="0" i="0" lang="en-US" sz="3200" u="none" cap="none" strike="noStrike">
                <a:solidFill>
                  <a:srgbClr val="000000"/>
                </a:solidFill>
                <a:latin typeface="Roboto Condensed"/>
                <a:ea typeface="Roboto Condensed"/>
                <a:cs typeface="Roboto Condensed"/>
                <a:sym typeface="Roboto Condensed"/>
              </a:rPr>
              <a:t>: By analyzing performance metrics, administrators can optimize resource usage and application performance.</a:t>
            </a:r>
            <a:endParaRPr/>
          </a:p>
          <a:p>
            <a:pPr indent="-457200" lvl="0" marL="457200" marR="0" rtl="0" algn="l">
              <a:lnSpc>
                <a:spcPct val="100000"/>
              </a:lnSpc>
              <a:spcBef>
                <a:spcPts val="0"/>
              </a:spcBef>
              <a:spcAft>
                <a:spcPts val="0"/>
              </a:spcAft>
              <a:buClr>
                <a:srgbClr val="000000"/>
              </a:buClr>
              <a:buSzPts val="3960"/>
              <a:buFont typeface="Arial"/>
              <a:buChar char="•"/>
            </a:pPr>
            <a:r>
              <a:rPr b="0" i="1" lang="en-US" sz="3200" u="none" cap="none" strike="noStrike">
                <a:solidFill>
                  <a:srgbClr val="000000"/>
                </a:solidFill>
                <a:latin typeface="Roboto Condensed"/>
                <a:ea typeface="Roboto Condensed"/>
                <a:cs typeface="Roboto Condensed"/>
                <a:sym typeface="Roboto Condensed"/>
              </a:rPr>
              <a:t>Service Availability</a:t>
            </a:r>
            <a:r>
              <a:rPr b="0" i="0" lang="en-US" sz="3200" u="none" cap="none" strike="noStrike">
                <a:solidFill>
                  <a:srgbClr val="000000"/>
                </a:solidFill>
                <a:latin typeface="Roboto Condensed"/>
                <a:ea typeface="Roboto Condensed"/>
                <a:cs typeface="Roboto Condensed"/>
                <a:sym typeface="Roboto Condensed"/>
              </a:rPr>
              <a:t>: Monitoring helps ensure that services remain available and can quickly alert administrators to any outages or disruptions.</a:t>
            </a:r>
            <a:endParaRPr/>
          </a:p>
          <a:p>
            <a:pPr indent="-457200" lvl="0" marL="457200" marR="0" rtl="0" algn="l">
              <a:lnSpc>
                <a:spcPct val="100000"/>
              </a:lnSpc>
              <a:spcBef>
                <a:spcPts val="0"/>
              </a:spcBef>
              <a:spcAft>
                <a:spcPts val="0"/>
              </a:spcAft>
              <a:buClr>
                <a:srgbClr val="000000"/>
              </a:buClr>
              <a:buSzPts val="3960"/>
              <a:buFont typeface="Arial"/>
              <a:buChar char="•"/>
            </a:pPr>
            <a:r>
              <a:rPr b="0" i="1" lang="en-US" sz="3200" u="none" cap="none" strike="noStrike">
                <a:solidFill>
                  <a:srgbClr val="000000"/>
                </a:solidFill>
                <a:latin typeface="Roboto Condensed"/>
                <a:ea typeface="Roboto Condensed"/>
                <a:cs typeface="Roboto Condensed"/>
                <a:sym typeface="Roboto Condensed"/>
              </a:rPr>
              <a:t>Detailed Analytics</a:t>
            </a:r>
            <a:r>
              <a:rPr b="0" i="0" lang="en-US" sz="3200" u="none" cap="none" strike="noStrike">
                <a:solidFill>
                  <a:srgbClr val="000000"/>
                </a:solidFill>
                <a:latin typeface="Roboto Condensed"/>
                <a:ea typeface="Roboto Condensed"/>
                <a:cs typeface="Roboto Condensed"/>
                <a:sym typeface="Roboto Condensed"/>
              </a:rPr>
              <a:t>: Provides valuable data on application usage, traffic patterns, and system performance, which can inform capacity planning and optimization efforts.</a:t>
            </a:r>
            <a:endParaRPr/>
          </a:p>
        </p:txBody>
      </p:sp>
      <p:sp>
        <p:nvSpPr>
          <p:cNvPr id="110" name="Google Shape;110;p26"/>
          <p:cNvSpPr txBox="1"/>
          <p:nvPr/>
        </p:nvSpPr>
        <p:spPr>
          <a:xfrm>
            <a:off x="2486783" y="2924199"/>
            <a:ext cx="19410427" cy="206210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Roboto Condensed"/>
                <a:ea typeface="Roboto Condensed"/>
                <a:cs typeface="Roboto Condensed"/>
                <a:sym typeface="Roboto Condensed"/>
              </a:rPr>
              <a:t>Function</a:t>
            </a:r>
            <a:r>
              <a:rPr b="0" i="0" lang="en-US" sz="3200" u="none" cap="none" strike="noStrike">
                <a:solidFill>
                  <a:srgbClr val="000000"/>
                </a:solidFill>
                <a:latin typeface="Roboto Condensed"/>
                <a:ea typeface="Roboto Condensed"/>
                <a:cs typeface="Roboto Condensed"/>
                <a:sym typeface="Roboto Condensed"/>
              </a:rPr>
              <a:t>:</a:t>
            </a:r>
            <a:endParaRPr/>
          </a:p>
          <a:p>
            <a:pPr indent="0" lvl="0" marL="0" marR="0" rtl="0" algn="l">
              <a:lnSpc>
                <a:spcPct val="100000"/>
              </a:lnSpc>
              <a:spcBef>
                <a:spcPts val="0"/>
              </a:spcBef>
              <a:spcAft>
                <a:spcPts val="0"/>
              </a:spcAft>
              <a:buNone/>
            </a:pPr>
            <a:r>
              <a:rPr b="0" i="0" lang="en-US" sz="3200" u="none" cap="none" strike="noStrike">
                <a:solidFill>
                  <a:srgbClr val="000000"/>
                </a:solidFill>
                <a:latin typeface="Roboto Condensed"/>
                <a:ea typeface="Roboto Condensed"/>
                <a:cs typeface="Roboto Condensed"/>
                <a:sym typeface="Roboto Condensed"/>
              </a:rPr>
              <a:t>A monitor server continuously checks the health, performance, and availability of applications and services. It provides real-time insights and alerts about the system’s status, helping administrators ensure smooth operations and quickly address issues.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7"/>
          <p:cNvSpPr txBox="1"/>
          <p:nvPr/>
        </p:nvSpPr>
        <p:spPr>
          <a:xfrm>
            <a:off x="1200149" y="571498"/>
            <a:ext cx="11242635"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Monitor Server</a:t>
            </a:r>
            <a:endParaRPr b="1" i="0" sz="6000" u="none" cap="none" strike="noStrike">
              <a:solidFill>
                <a:srgbClr val="4F81BD"/>
              </a:solidFill>
              <a:latin typeface="Arial"/>
              <a:ea typeface="Arial"/>
              <a:cs typeface="Arial"/>
              <a:sym typeface="Arial"/>
            </a:endParaRPr>
          </a:p>
        </p:txBody>
      </p:sp>
      <p:sp>
        <p:nvSpPr>
          <p:cNvPr id="116" name="Google Shape;116;p27"/>
          <p:cNvSpPr txBox="1"/>
          <p:nvPr/>
        </p:nvSpPr>
        <p:spPr>
          <a:xfrm>
            <a:off x="2486784" y="6015279"/>
            <a:ext cx="19410427" cy="5509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Roboto Condensed"/>
                <a:ea typeface="Roboto Condensed"/>
                <a:cs typeface="Roboto Condensed"/>
                <a:sym typeface="Roboto Condensed"/>
              </a:rPr>
              <a:t>Tools</a:t>
            </a:r>
            <a:r>
              <a:rPr b="0" i="0" lang="en-US" sz="3200" u="none" cap="none" strike="noStrike">
                <a:solidFill>
                  <a:srgbClr val="000000"/>
                </a:solidFill>
                <a:latin typeface="Roboto Condensed"/>
                <a:ea typeface="Roboto Condensed"/>
                <a:cs typeface="Roboto Condensed"/>
                <a:sym typeface="Roboto Condensed"/>
              </a:rPr>
              <a:t>:</a:t>
            </a:r>
            <a:endParaRPr/>
          </a:p>
          <a:p>
            <a:pPr indent="0" lvl="0" marL="0" marR="0" rtl="0" algn="l">
              <a:lnSpc>
                <a:spcPct val="100000"/>
              </a:lnSpc>
              <a:spcBef>
                <a:spcPts val="0"/>
              </a:spcBef>
              <a:spcAft>
                <a:spcPts val="0"/>
              </a:spcAft>
              <a:buNone/>
            </a:pPr>
            <a:r>
              <a:rPr b="1" i="0" lang="en-US" sz="3200" u="sng" cap="none" strike="noStrike">
                <a:solidFill>
                  <a:srgbClr val="000000"/>
                </a:solidFill>
                <a:latin typeface="Roboto Condensed"/>
                <a:ea typeface="Roboto Condensed"/>
                <a:cs typeface="Roboto Condensed"/>
                <a:sym typeface="Roboto Condensed"/>
              </a:rPr>
              <a:t>Prometheus</a:t>
            </a:r>
            <a:r>
              <a:rPr b="0" i="0" lang="en-US" sz="3200" u="none" cap="none" strike="noStrike">
                <a:solidFill>
                  <a:srgbClr val="000000"/>
                </a:solidFill>
                <a:latin typeface="Roboto Condensed"/>
                <a:ea typeface="Roboto Condensed"/>
                <a:cs typeface="Roboto Condensed"/>
                <a:sym typeface="Roboto Condensed"/>
              </a:rPr>
              <a:t>:</a:t>
            </a:r>
            <a:endParaRPr/>
          </a:p>
          <a:p>
            <a:pPr indent="-457200" lvl="0" marL="457200" marR="0" rtl="0" algn="l">
              <a:lnSpc>
                <a:spcPct val="100000"/>
              </a:lnSpc>
              <a:spcBef>
                <a:spcPts val="0"/>
              </a:spcBef>
              <a:spcAft>
                <a:spcPts val="0"/>
              </a:spcAft>
              <a:buClr>
                <a:srgbClr val="000000"/>
              </a:buClr>
              <a:buSzPts val="3960"/>
              <a:buFont typeface="Arial"/>
              <a:buChar char="•"/>
            </a:pPr>
            <a:r>
              <a:rPr b="0" i="1" lang="en-US" sz="3200" u="none" cap="none" strike="noStrike">
                <a:solidFill>
                  <a:srgbClr val="000000"/>
                </a:solidFill>
                <a:latin typeface="Roboto Condensed"/>
                <a:ea typeface="Roboto Condensed"/>
                <a:cs typeface="Roboto Condensed"/>
                <a:sym typeface="Roboto Condensed"/>
              </a:rPr>
              <a:t>Description</a:t>
            </a:r>
            <a:r>
              <a:rPr b="0" i="0" lang="en-US" sz="3200" u="none" cap="none" strike="noStrike">
                <a:solidFill>
                  <a:srgbClr val="000000"/>
                </a:solidFill>
                <a:latin typeface="Roboto Condensed"/>
                <a:ea typeface="Roboto Condensed"/>
                <a:cs typeface="Roboto Condensed"/>
                <a:sym typeface="Roboto Condensed"/>
              </a:rPr>
              <a:t>: Prometheus is an open-source monitoring and alerting toolkit designed for reliability and scalability. It collects and stores metrics as time series data, providing powerful querying capabilities.</a:t>
            </a:r>
            <a:endParaRPr/>
          </a:p>
          <a:p>
            <a:pPr indent="-457200" lvl="0" marL="457200" marR="0" rtl="0" algn="l">
              <a:lnSpc>
                <a:spcPct val="100000"/>
              </a:lnSpc>
              <a:spcBef>
                <a:spcPts val="0"/>
              </a:spcBef>
              <a:spcAft>
                <a:spcPts val="0"/>
              </a:spcAft>
              <a:buClr>
                <a:srgbClr val="000000"/>
              </a:buClr>
              <a:buSzPts val="3960"/>
              <a:buFont typeface="Arial"/>
              <a:buChar char="•"/>
            </a:pPr>
            <a:r>
              <a:rPr b="0" i="1" lang="en-US" sz="3200" u="none" cap="none" strike="noStrike">
                <a:solidFill>
                  <a:srgbClr val="000000"/>
                </a:solidFill>
                <a:latin typeface="Roboto Condensed"/>
                <a:ea typeface="Roboto Condensed"/>
                <a:cs typeface="Roboto Condensed"/>
                <a:sym typeface="Roboto Condensed"/>
              </a:rPr>
              <a:t>Use Case</a:t>
            </a:r>
            <a:r>
              <a:rPr b="0" i="0" lang="en-US" sz="3200" u="none" cap="none" strike="noStrike">
                <a:solidFill>
                  <a:srgbClr val="000000"/>
                </a:solidFill>
                <a:latin typeface="Roboto Condensed"/>
                <a:ea typeface="Roboto Condensed"/>
                <a:cs typeface="Roboto Condensed"/>
                <a:sym typeface="Roboto Condensed"/>
              </a:rPr>
              <a:t>: Widely used for monitoring cloud-native applications, Kubernetes clusters, and microservices architectures.</a:t>
            </a:r>
            <a:endParaRPr/>
          </a:p>
          <a:p>
            <a:pPr indent="-205740" lvl="0" marL="457200" marR="0" rtl="0" algn="l">
              <a:lnSpc>
                <a:spcPct val="100000"/>
              </a:lnSpc>
              <a:spcBef>
                <a:spcPts val="0"/>
              </a:spcBef>
              <a:spcAft>
                <a:spcPts val="0"/>
              </a:spcAft>
              <a:buClr>
                <a:srgbClr val="000000"/>
              </a:buClr>
              <a:buSzPts val="3960"/>
              <a:buFont typeface="Arial"/>
              <a:buNone/>
            </a:pPr>
            <a:r>
              <a:t/>
            </a:r>
            <a:endParaRPr b="0" i="0" sz="3200" u="none" cap="none" strike="noStrike">
              <a:solidFill>
                <a:srgbClr val="000000"/>
              </a:solidFill>
              <a:latin typeface="Roboto Condensed"/>
              <a:ea typeface="Roboto Condensed"/>
              <a:cs typeface="Roboto Condensed"/>
              <a:sym typeface="Roboto Condensed"/>
            </a:endParaRPr>
          </a:p>
          <a:p>
            <a:pPr indent="0" lvl="0" marL="0" marR="0" rtl="0" algn="l">
              <a:lnSpc>
                <a:spcPct val="100000"/>
              </a:lnSpc>
              <a:spcBef>
                <a:spcPts val="0"/>
              </a:spcBef>
              <a:spcAft>
                <a:spcPts val="0"/>
              </a:spcAft>
              <a:buNone/>
            </a:pPr>
            <a:r>
              <a:rPr b="1" i="0" lang="en-US" sz="3200" u="sng" cap="none" strike="noStrike">
                <a:solidFill>
                  <a:srgbClr val="000000"/>
                </a:solidFill>
                <a:latin typeface="Roboto Condensed"/>
                <a:ea typeface="Roboto Condensed"/>
                <a:cs typeface="Roboto Condensed"/>
                <a:sym typeface="Roboto Condensed"/>
              </a:rPr>
              <a:t>Nagios</a:t>
            </a:r>
            <a:r>
              <a:rPr b="0" i="0" lang="en-US" sz="3200" u="sng" cap="none" strike="noStrike">
                <a:solidFill>
                  <a:srgbClr val="000000"/>
                </a:solidFill>
                <a:latin typeface="Roboto Condensed"/>
                <a:ea typeface="Roboto Condensed"/>
                <a:cs typeface="Roboto Condensed"/>
                <a:sym typeface="Roboto Condensed"/>
              </a:rPr>
              <a:t>:</a:t>
            </a:r>
            <a:endParaRPr/>
          </a:p>
          <a:p>
            <a:pPr indent="-457200" lvl="0" marL="457200" marR="0" rtl="0" algn="l">
              <a:lnSpc>
                <a:spcPct val="100000"/>
              </a:lnSpc>
              <a:spcBef>
                <a:spcPts val="0"/>
              </a:spcBef>
              <a:spcAft>
                <a:spcPts val="0"/>
              </a:spcAft>
              <a:buClr>
                <a:srgbClr val="000000"/>
              </a:buClr>
              <a:buSzPts val="3960"/>
              <a:buFont typeface="Arial"/>
              <a:buChar char="•"/>
            </a:pPr>
            <a:r>
              <a:rPr b="0" i="1" lang="en-US" sz="3200" u="none" cap="none" strike="noStrike">
                <a:solidFill>
                  <a:srgbClr val="000000"/>
                </a:solidFill>
                <a:latin typeface="Roboto Condensed"/>
                <a:ea typeface="Roboto Condensed"/>
                <a:cs typeface="Roboto Condensed"/>
                <a:sym typeface="Roboto Condensed"/>
              </a:rPr>
              <a:t>Description</a:t>
            </a:r>
            <a:r>
              <a:rPr b="0" i="0" lang="en-US" sz="3200" u="none" cap="none" strike="noStrike">
                <a:solidFill>
                  <a:srgbClr val="000000"/>
                </a:solidFill>
                <a:latin typeface="Roboto Condensed"/>
                <a:ea typeface="Roboto Condensed"/>
                <a:cs typeface="Roboto Condensed"/>
                <a:sym typeface="Roboto Condensed"/>
              </a:rPr>
              <a:t>: Nagios is a robust, flexible monitoring system that provides alerts on server performance, uptime, and network health. It supports extensive plugins and integrations.</a:t>
            </a:r>
            <a:endParaRPr/>
          </a:p>
          <a:p>
            <a:pPr indent="-457200" lvl="0" marL="457200" marR="0" rtl="0" algn="l">
              <a:lnSpc>
                <a:spcPct val="100000"/>
              </a:lnSpc>
              <a:spcBef>
                <a:spcPts val="0"/>
              </a:spcBef>
              <a:spcAft>
                <a:spcPts val="0"/>
              </a:spcAft>
              <a:buClr>
                <a:srgbClr val="000000"/>
              </a:buClr>
              <a:buSzPts val="3960"/>
              <a:buFont typeface="Arial"/>
              <a:buChar char="•"/>
            </a:pPr>
            <a:r>
              <a:rPr b="0" i="1" lang="en-US" sz="3200" u="none" cap="none" strike="noStrike">
                <a:solidFill>
                  <a:srgbClr val="000000"/>
                </a:solidFill>
                <a:latin typeface="Roboto Condensed"/>
                <a:ea typeface="Roboto Condensed"/>
                <a:cs typeface="Roboto Condensed"/>
                <a:sym typeface="Roboto Condensed"/>
              </a:rPr>
              <a:t>Use Case</a:t>
            </a:r>
            <a:r>
              <a:rPr b="0" i="0" lang="en-US" sz="3200" u="none" cap="none" strike="noStrike">
                <a:solidFill>
                  <a:srgbClr val="000000"/>
                </a:solidFill>
                <a:latin typeface="Roboto Condensed"/>
                <a:ea typeface="Roboto Condensed"/>
                <a:cs typeface="Roboto Condensed"/>
                <a:sym typeface="Roboto Condensed"/>
              </a:rPr>
              <a:t>: Commonly deployed in enterprise environments to monitor complex IT infrastructures.</a:t>
            </a:r>
            <a:endParaRPr/>
          </a:p>
        </p:txBody>
      </p:sp>
      <p:sp>
        <p:nvSpPr>
          <p:cNvPr id="117" name="Google Shape;117;p27"/>
          <p:cNvSpPr txBox="1"/>
          <p:nvPr/>
        </p:nvSpPr>
        <p:spPr>
          <a:xfrm>
            <a:off x="2486784" y="2711841"/>
            <a:ext cx="19410427" cy="206210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200" u="none" cap="none" strike="noStrike">
                <a:solidFill>
                  <a:srgbClr val="000000"/>
                </a:solidFill>
                <a:latin typeface="Roboto Condensed"/>
                <a:ea typeface="Roboto Condensed"/>
                <a:cs typeface="Roboto Condensed"/>
                <a:sym typeface="Roboto Condensed"/>
              </a:rPr>
              <a:t>Example</a:t>
            </a:r>
            <a:r>
              <a:rPr b="0" i="0" lang="en-US" sz="3200" u="none" cap="none" strike="noStrike">
                <a:solidFill>
                  <a:srgbClr val="000000"/>
                </a:solidFill>
                <a:latin typeface="Roboto Condensed"/>
                <a:ea typeface="Roboto Condensed"/>
                <a:cs typeface="Roboto Condensed"/>
                <a:sym typeface="Roboto Condensed"/>
              </a:rPr>
              <a:t>:</a:t>
            </a:r>
            <a:endParaRPr/>
          </a:p>
          <a:p>
            <a:pPr indent="0" lvl="0" marL="0" marR="0" rtl="0" algn="l">
              <a:lnSpc>
                <a:spcPct val="100000"/>
              </a:lnSpc>
              <a:spcBef>
                <a:spcPts val="0"/>
              </a:spcBef>
              <a:spcAft>
                <a:spcPts val="0"/>
              </a:spcAft>
              <a:buNone/>
            </a:pPr>
            <a:r>
              <a:rPr b="0" i="0" lang="en-US" sz="3200" u="none" cap="none" strike="noStrike">
                <a:solidFill>
                  <a:srgbClr val="000000"/>
                </a:solidFill>
                <a:latin typeface="Roboto Condensed"/>
                <a:ea typeface="Roboto Condensed"/>
                <a:cs typeface="Roboto Condensed"/>
                <a:sym typeface="Roboto Condensed"/>
              </a:rPr>
              <a:t>Health Checks: Monitor servers can regularly ping backend servers or send test requests to ensure they are responsive. If a server fails to respond, the monitor server can alert administrators or trigger automated failover processes.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descr="A picture containing drawing&#10;&#10;Description automatically generated" id="122" name="Google Shape;122;p28"/>
          <p:cNvPicPr preferRelativeResize="0"/>
          <p:nvPr/>
        </p:nvPicPr>
        <p:blipFill rotWithShape="1">
          <a:blip r:embed="rId3">
            <a:alphaModFix/>
          </a:blip>
          <a:srcRect b="0" l="0" r="0" t="0"/>
          <a:stretch/>
        </p:blipFill>
        <p:spPr>
          <a:xfrm>
            <a:off x="1313650" y="1753558"/>
            <a:ext cx="5103775" cy="1429741"/>
          </a:xfrm>
          <a:prstGeom prst="rect">
            <a:avLst/>
          </a:prstGeom>
          <a:noFill/>
          <a:ln>
            <a:noFill/>
          </a:ln>
        </p:spPr>
      </p:pic>
      <p:sp>
        <p:nvSpPr>
          <p:cNvPr id="123" name="Google Shape;123;p28"/>
          <p:cNvSpPr/>
          <p:nvPr/>
        </p:nvSpPr>
        <p:spPr>
          <a:xfrm>
            <a:off x="1795790" y="3025157"/>
            <a:ext cx="5636029" cy="5693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9BF"/>
              </a:buClr>
              <a:buSzPts val="3100"/>
              <a:buFont typeface="Helvetica Neue"/>
              <a:buNone/>
            </a:pPr>
            <a:r>
              <a:rPr b="1" i="0" lang="en-US" sz="3100" u="none" cap="none" strike="noStrike">
                <a:solidFill>
                  <a:srgbClr val="0079BF"/>
                </a:solidFill>
                <a:latin typeface="Helvetica Neue"/>
                <a:ea typeface="Helvetica Neue"/>
                <a:cs typeface="Helvetica Neue"/>
                <a:sym typeface="Helvetica Neue"/>
              </a:rPr>
              <a:t>WAY TO ENTERPRISE</a:t>
            </a:r>
            <a:endParaRPr b="0" i="0" sz="1400" u="none" cap="none" strike="noStrike">
              <a:solidFill>
                <a:srgbClr val="000000"/>
              </a:solidFill>
              <a:latin typeface="Arial"/>
              <a:ea typeface="Arial"/>
              <a:cs typeface="Arial"/>
              <a:sym typeface="Arial"/>
            </a:endParaRPr>
          </a:p>
        </p:txBody>
      </p:sp>
      <p:sp>
        <p:nvSpPr>
          <p:cNvPr id="124" name="Google Shape;124;p28"/>
          <p:cNvSpPr txBox="1"/>
          <p:nvPr/>
        </p:nvSpPr>
        <p:spPr>
          <a:xfrm>
            <a:off x="948815" y="5847518"/>
            <a:ext cx="11432161" cy="131775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79BF"/>
              </a:buClr>
              <a:buSzPts val="4400"/>
              <a:buFont typeface="Helvetica Neue"/>
              <a:buNone/>
            </a:pPr>
            <a:r>
              <a:rPr b="0" i="0" lang="en-US" sz="10000" u="none" cap="none" strike="noStrike">
                <a:solidFill>
                  <a:srgbClr val="0079BF"/>
                </a:solidFill>
                <a:latin typeface="Helvetica Neue"/>
                <a:ea typeface="Helvetica Neue"/>
                <a:cs typeface="Helvetica Neue"/>
                <a:sym typeface="Helvetica Neue"/>
              </a:rPr>
              <a:t>Git</a:t>
            </a:r>
            <a:endParaRPr b="0" i="0" sz="10000" u="none" cap="none" strike="noStrike">
              <a:solidFill>
                <a:srgbClr val="0079BF"/>
              </a:solidFill>
              <a:latin typeface="Helvetica Neue"/>
              <a:ea typeface="Helvetica Neue"/>
              <a:cs typeface="Helvetica Neue"/>
              <a:sym typeface="Helvetica Neu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4"/>
          <p:cNvSpPr txBox="1"/>
          <p:nvPr/>
        </p:nvSpPr>
        <p:spPr>
          <a:xfrm>
            <a:off x="1200149" y="571498"/>
            <a:ext cx="14746987"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Git Introduction</a:t>
            </a:r>
            <a:endParaRPr b="1" i="0" sz="6000" u="none" cap="none" strike="noStrike">
              <a:solidFill>
                <a:srgbClr val="4F81BD"/>
              </a:solidFill>
              <a:latin typeface="Arial"/>
              <a:ea typeface="Arial"/>
              <a:cs typeface="Arial"/>
              <a:sym typeface="Arial"/>
            </a:endParaRPr>
          </a:p>
        </p:txBody>
      </p:sp>
      <p:sp>
        <p:nvSpPr>
          <p:cNvPr id="130" name="Google Shape;130;p4"/>
          <p:cNvSpPr txBox="1"/>
          <p:nvPr/>
        </p:nvSpPr>
        <p:spPr>
          <a:xfrm>
            <a:off x="1491343" y="2101872"/>
            <a:ext cx="21401314" cy="932905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p:txBody>
      </p:sp>
      <p:pic>
        <p:nvPicPr>
          <p:cNvPr id="131" name="Google Shape;131;p4"/>
          <p:cNvPicPr preferRelativeResize="0"/>
          <p:nvPr/>
        </p:nvPicPr>
        <p:blipFill rotWithShape="1">
          <a:blip r:embed="rId3">
            <a:alphaModFix/>
          </a:blip>
          <a:srcRect b="0" l="0" r="0" t="0"/>
          <a:stretch/>
        </p:blipFill>
        <p:spPr>
          <a:xfrm>
            <a:off x="1167736" y="2101872"/>
            <a:ext cx="22048528" cy="951225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9"/>
          <p:cNvSpPr txBox="1"/>
          <p:nvPr/>
        </p:nvSpPr>
        <p:spPr>
          <a:xfrm>
            <a:off x="1200149" y="571498"/>
            <a:ext cx="14746987"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Git Introduction</a:t>
            </a:r>
            <a:endParaRPr b="1" i="0" sz="6000" u="none" cap="none" strike="noStrike">
              <a:solidFill>
                <a:srgbClr val="4F81BD"/>
              </a:solidFill>
              <a:latin typeface="Arial"/>
              <a:ea typeface="Arial"/>
              <a:cs typeface="Arial"/>
              <a:sym typeface="Arial"/>
            </a:endParaRPr>
          </a:p>
        </p:txBody>
      </p:sp>
      <p:sp>
        <p:nvSpPr>
          <p:cNvPr id="137" name="Google Shape;137;p29"/>
          <p:cNvSpPr txBox="1"/>
          <p:nvPr/>
        </p:nvSpPr>
        <p:spPr>
          <a:xfrm>
            <a:off x="1491343" y="2101872"/>
            <a:ext cx="21401314" cy="932905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p:txBody>
      </p:sp>
      <p:pic>
        <p:nvPicPr>
          <p:cNvPr id="138" name="Google Shape;138;p29"/>
          <p:cNvPicPr preferRelativeResize="0"/>
          <p:nvPr/>
        </p:nvPicPr>
        <p:blipFill rotWithShape="1">
          <a:blip r:embed="rId3">
            <a:alphaModFix/>
          </a:blip>
          <a:srcRect b="0" l="0" r="0" t="0"/>
          <a:stretch/>
        </p:blipFill>
        <p:spPr>
          <a:xfrm>
            <a:off x="1473202" y="2101872"/>
            <a:ext cx="21437596" cy="966605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30"/>
          <p:cNvSpPr txBox="1"/>
          <p:nvPr/>
        </p:nvSpPr>
        <p:spPr>
          <a:xfrm>
            <a:off x="1200149" y="571498"/>
            <a:ext cx="14746987"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Git Introduction</a:t>
            </a:r>
            <a:endParaRPr b="1" i="0" sz="6000" u="none" cap="none" strike="noStrike">
              <a:solidFill>
                <a:srgbClr val="4F81BD"/>
              </a:solidFill>
              <a:latin typeface="Arial"/>
              <a:ea typeface="Arial"/>
              <a:cs typeface="Arial"/>
              <a:sym typeface="Arial"/>
            </a:endParaRPr>
          </a:p>
        </p:txBody>
      </p:sp>
      <p:sp>
        <p:nvSpPr>
          <p:cNvPr id="144" name="Google Shape;144;p30"/>
          <p:cNvSpPr txBox="1"/>
          <p:nvPr/>
        </p:nvSpPr>
        <p:spPr>
          <a:xfrm>
            <a:off x="1491343" y="2101872"/>
            <a:ext cx="21401314" cy="932905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p:txBody>
      </p:sp>
      <p:pic>
        <p:nvPicPr>
          <p:cNvPr id="145" name="Google Shape;145;p30"/>
          <p:cNvPicPr preferRelativeResize="0"/>
          <p:nvPr/>
        </p:nvPicPr>
        <p:blipFill rotWithShape="1">
          <a:blip r:embed="rId3">
            <a:alphaModFix/>
          </a:blip>
          <a:srcRect b="0" l="0" r="0" t="0"/>
          <a:stretch/>
        </p:blipFill>
        <p:spPr>
          <a:xfrm>
            <a:off x="1090968" y="2101872"/>
            <a:ext cx="22202063" cy="989937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31"/>
          <p:cNvSpPr txBox="1"/>
          <p:nvPr/>
        </p:nvSpPr>
        <p:spPr>
          <a:xfrm>
            <a:off x="1200149" y="571498"/>
            <a:ext cx="14746987"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Git Introduction</a:t>
            </a:r>
            <a:endParaRPr b="1" i="0" sz="6000" u="none" cap="none" strike="noStrike">
              <a:solidFill>
                <a:srgbClr val="4F81BD"/>
              </a:solidFill>
              <a:latin typeface="Arial"/>
              <a:ea typeface="Arial"/>
              <a:cs typeface="Arial"/>
              <a:sym typeface="Arial"/>
            </a:endParaRPr>
          </a:p>
        </p:txBody>
      </p:sp>
      <p:sp>
        <p:nvSpPr>
          <p:cNvPr id="151" name="Google Shape;151;p31"/>
          <p:cNvSpPr txBox="1"/>
          <p:nvPr/>
        </p:nvSpPr>
        <p:spPr>
          <a:xfrm>
            <a:off x="1491343" y="2101872"/>
            <a:ext cx="21401314" cy="932905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p:txBody>
      </p:sp>
      <p:pic>
        <p:nvPicPr>
          <p:cNvPr id="152" name="Google Shape;152;p31"/>
          <p:cNvPicPr preferRelativeResize="0"/>
          <p:nvPr/>
        </p:nvPicPr>
        <p:blipFill rotWithShape="1">
          <a:blip r:embed="rId3">
            <a:alphaModFix/>
          </a:blip>
          <a:srcRect b="0" l="0" r="0" t="0"/>
          <a:stretch/>
        </p:blipFill>
        <p:spPr>
          <a:xfrm>
            <a:off x="1189577" y="2185082"/>
            <a:ext cx="22004845" cy="934583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32"/>
          <p:cNvSpPr txBox="1"/>
          <p:nvPr/>
        </p:nvSpPr>
        <p:spPr>
          <a:xfrm>
            <a:off x="1200149" y="571498"/>
            <a:ext cx="14746987"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Git Introduction</a:t>
            </a:r>
            <a:endParaRPr b="1" i="0" sz="6000" u="none" cap="none" strike="noStrike">
              <a:solidFill>
                <a:srgbClr val="4F81BD"/>
              </a:solidFill>
              <a:latin typeface="Arial"/>
              <a:ea typeface="Arial"/>
              <a:cs typeface="Arial"/>
              <a:sym typeface="Arial"/>
            </a:endParaRPr>
          </a:p>
        </p:txBody>
      </p:sp>
      <p:sp>
        <p:nvSpPr>
          <p:cNvPr id="158" name="Google Shape;158;p32"/>
          <p:cNvSpPr txBox="1"/>
          <p:nvPr/>
        </p:nvSpPr>
        <p:spPr>
          <a:xfrm>
            <a:off x="1491343" y="2101872"/>
            <a:ext cx="21401314" cy="932905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p:txBody>
      </p:sp>
      <p:pic>
        <p:nvPicPr>
          <p:cNvPr id="159" name="Google Shape;159;p32"/>
          <p:cNvPicPr preferRelativeResize="0"/>
          <p:nvPr/>
        </p:nvPicPr>
        <p:blipFill rotWithShape="1">
          <a:blip r:embed="rId3">
            <a:alphaModFix/>
          </a:blip>
          <a:srcRect b="0" l="0" r="0" t="0"/>
          <a:stretch/>
        </p:blipFill>
        <p:spPr>
          <a:xfrm>
            <a:off x="1751622" y="1858668"/>
            <a:ext cx="20880756" cy="975546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3"/>
          <p:cNvSpPr txBox="1"/>
          <p:nvPr/>
        </p:nvSpPr>
        <p:spPr>
          <a:xfrm>
            <a:off x="1200149" y="571498"/>
            <a:ext cx="14746987"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Git Introduction</a:t>
            </a:r>
            <a:endParaRPr b="1" i="0" sz="6000" u="none" cap="none" strike="noStrike">
              <a:solidFill>
                <a:srgbClr val="4F81BD"/>
              </a:solidFill>
              <a:latin typeface="Arial"/>
              <a:ea typeface="Arial"/>
              <a:cs typeface="Arial"/>
              <a:sym typeface="Arial"/>
            </a:endParaRPr>
          </a:p>
        </p:txBody>
      </p:sp>
      <p:sp>
        <p:nvSpPr>
          <p:cNvPr id="165" name="Google Shape;165;p33"/>
          <p:cNvSpPr txBox="1"/>
          <p:nvPr/>
        </p:nvSpPr>
        <p:spPr>
          <a:xfrm>
            <a:off x="1491343" y="2101872"/>
            <a:ext cx="21401314" cy="932905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p:txBody>
      </p:sp>
      <p:pic>
        <p:nvPicPr>
          <p:cNvPr id="166" name="Google Shape;166;p33"/>
          <p:cNvPicPr preferRelativeResize="0"/>
          <p:nvPr/>
        </p:nvPicPr>
        <p:blipFill rotWithShape="1">
          <a:blip r:embed="rId3">
            <a:alphaModFix/>
          </a:blip>
          <a:srcRect b="0" l="0" r="0" t="0"/>
          <a:stretch/>
        </p:blipFill>
        <p:spPr>
          <a:xfrm>
            <a:off x="1745301" y="2101872"/>
            <a:ext cx="20893397" cy="932905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4"/>
          <p:cNvSpPr txBox="1"/>
          <p:nvPr/>
        </p:nvSpPr>
        <p:spPr>
          <a:xfrm>
            <a:off x="1200149" y="571498"/>
            <a:ext cx="14746987"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Git Introduction</a:t>
            </a:r>
            <a:endParaRPr b="1" i="0" sz="6000" u="none" cap="none" strike="noStrike">
              <a:solidFill>
                <a:srgbClr val="4F81BD"/>
              </a:solidFill>
              <a:latin typeface="Arial"/>
              <a:ea typeface="Arial"/>
              <a:cs typeface="Arial"/>
              <a:sym typeface="Arial"/>
            </a:endParaRPr>
          </a:p>
        </p:txBody>
      </p:sp>
      <p:sp>
        <p:nvSpPr>
          <p:cNvPr id="172" name="Google Shape;172;p34"/>
          <p:cNvSpPr txBox="1"/>
          <p:nvPr/>
        </p:nvSpPr>
        <p:spPr>
          <a:xfrm>
            <a:off x="1491343" y="2101872"/>
            <a:ext cx="21401314" cy="932905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p:txBody>
      </p:sp>
      <p:pic>
        <p:nvPicPr>
          <p:cNvPr id="173" name="Google Shape;173;p34"/>
          <p:cNvPicPr preferRelativeResize="0"/>
          <p:nvPr/>
        </p:nvPicPr>
        <p:blipFill rotWithShape="1">
          <a:blip r:embed="rId3">
            <a:alphaModFix/>
          </a:blip>
          <a:srcRect b="0" l="0" r="0" t="0"/>
          <a:stretch/>
        </p:blipFill>
        <p:spPr>
          <a:xfrm>
            <a:off x="655502" y="1815350"/>
            <a:ext cx="23072996" cy="100853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5"/>
          <p:cNvSpPr txBox="1"/>
          <p:nvPr/>
        </p:nvSpPr>
        <p:spPr>
          <a:xfrm>
            <a:off x="1200149" y="571498"/>
            <a:ext cx="14746987"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Git Introduction</a:t>
            </a:r>
            <a:endParaRPr b="1" i="0" sz="6000" u="none" cap="none" strike="noStrike">
              <a:solidFill>
                <a:srgbClr val="4F81BD"/>
              </a:solidFill>
              <a:latin typeface="Arial"/>
              <a:ea typeface="Arial"/>
              <a:cs typeface="Arial"/>
              <a:sym typeface="Arial"/>
            </a:endParaRPr>
          </a:p>
        </p:txBody>
      </p:sp>
      <p:sp>
        <p:nvSpPr>
          <p:cNvPr id="179" name="Google Shape;179;p35"/>
          <p:cNvSpPr txBox="1"/>
          <p:nvPr/>
        </p:nvSpPr>
        <p:spPr>
          <a:xfrm>
            <a:off x="1491343" y="2101872"/>
            <a:ext cx="21401314" cy="932905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p:txBody>
      </p:sp>
      <p:pic>
        <p:nvPicPr>
          <p:cNvPr id="180" name="Google Shape;180;p35"/>
          <p:cNvPicPr preferRelativeResize="0"/>
          <p:nvPr/>
        </p:nvPicPr>
        <p:blipFill rotWithShape="1">
          <a:blip r:embed="rId3">
            <a:alphaModFix/>
          </a:blip>
          <a:srcRect b="0" l="0" r="0" t="0"/>
          <a:stretch/>
        </p:blipFill>
        <p:spPr>
          <a:xfrm>
            <a:off x="1675895" y="2084252"/>
            <a:ext cx="21032210" cy="936429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6"/>
          <p:cNvSpPr txBox="1"/>
          <p:nvPr/>
        </p:nvSpPr>
        <p:spPr>
          <a:xfrm>
            <a:off x="1200149" y="571498"/>
            <a:ext cx="14746987"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Git Introduction</a:t>
            </a:r>
            <a:endParaRPr b="1" i="0" sz="6000" u="none" cap="none" strike="noStrike">
              <a:solidFill>
                <a:srgbClr val="4F81BD"/>
              </a:solidFill>
              <a:latin typeface="Arial"/>
              <a:ea typeface="Arial"/>
              <a:cs typeface="Arial"/>
              <a:sym typeface="Arial"/>
            </a:endParaRPr>
          </a:p>
        </p:txBody>
      </p:sp>
      <p:sp>
        <p:nvSpPr>
          <p:cNvPr id="186" name="Google Shape;186;p36"/>
          <p:cNvSpPr txBox="1"/>
          <p:nvPr/>
        </p:nvSpPr>
        <p:spPr>
          <a:xfrm>
            <a:off x="1491343" y="2101872"/>
            <a:ext cx="21401314" cy="932905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p:txBody>
      </p:sp>
      <p:pic>
        <p:nvPicPr>
          <p:cNvPr id="187" name="Google Shape;187;p36"/>
          <p:cNvPicPr preferRelativeResize="0"/>
          <p:nvPr/>
        </p:nvPicPr>
        <p:blipFill rotWithShape="1">
          <a:blip r:embed="rId3">
            <a:alphaModFix/>
          </a:blip>
          <a:srcRect b="0" l="0" r="0" t="0"/>
          <a:stretch/>
        </p:blipFill>
        <p:spPr>
          <a:xfrm>
            <a:off x="3046509" y="1721625"/>
            <a:ext cx="18290982" cy="102727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7"/>
          <p:cNvSpPr txBox="1"/>
          <p:nvPr/>
        </p:nvSpPr>
        <p:spPr>
          <a:xfrm>
            <a:off x="1200149" y="571498"/>
            <a:ext cx="14746987"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Git Commands</a:t>
            </a:r>
            <a:endParaRPr b="1" i="0" sz="6000" u="none" cap="none" strike="noStrike">
              <a:solidFill>
                <a:srgbClr val="4F81BD"/>
              </a:solidFill>
              <a:latin typeface="Arial"/>
              <a:ea typeface="Arial"/>
              <a:cs typeface="Arial"/>
              <a:sym typeface="Arial"/>
            </a:endParaRPr>
          </a:p>
        </p:txBody>
      </p:sp>
      <p:sp>
        <p:nvSpPr>
          <p:cNvPr id="193" name="Google Shape;193;p37"/>
          <p:cNvSpPr txBox="1"/>
          <p:nvPr/>
        </p:nvSpPr>
        <p:spPr>
          <a:xfrm>
            <a:off x="1491343" y="2101872"/>
            <a:ext cx="21401314" cy="932905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p:txBody>
      </p:sp>
      <p:pic>
        <p:nvPicPr>
          <p:cNvPr id="194" name="Google Shape;194;p37"/>
          <p:cNvPicPr preferRelativeResize="0"/>
          <p:nvPr/>
        </p:nvPicPr>
        <p:blipFill rotWithShape="1">
          <a:blip r:embed="rId3">
            <a:alphaModFix/>
          </a:blip>
          <a:srcRect b="0" l="0" r="0" t="0"/>
          <a:stretch/>
        </p:blipFill>
        <p:spPr>
          <a:xfrm>
            <a:off x="2589796" y="2010273"/>
            <a:ext cx="11610914" cy="4756128"/>
          </a:xfrm>
          <a:prstGeom prst="rect">
            <a:avLst/>
          </a:prstGeom>
          <a:noFill/>
          <a:ln>
            <a:noFill/>
          </a:ln>
        </p:spPr>
      </p:pic>
      <p:pic>
        <p:nvPicPr>
          <p:cNvPr id="195" name="Google Shape;195;p37"/>
          <p:cNvPicPr preferRelativeResize="0"/>
          <p:nvPr/>
        </p:nvPicPr>
        <p:blipFill rotWithShape="1">
          <a:blip r:embed="rId4">
            <a:alphaModFix/>
          </a:blip>
          <a:srcRect b="0" l="0" r="0" t="0"/>
          <a:stretch/>
        </p:blipFill>
        <p:spPr>
          <a:xfrm>
            <a:off x="2306809" y="7246383"/>
            <a:ext cx="14827048" cy="5026978"/>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8"/>
          <p:cNvSpPr txBox="1"/>
          <p:nvPr/>
        </p:nvSpPr>
        <p:spPr>
          <a:xfrm>
            <a:off x="1200149" y="571498"/>
            <a:ext cx="14746987" cy="62071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6000"/>
              <a:buFont typeface="Noto Sans Symbols"/>
              <a:buNone/>
            </a:pPr>
            <a:r>
              <a:rPr b="1" i="0" lang="en-US" sz="6000" u="none" cap="none" strike="noStrike">
                <a:solidFill>
                  <a:srgbClr val="4F81BD"/>
                </a:solidFill>
                <a:latin typeface="Arial"/>
                <a:ea typeface="Arial"/>
                <a:cs typeface="Arial"/>
                <a:sym typeface="Arial"/>
              </a:rPr>
              <a:t>Git Commands</a:t>
            </a:r>
            <a:endParaRPr b="1" i="0" sz="6000" u="none" cap="none" strike="noStrike">
              <a:solidFill>
                <a:srgbClr val="4F81BD"/>
              </a:solidFill>
              <a:latin typeface="Arial"/>
              <a:ea typeface="Arial"/>
              <a:cs typeface="Arial"/>
              <a:sym typeface="Arial"/>
            </a:endParaRPr>
          </a:p>
        </p:txBody>
      </p:sp>
      <p:sp>
        <p:nvSpPr>
          <p:cNvPr id="201" name="Google Shape;201;p38"/>
          <p:cNvSpPr txBox="1"/>
          <p:nvPr/>
        </p:nvSpPr>
        <p:spPr>
          <a:xfrm>
            <a:off x="1491343" y="2101872"/>
            <a:ext cx="21401314" cy="932905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3200" u="none" cap="none" strike="noStrike">
              <a:solidFill>
                <a:srgbClr val="000000"/>
              </a:solidFill>
              <a:latin typeface="Arial"/>
              <a:ea typeface="Arial"/>
              <a:cs typeface="Arial"/>
              <a:sym typeface="Arial"/>
            </a:endParaRPr>
          </a:p>
        </p:txBody>
      </p:sp>
      <p:pic>
        <p:nvPicPr>
          <p:cNvPr id="202" name="Google Shape;202;p38"/>
          <p:cNvPicPr preferRelativeResize="0"/>
          <p:nvPr/>
        </p:nvPicPr>
        <p:blipFill rotWithShape="1">
          <a:blip r:embed="rId3">
            <a:alphaModFix/>
          </a:blip>
          <a:srcRect b="0" l="0" r="0" t="0"/>
          <a:stretch/>
        </p:blipFill>
        <p:spPr>
          <a:xfrm>
            <a:off x="2907172" y="3426178"/>
            <a:ext cx="18569656" cy="668044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Nguyen Anh Quan (VTI.GA)</dc:creator>
</cp:coreProperties>
</file>