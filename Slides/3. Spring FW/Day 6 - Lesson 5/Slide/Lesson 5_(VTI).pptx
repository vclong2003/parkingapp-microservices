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419" r:id="rId3"/>
    <p:sldId id="853" r:id="rId4"/>
    <p:sldId id="854" r:id="rId5"/>
    <p:sldId id="855" r:id="rId6"/>
    <p:sldId id="856" r:id="rId7"/>
    <p:sldId id="857" r:id="rId8"/>
    <p:sldId id="858" r:id="rId9"/>
    <p:sldId id="859" r:id="rId10"/>
    <p:sldId id="824" r:id="rId11"/>
    <p:sldId id="861" r:id="rId12"/>
    <p:sldId id="862" r:id="rId13"/>
    <p:sldId id="863" r:id="rId14"/>
    <p:sldId id="867" r:id="rId15"/>
    <p:sldId id="868" r:id="rId16"/>
    <p:sldId id="869" r:id="rId17"/>
    <p:sldId id="873" r:id="rId18"/>
    <p:sldId id="874" r:id="rId19"/>
    <p:sldId id="870" r:id="rId20"/>
    <p:sldId id="871" r:id="rId21"/>
    <p:sldId id="872" r:id="rId22"/>
    <p:sldId id="875" r:id="rId23"/>
    <p:sldId id="876" r:id="rId24"/>
    <p:sldId id="877" r:id="rId25"/>
    <p:sldId id="879" r:id="rId26"/>
    <p:sldId id="342" r:id="rId27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634" autoAdjust="0"/>
    <p:restoredTop sz="84555" autoAdjust="0"/>
  </p:normalViewPr>
  <p:slideViewPr>
    <p:cSldViewPr snapToGrid="0" snapToObjects="1">
      <p:cViewPr varScale="1">
        <p:scale>
          <a:sx n="31" d="100"/>
          <a:sy n="31" d="100"/>
        </p:scale>
        <p:origin x="101" y="315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3/14/2024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indent="228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indent="457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indent="685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indent="9144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indent="11430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indent="1371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indent="1600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indent="1828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5932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5936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2338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2342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7373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8877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0940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26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3/14/2024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aeldung.com/transaction-configuration-with-jpa-and-spring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jboss.org/hibernate/stable/validator/reference/en-US/html_single/#section-builtin-constraints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Spring Framework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287157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Create/Update Form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Validate</a:t>
            </a:r>
          </a:p>
          <a:p>
            <a:pPr lvl="0" defTabSz="914400">
              <a:defRPr/>
            </a:pPr>
            <a:r>
              <a:rPr lang="en-US" altLang="en-US" sz="6600" b="0" noProof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760095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Create/Update Form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5" y="2540671"/>
            <a:ext cx="11613226" cy="127257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Example 1: Create &amp; Update Form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02" y="3638981"/>
            <a:ext cx="23339543" cy="83917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540220" y="11927537"/>
            <a:ext cx="13035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Create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269612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0271414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Create/Update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95337" y="11927537"/>
            <a:ext cx="13933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Update</a:t>
            </a:r>
            <a:endParaRPr lang="en-US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2083209"/>
            <a:ext cx="22553468" cy="969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341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0271414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Create/Update Form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5" y="2540671"/>
            <a:ext cx="15659932" cy="255662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Example 2: Create Account &amp; assign department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err="1"/>
              <a:t>ModelMapper</a:t>
            </a:r>
            <a:r>
              <a:rPr lang="en-US" dirty="0"/>
              <a:t> Error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568" y="4947074"/>
            <a:ext cx="16988139" cy="674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29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0271414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Create/Update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31592" y="10799128"/>
            <a:ext cx="11208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Error</a:t>
            </a:r>
            <a:endParaRPr lang="en-US" b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533" y="2970256"/>
            <a:ext cx="17466118" cy="778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941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0271414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Create/Update Form</a:t>
            </a: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849856" y="2540671"/>
            <a:ext cx="2605412" cy="129202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Fix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699" y="3366817"/>
            <a:ext cx="18278475" cy="90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4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0271414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Create/Update Form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5" y="2540672"/>
            <a:ext cx="12663813" cy="98074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Example 3: Create Department &amp; List Account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60" y="3910519"/>
            <a:ext cx="23357308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862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0271414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Create/Update Form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2265476"/>
            <a:ext cx="22217751" cy="917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66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Transaction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50" y="2533651"/>
            <a:ext cx="3502363" cy="110316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Example: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370" y="3533880"/>
            <a:ext cx="20833692" cy="901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542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Transaction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51" y="2533650"/>
            <a:ext cx="22198924" cy="120177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Reference: </a:t>
            </a:r>
            <a:r>
              <a:rPr lang="en-US" dirty="0">
                <a:hlinkClick r:id="rId2"/>
              </a:rPr>
              <a:t>https://www.baeldung.com/transaction-configuration-with-jpa-and-spring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6742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Validate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72" y="6257660"/>
            <a:ext cx="23808232" cy="5121539"/>
          </a:xfrm>
          <a:prstGeom prst="rect">
            <a:avLst/>
          </a:prstGeom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1847851" y="2533650"/>
            <a:ext cx="13569949" cy="252095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Bean Validation, Hibernate Validation Libraries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Using for Backend validation</a:t>
            </a:r>
          </a:p>
        </p:txBody>
      </p:sp>
    </p:spTree>
    <p:extLst>
      <p:ext uri="{BB962C8B-B14F-4D97-AF65-F5344CB8AC3E}">
        <p14:creationId xmlns:p14="http://schemas.microsoft.com/office/powerpoint/2010/main" val="711634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Validate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51" y="2533650"/>
            <a:ext cx="4095749" cy="120177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Example 1: 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98" y="3735421"/>
            <a:ext cx="10808002" cy="4341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543473" y="8716328"/>
            <a:ext cx="16321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pom.xml</a:t>
            </a:r>
            <a:endParaRPr lang="en-US" b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7549" y="3735420"/>
            <a:ext cx="11601421" cy="46211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536575" y="8716327"/>
            <a:ext cx="10967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Form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43139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Validate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14207" y="8204200"/>
            <a:ext cx="19191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Controller</a:t>
            </a:r>
            <a:endParaRPr lang="en-US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98" y="4587812"/>
            <a:ext cx="10372068" cy="36163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8720" y="1483841"/>
            <a:ext cx="10941280" cy="108790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7914344" y="12070479"/>
            <a:ext cx="8691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Test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990785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Validate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51" y="2533650"/>
            <a:ext cx="11556864" cy="120177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Example 2: Modify output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79" y="3735421"/>
            <a:ext cx="22853059" cy="630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94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Validate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879" y="2520680"/>
            <a:ext cx="15226547" cy="901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39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Validate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51" y="2051050"/>
            <a:ext cx="4095749" cy="120177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Annotation 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516248"/>
              </p:ext>
            </p:extLst>
          </p:nvPr>
        </p:nvGraphicFramePr>
        <p:xfrm>
          <a:off x="2508251" y="2897221"/>
          <a:ext cx="19691349" cy="981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5891">
                  <a:extLst>
                    <a:ext uri="{9D8B030D-6E8A-4147-A177-3AD203B41FA5}">
                      <a16:colId xmlns:a16="http://schemas.microsoft.com/office/drawing/2014/main" val="2234985009"/>
                    </a:ext>
                  </a:extLst>
                </a:gridCol>
                <a:gridCol w="15455458">
                  <a:extLst>
                    <a:ext uri="{9D8B030D-6E8A-4147-A177-3AD203B41FA5}">
                      <a16:colId xmlns:a16="http://schemas.microsoft.com/office/drawing/2014/main" val="1271904631"/>
                    </a:ext>
                  </a:extLst>
                </a:gridCol>
              </a:tblGrid>
              <a:tr h="734041">
                <a:tc>
                  <a:txBody>
                    <a:bodyPr/>
                    <a:lstStyle/>
                    <a:p>
                      <a:r>
                        <a:rPr lang="en-US" sz="4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Annotation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590324"/>
                  </a:ext>
                </a:extLst>
              </a:tr>
              <a:tr h="2304124">
                <a:tc>
                  <a:txBody>
                    <a:bodyPr/>
                    <a:lstStyle/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@Null</a:t>
                      </a:r>
                    </a:p>
                    <a:p>
                      <a:pPr marL="0" marR="0" lvl="0" indent="0" algn="l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3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NotNull</a:t>
                      </a:r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3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NotEmpty</a:t>
                      </a:r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3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NotBlank</a:t>
                      </a:r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property must be null</a:t>
                      </a:r>
                    </a:p>
                    <a:p>
                      <a:pPr marL="0" marR="0" lvl="0" indent="0" algn="l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property must not be null</a:t>
                      </a:r>
                    </a:p>
                    <a:p>
                      <a:pPr marL="0" marR="0" lvl="0" indent="0" algn="l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property is not null or empty (applied to String, Collection, Map,</a:t>
                      </a:r>
                      <a:r>
                        <a:rPr lang="en-US" sz="3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Array)</a:t>
                      </a:r>
                    </a:p>
                    <a:p>
                      <a:pPr marL="0" marR="0" lvl="0" indent="0" algn="l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property is not null,</a:t>
                      </a:r>
                      <a:r>
                        <a:rPr lang="en-US" sz="3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empty or</a:t>
                      </a:r>
                      <a:r>
                        <a:rPr lang="en-US" sz="3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whitespace (applied to String)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621448"/>
                  </a:ext>
                </a:extLst>
              </a:tr>
              <a:tr h="1679859">
                <a:tc>
                  <a:txBody>
                    <a:bodyPr/>
                    <a:lstStyle/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@Min</a:t>
                      </a:r>
                    </a:p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@Max</a:t>
                      </a:r>
                    </a:p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property has a value no smaller than the value attribute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8197"/>
                  </a:ext>
                </a:extLst>
              </a:tr>
              <a:tr h="2304124">
                <a:tc>
                  <a:txBody>
                    <a:bodyPr/>
                    <a:lstStyle/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@Positive</a:t>
                      </a:r>
                    </a:p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3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PositiveOrZero</a:t>
                      </a:r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@Negative</a:t>
                      </a:r>
                    </a:p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3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NegativeOrZero</a:t>
                      </a:r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apply to numeric values and validate that they are strictly positive</a:t>
                      </a:r>
                    </a:p>
                    <a:p>
                      <a:pPr algn="l"/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453245"/>
                  </a:ext>
                </a:extLst>
              </a:tr>
              <a:tr h="2304124">
                <a:tc>
                  <a:txBody>
                    <a:bodyPr/>
                    <a:lstStyle/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@Size</a:t>
                      </a:r>
                    </a:p>
                    <a:p>
                      <a:pPr algn="l"/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@Length</a:t>
                      </a:r>
                    </a:p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3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CodePointLength</a:t>
                      </a:r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annotated property value has a size between the attributes min and max</a:t>
                      </a:r>
                    </a:p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(applied to String, Collection, Map, array)</a:t>
                      </a:r>
                    </a:p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for only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48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440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Validate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937000" y="2576042"/>
          <a:ext cx="15646400" cy="79574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46600">
                  <a:extLst>
                    <a:ext uri="{9D8B030D-6E8A-4147-A177-3AD203B41FA5}">
                      <a16:colId xmlns:a16="http://schemas.microsoft.com/office/drawing/2014/main" val="2234985009"/>
                    </a:ext>
                  </a:extLst>
                </a:gridCol>
                <a:gridCol w="11099800">
                  <a:extLst>
                    <a:ext uri="{9D8B030D-6E8A-4147-A177-3AD203B41FA5}">
                      <a16:colId xmlns:a16="http://schemas.microsoft.com/office/drawing/2014/main" val="1271904631"/>
                    </a:ext>
                  </a:extLst>
                </a:gridCol>
              </a:tblGrid>
              <a:tr h="945947">
                <a:tc>
                  <a:txBody>
                    <a:bodyPr/>
                    <a:lstStyle/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@Future</a:t>
                      </a:r>
                    </a:p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3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FutureOrPresent</a:t>
                      </a:r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@Past</a:t>
                      </a:r>
                    </a:p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3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PastOrPresent</a:t>
                      </a:r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date value is in the future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621448"/>
                  </a:ext>
                </a:extLst>
              </a:tr>
              <a:tr h="945947">
                <a:tc>
                  <a:txBody>
                    <a:bodyPr/>
                    <a:lstStyle/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3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DurationMin</a:t>
                      </a:r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3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DurationMax</a:t>
                      </a:r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047970"/>
                  </a:ext>
                </a:extLst>
              </a:tr>
              <a:tr h="945947">
                <a:tc>
                  <a:txBody>
                    <a:bodyPr/>
                    <a:lstStyle/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@Email</a:t>
                      </a:r>
                    </a:p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@URL</a:t>
                      </a:r>
                    </a:p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3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SafeHtml</a:t>
                      </a:r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3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CreditCardNumber</a:t>
                      </a:r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property is a valid email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453245"/>
                  </a:ext>
                </a:extLst>
              </a:tr>
              <a:tr h="945947">
                <a:tc>
                  <a:txBody>
                    <a:bodyPr/>
                    <a:lstStyle/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3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UniqueElements</a:t>
                      </a:r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a collection does not contain duplicates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05439"/>
                  </a:ext>
                </a:extLst>
              </a:tr>
              <a:tr h="945947">
                <a:tc>
                  <a:txBody>
                    <a:bodyPr/>
                    <a:lstStyle/>
                    <a:p>
                      <a:pPr algn="l"/>
                      <a:r>
                        <a:rPr lang="en-US" sz="3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3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98425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905000" y="11191556"/>
            <a:ext cx="20726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1" dirty="0">
                <a:hlinkClick r:id="rId2"/>
              </a:rPr>
              <a:t>https://docs.jboss.org/hibernate/stable/validator/reference/en-US/html_single/#section-builtin-constraints</a:t>
            </a:r>
            <a:r>
              <a:rPr lang="en-US" b="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8118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Validate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51" y="2533650"/>
            <a:ext cx="11556864" cy="120177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Example 3: Custom Annotation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28" y="3398569"/>
            <a:ext cx="22890003" cy="916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93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Validate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420" y="3023497"/>
            <a:ext cx="12436839" cy="711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526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Validate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51" y="2533650"/>
            <a:ext cx="11556864" cy="120177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Example 4: Custom Annotation 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35" y="3735420"/>
            <a:ext cx="23385292" cy="52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088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Validate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42107"/>
            <a:ext cx="23613013" cy="736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11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Validate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15" y="4710018"/>
            <a:ext cx="12467517" cy="457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709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Validate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51" y="2533650"/>
            <a:ext cx="5156064" cy="120177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Example 5: List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817" y="4241258"/>
            <a:ext cx="19662249" cy="585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557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Validate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420" y="2937350"/>
            <a:ext cx="10145439" cy="809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945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31440</TotalTime>
  <Words>366</Words>
  <Application>Microsoft Office PowerPoint</Application>
  <PresentationFormat>Custom</PresentationFormat>
  <Paragraphs>98</Paragraphs>
  <Slides>26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Meiryo</vt:lpstr>
      <vt:lpstr>Calibri</vt:lpstr>
      <vt:lpstr>Courier New</vt:lpstr>
      <vt:lpstr>Times New Roman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4309</cp:revision>
  <cp:lastPrinted>2019-09-17T11:00:25Z</cp:lastPrinted>
  <dcterms:modified xsi:type="dcterms:W3CDTF">2024-03-14T01:32:19Z</dcterms:modified>
  <cp:category/>
</cp:coreProperties>
</file>