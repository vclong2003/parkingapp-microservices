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419" r:id="rId3"/>
    <p:sldId id="585" r:id="rId4"/>
    <p:sldId id="623" r:id="rId5"/>
    <p:sldId id="620" r:id="rId6"/>
    <p:sldId id="624" r:id="rId7"/>
    <p:sldId id="636" r:id="rId8"/>
    <p:sldId id="639" r:id="rId9"/>
    <p:sldId id="700" r:id="rId10"/>
    <p:sldId id="702" r:id="rId11"/>
    <p:sldId id="701" r:id="rId12"/>
    <p:sldId id="705" r:id="rId13"/>
    <p:sldId id="706" r:id="rId14"/>
    <p:sldId id="707" r:id="rId15"/>
    <p:sldId id="657" r:id="rId16"/>
    <p:sldId id="711" r:id="rId17"/>
    <p:sldId id="708" r:id="rId18"/>
    <p:sldId id="709" r:id="rId19"/>
    <p:sldId id="714" r:id="rId20"/>
    <p:sldId id="726" r:id="rId21"/>
    <p:sldId id="727" r:id="rId22"/>
    <p:sldId id="728" r:id="rId23"/>
    <p:sldId id="729" r:id="rId24"/>
    <p:sldId id="710" r:id="rId25"/>
    <p:sldId id="730" r:id="rId26"/>
    <p:sldId id="647" r:id="rId27"/>
    <p:sldId id="731" r:id="rId28"/>
    <p:sldId id="732" r:id="rId29"/>
    <p:sldId id="733" r:id="rId30"/>
    <p:sldId id="734" r:id="rId31"/>
    <p:sldId id="663" r:id="rId32"/>
    <p:sldId id="664" r:id="rId33"/>
    <p:sldId id="665" r:id="rId34"/>
    <p:sldId id="736" r:id="rId35"/>
    <p:sldId id="715" r:id="rId36"/>
    <p:sldId id="716" r:id="rId37"/>
    <p:sldId id="666" r:id="rId38"/>
    <p:sldId id="717" r:id="rId39"/>
    <p:sldId id="718" r:id="rId40"/>
    <p:sldId id="667" r:id="rId41"/>
    <p:sldId id="719" r:id="rId42"/>
    <p:sldId id="720" r:id="rId43"/>
    <p:sldId id="661" r:id="rId44"/>
    <p:sldId id="668" r:id="rId45"/>
    <p:sldId id="670" r:id="rId46"/>
    <p:sldId id="723" r:id="rId47"/>
    <p:sldId id="721" r:id="rId48"/>
    <p:sldId id="722" r:id="rId49"/>
    <p:sldId id="724" r:id="rId50"/>
    <p:sldId id="739" r:id="rId51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1" autoAdjust="0"/>
    <p:restoredTop sz="84555" autoAdjust="0"/>
  </p:normalViewPr>
  <p:slideViewPr>
    <p:cSldViewPr snapToGrid="0" snapToObjects="1">
      <p:cViewPr varScale="1">
        <p:scale>
          <a:sx n="37" d="100"/>
          <a:sy n="37" d="100"/>
        </p:scale>
        <p:origin x="131" y="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50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aeldung.com/hibernate-date-time" TargetMode="Externa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Anotation Mapping</a:t>
            </a:r>
            <a:endParaRPr lang="en-US" altLang="en-US" sz="6600" b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3068300" cy="876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Connecting Database Libraries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63" y="2172263"/>
            <a:ext cx="16812821" cy="9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8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ORM Tool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991435" y="2213912"/>
            <a:ext cx="20154065" cy="4461208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Stands for </a:t>
            </a:r>
            <a:r>
              <a:rPr lang="en-US" sz="4000" dirty="0"/>
              <a:t>Object Relational Mapping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Simplifies the data creation, data manipulation and data access.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ORM is a programming technique that maps the object to the data stored in the database.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6025426"/>
            <a:ext cx="21179158" cy="641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5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JPA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829390" y="2443580"/>
            <a:ext cx="23554610" cy="187695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</a:t>
            </a:r>
            <a:r>
              <a:rPr lang="en-US" sz="4000" dirty="0"/>
              <a:t>Java Persistence API (JPA) is a Java specification that provides certain functionality &amp; standard to ORM tools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1" y="4488825"/>
            <a:ext cx="18326099" cy="66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09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Persistent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94819" y="2312759"/>
            <a:ext cx="12318361" cy="833400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b="1" dirty="0"/>
              <a:t> </a:t>
            </a:r>
            <a:r>
              <a:rPr lang="en-US" sz="4000" dirty="0"/>
              <a:t>Persistent Object (Plain Old Java Object - POJO)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Require: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A no-</a:t>
            </a:r>
            <a:r>
              <a:rPr lang="en-US" sz="4000" dirty="0" err="1"/>
              <a:t>arg</a:t>
            </a:r>
            <a:r>
              <a:rPr lang="en-US" sz="4000" dirty="0"/>
              <a:t> constructor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Have a id property as primary key in database’s table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Declare getter and setter methods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Non-final class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615" y="2312759"/>
            <a:ext cx="8434135" cy="3528280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8282974" y="5841039"/>
            <a:ext cx="1646257" cy="90231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JDBC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282973" y="10823346"/>
            <a:ext cx="2490319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Hibernate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6615" y="7400201"/>
            <a:ext cx="8765730" cy="324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9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Mapping File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5394125" cy="370823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err="1"/>
              <a:t>Config</a:t>
            </a:r>
            <a:r>
              <a:rPr lang="en-US" sz="4000"/>
              <a:t> by: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/>
              <a:t>annotation</a:t>
            </a:r>
            <a:endParaRPr lang="en-US" sz="40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6432047" y="11724055"/>
            <a:ext cx="3601667" cy="56974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/>
              <a:t>Config</a:t>
            </a:r>
            <a:r>
              <a:rPr lang="en-US" sz="3500" i="1" dirty="0"/>
              <a:t> by annotation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182" y="2265849"/>
            <a:ext cx="12782918" cy="93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1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4877215" cy="510650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Primitive type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Date &amp; </a:t>
            </a:r>
            <a:r>
              <a:rPr lang="en-US" sz="4000" dirty="0" err="1"/>
              <a:t>DateTime</a:t>
            </a:r>
            <a:endParaRPr lang="en-US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/>
              <a:t> Enum</a:t>
            </a:r>
            <a:endParaRPr lang="en-US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@Table, @Column, @Formula, Default value, @</a:t>
            </a:r>
            <a:r>
              <a:rPr lang="en-US" sz="4000" dirty="0" err="1"/>
              <a:t>PrePersist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1789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4891205" cy="1163151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Primitive 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65847"/>
              </p:ext>
            </p:extLst>
          </p:nvPr>
        </p:nvGraphicFramePr>
        <p:xfrm>
          <a:off x="3683000" y="3219449"/>
          <a:ext cx="16256000" cy="922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11377039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3836610684"/>
                    </a:ext>
                  </a:extLst>
                </a:gridCol>
              </a:tblGrid>
              <a:tr h="922020">
                <a:tc>
                  <a:txBody>
                    <a:bodyPr/>
                    <a:lstStyle/>
                    <a:p>
                      <a:r>
                        <a:rPr lang="en-US" sz="4400" b="1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b="1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138326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short (Short)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TINY</a:t>
                      </a:r>
                      <a:r>
                        <a:rPr lang="en-US" sz="2400" baseline="0" dirty="0"/>
                        <a:t>INT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040437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/>
                        <a:t>short (Short)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SMALLINT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492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/>
                        <a:t>int</a:t>
                      </a:r>
                      <a:r>
                        <a:rPr lang="en-US" sz="2400" dirty="0"/>
                        <a:t> (Integer)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483464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/>
                        <a:t>long (Long)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BIGINT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026899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/>
                        <a:t>float (Float)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FLOAT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40036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/>
                        <a:t>double (Double)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DOUBLE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33802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/>
                        <a:t>BigDecimal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DECIMAL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070156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/>
                        <a:t>String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CHAR, VARCHAR, NCHAR, NVARCHAR, TEXT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748713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boolean</a:t>
                      </a:r>
                      <a:r>
                        <a:rPr lang="en-US" sz="2400" baseline="0" dirty="0"/>
                        <a:t> (Boolean)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BIT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968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91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1183123" y="11807964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1719401"/>
            <a:ext cx="9456038" cy="980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51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5124151" cy="102599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Date &amp; </a:t>
            </a:r>
            <a:r>
              <a:rPr lang="en-US" sz="4000" dirty="0" err="1"/>
              <a:t>DateTime</a:t>
            </a:r>
            <a:endParaRPr lang="en-US" sz="4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94406"/>
              </p:ext>
            </p:extLst>
          </p:nvPr>
        </p:nvGraphicFramePr>
        <p:xfrm>
          <a:off x="3778250" y="3124201"/>
          <a:ext cx="16256000" cy="39814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748864962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112589718"/>
                    </a:ext>
                  </a:extLst>
                </a:gridCol>
              </a:tblGrid>
              <a:tr h="1421945">
                <a:tc>
                  <a:txBody>
                    <a:bodyPr/>
                    <a:lstStyle/>
                    <a:p>
                      <a:r>
                        <a:rPr lang="en-US" sz="4400" b="1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b="1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991213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@Temporal(</a:t>
                      </a:r>
                      <a:r>
                        <a:rPr lang="en-US" sz="2400" dirty="0" err="1"/>
                        <a:t>TemporalType.DATE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42381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@Temporal(</a:t>
                      </a:r>
                      <a:r>
                        <a:rPr lang="en-US" sz="2400" dirty="0" err="1"/>
                        <a:t>TemporalType.TIME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268731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r>
                        <a:rPr lang="en-US" sz="2400" dirty="0"/>
                        <a:t>@Temporal(</a:t>
                      </a:r>
                      <a:r>
                        <a:rPr lang="en-US" sz="2400" dirty="0" err="1"/>
                        <a:t>TemporalType.TIMESTAMP</a:t>
                      </a:r>
                      <a:r>
                        <a:rPr lang="en-US" sz="240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DateTime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3618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8167882"/>
            <a:ext cx="6796173" cy="11752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821" y="8143107"/>
            <a:ext cx="7346449" cy="13357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1642" y="8131996"/>
            <a:ext cx="7585215" cy="1160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381786" y="9832848"/>
            <a:ext cx="30489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 err="1"/>
              <a:t>java.util.date</a:t>
            </a:r>
            <a:endParaRPr lang="en-US" b="0" i="1" dirty="0"/>
          </a:p>
        </p:txBody>
      </p:sp>
      <p:sp>
        <p:nvSpPr>
          <p:cNvPr id="9" name="Rectangle 8"/>
          <p:cNvSpPr/>
          <p:nvPr/>
        </p:nvSpPr>
        <p:spPr>
          <a:xfrm>
            <a:off x="6725186" y="12033581"/>
            <a:ext cx="103621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Tutorial: </a:t>
            </a:r>
            <a:r>
              <a:rPr lang="en-US" b="0" i="1" dirty="0">
                <a:hlinkClick r:id="rId5"/>
              </a:rPr>
              <a:t>https://www.baeldung.com/hibernate-date-time</a:t>
            </a:r>
            <a:r>
              <a:rPr lang="en-US" b="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6271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15696365" cy="11631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@Entity: Define class which has @Entity is a Database’s table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0" y="3331376"/>
            <a:ext cx="8791194" cy="91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1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426970"/>
            <a:ext cx="12210215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@Table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name: table’s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catalog: database’s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err="1"/>
              <a:t>uniqueConstraints</a:t>
            </a:r>
            <a:r>
              <a:rPr lang="en-US" sz="4000" dirty="0"/>
              <a:t>: </a:t>
            </a:r>
            <a:r>
              <a:rPr lang="en-US" sz="4000" dirty="0" err="1"/>
              <a:t>config</a:t>
            </a:r>
            <a:r>
              <a:rPr lang="en-US" sz="4000" dirty="0"/>
              <a:t> multiple column unique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561" y="7612380"/>
            <a:ext cx="9489161" cy="4750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100" y="7612380"/>
            <a:ext cx="8558542" cy="47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27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1733550"/>
            <a:ext cx="17410865" cy="11201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3500" dirty="0"/>
              <a:t> @Column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name: column’s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length: </a:t>
            </a:r>
            <a:r>
              <a:rPr lang="vi-VN" sz="3600" dirty="0"/>
              <a:t>varchar</a:t>
            </a:r>
            <a:r>
              <a:rPr lang="en-US" sz="3600" dirty="0"/>
              <a:t> has d</a:t>
            </a:r>
            <a:r>
              <a:rPr lang="vi-VN" sz="3600" dirty="0"/>
              <a:t>efault 255</a:t>
            </a:r>
            <a:endParaRPr lang="en-US" sz="36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</a:t>
            </a:r>
            <a:r>
              <a:rPr lang="en-US" sz="3600" dirty="0" err="1"/>
              <a:t>nullable</a:t>
            </a:r>
            <a:r>
              <a:rPr lang="en-US" sz="3600" dirty="0"/>
              <a:t>: field is </a:t>
            </a:r>
            <a:r>
              <a:rPr lang="en-US" sz="3600" dirty="0" err="1"/>
              <a:t>configed</a:t>
            </a:r>
            <a:r>
              <a:rPr lang="en-US" sz="3600" dirty="0"/>
              <a:t> null or not null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unique: field is </a:t>
            </a:r>
            <a:r>
              <a:rPr lang="en-US" sz="3600" dirty="0" err="1"/>
              <a:t>configed</a:t>
            </a:r>
            <a:r>
              <a:rPr lang="en-US" sz="3600" dirty="0"/>
              <a:t> unique or not unique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</a:t>
            </a:r>
            <a:r>
              <a:rPr lang="en-US" sz="3600" dirty="0" err="1"/>
              <a:t>insertable</a:t>
            </a:r>
            <a:r>
              <a:rPr lang="en-US" sz="3600" dirty="0"/>
              <a:t>: we can </a:t>
            </a:r>
            <a:r>
              <a:rPr lang="en-US" sz="3600" dirty="0" err="1"/>
              <a:t>insertable</a:t>
            </a:r>
            <a:r>
              <a:rPr lang="en-US" sz="3600" dirty="0"/>
              <a:t> this field into database (default = true)</a:t>
            </a:r>
          </a:p>
          <a:p>
            <a:pPr marL="444500" lvl="1" indent="0" hangingPunct="1">
              <a:buNone/>
            </a:pPr>
            <a:r>
              <a:rPr lang="en-US" sz="3600" dirty="0"/>
              <a:t>      Ex </a:t>
            </a:r>
            <a:r>
              <a:rPr lang="en-US" sz="3600" dirty="0" err="1"/>
              <a:t>insertable</a:t>
            </a:r>
            <a:r>
              <a:rPr lang="en-US" sz="3600" dirty="0"/>
              <a:t> = false: id, </a:t>
            </a:r>
            <a:r>
              <a:rPr lang="en-US" sz="3600" dirty="0" err="1"/>
              <a:t>created_date</a:t>
            </a:r>
            <a:r>
              <a:rPr lang="en-US" sz="3600" dirty="0"/>
              <a:t>, ... 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updatable: we can updatable this field into database (default = true)</a:t>
            </a:r>
          </a:p>
          <a:p>
            <a:pPr marL="444500" lvl="1" indent="0" hangingPunct="1">
              <a:buNone/>
            </a:pPr>
            <a:r>
              <a:rPr lang="en-US" sz="3600" dirty="0"/>
              <a:t>	   Ex updatable = false: id, account, </a:t>
            </a:r>
            <a:r>
              <a:rPr lang="en-US" sz="3600" dirty="0" err="1"/>
              <a:t>created_date</a:t>
            </a:r>
            <a:r>
              <a:rPr lang="en-US" sz="3600" dirty="0"/>
              <a:t>, ...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500" dirty="0"/>
              <a:t> </a:t>
            </a:r>
            <a:r>
              <a:rPr lang="en-US" sz="3600" dirty="0" err="1"/>
              <a:t>columnDefinition</a:t>
            </a:r>
            <a:r>
              <a:rPr lang="en-US" sz="3600" dirty="0"/>
              <a:t>: set default value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30019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487" y="3489825"/>
            <a:ext cx="11594829" cy="73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62985" y="2228850"/>
            <a:ext cx="9947075" cy="1241392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@Formula: Fake field (logic property)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3470242"/>
            <a:ext cx="9406891" cy="31264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4192517"/>
            <a:ext cx="11522436" cy="154947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0229850" y="4478267"/>
            <a:ext cx="2076450" cy="126372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881" y="7560128"/>
            <a:ext cx="8751511" cy="476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63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15385" y="2200274"/>
            <a:ext cx="4994075" cy="14344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Default value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574" y="5513070"/>
            <a:ext cx="7164095" cy="3101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979" y="5513070"/>
            <a:ext cx="9232516" cy="280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5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15385" y="2200275"/>
            <a:ext cx="4590215" cy="9334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Default 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10" y="5238728"/>
            <a:ext cx="9490232" cy="32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11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11524415" cy="952610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2 ways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Using @Enumerated</a:t>
            </a:r>
          </a:p>
          <a:p>
            <a:pPr lvl="3" hangingPunct="1">
              <a:buFont typeface="Times New Roman" panose="02020603050405020304" pitchFamily="18" charset="0"/>
              <a:buChar char="•"/>
            </a:pPr>
            <a:r>
              <a:rPr lang="en-ID" sz="4000" dirty="0"/>
              <a:t>Ordinal value</a:t>
            </a:r>
          </a:p>
          <a:p>
            <a:pPr lvl="3" hangingPunct="1">
              <a:buFont typeface="Times New Roman" panose="02020603050405020304" pitchFamily="18" charset="0"/>
              <a:buChar char="•"/>
            </a:pPr>
            <a:r>
              <a:rPr lang="en-ID" sz="4000" dirty="0"/>
              <a:t>String value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Using @Converter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731742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4" y="2335126"/>
            <a:ext cx="9173791" cy="121163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</a:t>
            </a:r>
            <a:r>
              <a:rPr lang="en-ID" sz="4000"/>
              <a:t>Ordinal value</a:t>
            </a:r>
            <a:endParaRPr lang="en-ID" sz="4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B0ACA-5C0F-E9AF-3F53-5A092141C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383" y="3848100"/>
            <a:ext cx="161925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36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19" y="9561883"/>
            <a:ext cx="7303831" cy="1276398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4750095" y="10762081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/>
              <a:t>Enum</a:t>
            </a:r>
            <a:endParaRPr lang="en-US" sz="3500" i="1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733019" y="9988723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406" y="1820600"/>
            <a:ext cx="10835226" cy="77412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0600"/>
            <a:ext cx="12815888" cy="689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59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50" y="2771236"/>
            <a:ext cx="11067583" cy="73193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1846" y="3235011"/>
            <a:ext cx="7933102" cy="6391813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11514850" y="9781014"/>
            <a:ext cx="3553700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2975303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209800" y="6345439"/>
            <a:ext cx="6373100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Mapping </a:t>
            </a:r>
            <a:r>
              <a:rPr lang="en-US" sz="3500" i="1" dirty="0" err="1"/>
              <a:t>enum</a:t>
            </a:r>
            <a:r>
              <a:rPr lang="en-US" sz="3500" i="1" dirty="0"/>
              <a:t> in Java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74" y="2647832"/>
            <a:ext cx="11155091" cy="28957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512" y="2033309"/>
            <a:ext cx="7407065" cy="42722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6350" y="7903706"/>
            <a:ext cx="5594417" cy="3555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60" y="7920687"/>
            <a:ext cx="10829741" cy="2301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5642" y="7903706"/>
            <a:ext cx="3731508" cy="24924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80977" y="11728475"/>
            <a:ext cx="69743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1 (in SQL)</a:t>
            </a:r>
            <a:endParaRPr lang="en-ID" b="0" i="1" dirty="0"/>
          </a:p>
        </p:txBody>
      </p:sp>
    </p:spTree>
    <p:extLst>
      <p:ext uri="{BB962C8B-B14F-4D97-AF65-F5344CB8AC3E}">
        <p14:creationId xmlns:p14="http://schemas.microsoft.com/office/powerpoint/2010/main" val="92587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5" y="2308052"/>
            <a:ext cx="4734811" cy="10518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	String value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98" y="4716148"/>
            <a:ext cx="14438502" cy="51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77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5536700" y="11231968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/>
              <a:t>Enum</a:t>
            </a:r>
            <a:endParaRPr lang="en-US" sz="3500" i="1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663316" y="9300712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3" y="1694234"/>
            <a:ext cx="11899006" cy="76296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49" y="10074070"/>
            <a:ext cx="7303831" cy="12763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4914" y="1842456"/>
            <a:ext cx="10506074" cy="74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41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6" y="2174776"/>
            <a:ext cx="11408200" cy="84170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512" y="2033309"/>
            <a:ext cx="7407065" cy="42722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512" y="7036728"/>
            <a:ext cx="5594417" cy="3555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3427" y="7688713"/>
            <a:ext cx="4074080" cy="22511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79672" y="11392541"/>
            <a:ext cx="83673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REVIEW (in SQL)</a:t>
            </a:r>
            <a:endParaRPr lang="en-ID" b="0" i="1" dirty="0"/>
          </a:p>
        </p:txBody>
      </p:sp>
    </p:spTree>
    <p:extLst>
      <p:ext uri="{BB962C8B-B14F-4D97-AF65-F5344CB8AC3E}">
        <p14:creationId xmlns:p14="http://schemas.microsoft.com/office/powerpoint/2010/main" val="1560946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5" y="2308052"/>
            <a:ext cx="4160653" cy="113689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@Converter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915" y="4770532"/>
            <a:ext cx="15590104" cy="556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84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9202374" y="10319978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/>
              <a:t>Enum</a:t>
            </a:r>
            <a:endParaRPr lang="en-US" sz="350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006" y="3059208"/>
            <a:ext cx="10086735" cy="72607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7" y="3059208"/>
            <a:ext cx="13642777" cy="72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8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5111605" y="8874053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4" y="2698735"/>
            <a:ext cx="10562500" cy="61728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194" y="2698735"/>
            <a:ext cx="12637020" cy="6561998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6824212" y="9006183"/>
            <a:ext cx="3370409" cy="6412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Converter File</a:t>
            </a:r>
          </a:p>
        </p:txBody>
      </p:sp>
    </p:spTree>
    <p:extLst>
      <p:ext uri="{BB962C8B-B14F-4D97-AF65-F5344CB8AC3E}">
        <p14:creationId xmlns:p14="http://schemas.microsoft.com/office/powerpoint/2010/main" val="2274105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6" y="2174776"/>
            <a:ext cx="11408200" cy="84170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512" y="2033309"/>
            <a:ext cx="7407065" cy="42722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512" y="7036728"/>
            <a:ext cx="5594417" cy="35550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89239" y="11392541"/>
            <a:ext cx="75482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REV (in SQL)</a:t>
            </a:r>
            <a:endParaRPr lang="en-ID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2108" y="7036727"/>
            <a:ext cx="3876257" cy="276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82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472525" y="2603869"/>
            <a:ext cx="15929610" cy="657417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GeneratedValue</a:t>
            </a:r>
            <a:r>
              <a:rPr lang="en-US" sz="4000" dirty="0"/>
              <a:t>(strategy, generator)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err="1"/>
              <a:t>GenerationType.IDENTITY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err="1"/>
              <a:t>GenerationType.SEQUENCE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err="1"/>
              <a:t>GenerationType.AUTO</a:t>
            </a:r>
            <a:r>
              <a:rPr lang="en-US" sz="4000" dirty="0"/>
              <a:t> (default)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Custom Generator</a:t>
            </a:r>
          </a:p>
        </p:txBody>
      </p:sp>
    </p:spTree>
    <p:extLst>
      <p:ext uri="{BB962C8B-B14F-4D97-AF65-F5344CB8AC3E}">
        <p14:creationId xmlns:p14="http://schemas.microsoft.com/office/powerpoint/2010/main" val="752876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00775" y="2604112"/>
            <a:ext cx="12331957" cy="9756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err="1"/>
              <a:t>GenerationType.IDENTITY</a:t>
            </a:r>
            <a:r>
              <a:rPr lang="en-US" sz="4000" dirty="0"/>
              <a:t>: auto increment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20" y="4113255"/>
            <a:ext cx="11600912" cy="71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76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375248" y="2485271"/>
            <a:ext cx="19189024" cy="89995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err="1"/>
              <a:t>GenerationType.SEQUENCE</a:t>
            </a:r>
            <a:r>
              <a:rPr lang="en-US" sz="4000" dirty="0"/>
              <a:t>: The id will increase sequentially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6" y="4160519"/>
            <a:ext cx="12291486" cy="66177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162" y="3350395"/>
            <a:ext cx="10638374" cy="8276839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8729960" y="11738200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151992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8729960" y="9339316"/>
            <a:ext cx="2825122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Repository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9" y="2306224"/>
            <a:ext cx="12446331" cy="68766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270" y="2306224"/>
            <a:ext cx="7886042" cy="7033092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5894635" y="9361409"/>
            <a:ext cx="1389877" cy="7733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/>
              <a:t>Config</a:t>
            </a:r>
            <a:endParaRPr lang="en-US" sz="3500" i="1" dirty="0"/>
          </a:p>
        </p:txBody>
      </p:sp>
    </p:spTree>
    <p:extLst>
      <p:ext uri="{BB962C8B-B14F-4D97-AF65-F5344CB8AC3E}">
        <p14:creationId xmlns:p14="http://schemas.microsoft.com/office/powerpoint/2010/main" val="821251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2" y="2058044"/>
            <a:ext cx="11845489" cy="87396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6092" y="1688393"/>
            <a:ext cx="7963711" cy="10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47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17" y="2658664"/>
            <a:ext cx="9582494" cy="8240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484" y="3438354"/>
            <a:ext cx="9086925" cy="66815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40591" y="11542961"/>
            <a:ext cx="9454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Primary key generation will start at 10 with step = 1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83221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200150" y="2539342"/>
            <a:ext cx="22438063" cy="96261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err="1"/>
              <a:t>GenerationType.AUTO</a:t>
            </a:r>
            <a:r>
              <a:rPr lang="en-US" sz="4000" dirty="0"/>
              <a:t> (default): The id will generate UUID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235" y="4160520"/>
            <a:ext cx="10836014" cy="6018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54" y="4160520"/>
            <a:ext cx="12585025" cy="3833311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18035021" y="10179324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467631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946426"/>
            <a:ext cx="10815914" cy="56644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714" y="2937950"/>
            <a:ext cx="6236601" cy="4021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1713" y="7632351"/>
            <a:ext cx="7234851" cy="229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42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200150" y="2539342"/>
            <a:ext cx="22438063" cy="96261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UUID using for id application, token for reset password, ...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336" y="5108021"/>
            <a:ext cx="17586224" cy="49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94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352550" y="2036422"/>
            <a:ext cx="18141680" cy="134713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Custom generator</a:t>
            </a: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6866758" y="10592392"/>
            <a:ext cx="3650092" cy="7769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Generator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6" y="3203466"/>
            <a:ext cx="11372824" cy="72930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682" y="3383552"/>
            <a:ext cx="12617477" cy="71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19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3561196" y="8630834"/>
            <a:ext cx="1630792" cy="7769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8" y="3171727"/>
            <a:ext cx="8864246" cy="53078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184" y="3171727"/>
            <a:ext cx="14918816" cy="5115023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17315296" y="8630834"/>
            <a:ext cx="3992992" cy="91153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88628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437258" y="9237338"/>
            <a:ext cx="5383642" cy="133445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code = type-count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45" y="3378116"/>
            <a:ext cx="11107146" cy="58592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180" y="3968688"/>
            <a:ext cx="6962620" cy="40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17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51294" y="2447692"/>
            <a:ext cx="12059955" cy="837270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Single primary key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Multiple primary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Way 1: @Embeddable &amp; @</a:t>
            </a:r>
            <a:r>
              <a:rPr lang="en-US" sz="4000" dirty="0" err="1"/>
              <a:t>EmbeddedId</a:t>
            </a:r>
            <a:r>
              <a:rPr lang="en-US" sz="4000" dirty="0"/>
              <a:t>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Way 2: @Embeddable &amp; @</a:t>
            </a:r>
            <a:r>
              <a:rPr lang="en-US" sz="4000" dirty="0" err="1"/>
              <a:t>IdClass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1373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9250" y="2328850"/>
            <a:ext cx="11315700" cy="23641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 Single primary key </a:t>
            </a:r>
          </a:p>
          <a:p>
            <a:pPr marL="889000" lvl="2" indent="0" hangingPunct="1">
              <a:buNone/>
            </a:pPr>
            <a:r>
              <a:rPr lang="en-US" sz="4000" dirty="0"/>
              <a:t>@Id: Define single id of database’s table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211" y="5297160"/>
            <a:ext cx="11915939" cy="580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667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71650" y="2341186"/>
            <a:ext cx="12230100" cy="247846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Multiple primary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Way 1: @Embeddable &amp; @</a:t>
            </a:r>
            <a:r>
              <a:rPr lang="en-US" sz="4000" dirty="0" err="1"/>
              <a:t>EmbeddedId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0" y="4552950"/>
            <a:ext cx="11205210" cy="785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27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2942736" y="8482284"/>
            <a:ext cx="523972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Primary key Class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92" y="3693115"/>
            <a:ext cx="9774407" cy="49174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013" y="3940765"/>
            <a:ext cx="12452858" cy="4288835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7605442" y="8482284"/>
            <a:ext cx="199599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Using</a:t>
            </a:r>
          </a:p>
        </p:txBody>
      </p:sp>
    </p:spTree>
    <p:extLst>
      <p:ext uri="{BB962C8B-B14F-4D97-AF65-F5344CB8AC3E}">
        <p14:creationId xmlns:p14="http://schemas.microsoft.com/office/powerpoint/2010/main" val="37712354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3" y="3136672"/>
            <a:ext cx="11914455" cy="69648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3698" y="4470172"/>
            <a:ext cx="6160252" cy="38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30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51295" y="2447692"/>
            <a:ext cx="10421656" cy="24100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Multiple primary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Way 2: @Embeddable &amp; @</a:t>
            </a:r>
            <a:r>
              <a:rPr lang="en-US" sz="4000" dirty="0" err="1"/>
              <a:t>IdClass</a:t>
            </a:r>
            <a:endParaRPr lang="en-US" sz="40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921592" y="11159248"/>
            <a:ext cx="4979796" cy="158398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Primary key Class (Similar to Way 1)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7" y="5054988"/>
            <a:ext cx="11376031" cy="5723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951" y="5054987"/>
            <a:ext cx="11096114" cy="5723259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17605442" y="11159248"/>
            <a:ext cx="199599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Using</a:t>
            </a:r>
          </a:p>
        </p:txBody>
      </p:sp>
    </p:spTree>
    <p:extLst>
      <p:ext uri="{BB962C8B-B14F-4D97-AF65-F5344CB8AC3E}">
        <p14:creationId xmlns:p14="http://schemas.microsoft.com/office/powerpoint/2010/main" val="602402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3698" y="4470172"/>
            <a:ext cx="6160252" cy="3835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61" y="3423662"/>
            <a:ext cx="12092205" cy="59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332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533883507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26046</TotalTime>
  <Words>711</Words>
  <Application>Microsoft Office PowerPoint</Application>
  <PresentationFormat>Custom</PresentationFormat>
  <Paragraphs>178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Meiryo</vt:lpstr>
      <vt:lpstr>Calibri</vt:lpstr>
      <vt:lpstr>Courier New</vt:lpstr>
      <vt:lpstr>Tahoma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3294</cp:revision>
  <cp:lastPrinted>2019-09-17T11:00:25Z</cp:lastPrinted>
  <dcterms:modified xsi:type="dcterms:W3CDTF">2024-03-05T02:10:22Z</dcterms:modified>
  <cp:category/>
</cp:coreProperties>
</file>