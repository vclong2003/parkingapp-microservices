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13716000" cx="24384000"/>
  <p:notesSz cx="6797675" cy="9929800"/>
  <p:embeddedFontLst>
    <p:embeddedFont>
      <p:font typeface="Proxima Nova"/>
      <p:regular r:id="rId37"/>
      <p:bold r:id="rId38"/>
      <p:italic r:id="rId39"/>
      <p:boldItalic r:id="rId40"/>
    </p:embeddedFont>
    <p:embeddedFont>
      <p:font typeface="Roboto Condensed"/>
      <p:regular r:id="rId41"/>
      <p:bold r:id="rId42"/>
      <p:italic r:id="rId43"/>
      <p:boldItalic r:id="rId44"/>
    </p:embeddedFont>
    <p:embeddedFont>
      <p:font typeface="Helvetica Neue"/>
      <p:regular r:id="rId45"/>
      <p:bold r:id="rId46"/>
      <p:italic r:id="rId47"/>
      <p:boldItalic r:id="rId48"/>
    </p:embeddedFont>
    <p:embeddedFont>
      <p:font typeface="Helvetica Neue Light"/>
      <p:regular r:id="rId49"/>
      <p:bold r:id="rId50"/>
      <p:italic r:id="rId51"/>
      <p:boldItalic r:id="rId52"/>
    </p:embeddedFont>
    <p:embeddedFont>
      <p:font typeface="Open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57" roundtripDataSignature="AMtx7mgUY4OnIa97D3EQRCfjM8QIYGQc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boldItalic.fntdata"/><Relationship Id="rId42" Type="http://schemas.openxmlformats.org/officeDocument/2006/relationships/font" Target="fonts/RobotoCondensed-bold.fntdata"/><Relationship Id="rId41" Type="http://schemas.openxmlformats.org/officeDocument/2006/relationships/font" Target="fonts/RobotoCondensed-regular.fntdata"/><Relationship Id="rId44" Type="http://schemas.openxmlformats.org/officeDocument/2006/relationships/font" Target="fonts/RobotoCondensed-boldItalic.fntdata"/><Relationship Id="rId43" Type="http://schemas.openxmlformats.org/officeDocument/2006/relationships/font" Target="fonts/RobotoCondensed-italic.fntdata"/><Relationship Id="rId46" Type="http://schemas.openxmlformats.org/officeDocument/2006/relationships/font" Target="fonts/HelveticaNeue-bold.fntdata"/><Relationship Id="rId45" Type="http://schemas.openxmlformats.org/officeDocument/2006/relationships/font" Target="fonts/HelveticaNeu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HelveticaNeue-boldItalic.fntdata"/><Relationship Id="rId47" Type="http://schemas.openxmlformats.org/officeDocument/2006/relationships/font" Target="fonts/HelveticaNeue-italic.fntdata"/><Relationship Id="rId49" Type="http://schemas.openxmlformats.org/officeDocument/2006/relationships/font" Target="fonts/HelveticaNeueLigh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ProximaNova-regular.fntdata"/><Relationship Id="rId36" Type="http://schemas.openxmlformats.org/officeDocument/2006/relationships/slide" Target="slides/slide31.xml"/><Relationship Id="rId39" Type="http://schemas.openxmlformats.org/officeDocument/2006/relationships/font" Target="fonts/ProximaNova-italic.fntdata"/><Relationship Id="rId38" Type="http://schemas.openxmlformats.org/officeDocument/2006/relationships/font" Target="fonts/ProximaNova-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HelveticaNeueLight-italic.fntdata"/><Relationship Id="rId50" Type="http://schemas.openxmlformats.org/officeDocument/2006/relationships/font" Target="fonts/HelveticaNeueLight-bold.fntdata"/><Relationship Id="rId53" Type="http://schemas.openxmlformats.org/officeDocument/2006/relationships/font" Target="fonts/OpenSans-regular.fntdata"/><Relationship Id="rId52" Type="http://schemas.openxmlformats.org/officeDocument/2006/relationships/font" Target="fonts/HelveticaNeueLight-boldItalic.fntdata"/><Relationship Id="rId11" Type="http://schemas.openxmlformats.org/officeDocument/2006/relationships/slide" Target="slides/slide6.xml"/><Relationship Id="rId55" Type="http://schemas.openxmlformats.org/officeDocument/2006/relationships/font" Target="fonts/OpenSans-italic.fntdata"/><Relationship Id="rId10" Type="http://schemas.openxmlformats.org/officeDocument/2006/relationships/slide" Target="slides/slide5.xml"/><Relationship Id="rId54" Type="http://schemas.openxmlformats.org/officeDocument/2006/relationships/font" Target="fonts/OpenSans-bold.fntdata"/><Relationship Id="rId13" Type="http://schemas.openxmlformats.org/officeDocument/2006/relationships/slide" Target="slides/slide8.xml"/><Relationship Id="rId57" Type="http://customschemas.google.com/relationships/presentationmetadata" Target="metadata"/><Relationship Id="rId12" Type="http://schemas.openxmlformats.org/officeDocument/2006/relationships/slide" Target="slides/slide7.xml"/><Relationship Id="rId56" Type="http://schemas.openxmlformats.org/officeDocument/2006/relationships/font" Target="fonts/Open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8" name="Google Shape;48;p1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6" name="Google Shape;56;p1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4" name="Google Shape;64;p2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2" name="Google Shape;72;p2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0" name="Google Shape;80;p2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8" name="Google Shape;88;p2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6" name="Google Shape;96;p2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4" name="Google Shape;104;p2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2" name="Google Shape;112;p2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0" name="Google Shape;120;p2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8" name="Google Shape;128;p2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2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5" name="Google Shape;135;p2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3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3" name="Google Shape;143;p3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1" name="Google Shape;151;p3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3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9" name="Google Shape;159;p3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3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7" name="Google Shape;167;p3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3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75" name="Google Shape;175;p3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3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83" name="Google Shape;183;p3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3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91" name="Google Shape;191;p3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3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99" name="Google Shape;199;p3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3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07" name="Google Shape;207;p3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3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15" name="Google Shape;215;p3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4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22" name="Google Shape;222;p4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4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30" name="Google Shape;230;p4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4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38" name="Google Shape;238;p4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4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46" name="Google Shape;246;p4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54" name="Google Shape;254;p4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4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62" name="Google Shape;262;p4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4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70" name="Google Shape;270;p4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9" name="Shape 9"/>
        <p:cNvGrpSpPr/>
        <p:nvPr/>
      </p:nvGrpSpPr>
      <p:grpSpPr>
        <a:xfrm>
          <a:off x="0" y="0"/>
          <a:ext cx="0" cy="0"/>
          <a:chOff x="0" y="0"/>
          <a:chExt cx="0" cy="0"/>
        </a:xfrm>
      </p:grpSpPr>
      <p:pic>
        <p:nvPicPr>
          <p:cNvPr id="10" name="Google Shape;10;p13"/>
          <p:cNvPicPr preferRelativeResize="0"/>
          <p:nvPr/>
        </p:nvPicPr>
        <p:blipFill rotWithShape="1">
          <a:blip r:embed="rId2">
            <a:alphaModFix/>
          </a:blip>
          <a:srcRect b="0" l="0" r="0" t="0"/>
          <a:stretch/>
        </p:blipFill>
        <p:spPr>
          <a:xfrm>
            <a:off x="21017131" y="859479"/>
            <a:ext cx="2950192" cy="1131834"/>
          </a:xfrm>
          <a:prstGeom prst="rect">
            <a:avLst/>
          </a:prstGeom>
          <a:noFill/>
          <a:ln>
            <a:noFill/>
          </a:ln>
        </p:spPr>
      </p:pic>
      <p:pic>
        <p:nvPicPr>
          <p:cNvPr id="11" name="Google Shape;11;p13"/>
          <p:cNvPicPr preferRelativeResize="0"/>
          <p:nvPr/>
        </p:nvPicPr>
        <p:blipFill rotWithShape="1">
          <a:blip r:embed="rId3">
            <a:alphaModFix/>
          </a:blip>
          <a:srcRect b="0" l="0" r="0" t="0"/>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 name="Shape 12"/>
        <p:cNvGrpSpPr/>
        <p:nvPr/>
      </p:nvGrpSpPr>
      <p:grpSpPr>
        <a:xfrm>
          <a:off x="0" y="0"/>
          <a:ext cx="0" cy="0"/>
          <a:chOff x="0" y="0"/>
          <a:chExt cx="0" cy="0"/>
        </a:xfrm>
      </p:grpSpPr>
      <p:pic>
        <p:nvPicPr>
          <p:cNvPr descr="A screenshot of a cell phone&#10;&#10;Description automatically generated" id="13" name="Google Shape;13;p14"/>
          <p:cNvPicPr preferRelativeResize="0"/>
          <p:nvPr/>
        </p:nvPicPr>
        <p:blipFill rotWithShape="1">
          <a:blip r:embed="rId2">
            <a:alphaModFix/>
          </a:blip>
          <a:srcRect b="0" l="0" r="0" t="0"/>
          <a:stretch/>
        </p:blipFill>
        <p:spPr>
          <a:xfrm>
            <a:off x="0" y="0"/>
            <a:ext cx="24384000" cy="13716000"/>
          </a:xfrm>
          <a:prstGeom prst="rect">
            <a:avLst/>
          </a:prstGeom>
          <a:noFill/>
          <a:ln>
            <a:noFill/>
          </a:ln>
        </p:spPr>
      </p:pic>
      <p:sp>
        <p:nvSpPr>
          <p:cNvPr id="14" name="Google Shape;14;p14"/>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14"/>
          <p:cNvSpPr txBox="1"/>
          <p:nvPr>
            <p:ph idx="12" type="sldNum"/>
          </p:nvPr>
        </p:nvSpPr>
        <p:spPr>
          <a:xfrm>
            <a:off x="8820083" y="13156977"/>
            <a:ext cx="6743833"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1pPr>
            <a:lvl2pPr indent="0" lvl="1"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2pPr>
            <a:lvl3pPr indent="0" lvl="2"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3pPr>
            <a:lvl4pPr indent="0" lvl="3"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4pPr>
            <a:lvl5pPr indent="0" lvl="4"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5pPr>
            <a:lvl6pPr indent="0" lvl="5"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6pPr>
            <a:lvl7pPr indent="0" lvl="6"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7pPr>
            <a:lvl8pPr indent="0" lvl="7"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8pPr>
            <a:lvl9pPr indent="0" lvl="8"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9pPr>
          </a:lstStyle>
          <a:p>
            <a:pPr indent="0" lvl="0" marL="0" rtl="0" algn="ctr">
              <a:spcBef>
                <a:spcPts val="0"/>
              </a:spcBef>
              <a:spcAft>
                <a:spcPts val="0"/>
              </a:spcAft>
              <a:buNone/>
            </a:pPr>
            <a:r>
              <a:rPr lang="en-US"/>
              <a:t>Copyright </a:t>
            </a:r>
            <a:r>
              <a:rPr i="1" lang="en-US"/>
              <a:t>© </a:t>
            </a:r>
            <a:r>
              <a:rPr lang="en-US"/>
              <a:t>VTI Academy All Right Reserved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6" name="Shape 16"/>
        <p:cNvGrpSpPr/>
        <p:nvPr/>
      </p:nvGrpSpPr>
      <p:grpSpPr>
        <a:xfrm>
          <a:off x="0" y="0"/>
          <a:ext cx="0" cy="0"/>
          <a:chOff x="0" y="0"/>
          <a:chExt cx="0" cy="0"/>
        </a:xfrm>
      </p:grpSpPr>
      <p:cxnSp>
        <p:nvCxnSpPr>
          <p:cNvPr id="17" name="Google Shape;17;p15"/>
          <p:cNvCxnSpPr/>
          <p:nvPr/>
        </p:nvCxnSpPr>
        <p:spPr>
          <a:xfrm>
            <a:off x="482600" y="1412390"/>
            <a:ext cx="21521992" cy="0"/>
          </a:xfrm>
          <a:prstGeom prst="straightConnector1">
            <a:avLst/>
          </a:prstGeom>
          <a:noFill/>
          <a:ln cap="flat" cmpd="sng" w="19050">
            <a:solidFill>
              <a:srgbClr val="3C5A99"/>
            </a:solidFill>
            <a:prstDash val="solid"/>
            <a:miter lim="800000"/>
            <a:headEnd len="sm" w="sm" type="none"/>
            <a:tailEnd len="sm" w="sm" type="none"/>
          </a:ln>
        </p:spPr>
      </p:cxnSp>
      <p:sp>
        <p:nvSpPr>
          <p:cNvPr id="18" name="Google Shape;18;p15"/>
          <p:cNvSpPr/>
          <p:nvPr/>
        </p:nvSpPr>
        <p:spPr>
          <a:xfrm>
            <a:off x="0" y="12670972"/>
            <a:ext cx="24384001" cy="1045028"/>
          </a:xfrm>
          <a:prstGeom prst="rect">
            <a:avLst/>
          </a:prstGeom>
          <a:solidFill>
            <a:srgbClr val="3C5A99"/>
          </a:solidFill>
          <a:ln>
            <a:noFill/>
          </a:ln>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3600"/>
              <a:buFont typeface="Helvetica Neue"/>
              <a:buNone/>
            </a:pPr>
            <a:r>
              <a:t/>
            </a:r>
            <a:endParaRPr b="1" i="0" sz="3600" u="none" cap="none" strike="noStrike">
              <a:solidFill>
                <a:schemeClr val="lt1"/>
              </a:solidFill>
              <a:latin typeface="Calibri"/>
              <a:ea typeface="Calibri"/>
              <a:cs typeface="Calibri"/>
              <a:sym typeface="Calibri"/>
            </a:endParaRPr>
          </a:p>
        </p:txBody>
      </p:sp>
      <p:sp>
        <p:nvSpPr>
          <p:cNvPr id="19" name="Google Shape;19;p15"/>
          <p:cNvSpPr/>
          <p:nvPr/>
        </p:nvSpPr>
        <p:spPr>
          <a:xfrm>
            <a:off x="6781639" y="12854932"/>
            <a:ext cx="10458958" cy="677108"/>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chemeClr val="lt1"/>
              </a:buClr>
              <a:buSzPts val="3200"/>
              <a:buFont typeface="Helvetica Neue"/>
              <a:buNone/>
            </a:pPr>
            <a:r>
              <a:rPr b="1" i="0" lang="en-US" sz="3200" u="none" cap="none" strike="noStrike">
                <a:solidFill>
                  <a:schemeClr val="lt1"/>
                </a:solidFill>
                <a:latin typeface="Helvetica Neue"/>
                <a:ea typeface="Helvetica Neue"/>
                <a:cs typeface="Helvetica Neue"/>
                <a:sym typeface="Helvetica Neue"/>
              </a:rPr>
              <a:t>Copyright </a:t>
            </a:r>
            <a:r>
              <a:rPr b="1" i="1" lang="en-US" sz="3200" u="none" cap="none" strike="noStrike">
                <a:solidFill>
                  <a:schemeClr val="lt1"/>
                </a:solidFill>
                <a:latin typeface="Helvetica Neue"/>
                <a:ea typeface="Helvetica Neue"/>
                <a:cs typeface="Helvetica Neue"/>
                <a:sym typeface="Helvetica Neue"/>
              </a:rPr>
              <a:t>© </a:t>
            </a:r>
            <a:r>
              <a:rPr b="1" i="0" lang="en-US" sz="3200" u="none" cap="none" strike="noStrike">
                <a:solidFill>
                  <a:schemeClr val="lt1"/>
                </a:solidFill>
                <a:latin typeface="Helvetica Neue"/>
                <a:ea typeface="Helvetica Neue"/>
                <a:cs typeface="Helvetica Neue"/>
                <a:sym typeface="Helvetica Neue"/>
              </a:rPr>
              <a:t>VTI Academy All Right Reserved </a:t>
            </a:r>
            <a:endParaRPr b="1" i="0" sz="3200" u="none" cap="none" strike="noStrike">
              <a:solidFill>
                <a:schemeClr val="lt1"/>
              </a:solidFill>
              <a:latin typeface="Helvetica Neue"/>
              <a:ea typeface="Helvetica Neue"/>
              <a:cs typeface="Helvetica Neue"/>
              <a:sym typeface="Helvetica Neue"/>
            </a:endParaRPr>
          </a:p>
        </p:txBody>
      </p:sp>
      <p:cxnSp>
        <p:nvCxnSpPr>
          <p:cNvPr id="20" name="Google Shape;20;p15"/>
          <p:cNvCxnSpPr/>
          <p:nvPr/>
        </p:nvCxnSpPr>
        <p:spPr>
          <a:xfrm>
            <a:off x="14610736" y="1412390"/>
            <a:ext cx="7393856" cy="0"/>
          </a:xfrm>
          <a:prstGeom prst="straightConnector1">
            <a:avLst/>
          </a:prstGeom>
          <a:noFill/>
          <a:ln cap="flat" cmpd="sng" w="19050">
            <a:solidFill>
              <a:srgbClr val="FFC000"/>
            </a:solidFill>
            <a:prstDash val="solid"/>
            <a:miter lim="800000"/>
            <a:headEnd len="sm" w="sm" type="none"/>
            <a:tailEnd len="sm" w="sm" type="none"/>
          </a:ln>
        </p:spPr>
      </p:cxnSp>
      <p:cxnSp>
        <p:nvCxnSpPr>
          <p:cNvPr id="21" name="Google Shape;21;p15"/>
          <p:cNvCxnSpPr/>
          <p:nvPr/>
        </p:nvCxnSpPr>
        <p:spPr>
          <a:xfrm>
            <a:off x="0" y="12670972"/>
            <a:ext cx="24384001" cy="0"/>
          </a:xfrm>
          <a:prstGeom prst="straightConnector1">
            <a:avLst/>
          </a:prstGeom>
          <a:noFill/>
          <a:ln cap="flat" cmpd="sng" w="19050">
            <a:solidFill>
              <a:srgbClr val="FFC000"/>
            </a:solidFill>
            <a:prstDash val="solid"/>
            <a:miter lim="800000"/>
            <a:headEnd len="sm" w="sm" type="none"/>
            <a:tailEnd len="sm" w="sm" type="none"/>
          </a:ln>
        </p:spPr>
      </p:cxnSp>
      <p:pic>
        <p:nvPicPr>
          <p:cNvPr descr="A picture containing drawing&#10;&#10;Description automatically generated" id="22" name="Google Shape;22;p15"/>
          <p:cNvPicPr preferRelativeResize="0"/>
          <p:nvPr/>
        </p:nvPicPr>
        <p:blipFill rotWithShape="1">
          <a:blip r:embed="rId2">
            <a:alphaModFix/>
          </a:blip>
          <a:srcRect b="0" l="0" r="0" t="0"/>
          <a:stretch/>
        </p:blipFill>
        <p:spPr>
          <a:xfrm>
            <a:off x="19252277" y="-25180"/>
            <a:ext cx="5131724" cy="14375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23" name="Shape 23"/>
        <p:cNvGrpSpPr/>
        <p:nvPr/>
      </p:nvGrpSpPr>
      <p:grpSpPr>
        <a:xfrm>
          <a:off x="0" y="0"/>
          <a:ext cx="0" cy="0"/>
          <a:chOff x="0" y="0"/>
          <a:chExt cx="0" cy="0"/>
        </a:xfrm>
      </p:grpSpPr>
      <p:sp>
        <p:nvSpPr>
          <p:cNvPr id="24" name="Google Shape;24;p16"/>
          <p:cNvSpPr txBox="1"/>
          <p:nvPr>
            <p:ph type="title"/>
          </p:nvPr>
        </p:nvSpPr>
        <p:spPr>
          <a:xfrm>
            <a:off x="1845217" y="357188"/>
            <a:ext cx="18701657"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5" name="Google Shape;25;p16"/>
          <p:cNvSpPr txBox="1"/>
          <p:nvPr>
            <p:ph idx="10" type="dt"/>
          </p:nvPr>
        </p:nvSpPr>
        <p:spPr>
          <a:xfrm>
            <a:off x="1676400" y="12712701"/>
            <a:ext cx="54864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6" name="Google Shape;26;p16"/>
          <p:cNvSpPr txBox="1"/>
          <p:nvPr>
            <p:ph idx="11" type="ftr"/>
          </p:nvPr>
        </p:nvSpPr>
        <p:spPr>
          <a:xfrm>
            <a:off x="8077200" y="12712701"/>
            <a:ext cx="82296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7" name="Google Shape;27;p16"/>
          <p:cNvSpPr txBox="1"/>
          <p:nvPr>
            <p:ph idx="12" type="sldNum"/>
          </p:nvPr>
        </p:nvSpPr>
        <p:spPr>
          <a:xfrm>
            <a:off x="11962817" y="13073062"/>
            <a:ext cx="448840"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cxnSp>
        <p:nvCxnSpPr>
          <p:cNvPr id="28" name="Google Shape;28;p16"/>
          <p:cNvCxnSpPr/>
          <p:nvPr/>
        </p:nvCxnSpPr>
        <p:spPr>
          <a:xfrm>
            <a:off x="1845217" y="1893677"/>
            <a:ext cx="18701657" cy="0"/>
          </a:xfrm>
          <a:prstGeom prst="straightConnector1">
            <a:avLst/>
          </a:prstGeom>
          <a:noFill/>
          <a:ln cap="rnd" cmpd="sng" w="38100">
            <a:solidFill>
              <a:srgbClr val="057BBA">
                <a:alpha val="80000"/>
              </a:srgbClr>
            </a:solidFill>
            <a:prstDash val="solid"/>
            <a:round/>
            <a:headEnd len="sm" w="sm" type="none"/>
            <a:tailEnd len="sm" w="sm" type="none"/>
          </a:ln>
        </p:spPr>
      </p:cxnSp>
      <p:pic>
        <p:nvPicPr>
          <p:cNvPr descr="A close up of a sign&#10;&#10;Description automatically generated" id="29" name="Google Shape;29;p16"/>
          <p:cNvPicPr preferRelativeResize="0"/>
          <p:nvPr/>
        </p:nvPicPr>
        <p:blipFill rotWithShape="1">
          <a:blip r:embed="rId2">
            <a:alphaModFix/>
          </a:blip>
          <a:srcRect b="0" l="0" r="0" t="0"/>
          <a:stretch/>
        </p:blipFill>
        <p:spPr>
          <a:xfrm>
            <a:off x="20812883" y="427995"/>
            <a:ext cx="2645634" cy="163951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30"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387453" y="357187"/>
            <a:ext cx="15609095" cy="3036095"/>
          </a:xfrm>
          <a:prstGeom prst="rect">
            <a:avLst/>
          </a:prstGeom>
          <a:noFill/>
          <a:ln>
            <a:noFill/>
          </a:ln>
        </p:spPr>
        <p:txBody>
          <a:bodyPr anchorCtr="0" anchor="ctr" bIns="71425" lIns="71425" spcFirstLastPara="1" rIns="71425" wrap="square" tIns="71425">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2"/>
          <p:cNvSpPr txBox="1"/>
          <p:nvPr>
            <p:ph idx="1" type="body"/>
          </p:nvPr>
        </p:nvSpPr>
        <p:spPr>
          <a:xfrm>
            <a:off x="4387453" y="3643312"/>
            <a:ext cx="15609095" cy="8840392"/>
          </a:xfrm>
          <a:prstGeom prst="rect">
            <a:avLst/>
          </a:prstGeom>
          <a:noFill/>
          <a:ln>
            <a:noFill/>
          </a:ln>
        </p:spPr>
        <p:txBody>
          <a:bodyPr anchorCtr="0" anchor="ctr" bIns="71425" lIns="71425" spcFirstLastPara="1" rIns="71425" wrap="square" tIns="71425">
            <a:normAutofit/>
          </a:bodyPr>
          <a:lstStyle>
            <a:lvl1pPr indent="-633730" lvl="0" marL="457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1pPr>
            <a:lvl2pPr indent="-633730" lvl="1" marL="914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2pPr>
            <a:lvl3pPr indent="-633730" lvl="2" marL="1371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3pPr>
            <a:lvl4pPr indent="-633730" lvl="3" marL="1828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4pPr>
            <a:lvl5pPr indent="-633729" lvl="4" marL="22860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5pPr>
            <a:lvl6pPr indent="-633729" lvl="5" marL="2743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6pPr>
            <a:lvl7pPr indent="-633729" lvl="6" marL="3200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7pPr>
            <a:lvl8pPr indent="-633729" lvl="7" marL="3657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8pPr>
            <a:lvl9pPr indent="-633729" lvl="8" marL="4114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9pPr>
          </a:lstStyle>
          <a:p/>
        </p:txBody>
      </p:sp>
      <p:sp>
        <p:nvSpPr>
          <p:cNvPr id="8" name="Google Shape;8;p12"/>
          <p:cNvSpPr txBox="1"/>
          <p:nvPr>
            <p:ph idx="12" type="sldNum"/>
          </p:nvPr>
        </p:nvSpPr>
        <p:spPr>
          <a:xfrm>
            <a:off x="11954103" y="13073062"/>
            <a:ext cx="466269" cy="477671"/>
          </a:xfrm>
          <a:prstGeom prst="rect">
            <a:avLst/>
          </a:prstGeom>
          <a:noFill/>
          <a:ln>
            <a:noFill/>
          </a:ln>
        </p:spPr>
        <p:txBody>
          <a:bodyPr anchorCtr="0" anchor="t" bIns="71425" lIns="71425" spcFirstLastPara="1" rIns="71425" wrap="square" tIns="71425">
            <a:spAutoFit/>
          </a:bodyPr>
          <a:lstStyle>
            <a:lvl1pPr indent="0" lvl="0"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www.eclemma.org/jacoco/trunk/doc/maven.html" TargetMode="Externa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A picture containing drawing&#10;&#10;Description automatically generated" id="35" name="Google Shape;35;p1"/>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36" name="Google Shape;36;p1"/>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37" name="Google Shape;37;p1"/>
          <p:cNvSpPr txBox="1"/>
          <p:nvPr/>
        </p:nvSpPr>
        <p:spPr>
          <a:xfrm>
            <a:off x="1959429" y="3853744"/>
            <a:ext cx="20876821" cy="418255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9600" u="none" cap="none" strike="noStrike">
                <a:solidFill>
                  <a:srgbClr val="0079BF"/>
                </a:solidFill>
                <a:latin typeface="Roboto Condensed"/>
                <a:ea typeface="Roboto Condensed"/>
                <a:cs typeface="Roboto Condensed"/>
                <a:sym typeface="Roboto Condensed"/>
              </a:rPr>
              <a:t>Testing</a:t>
            </a:r>
            <a:endParaRPr b="0" i="0" sz="9600" u="none" cap="none" strike="noStrike">
              <a:solidFill>
                <a:srgbClr val="0079BF"/>
              </a:solidFill>
              <a:latin typeface="Roboto Condensed"/>
              <a:ea typeface="Roboto Condensed"/>
              <a:cs typeface="Roboto Condensed"/>
              <a:sym typeface="Roboto Condensed"/>
            </a:endParaRPr>
          </a:p>
        </p:txBody>
      </p:sp>
      <p:sp>
        <p:nvSpPr>
          <p:cNvPr id="38" name="Google Shape;38;p1"/>
          <p:cNvSpPr txBox="1"/>
          <p:nvPr/>
        </p:nvSpPr>
        <p:spPr>
          <a:xfrm>
            <a:off x="1795790" y="8295495"/>
            <a:ext cx="11871552" cy="2841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VTI ACADEMY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Author: </a:t>
            </a:r>
            <a:r>
              <a:rPr b="1" i="0" lang="en-US" sz="5000" u="sng" cap="none" strike="noStrike">
                <a:solidFill>
                  <a:srgbClr val="0079BF"/>
                </a:solidFill>
                <a:latin typeface="Arial"/>
                <a:ea typeface="Arial"/>
                <a:cs typeface="Arial"/>
                <a:sym typeface="Arial"/>
              </a:rPr>
              <a:t>namviet0710@gmail.com</a:t>
            </a:r>
            <a:endParaRPr b="1" i="0" sz="5000" u="none" cap="none" strike="noStrike">
              <a:solidFill>
                <a:srgbClr val="0079BF"/>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February 2024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2"/>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p>
            <a:pPr indent="0" lvl="0" marL="0" rtl="0" algn="l">
              <a:lnSpc>
                <a:spcPct val="100000"/>
              </a:lnSpc>
              <a:spcBef>
                <a:spcPts val="0"/>
              </a:spcBef>
              <a:spcAft>
                <a:spcPts val="0"/>
              </a:spcAft>
              <a:buClr>
                <a:srgbClr val="0079BF"/>
              </a:buClr>
              <a:buSzPts val="8200"/>
              <a:buFont typeface="Calibri"/>
              <a:buNone/>
            </a:pPr>
            <a:r>
              <a:rPr lang="en-US">
                <a:solidFill>
                  <a:srgbClr val="0079BF"/>
                </a:solidFill>
                <a:latin typeface="Calibri"/>
                <a:ea typeface="Calibri"/>
                <a:cs typeface="Calibri"/>
                <a:sym typeface="Calibri"/>
              </a:rPr>
              <a:t>Agenda</a:t>
            </a:r>
            <a:endParaRPr/>
          </a:p>
        </p:txBody>
      </p:sp>
      <p:sp>
        <p:nvSpPr>
          <p:cNvPr id="44" name="Google Shape;44;p2"/>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200"/>
              <a:buFont typeface="Meiryo"/>
              <a:buNone/>
            </a:pPr>
            <a:r>
              <a:rPr b="0" i="0" lang="en-US" sz="2200" u="none" cap="none" strike="noStrike">
                <a:solidFill>
                  <a:schemeClr val="lt1"/>
                </a:solidFill>
                <a:latin typeface="Meiryo"/>
                <a:ea typeface="Meiryo"/>
                <a:cs typeface="Meiryo"/>
                <a:sym typeface="Meiryo"/>
              </a:rPr>
              <a:t>Copyright </a:t>
            </a:r>
            <a:r>
              <a:rPr b="0" i="1" lang="en-US" sz="2200" u="none" cap="none" strike="noStrike">
                <a:solidFill>
                  <a:schemeClr val="lt1"/>
                </a:solidFill>
                <a:latin typeface="Meiryo"/>
                <a:ea typeface="Meiryo"/>
                <a:cs typeface="Meiryo"/>
                <a:sym typeface="Meiryo"/>
              </a:rPr>
              <a:t>© </a:t>
            </a:r>
            <a:r>
              <a:rPr b="0" i="0" lang="en-US" sz="2200" u="none" cap="none" strike="noStrike">
                <a:solidFill>
                  <a:schemeClr val="lt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45" name="Google Shape;45;p2"/>
          <p:cNvSpPr txBox="1"/>
          <p:nvPr/>
        </p:nvSpPr>
        <p:spPr>
          <a:xfrm>
            <a:off x="1845217" y="2402496"/>
            <a:ext cx="21401314" cy="9329058"/>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Testing Introduction</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a:t>
            </a:r>
            <a:r>
              <a:rPr b="0" i="0" lang="en-US" sz="6600" u="none" cap="none" strike="noStrike">
                <a:solidFill>
                  <a:srgbClr val="000000"/>
                </a:solidFill>
                <a:latin typeface="Roboto Condensed"/>
                <a:ea typeface="Roboto Condensed"/>
                <a:cs typeface="Roboto Condensed"/>
                <a:sym typeface="Roboto Condensed"/>
              </a:rPr>
              <a:t>Junit and Springboot Starter Test?</a:t>
            </a:r>
            <a:endParaRPr b="0" i="0" sz="6600" u="none" cap="none" strike="noStrike">
              <a:solidFill>
                <a:srgbClr val="000000"/>
              </a:solidFill>
              <a:latin typeface="Roboto Condensed"/>
              <a:ea typeface="Roboto Condensed"/>
              <a:cs typeface="Roboto Condensed"/>
              <a:sym typeface="Roboto Condensed"/>
            </a:endParaRPr>
          </a:p>
          <a:p>
            <a:pPr indent="-342900" lvl="1"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Implement Unit Test With Springboot </a:t>
            </a:r>
            <a:r>
              <a:rPr lang="en-US" sz="6600"/>
              <a:t>Application</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a:t>
            </a:r>
            <a:r>
              <a:rPr lang="en-US" sz="6600">
                <a:latin typeface="Roboto Condensed"/>
                <a:ea typeface="Roboto Condensed"/>
                <a:cs typeface="Roboto Condensed"/>
                <a:sym typeface="Roboto Condensed"/>
              </a:rPr>
              <a:t>Integration</a:t>
            </a:r>
            <a:r>
              <a:rPr b="0" i="0" lang="en-US" sz="6600" u="none" cap="none" strike="noStrike">
                <a:solidFill>
                  <a:srgbClr val="000000"/>
                </a:solidFill>
                <a:latin typeface="Roboto Condensed"/>
                <a:ea typeface="Roboto Condensed"/>
                <a:cs typeface="Roboto Condensed"/>
                <a:sym typeface="Roboto Condensed"/>
              </a:rPr>
              <a:t> Test</a:t>
            </a:r>
            <a:r>
              <a:rPr b="0" i="0" lang="en-US" sz="6600" u="none" cap="none" strike="noStrike">
                <a:solidFill>
                  <a:srgbClr val="202124"/>
                </a:solidFill>
                <a:highlight>
                  <a:srgbClr val="FFFFFF"/>
                </a:highlight>
                <a:latin typeface="Roboto Condensed"/>
                <a:ea typeface="Roboto Condensed"/>
                <a:cs typeface="Roboto Condensed"/>
                <a:sym typeface="Roboto Condensed"/>
              </a:rPr>
              <a:t> ?</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202124"/>
                </a:solidFill>
                <a:highlight>
                  <a:srgbClr val="FFFFFF"/>
                </a:highlight>
                <a:latin typeface="Roboto Condensed"/>
                <a:ea typeface="Roboto Condensed"/>
                <a:cs typeface="Roboto Condensed"/>
                <a:sym typeface="Roboto Condensed"/>
              </a:rPr>
              <a:t> Code Coverage With JaCoCo</a:t>
            </a:r>
            <a:endParaRPr b="0" i="0" sz="6600" u="none" cap="none" strike="noStrike">
              <a:solidFill>
                <a:srgbClr val="000000"/>
              </a:solidFill>
              <a:latin typeface="Roboto Condensed"/>
              <a:ea typeface="Roboto Condensed"/>
              <a:cs typeface="Roboto Condensed"/>
              <a:sym typeface="Roboto Condense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51" name="Google Shape;51;p18"/>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1. Testing Introduction</a:t>
            </a:r>
            <a:endParaRPr b="1" i="0" sz="3600" u="none" cap="none" strike="noStrike">
              <a:solidFill>
                <a:srgbClr val="0070C0"/>
              </a:solidFill>
              <a:latin typeface="Roboto Condensed"/>
              <a:ea typeface="Roboto Condensed"/>
              <a:cs typeface="Roboto Condensed"/>
              <a:sym typeface="Roboto Condensed"/>
            </a:endParaRPr>
          </a:p>
        </p:txBody>
      </p:sp>
      <p:sp>
        <p:nvSpPr>
          <p:cNvPr id="52" name="Google Shape;52;p18"/>
          <p:cNvSpPr txBox="1"/>
          <p:nvPr/>
        </p:nvSpPr>
        <p:spPr>
          <a:xfrm>
            <a:off x="1464277" y="2534447"/>
            <a:ext cx="11248423" cy="50167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1.1 Khái niệm về testing</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Testing-kiểm thử phần mềm là một quá trình bao gồm nhiều hoạt động nhằm đánh giá chất lượng các sản phẩm phần mềm và giảm thiểu rủi ro do lỗi gây ra trong quá trình vận hành khi đưa vào sử dụng thực tế. </a:t>
            </a:r>
            <a:endParaRPr b="0" i="0" sz="3200" u="none" cap="none" strike="noStrike">
              <a:solidFill>
                <a:srgbClr val="11100E"/>
              </a:solidFill>
              <a:highlight>
                <a:srgbClr val="FAFAFA"/>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Testing còn là hoạt động nhằm tìm kiếm và phát hiện ra các lỗi của phần mềm, đảm bảo phần mềm chính xác, đúng và đầy đủ theo yêu cầu của khách hàng, yêu cầu của sản phẩm đã đặt ra.</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53" name="Google Shape;53;p18"/>
          <p:cNvPicPr preferRelativeResize="0"/>
          <p:nvPr/>
        </p:nvPicPr>
        <p:blipFill rotWithShape="1">
          <a:blip r:embed="rId3">
            <a:alphaModFix/>
          </a:blip>
          <a:srcRect b="0" l="0" r="0" t="0"/>
          <a:stretch/>
        </p:blipFill>
        <p:spPr>
          <a:xfrm>
            <a:off x="13247324" y="2774001"/>
            <a:ext cx="9527171" cy="762173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59" name="Google Shape;59;p19"/>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1. Testing Introduction</a:t>
            </a:r>
            <a:endParaRPr b="1" i="0" sz="3600" u="none" cap="none" strike="noStrike">
              <a:solidFill>
                <a:srgbClr val="0070C0"/>
              </a:solidFill>
              <a:latin typeface="Roboto Condensed"/>
              <a:ea typeface="Roboto Condensed"/>
              <a:cs typeface="Roboto Condensed"/>
              <a:sym typeface="Roboto Condensed"/>
            </a:endParaRPr>
          </a:p>
        </p:txBody>
      </p:sp>
      <p:sp>
        <p:nvSpPr>
          <p:cNvPr id="60" name="Google Shape;60;p19"/>
          <p:cNvSpPr txBox="1"/>
          <p:nvPr/>
        </p:nvSpPr>
        <p:spPr>
          <a:xfrm>
            <a:off x="1464277" y="2534447"/>
            <a:ext cx="11248423" cy="5509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1.2 Vai trò của testing hay kiểm thử phần mềm</a:t>
            </a:r>
            <a:endParaRPr b="1" i="0" sz="3200" u="none" cap="none" strike="noStrike">
              <a:solidFill>
                <a:schemeClr val="dk1"/>
              </a:solidFill>
              <a:latin typeface="Arial"/>
              <a:ea typeface="Arial"/>
              <a:cs typeface="Arial"/>
              <a:sym typeface="Arial"/>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Kiểm thử phần mềm là hoạt động đảm bảo chất lượng     phần mềm và mang tính sống còn trong các dự án sản xuất phần mềm. Vì vậy nó đã trở thành quy trình bắt buộc trong các dự án phần mềm hiện nay.</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Kiểm thử phần mềm để tránh những rủi ro, lỗi phát sinh trong suốt quá trình tạo ra sản phẩm.</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Lỗi càng phát hiện ra sớm càng giúp tránh được rủi ro và chi phí.</a:t>
            </a:r>
            <a:endParaRPr/>
          </a:p>
          <a:p>
            <a:pPr indent="-254000" lvl="0"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61" name="Google Shape;61;p19"/>
          <p:cNvPicPr preferRelativeResize="0"/>
          <p:nvPr/>
        </p:nvPicPr>
        <p:blipFill rotWithShape="1">
          <a:blip r:embed="rId3">
            <a:alphaModFix/>
          </a:blip>
          <a:srcRect b="0" l="0" r="0" t="0"/>
          <a:stretch/>
        </p:blipFill>
        <p:spPr>
          <a:xfrm>
            <a:off x="14060384" y="2534447"/>
            <a:ext cx="6121111" cy="9257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67" name="Google Shape;67;p20"/>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1. Testing Introduction</a:t>
            </a:r>
            <a:endParaRPr b="1" i="0" sz="3600" u="none" cap="none" strike="noStrike">
              <a:solidFill>
                <a:srgbClr val="0070C0"/>
              </a:solidFill>
              <a:latin typeface="Roboto Condensed"/>
              <a:ea typeface="Roboto Condensed"/>
              <a:cs typeface="Roboto Condensed"/>
              <a:sym typeface="Roboto Condensed"/>
            </a:endParaRPr>
          </a:p>
        </p:txBody>
      </p:sp>
      <p:sp>
        <p:nvSpPr>
          <p:cNvPr id="68" name="Google Shape;68;p20"/>
          <p:cNvSpPr txBox="1"/>
          <p:nvPr/>
        </p:nvSpPr>
        <p:spPr>
          <a:xfrm>
            <a:off x="1464278" y="2534447"/>
            <a:ext cx="9484772"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1.3 Các hoạt động kiểm thử (testing)</a:t>
            </a:r>
            <a:endParaRPr b="1"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Lập kế hoạch kiểm thử (test planning)</a:t>
            </a:r>
            <a:endParaRPr b="0" i="0" sz="3200" u="none" cap="none" strike="noStrike">
              <a:solidFill>
                <a:srgbClr val="11100E"/>
              </a:solidFill>
              <a:highlight>
                <a:srgbClr val="FAFAFA"/>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Thiết kế các trường hợp kiểm thử (test design)</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Thực thi kiểm thử (test execution)</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Phân tích kiểm thử (test analysis)</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Báo cáo kết quả kiểm thử (test reporting)</a:t>
            </a:r>
            <a:endParaRPr/>
          </a:p>
          <a:p>
            <a:pPr indent="-254000" lvl="0"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1B1B1B"/>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161616"/>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Roboto Condensed"/>
              <a:ea typeface="Roboto Condensed"/>
              <a:cs typeface="Roboto Condensed"/>
              <a:sym typeface="Roboto Condensed"/>
            </a:endParaRPr>
          </a:p>
        </p:txBody>
      </p:sp>
      <p:pic>
        <p:nvPicPr>
          <p:cNvPr id="69" name="Google Shape;69;p20"/>
          <p:cNvPicPr preferRelativeResize="0"/>
          <p:nvPr/>
        </p:nvPicPr>
        <p:blipFill rotWithShape="1">
          <a:blip r:embed="rId3">
            <a:alphaModFix/>
          </a:blip>
          <a:srcRect b="0" l="0" r="0" t="0"/>
          <a:stretch/>
        </p:blipFill>
        <p:spPr>
          <a:xfrm>
            <a:off x="12043928" y="2396964"/>
            <a:ext cx="7758491" cy="75515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1"/>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75" name="Google Shape;75;p21"/>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1. Testing Introduction</a:t>
            </a:r>
            <a:endParaRPr b="1" i="0" sz="3600" u="none" cap="none" strike="noStrike">
              <a:solidFill>
                <a:srgbClr val="0070C0"/>
              </a:solidFill>
              <a:latin typeface="Roboto Condensed"/>
              <a:ea typeface="Roboto Condensed"/>
              <a:cs typeface="Roboto Condensed"/>
              <a:sym typeface="Roboto Condensed"/>
            </a:endParaRPr>
          </a:p>
        </p:txBody>
      </p:sp>
      <p:sp>
        <p:nvSpPr>
          <p:cNvPr id="76" name="Google Shape;76;p21"/>
          <p:cNvSpPr txBox="1"/>
          <p:nvPr/>
        </p:nvSpPr>
        <p:spPr>
          <a:xfrm>
            <a:off x="1464277" y="2534447"/>
            <a:ext cx="11248423"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1.4 Các mức kiểm thử (test level)</a:t>
            </a:r>
            <a:endParaRPr b="1" i="0" sz="3200" u="none" cap="none" strike="noStrike">
              <a:solidFill>
                <a:schemeClr val="dk1"/>
              </a:solidFill>
              <a:latin typeface="Arial"/>
              <a:ea typeface="Arial"/>
              <a:cs typeface="Arial"/>
              <a:sym typeface="Arial"/>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Kiểm thử đơn vị(unit testing).</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Kiểm thử tích hợp(integration testing).</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Kiểm thử hệ thống(system testing).</a:t>
            </a:r>
            <a:endParaRPr b="0" i="0" sz="3200" u="none" cap="none" strike="noStrike">
              <a:solidFill>
                <a:srgbClr val="1B1B1B"/>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Kiểm thử chấp nhận(acceptance testing)</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77" name="Google Shape;77;p21"/>
          <p:cNvPicPr preferRelativeResize="0"/>
          <p:nvPr/>
        </p:nvPicPr>
        <p:blipFill rotWithShape="1">
          <a:blip r:embed="rId3">
            <a:alphaModFix/>
          </a:blip>
          <a:srcRect b="0" l="0" r="0" t="0"/>
          <a:stretch/>
        </p:blipFill>
        <p:spPr>
          <a:xfrm>
            <a:off x="9895253" y="2534447"/>
            <a:ext cx="12193702" cy="65922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2"/>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83" name="Google Shape;83;p22"/>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1. Testing Introduction</a:t>
            </a:r>
            <a:endParaRPr b="1" i="0" sz="3600" u="none" cap="none" strike="noStrike">
              <a:solidFill>
                <a:srgbClr val="0070C0"/>
              </a:solidFill>
              <a:latin typeface="Roboto Condensed"/>
              <a:ea typeface="Roboto Condensed"/>
              <a:cs typeface="Roboto Condensed"/>
              <a:sym typeface="Roboto Condensed"/>
            </a:endParaRPr>
          </a:p>
        </p:txBody>
      </p:sp>
      <p:sp>
        <p:nvSpPr>
          <p:cNvPr id="84" name="Google Shape;84;p22"/>
          <p:cNvSpPr txBox="1"/>
          <p:nvPr/>
        </p:nvSpPr>
        <p:spPr>
          <a:xfrm>
            <a:off x="1464277" y="2534447"/>
            <a:ext cx="9104761" cy="79714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1.4 Các mức kiểm thử (test level)</a:t>
            </a:r>
            <a:endParaRPr b="1" i="0" sz="3200" u="none" cap="none" strike="noStrike">
              <a:solidFill>
                <a:schemeClr val="dk1"/>
              </a:solidFill>
              <a:latin typeface="Arial"/>
              <a:ea typeface="Arial"/>
              <a:cs typeface="Arial"/>
              <a:sym typeface="Arial"/>
            </a:endParaRPr>
          </a:p>
          <a:p>
            <a:pPr indent="0" lvl="2" marL="0" marR="0" rtl="0" algn="l">
              <a:lnSpc>
                <a:spcPct val="100000"/>
              </a:lnSpc>
              <a:spcBef>
                <a:spcPts val="0"/>
              </a:spcBef>
              <a:spcAft>
                <a:spcPts val="0"/>
              </a:spcAft>
              <a:buNone/>
            </a:pPr>
            <a:r>
              <a:rPr b="0" i="0" lang="en-US" sz="3200" u="none" cap="none" strike="noStrike">
                <a:solidFill>
                  <a:srgbClr val="1B1B1B"/>
                </a:solidFill>
                <a:highlight>
                  <a:srgbClr val="FFFFFF"/>
                </a:highlight>
                <a:latin typeface="Roboto Condensed"/>
                <a:ea typeface="Roboto Condensed"/>
                <a:cs typeface="Roboto Condensed"/>
                <a:sym typeface="Roboto Condensed"/>
              </a:rPr>
              <a:t>   1.4.1 Kiểm thử đơn vị(unit testing).</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Đây là mức kiểm thử thấp nhất. Ở mức kiểm thử này, các thành phần nhỏ nhất của một hệ thống phần mềm như class, function, hay module sẽ được kiểm thử riêng lẻ. </a:t>
            </a:r>
            <a:endParaRPr b="0" i="0" sz="3200" u="none" cap="none" strike="noStrike">
              <a:solidFill>
                <a:srgbClr val="11100E"/>
              </a:solidFill>
              <a:highlight>
                <a:srgbClr val="FAFAFA"/>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Phần lớn test case (các trường hợp kiểm thử) ở mức này sẽ gọi trực tiếp đối tượng được kiểm thử (như class, function… nào đó) trong code (mã nguồn) nên cần phải có sự hỗ trợ của các thư viện (unit test framework phổ biến như XUnit, JUnit, Nunit, Jest,… đa phần ngôn ngữ lập trình nào cũng có nhiều thư viện hỗ trợ cho unit testing) để giả lập các cụm chức năng (class, function,…) liên quan nhằm tách riêng phần cần kiểm thử.</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85" name="Google Shape;85;p22"/>
          <p:cNvPicPr preferRelativeResize="0"/>
          <p:nvPr/>
        </p:nvPicPr>
        <p:blipFill rotWithShape="1">
          <a:blip r:embed="rId3">
            <a:alphaModFix/>
          </a:blip>
          <a:srcRect b="0" l="0" r="0" t="0"/>
          <a:stretch/>
        </p:blipFill>
        <p:spPr>
          <a:xfrm>
            <a:off x="11102818" y="2534447"/>
            <a:ext cx="11416146" cy="649181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3"/>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91" name="Google Shape;91;p23"/>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1. Testing Introduction</a:t>
            </a:r>
            <a:endParaRPr b="1" i="0" sz="3600" u="none" cap="none" strike="noStrike">
              <a:solidFill>
                <a:srgbClr val="0070C0"/>
              </a:solidFill>
              <a:latin typeface="Roboto Condensed"/>
              <a:ea typeface="Roboto Condensed"/>
              <a:cs typeface="Roboto Condensed"/>
              <a:sym typeface="Roboto Condensed"/>
            </a:endParaRPr>
          </a:p>
        </p:txBody>
      </p:sp>
      <p:sp>
        <p:nvSpPr>
          <p:cNvPr id="92" name="Google Shape;92;p23"/>
          <p:cNvSpPr txBox="1"/>
          <p:nvPr/>
        </p:nvSpPr>
        <p:spPr>
          <a:xfrm>
            <a:off x="1464277" y="2534447"/>
            <a:ext cx="9104761"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1.4 Các mức kiểm thử (test level)</a:t>
            </a:r>
            <a:endParaRPr b="1" i="0" sz="3200" u="none" cap="none" strike="noStrike">
              <a:solidFill>
                <a:schemeClr val="dk1"/>
              </a:solidFill>
              <a:latin typeface="Arial"/>
              <a:ea typeface="Arial"/>
              <a:cs typeface="Arial"/>
              <a:sym typeface="Arial"/>
            </a:endParaRPr>
          </a:p>
          <a:p>
            <a:pPr indent="0" lvl="2" marL="0" marR="0" rtl="0" algn="l">
              <a:lnSpc>
                <a:spcPct val="100000"/>
              </a:lnSpc>
              <a:spcBef>
                <a:spcPts val="0"/>
              </a:spcBef>
              <a:spcAft>
                <a:spcPts val="0"/>
              </a:spcAft>
              <a:buNone/>
            </a:pPr>
            <a:r>
              <a:rPr b="0" i="0" lang="en-US" sz="3200" u="none" cap="none" strike="noStrike">
                <a:solidFill>
                  <a:srgbClr val="1B1B1B"/>
                </a:solidFill>
                <a:highlight>
                  <a:srgbClr val="FFFFFF"/>
                </a:highlight>
                <a:latin typeface="Roboto Condensed"/>
                <a:ea typeface="Roboto Condensed"/>
                <a:cs typeface="Roboto Condensed"/>
                <a:sym typeface="Roboto Condensed"/>
              </a:rPr>
              <a:t>   1.4.2 Kiểm thử tích hợp(integration testing).</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Ở giai đoạn này, các chức năng (hoặc class, function,…) đã được phát triển và kiểm thử xong, đã đến lúc tích hợp chúng lại với nhau. Và phải kiểm thử sự tương tác qua lại giữa các thành phần này. </a:t>
            </a:r>
            <a:endParaRPr b="0" i="0" sz="3200" u="none" cap="none" strike="noStrike">
              <a:solidFill>
                <a:srgbClr val="11100E"/>
              </a:solidFill>
              <a:highlight>
                <a:srgbClr val="FAFAFA"/>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Tương tự như vậy, chúng ta cũng cần kiểm thử sự tích hợp giữa các hệ thống khác nhau. </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pic>
        <p:nvPicPr>
          <p:cNvPr id="93" name="Google Shape;93;p23"/>
          <p:cNvPicPr preferRelativeResize="0"/>
          <p:nvPr/>
        </p:nvPicPr>
        <p:blipFill rotWithShape="1">
          <a:blip r:embed="rId3">
            <a:alphaModFix/>
          </a:blip>
          <a:srcRect b="0" l="0" r="0" t="0"/>
          <a:stretch/>
        </p:blipFill>
        <p:spPr>
          <a:xfrm>
            <a:off x="11317185" y="2539266"/>
            <a:ext cx="10070777" cy="70495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4"/>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99" name="Google Shape;99;p24"/>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1. Testing Introduction</a:t>
            </a:r>
            <a:endParaRPr b="1" i="0" sz="3600" u="none" cap="none" strike="noStrike">
              <a:solidFill>
                <a:srgbClr val="0070C0"/>
              </a:solidFill>
              <a:latin typeface="Roboto Condensed"/>
              <a:ea typeface="Roboto Condensed"/>
              <a:cs typeface="Roboto Condensed"/>
              <a:sym typeface="Roboto Condensed"/>
            </a:endParaRPr>
          </a:p>
        </p:txBody>
      </p:sp>
      <p:sp>
        <p:nvSpPr>
          <p:cNvPr id="100" name="Google Shape;100;p24"/>
          <p:cNvSpPr txBox="1"/>
          <p:nvPr/>
        </p:nvSpPr>
        <p:spPr>
          <a:xfrm>
            <a:off x="1464277" y="2534447"/>
            <a:ext cx="9104761" cy="79714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1.4 Các mức kiểm thử (test level)</a:t>
            </a:r>
            <a:endParaRPr b="1" i="0" sz="3200" u="none" cap="none" strike="noStrike">
              <a:solidFill>
                <a:schemeClr val="dk1"/>
              </a:solidFill>
              <a:latin typeface="Arial"/>
              <a:ea typeface="Arial"/>
              <a:cs typeface="Arial"/>
              <a:sym typeface="Arial"/>
            </a:endParaRPr>
          </a:p>
          <a:p>
            <a:pPr indent="0" lvl="2" marL="0" marR="0" rtl="0" algn="l">
              <a:lnSpc>
                <a:spcPct val="100000"/>
              </a:lnSpc>
              <a:spcBef>
                <a:spcPts val="0"/>
              </a:spcBef>
              <a:spcAft>
                <a:spcPts val="0"/>
              </a:spcAft>
              <a:buNone/>
            </a:pPr>
            <a:r>
              <a:rPr b="0" i="0" lang="en-US" sz="3200" u="none" cap="none" strike="noStrike">
                <a:solidFill>
                  <a:srgbClr val="1B1B1B"/>
                </a:solidFill>
                <a:highlight>
                  <a:srgbClr val="FFFFFF"/>
                </a:highlight>
                <a:latin typeface="Roboto Condensed"/>
                <a:ea typeface="Roboto Condensed"/>
                <a:cs typeface="Roboto Condensed"/>
                <a:sym typeface="Roboto Condensed"/>
              </a:rPr>
              <a:t>   1.4.3 Kiểm thử hệ thống(system testing).</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Khi hệ thống đã được phát triển hoàn thiện thì đến giai đoạn cần kiểm thử các luồng xử lý chức năng, và một số khía cạnh phi chức năng như hiệu năng (performance testing – kiểm thử tải) và đánh giá tính khả dụng của hệ thống (usability).</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Kiểm thử hệ thống sẽ dựa vào tài liệu mô tả chức năng và áp dụng các kỹ thuật kiểm thử hộp đen để viết test case (là end-to-end test case) cho mức kiểm thử này. Kiểm thử giai đoạn này cũng có thể dựa vào kinh nghiệm của tester và các vai trò khác trong dự án như PM/PO, khách hàng.</a:t>
            </a:r>
            <a:endParaRPr/>
          </a:p>
          <a:p>
            <a:pPr indent="0" lvl="0" marL="0" marR="0" rtl="0" algn="l">
              <a:lnSpc>
                <a:spcPct val="100000"/>
              </a:lnSpc>
              <a:spcBef>
                <a:spcPts val="0"/>
              </a:spcBef>
              <a:spcAft>
                <a:spcPts val="0"/>
              </a:spcAft>
              <a:buNone/>
            </a:pPr>
            <a:r>
              <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pic>
        <p:nvPicPr>
          <p:cNvPr id="101" name="Google Shape;101;p24"/>
          <p:cNvPicPr preferRelativeResize="0"/>
          <p:nvPr/>
        </p:nvPicPr>
        <p:blipFill rotWithShape="1">
          <a:blip r:embed="rId3">
            <a:alphaModFix/>
          </a:blip>
          <a:srcRect b="0" l="0" r="0" t="0"/>
          <a:stretch/>
        </p:blipFill>
        <p:spPr>
          <a:xfrm>
            <a:off x="10925174" y="2915860"/>
            <a:ext cx="10512056" cy="591303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5"/>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107" name="Google Shape;107;p25"/>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1. Testing Introduction</a:t>
            </a:r>
            <a:endParaRPr b="1" i="0" sz="3600" u="none" cap="none" strike="noStrike">
              <a:solidFill>
                <a:srgbClr val="0070C0"/>
              </a:solidFill>
              <a:latin typeface="Roboto Condensed"/>
              <a:ea typeface="Roboto Condensed"/>
              <a:cs typeface="Roboto Condensed"/>
              <a:sym typeface="Roboto Condensed"/>
            </a:endParaRPr>
          </a:p>
        </p:txBody>
      </p:sp>
      <p:sp>
        <p:nvSpPr>
          <p:cNvPr id="108" name="Google Shape;108;p25"/>
          <p:cNvSpPr txBox="1"/>
          <p:nvPr/>
        </p:nvSpPr>
        <p:spPr>
          <a:xfrm>
            <a:off x="1464277" y="2534447"/>
            <a:ext cx="9104761" cy="94487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1.4 Các mức kiểm thử (test level)</a:t>
            </a:r>
            <a:endParaRPr b="1" i="0" sz="3200" u="none" cap="none" strike="noStrike">
              <a:solidFill>
                <a:schemeClr val="dk1"/>
              </a:solidFill>
              <a:latin typeface="Arial"/>
              <a:ea typeface="Arial"/>
              <a:cs typeface="Arial"/>
              <a:sym typeface="Arial"/>
            </a:endParaRPr>
          </a:p>
          <a:p>
            <a:pPr indent="0" lvl="2" marL="0" marR="0" rtl="0" algn="l">
              <a:lnSpc>
                <a:spcPct val="100000"/>
              </a:lnSpc>
              <a:spcBef>
                <a:spcPts val="0"/>
              </a:spcBef>
              <a:spcAft>
                <a:spcPts val="0"/>
              </a:spcAft>
              <a:buNone/>
            </a:pPr>
            <a:r>
              <a:rPr b="0" i="0" lang="en-US" sz="3200" u="none" cap="none" strike="noStrike">
                <a:solidFill>
                  <a:srgbClr val="1B1B1B"/>
                </a:solidFill>
                <a:highlight>
                  <a:srgbClr val="FFFFFF"/>
                </a:highlight>
                <a:latin typeface="Roboto Condensed"/>
                <a:ea typeface="Roboto Condensed"/>
                <a:cs typeface="Roboto Condensed"/>
                <a:sym typeface="Roboto Condensed"/>
              </a:rPr>
              <a:t>   1.4.4 Kiểm thử chấp nhận(acceptance testing).</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Một khi tester đã thực hiện xong quá trình kiểm thử ở mức hệ thống, thì nhóm nhân viên khác trong công ty đến từ nhóm Vận hành, Chăm sóc khách hàng, Bán hàng, … hoặc khách hàng sẽ thực hiện đánh giá tổng thể dựa trên tài liệu mô tả yêu cầu của hệ thống. </a:t>
            </a:r>
            <a:endParaRPr b="0" i="0" sz="3200" u="none" cap="none" strike="noStrike">
              <a:solidFill>
                <a:srgbClr val="11100E"/>
              </a:solidFill>
              <a:highlight>
                <a:srgbClr val="FAFAFA"/>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Kiểm thử chấp nhận có thể được thực hiện song song với quá trình kiểm thử mức hệ thống.</a:t>
            </a:r>
            <a:endParaRPr b="0" i="0" sz="3200" u="none" cap="none" strike="noStrike">
              <a:solidFill>
                <a:srgbClr val="11100E"/>
              </a:solidFill>
              <a:highlight>
                <a:srgbClr val="FAFAFA"/>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Quá trình kiểm thử chấp nhận sẽ trả lời cho các câu hỏi như: </a:t>
            </a:r>
            <a:endParaRPr/>
          </a:p>
          <a:p>
            <a:pPr indent="0" lvl="0" marL="0" marR="0" rtl="0" algn="l">
              <a:lnSpc>
                <a:spcPct val="100000"/>
              </a:lnSpc>
              <a:spcBef>
                <a:spcPts val="0"/>
              </a:spcBef>
              <a:spcAft>
                <a:spcPts val="0"/>
              </a:spcAft>
              <a:buNone/>
            </a:pPr>
            <a:r>
              <a:rPr b="0" i="0" lang="en-US" sz="3200" u="none" cap="none" strike="noStrike">
                <a:solidFill>
                  <a:srgbClr val="11100E"/>
                </a:solidFill>
                <a:highlight>
                  <a:srgbClr val="FAFAFA"/>
                </a:highlight>
                <a:latin typeface="Roboto Condensed"/>
                <a:ea typeface="Roboto Condensed"/>
                <a:cs typeface="Roboto Condensed"/>
                <a:sym typeface="Roboto Condensed"/>
              </a:rPr>
              <a:t>	Hệ thống đã sẵn sàng đưa vào sử dụng 	thực tế chưa?</a:t>
            </a:r>
            <a:endParaRPr/>
          </a:p>
          <a:p>
            <a:pPr indent="0" lvl="0" marL="0" marR="0" rtl="0" algn="l">
              <a:lnSpc>
                <a:spcPct val="100000"/>
              </a:lnSpc>
              <a:spcBef>
                <a:spcPts val="0"/>
              </a:spcBef>
              <a:spcAft>
                <a:spcPts val="0"/>
              </a:spcAft>
              <a:buNone/>
            </a:pPr>
            <a:r>
              <a:rPr b="0" i="0" lang="en-US" sz="3200" u="none" cap="none" strike="noStrike">
                <a:solidFill>
                  <a:srgbClr val="11100E"/>
                </a:solidFill>
                <a:highlight>
                  <a:srgbClr val="FAFAFA"/>
                </a:highlight>
                <a:latin typeface="Roboto Condensed"/>
                <a:ea typeface="Roboto Condensed"/>
                <a:cs typeface="Roboto Condensed"/>
                <a:sym typeface="Roboto Condensed"/>
              </a:rPr>
              <a:t>	Hệ thống chạy đã đáp ứng như mong đợi 	của người dùng chưa?</a:t>
            </a:r>
            <a:endParaRPr/>
          </a:p>
          <a:p>
            <a:pPr indent="0" lvl="0" marL="0" marR="0" rtl="0" algn="l">
              <a:lnSpc>
                <a:spcPct val="100000"/>
              </a:lnSpc>
              <a:spcBef>
                <a:spcPts val="0"/>
              </a:spcBef>
              <a:spcAft>
                <a:spcPts val="0"/>
              </a:spcAft>
              <a:buNone/>
            </a:pPr>
            <a:r>
              <a:rPr b="0" i="0" lang="en-US" sz="3200" u="none" cap="none" strike="noStrike">
                <a:solidFill>
                  <a:srgbClr val="11100E"/>
                </a:solidFill>
                <a:highlight>
                  <a:srgbClr val="FAFAFA"/>
                </a:highlight>
                <a:latin typeface="Roboto Condensed"/>
                <a:ea typeface="Roboto Condensed"/>
                <a:cs typeface="Roboto Condensed"/>
                <a:sym typeface="Roboto Condensed"/>
              </a:rPr>
              <a:t>	Có thể chấp nhận và thanh toán tiền cho 	sản phẩm này không?</a:t>
            </a:r>
            <a:endParaRPr/>
          </a:p>
        </p:txBody>
      </p:sp>
      <p:pic>
        <p:nvPicPr>
          <p:cNvPr id="109" name="Google Shape;109;p25"/>
          <p:cNvPicPr preferRelativeResize="0"/>
          <p:nvPr/>
        </p:nvPicPr>
        <p:blipFill rotWithShape="1">
          <a:blip r:embed="rId3">
            <a:alphaModFix/>
          </a:blip>
          <a:srcRect b="0" l="0" r="0" t="0"/>
          <a:stretch/>
        </p:blipFill>
        <p:spPr>
          <a:xfrm>
            <a:off x="10818421" y="2864247"/>
            <a:ext cx="12469092" cy="827480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6"/>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115" name="Google Shape;115;p26"/>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2. Junit và Spring Boot Starter Test</a:t>
            </a:r>
            <a:endParaRPr b="1" i="0" sz="3600" u="none" cap="none" strike="noStrike">
              <a:solidFill>
                <a:srgbClr val="0070C0"/>
              </a:solidFill>
              <a:latin typeface="Roboto Condensed"/>
              <a:ea typeface="Roboto Condensed"/>
              <a:cs typeface="Roboto Condensed"/>
              <a:sym typeface="Roboto Condensed"/>
            </a:endParaRPr>
          </a:p>
        </p:txBody>
      </p:sp>
      <p:sp>
        <p:nvSpPr>
          <p:cNvPr id="116" name="Google Shape;116;p26"/>
          <p:cNvSpPr txBox="1"/>
          <p:nvPr/>
        </p:nvSpPr>
        <p:spPr>
          <a:xfrm>
            <a:off x="1464277" y="2534447"/>
            <a:ext cx="9104700" cy="748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2.1 Junit</a:t>
            </a:r>
            <a:endParaRPr/>
          </a:p>
          <a:p>
            <a:pPr indent="0" lvl="0" marL="0" marR="0" rtl="0" algn="l">
              <a:lnSpc>
                <a:spcPct val="100000"/>
              </a:lnSpc>
              <a:spcBef>
                <a:spcPts val="0"/>
              </a:spcBef>
              <a:spcAft>
                <a:spcPts val="0"/>
              </a:spcAft>
              <a:buNone/>
            </a:pPr>
            <a:r>
              <a:rPr b="0" i="0" lang="en-US" sz="3200" u="none" cap="none" strike="noStrike">
                <a:solidFill>
                  <a:schemeClr val="dk1"/>
                </a:solidFill>
                <a:latin typeface="Roboto Condensed"/>
                <a:ea typeface="Roboto Condensed"/>
                <a:cs typeface="Roboto Condensed"/>
                <a:sym typeface="Roboto Condensed"/>
              </a:rPr>
              <a:t>2.1.1 Junit là gì?</a:t>
            </a:r>
            <a:endParaRPr b="0" i="0" sz="3200" u="none" cap="none" strike="noStrike">
              <a:solidFill>
                <a:schemeClr val="dk1"/>
              </a:solidFill>
              <a:latin typeface="Arial"/>
              <a:ea typeface="Arial"/>
              <a:cs typeface="Arial"/>
              <a:sym typeface="Arial"/>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 JUnit là một framework được dùng cho Unit Test trong Java. JUnit được xây dựng bởi Erich Gamma và Kent Beck.</a:t>
            </a:r>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Trong JUnit có các Test Case là các lớp của Java, các lớp này bao gồm một hay nhiều các phương thức cần kiểm tra, và Test Case này lại được nhóm với nhau để tạo thành Test Suite. Mỗi phương thức thử trong JUnit phải được thực thi nhanh chóng.</a:t>
            </a:r>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Mỗi phép thử trong JUnit là một phương thức public, không có đối số và được bắt đầu bằng chữ test ( testABC()). Nếu chúng ta không tuân thủ theo </a:t>
            </a:r>
            <a:r>
              <a:rPr lang="en-US" sz="3200">
                <a:solidFill>
                  <a:srgbClr val="11100E"/>
                </a:solidFill>
                <a:highlight>
                  <a:srgbClr val="FAFAFA"/>
                </a:highlight>
                <a:latin typeface="Roboto Condensed"/>
                <a:ea typeface="Roboto Condensed"/>
                <a:cs typeface="Roboto Condensed"/>
                <a:sym typeface="Roboto Condensed"/>
              </a:rPr>
              <a:t>quy</a:t>
            </a:r>
            <a:r>
              <a:rPr b="0" i="0" lang="en-US" sz="3200" u="none" cap="none" strike="noStrike">
                <a:solidFill>
                  <a:srgbClr val="11100E"/>
                </a:solidFill>
                <a:highlight>
                  <a:srgbClr val="FAFAFA"/>
                </a:highlight>
                <a:latin typeface="Roboto Condensed"/>
                <a:ea typeface="Roboto Condensed"/>
                <a:cs typeface="Roboto Condensed"/>
                <a:sym typeface="Roboto Condensed"/>
              </a:rPr>
              <a:t> tắc này thì JUnit sẽ không xác định được các phương thức test một cách tự động.</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pic>
        <p:nvPicPr>
          <p:cNvPr id="117" name="Google Shape;117;p26"/>
          <p:cNvPicPr preferRelativeResize="0"/>
          <p:nvPr/>
        </p:nvPicPr>
        <p:blipFill rotWithShape="1">
          <a:blip r:embed="rId3">
            <a:alphaModFix/>
          </a:blip>
          <a:srcRect b="0" l="0" r="0" t="0"/>
          <a:stretch/>
        </p:blipFill>
        <p:spPr>
          <a:xfrm>
            <a:off x="11008302" y="3691742"/>
            <a:ext cx="11257806" cy="633251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7"/>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123" name="Google Shape;123;p27"/>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2. Junit và Spring Boot Starter Test</a:t>
            </a:r>
            <a:endParaRPr b="1" i="0" sz="3600" u="none" cap="none" strike="noStrike">
              <a:solidFill>
                <a:srgbClr val="0070C0"/>
              </a:solidFill>
              <a:latin typeface="Roboto Condensed"/>
              <a:ea typeface="Roboto Condensed"/>
              <a:cs typeface="Roboto Condensed"/>
              <a:sym typeface="Roboto Condensed"/>
            </a:endParaRPr>
          </a:p>
        </p:txBody>
      </p:sp>
      <p:sp>
        <p:nvSpPr>
          <p:cNvPr id="124" name="Google Shape;124;p27"/>
          <p:cNvSpPr txBox="1"/>
          <p:nvPr/>
        </p:nvSpPr>
        <p:spPr>
          <a:xfrm>
            <a:off x="1464277" y="2534447"/>
            <a:ext cx="9104761" cy="84638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2.1 Junit</a:t>
            </a:r>
            <a:endParaRPr/>
          </a:p>
          <a:p>
            <a:pPr indent="0" lvl="0" marL="0" marR="0" rtl="0" algn="l">
              <a:lnSpc>
                <a:spcPct val="100000"/>
              </a:lnSpc>
              <a:spcBef>
                <a:spcPts val="0"/>
              </a:spcBef>
              <a:spcAft>
                <a:spcPts val="0"/>
              </a:spcAft>
              <a:buNone/>
            </a:pPr>
            <a:r>
              <a:rPr b="0" i="0" lang="en-US" sz="3200" u="none" cap="none" strike="noStrike">
                <a:solidFill>
                  <a:schemeClr val="dk1"/>
                </a:solidFill>
                <a:latin typeface="Roboto Condensed"/>
                <a:ea typeface="Roboto Condensed"/>
                <a:cs typeface="Roboto Condensed"/>
                <a:sym typeface="Roboto Condensed"/>
              </a:rPr>
              <a:t>2.1.2 Lợi ích của JUnit</a:t>
            </a:r>
            <a:endParaRPr b="0" i="0" sz="3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212529"/>
                </a:solidFill>
                <a:highlight>
                  <a:srgbClr val="FFFFFF"/>
                </a:highlight>
                <a:latin typeface="Roboto Condensed"/>
                <a:ea typeface="Roboto Condensed"/>
                <a:cs typeface="Roboto Condensed"/>
                <a:sym typeface="Roboto Condensed"/>
              </a:rPr>
              <a:t>Tiết kiệm chi phí tối đa:</a:t>
            </a:r>
            <a:r>
              <a:rPr b="1" i="0" lang="en-US" sz="3200" u="none" cap="none" strike="noStrike">
                <a:solidFill>
                  <a:srgbClr val="212529"/>
                </a:solidFill>
                <a:highlight>
                  <a:srgbClr val="FFFFFF"/>
                </a:highlight>
                <a:latin typeface="Roboto Condensed"/>
                <a:ea typeface="Roboto Condensed"/>
                <a:cs typeface="Roboto Condensed"/>
                <a:sym typeface="Roboto Condensed"/>
              </a:rPr>
              <a:t> </a:t>
            </a:r>
            <a:r>
              <a:rPr b="0" i="0" lang="en-US" sz="3200" u="none" cap="none" strike="noStrike">
                <a:solidFill>
                  <a:srgbClr val="212529"/>
                </a:solidFill>
                <a:highlight>
                  <a:srgbClr val="FFFFFF"/>
                </a:highlight>
                <a:latin typeface="Roboto Condensed"/>
                <a:ea typeface="Roboto Condensed"/>
                <a:cs typeface="Roboto Condensed"/>
                <a:sym typeface="Roboto Condensed"/>
              </a:rPr>
              <a:t>Các lập trình viên đôi khi chỉ thực hiện việc kiểm thử đơn vị trong phạm vi tối thiểu nhưng đây là là một sai lầm nghiêm trọng. Việc kiểm thử đơn vị không kỹ lưỡng có thể khiến cho chi phí sửa lỗi cao hơn gấp nhiều lần. Junit kiểm thử tự động giúp các doanh nghiệp khắc phục nhược điểm này hiệu quả mà không tốn quá nhiều chi phí.</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212529"/>
                </a:solidFill>
                <a:highlight>
                  <a:srgbClr val="FFFFFF"/>
                </a:highlight>
                <a:latin typeface="Roboto Condensed"/>
                <a:ea typeface="Roboto Condensed"/>
                <a:cs typeface="Roboto Condensed"/>
                <a:sym typeface="Roboto Condensed"/>
              </a:rPr>
              <a:t>Giảm thời gian lập trình:</a:t>
            </a:r>
            <a:r>
              <a:rPr b="1" i="0" lang="en-US" sz="3200" u="none" cap="none" strike="noStrike">
                <a:solidFill>
                  <a:srgbClr val="212529"/>
                </a:solidFill>
                <a:highlight>
                  <a:srgbClr val="FFFFFF"/>
                </a:highlight>
                <a:latin typeface="Roboto Condensed"/>
                <a:ea typeface="Roboto Condensed"/>
                <a:cs typeface="Roboto Condensed"/>
                <a:sym typeface="Roboto Condensed"/>
              </a:rPr>
              <a:t> </a:t>
            </a:r>
            <a:r>
              <a:rPr b="0" i="0" lang="en-US" sz="3200" u="none" cap="none" strike="noStrike">
                <a:solidFill>
                  <a:srgbClr val="212529"/>
                </a:solidFill>
                <a:highlight>
                  <a:srgbClr val="FFFFFF"/>
                </a:highlight>
                <a:latin typeface="Roboto Condensed"/>
                <a:ea typeface="Roboto Condensed"/>
                <a:cs typeface="Roboto Condensed"/>
                <a:sym typeface="Roboto Condensed"/>
              </a:rPr>
              <a:t>Kiểm thử đơn vị bằng Junit có thể được thực hiện ngay trong giai đoạn xây dựng và phát triển phần mềm. Điều này giúp giảm áp lực kiểm thử thủ công cho đội Tester và không tốn nhiều thời gian của lập trình viên trong việc xử lý các lỗi sai.</a:t>
            </a:r>
            <a:endParaRPr/>
          </a:p>
          <a:p>
            <a:pPr indent="-254000" lvl="2"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pic>
        <p:nvPicPr>
          <p:cNvPr id="125" name="Google Shape;125;p27"/>
          <p:cNvPicPr preferRelativeResize="0"/>
          <p:nvPr/>
        </p:nvPicPr>
        <p:blipFill rotWithShape="1">
          <a:blip r:embed="rId3">
            <a:alphaModFix/>
          </a:blip>
          <a:srcRect b="0" l="0" r="0" t="0"/>
          <a:stretch/>
        </p:blipFill>
        <p:spPr>
          <a:xfrm>
            <a:off x="10925174" y="3026396"/>
            <a:ext cx="11205792" cy="797190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131" name="Google Shape;131;p28"/>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2. Junit và Spring Boot Starter Test</a:t>
            </a:r>
            <a:endParaRPr b="1" i="0" sz="3600" u="none" cap="none" strike="noStrike">
              <a:solidFill>
                <a:srgbClr val="0070C0"/>
              </a:solidFill>
              <a:latin typeface="Roboto Condensed"/>
              <a:ea typeface="Roboto Condensed"/>
              <a:cs typeface="Roboto Condensed"/>
              <a:sym typeface="Roboto Condensed"/>
            </a:endParaRPr>
          </a:p>
        </p:txBody>
      </p:sp>
      <p:sp>
        <p:nvSpPr>
          <p:cNvPr id="132" name="Google Shape;132;p28"/>
          <p:cNvSpPr txBox="1"/>
          <p:nvPr/>
        </p:nvSpPr>
        <p:spPr>
          <a:xfrm>
            <a:off x="1464277" y="2534447"/>
            <a:ext cx="19816305" cy="74789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2.1 Junit</a:t>
            </a:r>
            <a:endParaRPr/>
          </a:p>
          <a:p>
            <a:pPr indent="0" lvl="0" marL="0" marR="0" rtl="0" algn="l">
              <a:lnSpc>
                <a:spcPct val="100000"/>
              </a:lnSpc>
              <a:spcBef>
                <a:spcPts val="0"/>
              </a:spcBef>
              <a:spcAft>
                <a:spcPts val="0"/>
              </a:spcAft>
              <a:buNone/>
            </a:pPr>
            <a:r>
              <a:rPr b="0" i="0" lang="en-US" sz="3200" u="none" cap="none" strike="noStrike">
                <a:solidFill>
                  <a:schemeClr val="dk1"/>
                </a:solidFill>
                <a:latin typeface="Roboto Condensed"/>
                <a:ea typeface="Roboto Condensed"/>
                <a:cs typeface="Roboto Condensed"/>
                <a:sym typeface="Roboto Condensed"/>
              </a:rPr>
              <a:t>2.1.3 Nhưng khái niệm cần biết trong Junit </a:t>
            </a:r>
            <a:endParaRPr b="0" i="0" sz="3200" u="none" cap="none" strike="noStrike">
              <a:solidFill>
                <a:schemeClr val="dk1"/>
              </a:solidFill>
              <a:latin typeface="Arial"/>
              <a:ea typeface="Arial"/>
              <a:cs typeface="Arial"/>
              <a:sym typeface="Arial"/>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 Fixtures là trạng thái cố định của tập hợp các đối tượng là cơ sở chạy thử nghiệm, test fixtures giúp Developer đảm bảo môi trường ổn định nhằm thực hiện các bài test thử nghiệm liên tục. Hai phương thức thường được dùng khi test fixtures là setUp() method (chạy trước khi bắt đầu thử nghiệm) và tearDown()method (chạy sau khi tiến hành thử nghiệm).</a:t>
            </a:r>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Test cases là chuỗi code được lập trình nhằm đảm bảo kiểm thử thuận lợi, mỗi function được xây dựng nhiều test case để phù hợp với trường hợp kiểm thử khác nhau.</a:t>
            </a:r>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Test suite là bộ kiểm thử, bao gồm các test case có thể được chạy cùng lúc, sử dụng chú thích @Rinwith và @Suite để chạy test suite.</a:t>
            </a:r>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Test runner là trình chạy kiểm thử dùng để chạy test case.</a:t>
            </a:r>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Junit class là thành phần quan trọng, được dùng để viết và chạy kiểm thử. Các Class quan trọng trong Junit bao gồm Assert, Testcase, Test Result.</a:t>
            </a:r>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Mock là đối tượng giả định dùng để mô phỏng tính chất và hành vi tương tự như đối tượng thật, được truyền vào code đang vận hành để kiểm tra hàm bên trong có đúng không.</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138" name="Google Shape;138;p29"/>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2. Junit và Spring Boot Starter Test</a:t>
            </a:r>
            <a:endParaRPr b="1" i="0" sz="3600" u="none" cap="none" strike="noStrike">
              <a:solidFill>
                <a:srgbClr val="0070C0"/>
              </a:solidFill>
              <a:latin typeface="Roboto Condensed"/>
              <a:ea typeface="Roboto Condensed"/>
              <a:cs typeface="Roboto Condensed"/>
              <a:sym typeface="Roboto Condensed"/>
            </a:endParaRPr>
          </a:p>
        </p:txBody>
      </p:sp>
      <p:sp>
        <p:nvSpPr>
          <p:cNvPr id="139" name="Google Shape;139;p29"/>
          <p:cNvSpPr txBox="1"/>
          <p:nvPr/>
        </p:nvSpPr>
        <p:spPr>
          <a:xfrm>
            <a:off x="1464277" y="2534447"/>
            <a:ext cx="8700900" cy="698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chemeClr val="dk1"/>
                </a:solidFill>
                <a:latin typeface="Roboto Condensed"/>
                <a:ea typeface="Roboto Condensed"/>
                <a:cs typeface="Roboto Condensed"/>
                <a:sym typeface="Roboto Condensed"/>
              </a:rPr>
              <a:t>2.2 Spring boot starter test</a:t>
            </a:r>
            <a:endParaRPr b="0" i="0" sz="3200" u="none" cap="none" strike="noStrike">
              <a:solidFill>
                <a:schemeClr val="dk1"/>
              </a:solidFill>
              <a:latin typeface="Arial"/>
              <a:ea typeface="Arial"/>
              <a:cs typeface="Arial"/>
              <a:sym typeface="Arial"/>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 Spring boot starter test là một gói tiện ích bao gồm nhiều </a:t>
            </a:r>
            <a:r>
              <a:rPr lang="en-US" sz="3200">
                <a:solidFill>
                  <a:srgbClr val="1B1B1B"/>
                </a:solidFill>
                <a:highlight>
                  <a:srgbClr val="FFFFFF"/>
                </a:highlight>
                <a:latin typeface="Roboto Condensed"/>
                <a:ea typeface="Roboto Condensed"/>
                <a:cs typeface="Roboto Condensed"/>
                <a:sym typeface="Roboto Condensed"/>
              </a:rPr>
              <a:t>modules</a:t>
            </a:r>
            <a:r>
              <a:rPr b="0" i="0" lang="en-US" sz="3200" u="none" cap="none" strike="noStrike">
                <a:solidFill>
                  <a:srgbClr val="1B1B1B"/>
                </a:solidFill>
                <a:highlight>
                  <a:srgbClr val="FFFFFF"/>
                </a:highlight>
                <a:latin typeface="Roboto Condensed"/>
                <a:ea typeface="Roboto Condensed"/>
                <a:cs typeface="Roboto Condensed"/>
                <a:sym typeface="Roboto Condensed"/>
              </a:rPr>
              <a:t> hỗ trợ cho việc testing ứng dụng spring boot.</a:t>
            </a:r>
            <a:endParaRPr b="0" i="0" sz="3200" u="none" cap="none" strike="noStrike">
              <a:solidFill>
                <a:srgbClr val="1B1B1B"/>
              </a:solidFill>
              <a:highlight>
                <a:srgbClr val="FFFFFF"/>
              </a:highlight>
              <a:latin typeface="Roboto Condensed"/>
              <a:ea typeface="Roboto Condensed"/>
              <a:cs typeface="Roboto Condensed"/>
              <a:sym typeface="Roboto Condensed"/>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Spring boot starter test gồm các modules chính sau:</a:t>
            </a:r>
            <a:endParaRPr/>
          </a:p>
          <a:p>
            <a:pPr indent="0" lvl="1" marL="0" marR="0" rtl="0" algn="l">
              <a:lnSpc>
                <a:spcPct val="100000"/>
              </a:lnSpc>
              <a:spcBef>
                <a:spcPts val="0"/>
              </a:spcBef>
              <a:spcAft>
                <a:spcPts val="0"/>
              </a:spcAft>
              <a:buNone/>
            </a:pPr>
            <a:r>
              <a:rPr b="0" i="0" lang="en-US" sz="3200" u="none" cap="none" strike="noStrike">
                <a:solidFill>
                  <a:schemeClr val="dk1"/>
                </a:solidFill>
                <a:highlight>
                  <a:srgbClr val="FFFFFF"/>
                </a:highlight>
                <a:latin typeface="Roboto Condensed"/>
                <a:ea typeface="Roboto Condensed"/>
                <a:cs typeface="Roboto Condensed"/>
                <a:sym typeface="Roboto Condensed"/>
              </a:rPr>
              <a:t>	- Junit</a:t>
            </a:r>
            <a:endParaRPr/>
          </a:p>
          <a:p>
            <a:pPr indent="0" lvl="1" marL="0" marR="0" rtl="0" algn="l">
              <a:lnSpc>
                <a:spcPct val="100000"/>
              </a:lnSpc>
              <a:spcBef>
                <a:spcPts val="0"/>
              </a:spcBef>
              <a:spcAft>
                <a:spcPts val="0"/>
              </a:spcAft>
              <a:buNone/>
            </a:pPr>
            <a:r>
              <a:rPr b="0" i="0" lang="en-US" sz="3200" u="none" cap="none" strike="noStrike">
                <a:solidFill>
                  <a:schemeClr val="dk1"/>
                </a:solidFill>
                <a:highlight>
                  <a:srgbClr val="FFFFFF"/>
                </a:highlight>
                <a:latin typeface="Roboto Condensed"/>
                <a:ea typeface="Roboto Condensed"/>
                <a:cs typeface="Roboto Condensed"/>
                <a:sym typeface="Roboto Condensed"/>
              </a:rPr>
              <a:t>	- Spring Test &amp; Spring Boot Test</a:t>
            </a:r>
            <a:endParaRPr/>
          </a:p>
          <a:p>
            <a:pPr indent="0" lvl="1" marL="0" marR="0" rtl="0" algn="l">
              <a:lnSpc>
                <a:spcPct val="100000"/>
              </a:lnSpc>
              <a:spcBef>
                <a:spcPts val="0"/>
              </a:spcBef>
              <a:spcAft>
                <a:spcPts val="0"/>
              </a:spcAft>
              <a:buNone/>
            </a:pPr>
            <a:r>
              <a:rPr b="0" i="0" lang="en-US" sz="3200" u="none" cap="none" strike="noStrike">
                <a:solidFill>
                  <a:schemeClr val="dk1"/>
                </a:solidFill>
                <a:highlight>
                  <a:srgbClr val="FFFFFF"/>
                </a:highlight>
                <a:latin typeface="Roboto Condensed"/>
                <a:ea typeface="Roboto Condensed"/>
                <a:cs typeface="Roboto Condensed"/>
                <a:sym typeface="Roboto Condensed"/>
              </a:rPr>
              <a:t>	- AssertJ</a:t>
            </a:r>
            <a:endParaRPr/>
          </a:p>
          <a:p>
            <a:pPr indent="0" lvl="1" marL="0" marR="0" rtl="0" algn="l">
              <a:lnSpc>
                <a:spcPct val="100000"/>
              </a:lnSpc>
              <a:spcBef>
                <a:spcPts val="0"/>
              </a:spcBef>
              <a:spcAft>
                <a:spcPts val="0"/>
              </a:spcAft>
              <a:buNone/>
            </a:pPr>
            <a:r>
              <a:rPr b="0" i="0" lang="en-US" sz="3200" u="none" cap="none" strike="noStrike">
                <a:solidFill>
                  <a:schemeClr val="dk1"/>
                </a:solidFill>
                <a:highlight>
                  <a:srgbClr val="FFFFFF"/>
                </a:highlight>
                <a:latin typeface="Roboto Condensed"/>
                <a:ea typeface="Roboto Condensed"/>
                <a:cs typeface="Roboto Condensed"/>
                <a:sym typeface="Roboto Condensed"/>
              </a:rPr>
              <a:t>	- Hamcrest </a:t>
            </a:r>
            <a:endParaRPr/>
          </a:p>
          <a:p>
            <a:pPr indent="0" lvl="1" marL="0" marR="0" rtl="0" algn="l">
              <a:lnSpc>
                <a:spcPct val="100000"/>
              </a:lnSpc>
              <a:spcBef>
                <a:spcPts val="0"/>
              </a:spcBef>
              <a:spcAft>
                <a:spcPts val="0"/>
              </a:spcAft>
              <a:buNone/>
            </a:pPr>
            <a:r>
              <a:rPr b="0" i="0" lang="en-US" sz="3200" u="none" cap="none" strike="noStrike">
                <a:solidFill>
                  <a:schemeClr val="dk1"/>
                </a:solidFill>
                <a:highlight>
                  <a:srgbClr val="FFFFFF"/>
                </a:highlight>
                <a:latin typeface="Roboto Condensed"/>
                <a:ea typeface="Roboto Condensed"/>
                <a:cs typeface="Roboto Condensed"/>
                <a:sym typeface="Roboto Condensed"/>
              </a:rPr>
              <a:t>	- Mockito</a:t>
            </a:r>
            <a:endParaRPr/>
          </a:p>
          <a:p>
            <a:pPr indent="0" lvl="1" marL="0" marR="0" rtl="0" algn="l">
              <a:lnSpc>
                <a:spcPct val="100000"/>
              </a:lnSpc>
              <a:spcBef>
                <a:spcPts val="0"/>
              </a:spcBef>
              <a:spcAft>
                <a:spcPts val="0"/>
              </a:spcAft>
              <a:buNone/>
            </a:pPr>
            <a:r>
              <a:rPr b="0" i="0" lang="en-US" sz="3200" u="none" cap="none" strike="noStrike">
                <a:solidFill>
                  <a:schemeClr val="dk1"/>
                </a:solidFill>
                <a:highlight>
                  <a:srgbClr val="FFFFFF"/>
                </a:highlight>
                <a:latin typeface="Roboto Condensed"/>
                <a:ea typeface="Roboto Condensed"/>
                <a:cs typeface="Roboto Condensed"/>
                <a:sym typeface="Roboto Condensed"/>
              </a:rPr>
              <a:t>	- JSONassert </a:t>
            </a:r>
            <a:endParaRPr/>
          </a:p>
          <a:p>
            <a:pPr indent="0" lvl="1" marL="0" marR="0" rtl="0" algn="l">
              <a:lnSpc>
                <a:spcPct val="100000"/>
              </a:lnSpc>
              <a:spcBef>
                <a:spcPts val="0"/>
              </a:spcBef>
              <a:spcAft>
                <a:spcPts val="0"/>
              </a:spcAft>
              <a:buNone/>
            </a:pPr>
            <a:r>
              <a:rPr b="0" i="0" lang="en-US" sz="3200" u="none" cap="none" strike="noStrike">
                <a:solidFill>
                  <a:schemeClr val="dk1"/>
                </a:solidFill>
                <a:highlight>
                  <a:srgbClr val="FFFFFF"/>
                </a:highlight>
                <a:latin typeface="Roboto Condensed"/>
                <a:ea typeface="Roboto Condensed"/>
                <a:cs typeface="Roboto Condensed"/>
                <a:sym typeface="Roboto Condensed"/>
              </a:rPr>
              <a:t>	- JsonPath </a:t>
            </a:r>
            <a:endParaRPr/>
          </a:p>
          <a:p>
            <a:pPr indent="-254000" lvl="2"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pic>
        <p:nvPicPr>
          <p:cNvPr id="140" name="Google Shape;140;p29"/>
          <p:cNvPicPr preferRelativeResize="0"/>
          <p:nvPr/>
        </p:nvPicPr>
        <p:blipFill rotWithShape="1">
          <a:blip r:embed="rId3">
            <a:alphaModFix/>
          </a:blip>
          <a:srcRect b="0" l="0" r="0" t="0"/>
          <a:stretch/>
        </p:blipFill>
        <p:spPr>
          <a:xfrm>
            <a:off x="10706481" y="2773938"/>
            <a:ext cx="9849705" cy="784976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146" name="Google Shape;146;p30"/>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3. Implement Unit Test With Spring 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147" name="Google Shape;147;p30"/>
          <p:cNvSpPr txBox="1"/>
          <p:nvPr/>
        </p:nvSpPr>
        <p:spPr>
          <a:xfrm>
            <a:off x="1464277" y="2534447"/>
            <a:ext cx="8701002" cy="584775"/>
          </a:xfrm>
          <a:prstGeom prst="rect">
            <a:avLst/>
          </a:prstGeom>
          <a:noFill/>
          <a:ln>
            <a:noFill/>
          </a:ln>
        </p:spPr>
        <p:txBody>
          <a:bodyPr anchorCtr="0" anchor="t" bIns="45700" lIns="91425" spcFirstLastPara="1" rIns="91425" wrap="square" tIns="45700">
            <a:spAutoFit/>
          </a:bodyPr>
          <a:lstStyle/>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Thêm dependency vào file pom.xml</a:t>
            </a:r>
            <a:endParaRPr/>
          </a:p>
        </p:txBody>
      </p:sp>
      <p:pic>
        <p:nvPicPr>
          <p:cNvPr id="148" name="Google Shape;148;p30"/>
          <p:cNvPicPr preferRelativeResize="0"/>
          <p:nvPr/>
        </p:nvPicPr>
        <p:blipFill rotWithShape="1">
          <a:blip r:embed="rId3">
            <a:alphaModFix/>
          </a:blip>
          <a:srcRect b="0" l="0" r="0" t="0"/>
          <a:stretch/>
        </p:blipFill>
        <p:spPr>
          <a:xfrm>
            <a:off x="1822450" y="3442704"/>
            <a:ext cx="13373100" cy="8248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1"/>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154" name="Google Shape;154;p31"/>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3. Implement Unit Test With Spring 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155" name="Google Shape;155;p31"/>
          <p:cNvSpPr txBox="1"/>
          <p:nvPr/>
        </p:nvSpPr>
        <p:spPr>
          <a:xfrm>
            <a:off x="1464276" y="2534447"/>
            <a:ext cx="11349900" cy="585000"/>
          </a:xfrm>
          <a:prstGeom prst="rect">
            <a:avLst/>
          </a:prstGeom>
          <a:noFill/>
          <a:ln>
            <a:noFill/>
          </a:ln>
        </p:spPr>
        <p:txBody>
          <a:bodyPr anchorCtr="0" anchor="t" bIns="45700" lIns="91425" spcFirstLastPara="1" rIns="91425" wrap="square" tIns="45700">
            <a:spAutoFit/>
          </a:bodyPr>
          <a:lstStyle/>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Thêm class AccountRequestDTO trong </a:t>
            </a:r>
            <a:r>
              <a:rPr lang="en-US" sz="3200">
                <a:solidFill>
                  <a:srgbClr val="11100E"/>
                </a:solidFill>
                <a:highlight>
                  <a:srgbClr val="FAFAFA"/>
                </a:highlight>
                <a:latin typeface="Roboto Condensed"/>
                <a:ea typeface="Roboto Condensed"/>
                <a:cs typeface="Roboto Condensed"/>
                <a:sym typeface="Roboto Condensed"/>
              </a:rPr>
              <a:t>package</a:t>
            </a:r>
            <a:r>
              <a:rPr b="0" i="0" lang="en-US" sz="3200" u="none" cap="none" strike="noStrike">
                <a:solidFill>
                  <a:srgbClr val="11100E"/>
                </a:solidFill>
                <a:highlight>
                  <a:srgbClr val="FAFAFA"/>
                </a:highlight>
                <a:latin typeface="Roboto Condensed"/>
                <a:ea typeface="Roboto Condensed"/>
                <a:cs typeface="Roboto Condensed"/>
                <a:sym typeface="Roboto Condensed"/>
              </a:rPr>
              <a:t> dto</a:t>
            </a:r>
            <a:endParaRPr/>
          </a:p>
        </p:txBody>
      </p:sp>
      <p:pic>
        <p:nvPicPr>
          <p:cNvPr id="156" name="Google Shape;156;p31"/>
          <p:cNvPicPr preferRelativeResize="0"/>
          <p:nvPr/>
        </p:nvPicPr>
        <p:blipFill rotWithShape="1">
          <a:blip r:embed="rId3">
            <a:alphaModFix/>
          </a:blip>
          <a:srcRect b="0" l="0" r="0" t="0"/>
          <a:stretch/>
        </p:blipFill>
        <p:spPr>
          <a:xfrm>
            <a:off x="1584325" y="3615528"/>
            <a:ext cx="14611350" cy="7134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2"/>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162" name="Google Shape;162;p32"/>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3. Implement Unit Test With Spring 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163" name="Google Shape;163;p32"/>
          <p:cNvSpPr txBox="1"/>
          <p:nvPr/>
        </p:nvSpPr>
        <p:spPr>
          <a:xfrm>
            <a:off x="1464276" y="2534447"/>
            <a:ext cx="11350023" cy="1077218"/>
          </a:xfrm>
          <a:prstGeom prst="rect">
            <a:avLst/>
          </a:prstGeom>
          <a:noFill/>
          <a:ln>
            <a:noFill/>
          </a:ln>
        </p:spPr>
        <p:txBody>
          <a:bodyPr anchorCtr="0" anchor="t" bIns="45700" lIns="91425" spcFirstLastPara="1" rIns="91425" wrap="square" tIns="45700">
            <a:spAutoFit/>
          </a:bodyPr>
          <a:lstStyle/>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Thêm class ReponseDTO trong packge dto để handle response</a:t>
            </a:r>
            <a:endParaRPr/>
          </a:p>
        </p:txBody>
      </p:sp>
      <p:pic>
        <p:nvPicPr>
          <p:cNvPr id="164" name="Google Shape;164;p32"/>
          <p:cNvPicPr preferRelativeResize="0"/>
          <p:nvPr/>
        </p:nvPicPr>
        <p:blipFill rotWithShape="1">
          <a:blip r:embed="rId3">
            <a:alphaModFix/>
          </a:blip>
          <a:srcRect b="0" l="0" r="0" t="0"/>
          <a:stretch/>
        </p:blipFill>
        <p:spPr>
          <a:xfrm>
            <a:off x="1464276" y="3914775"/>
            <a:ext cx="15173325" cy="5886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3"/>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170" name="Google Shape;170;p33"/>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3. Implement Unit Test With Spring 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171" name="Google Shape;171;p33"/>
          <p:cNvSpPr txBox="1"/>
          <p:nvPr/>
        </p:nvSpPr>
        <p:spPr>
          <a:xfrm>
            <a:off x="1464276" y="2534447"/>
            <a:ext cx="16569724" cy="1077218"/>
          </a:xfrm>
          <a:prstGeom prst="rect">
            <a:avLst/>
          </a:prstGeom>
          <a:noFill/>
          <a:ln>
            <a:noFill/>
          </a:ln>
        </p:spPr>
        <p:txBody>
          <a:bodyPr anchorCtr="0" anchor="t" bIns="45700" lIns="91425" spcFirstLastPara="1" rIns="91425" wrap="square" tIns="45700">
            <a:spAutoFit/>
          </a:bodyPr>
          <a:lstStyle/>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Viết các method createAccount trong AccounController và AccountService(Thêm method vào Account Interface và Account Repository</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pic>
        <p:nvPicPr>
          <p:cNvPr id="172" name="Google Shape;172;p33"/>
          <p:cNvPicPr preferRelativeResize="0"/>
          <p:nvPr/>
        </p:nvPicPr>
        <p:blipFill rotWithShape="1">
          <a:blip r:embed="rId3">
            <a:alphaModFix/>
          </a:blip>
          <a:srcRect b="0" l="0" r="0" t="0"/>
          <a:stretch/>
        </p:blipFill>
        <p:spPr>
          <a:xfrm>
            <a:off x="1543050" y="4502150"/>
            <a:ext cx="21297900" cy="6515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4"/>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178" name="Google Shape;178;p34"/>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3. Implement Unit Test With Spring 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179" name="Google Shape;179;p34"/>
          <p:cNvSpPr txBox="1"/>
          <p:nvPr/>
        </p:nvSpPr>
        <p:spPr>
          <a:xfrm>
            <a:off x="1464276" y="2534447"/>
            <a:ext cx="10372124" cy="1077218"/>
          </a:xfrm>
          <a:prstGeom prst="rect">
            <a:avLst/>
          </a:prstGeom>
          <a:noFill/>
          <a:ln>
            <a:noFill/>
          </a:ln>
        </p:spPr>
        <p:txBody>
          <a:bodyPr anchorCtr="0" anchor="t" bIns="45700" lIns="91425" spcFirstLastPara="1" rIns="91425" wrap="square" tIns="45700">
            <a:spAutoFit/>
          </a:bodyPr>
          <a:lstStyle/>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Tạo class AccountControllerTest.java  theo đường dẫn như trong hình</a:t>
            </a:r>
            <a:endParaRPr/>
          </a:p>
        </p:txBody>
      </p:sp>
      <p:pic>
        <p:nvPicPr>
          <p:cNvPr id="180" name="Google Shape;180;p34"/>
          <p:cNvPicPr preferRelativeResize="0"/>
          <p:nvPr/>
        </p:nvPicPr>
        <p:blipFill rotWithShape="1">
          <a:blip r:embed="rId3">
            <a:alphaModFix/>
          </a:blip>
          <a:srcRect b="0" l="0" r="0" t="0"/>
          <a:stretch/>
        </p:blipFill>
        <p:spPr>
          <a:xfrm>
            <a:off x="12035691" y="2811565"/>
            <a:ext cx="8134350" cy="88582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5"/>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186" name="Google Shape;186;p35"/>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3. Implement Unit Test With Spring 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187" name="Google Shape;187;p35"/>
          <p:cNvSpPr txBox="1"/>
          <p:nvPr/>
        </p:nvSpPr>
        <p:spPr>
          <a:xfrm>
            <a:off x="1464276" y="2534447"/>
            <a:ext cx="16569724" cy="584775"/>
          </a:xfrm>
          <a:prstGeom prst="rect">
            <a:avLst/>
          </a:prstGeom>
          <a:noFill/>
          <a:ln>
            <a:noFill/>
          </a:ln>
        </p:spPr>
        <p:txBody>
          <a:bodyPr anchorCtr="0" anchor="t" bIns="45700" lIns="91425" spcFirstLastPara="1" rIns="91425" wrap="square" tIns="45700">
            <a:spAutoFit/>
          </a:bodyPr>
          <a:lstStyle/>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Viết Unit test đầu tiên cho chức năng thêm mới account ở tầng controller</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pic>
        <p:nvPicPr>
          <p:cNvPr id="188" name="Google Shape;188;p35"/>
          <p:cNvPicPr preferRelativeResize="0"/>
          <p:nvPr/>
        </p:nvPicPr>
        <p:blipFill rotWithShape="1">
          <a:blip r:embed="rId3">
            <a:alphaModFix/>
          </a:blip>
          <a:srcRect b="0" l="0" r="0" t="0"/>
          <a:stretch/>
        </p:blipFill>
        <p:spPr>
          <a:xfrm>
            <a:off x="1464276" y="3702439"/>
            <a:ext cx="20075525" cy="892929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6"/>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194" name="Google Shape;194;p36"/>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3. Implement Unit Test With Spring Boot Application</a:t>
            </a:r>
            <a:endParaRPr b="1" i="0" sz="3600" u="none" cap="none" strike="noStrike">
              <a:solidFill>
                <a:srgbClr val="0070C0"/>
              </a:solidFill>
              <a:latin typeface="Roboto Condensed"/>
              <a:ea typeface="Roboto Condensed"/>
              <a:cs typeface="Roboto Condensed"/>
              <a:sym typeface="Roboto Condensed"/>
            </a:endParaRPr>
          </a:p>
        </p:txBody>
      </p:sp>
      <p:sp>
        <p:nvSpPr>
          <p:cNvPr id="195" name="Google Shape;195;p36"/>
          <p:cNvSpPr txBox="1"/>
          <p:nvPr/>
        </p:nvSpPr>
        <p:spPr>
          <a:xfrm>
            <a:off x="1464276" y="2382047"/>
            <a:ext cx="16569724" cy="1077218"/>
          </a:xfrm>
          <a:prstGeom prst="rect">
            <a:avLst/>
          </a:prstGeom>
          <a:noFill/>
          <a:ln>
            <a:noFill/>
          </a:ln>
        </p:spPr>
        <p:txBody>
          <a:bodyPr anchorCtr="0" anchor="t" bIns="45700" lIns="91425" spcFirstLastPara="1" rIns="91425" wrap="square" tIns="45700">
            <a:spAutoFit/>
          </a:bodyPr>
          <a:lstStyle/>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Chạy test bằng cách click vào icon play của </a:t>
            </a:r>
            <a:r>
              <a:rPr lang="en-US" sz="3200">
                <a:solidFill>
                  <a:srgbClr val="11100E"/>
                </a:solidFill>
                <a:highlight>
                  <a:srgbClr val="FAFAFA"/>
                </a:highlight>
                <a:latin typeface="Roboto Condensed"/>
                <a:ea typeface="Roboto Condensed"/>
                <a:cs typeface="Roboto Condensed"/>
                <a:sym typeface="Roboto Condensed"/>
              </a:rPr>
              <a:t>methode</a:t>
            </a:r>
            <a:r>
              <a:rPr b="0" i="0" lang="en-US" sz="3200" u="none" cap="none" strike="noStrike">
                <a:solidFill>
                  <a:srgbClr val="11100E"/>
                </a:solidFill>
                <a:highlight>
                  <a:srgbClr val="FAFAFA"/>
                </a:highlight>
                <a:latin typeface="Roboto Condensed"/>
                <a:ea typeface="Roboto Condensed"/>
                <a:cs typeface="Roboto Condensed"/>
                <a:sym typeface="Roboto Condensed"/>
              </a:rPr>
              <a:t> cần thực thi </a:t>
            </a:r>
            <a:r>
              <a:rPr lang="en-US" sz="3200">
                <a:solidFill>
                  <a:srgbClr val="11100E"/>
                </a:solidFill>
                <a:highlight>
                  <a:srgbClr val="FAFAFA"/>
                </a:highlight>
                <a:latin typeface="Roboto Condensed"/>
                <a:ea typeface="Roboto Condensed"/>
                <a:cs typeface="Roboto Condensed"/>
                <a:sym typeface="Roboto Condensed"/>
              </a:rPr>
              <a:t>và</a:t>
            </a:r>
            <a:r>
              <a:rPr b="0" i="0" lang="en-US" sz="3200" u="none" cap="none" strike="noStrike">
                <a:solidFill>
                  <a:srgbClr val="11100E"/>
                </a:solidFill>
                <a:highlight>
                  <a:srgbClr val="FAFAFA"/>
                </a:highlight>
                <a:latin typeface="Roboto Condensed"/>
                <a:ea typeface="Roboto Condensed"/>
                <a:cs typeface="Roboto Condensed"/>
                <a:sym typeface="Roboto Condensed"/>
              </a:rPr>
              <a:t> kiểm tra kết quả.</a:t>
            </a:r>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1100E"/>
                </a:solidFill>
                <a:highlight>
                  <a:srgbClr val="FAFAFA"/>
                </a:highlight>
                <a:latin typeface="Roboto Condensed"/>
                <a:ea typeface="Roboto Condensed"/>
                <a:cs typeface="Roboto Condensed"/>
                <a:sym typeface="Roboto Condensed"/>
              </a:rPr>
              <a:t>Tương tự </a:t>
            </a:r>
            <a:r>
              <a:rPr lang="en-US" sz="3200">
                <a:solidFill>
                  <a:srgbClr val="11100E"/>
                </a:solidFill>
                <a:highlight>
                  <a:srgbClr val="FAFAFA"/>
                </a:highlight>
                <a:latin typeface="Roboto Condensed"/>
                <a:ea typeface="Roboto Condensed"/>
                <a:cs typeface="Roboto Condensed"/>
                <a:sym typeface="Roboto Condensed"/>
              </a:rPr>
              <a:t>viết</a:t>
            </a:r>
            <a:r>
              <a:rPr b="0" i="0" lang="en-US" sz="3200" u="none" cap="none" strike="noStrike">
                <a:solidFill>
                  <a:srgbClr val="11100E"/>
                </a:solidFill>
                <a:highlight>
                  <a:srgbClr val="FAFAFA"/>
                </a:highlight>
                <a:latin typeface="Roboto Condensed"/>
                <a:ea typeface="Roboto Condensed"/>
                <a:cs typeface="Roboto Condensed"/>
                <a:sym typeface="Roboto Condensed"/>
              </a:rPr>
              <a:t> unit test cho các api khác ở tầng controller và service</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pic>
        <p:nvPicPr>
          <p:cNvPr id="196" name="Google Shape;196;p36"/>
          <p:cNvPicPr preferRelativeResize="0"/>
          <p:nvPr/>
        </p:nvPicPr>
        <p:blipFill rotWithShape="1">
          <a:blip r:embed="rId3">
            <a:alphaModFix/>
          </a:blip>
          <a:srcRect b="0" l="0" r="0" t="0"/>
          <a:stretch/>
        </p:blipFill>
        <p:spPr>
          <a:xfrm>
            <a:off x="1578576" y="3817738"/>
            <a:ext cx="18512824" cy="86933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7"/>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202" name="Google Shape;202;p37"/>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4. Code Coverage With JaCoCo</a:t>
            </a:r>
            <a:endParaRPr b="1" i="0" sz="3600" u="none" cap="none" strike="noStrike">
              <a:solidFill>
                <a:srgbClr val="0070C0"/>
              </a:solidFill>
              <a:latin typeface="Roboto Condensed"/>
              <a:ea typeface="Roboto Condensed"/>
              <a:cs typeface="Roboto Condensed"/>
              <a:sym typeface="Roboto Condensed"/>
            </a:endParaRPr>
          </a:p>
        </p:txBody>
      </p:sp>
      <p:sp>
        <p:nvSpPr>
          <p:cNvPr id="203" name="Google Shape;203;p37"/>
          <p:cNvSpPr txBox="1"/>
          <p:nvPr/>
        </p:nvSpPr>
        <p:spPr>
          <a:xfrm>
            <a:off x="1464276" y="2382047"/>
            <a:ext cx="8860824" cy="7232749"/>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None/>
            </a:pPr>
            <a:r>
              <a:rPr b="0" i="0" lang="en-US" sz="3200" u="none" cap="none" strike="noStrike">
                <a:solidFill>
                  <a:srgbClr val="11100E"/>
                </a:solidFill>
                <a:highlight>
                  <a:srgbClr val="FAFAFA"/>
                </a:highlight>
                <a:latin typeface="Roboto Condensed"/>
                <a:ea typeface="Roboto Condensed"/>
                <a:cs typeface="Roboto Condensed"/>
                <a:sym typeface="Roboto Condensed"/>
              </a:rPr>
              <a:t>4.1 Code coverage là gì?</a:t>
            </a:r>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chemeClr val="dk1"/>
                </a:solidFill>
                <a:highlight>
                  <a:srgbClr val="FFFFFF"/>
                </a:highlight>
                <a:latin typeface="Roboto Condensed"/>
                <a:ea typeface="Roboto Condensed"/>
                <a:cs typeface="Roboto Condensed"/>
                <a:sym typeface="Roboto Condensed"/>
              </a:rPr>
              <a:t>Code coverage là một số liệu dùng để đánh giá bao nhiêu line of code của chúng ta đã được cover bằng Unit Test. Số liệu này rất có ích, giúp chúng ta có thể đánh giá được chất lượng code của chúng ta như thế nào, bao nhiêu code của chúng ta đã được và chưa được cover bởi Unit Test.</a:t>
            </a:r>
            <a:r>
              <a:rPr b="0" i="0" lang="en-US" sz="4000" u="none" cap="none" strike="noStrike">
                <a:solidFill>
                  <a:schemeClr val="dk1"/>
                </a:solidFill>
                <a:highlight>
                  <a:srgbClr val="FFFFFF"/>
                </a:highlight>
                <a:latin typeface="Proxima Nova"/>
                <a:ea typeface="Proxima Nova"/>
                <a:cs typeface="Proxima Nova"/>
                <a:sym typeface="Proxima Nova"/>
              </a:rPr>
              <a:t> </a:t>
            </a:r>
            <a:endParaRPr b="0" i="0" sz="4000" u="none" cap="none" strike="noStrike">
              <a:solidFill>
                <a:schemeClr val="dk1"/>
              </a:solidFill>
              <a:highlight>
                <a:srgbClr val="FFFFFF"/>
              </a:highlight>
              <a:latin typeface="Proxima Nova"/>
              <a:ea typeface="Proxima Nova"/>
              <a:cs typeface="Proxima Nova"/>
              <a:sym typeface="Proxima Nova"/>
            </a:endParaRPr>
          </a:p>
          <a:p>
            <a:pPr indent="-457200" lvl="2" marL="457200" marR="0" rtl="0" algn="l">
              <a:lnSpc>
                <a:spcPct val="100000"/>
              </a:lnSpc>
              <a:spcBef>
                <a:spcPts val="0"/>
              </a:spcBef>
              <a:spcAft>
                <a:spcPts val="0"/>
              </a:spcAft>
              <a:buClr>
                <a:srgbClr val="000000"/>
              </a:buClr>
              <a:buSzPts val="4000"/>
              <a:buFont typeface="Arial"/>
              <a:buChar char="•"/>
            </a:pPr>
            <a:r>
              <a:rPr b="0" i="0" lang="en-US" sz="4000" u="none" cap="none" strike="noStrike">
                <a:solidFill>
                  <a:srgbClr val="666666"/>
                </a:solidFill>
                <a:highlight>
                  <a:srgbClr val="FFFFFF"/>
                </a:highlight>
                <a:latin typeface="Proxima Nova"/>
                <a:ea typeface="Proxima Nova"/>
                <a:cs typeface="Proxima Nova"/>
                <a:sym typeface="Proxima Nova"/>
              </a:rPr>
              <a:t>Trong bài viết này, mình giới thiệu với các bạn một plugin của Apache Maven tên là </a:t>
            </a:r>
            <a:r>
              <a:rPr b="0" i="0" lang="en-US" sz="4000" u="sng" cap="none" strike="noStrike">
                <a:solidFill>
                  <a:srgbClr val="007BB6"/>
                </a:solidFill>
                <a:highlight>
                  <a:srgbClr val="FFFFFF"/>
                </a:highlight>
                <a:latin typeface="Proxima Nova"/>
                <a:ea typeface="Proxima Nova"/>
                <a:cs typeface="Proxima Nova"/>
                <a:sym typeface="Proxima Nova"/>
                <a:hlinkClick r:id="rId3">
                  <a:extLst>
                    <a:ext uri="{A12FA001-AC4F-418D-AE19-62706E023703}">
                      <ahyp:hlinkClr val="tx"/>
                    </a:ext>
                  </a:extLst>
                </a:hlinkClick>
              </a:rPr>
              <a:t>JaCoCo Maven Plugin</a:t>
            </a:r>
            <a:r>
              <a:rPr b="0" i="0" lang="en-US" sz="4000" u="none" cap="none" strike="noStrike">
                <a:solidFill>
                  <a:srgbClr val="666666"/>
                </a:solidFill>
                <a:highlight>
                  <a:srgbClr val="FFFFFF"/>
                </a:highlight>
                <a:latin typeface="Proxima Nova"/>
                <a:ea typeface="Proxima Nova"/>
                <a:cs typeface="Proxima Nova"/>
                <a:sym typeface="Proxima Nova"/>
              </a:rPr>
              <a:t> giúp chúng ta có thể đo được số liệu code coverage</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pic>
        <p:nvPicPr>
          <p:cNvPr id="204" name="Google Shape;204;p37"/>
          <p:cNvPicPr preferRelativeResize="0"/>
          <p:nvPr/>
        </p:nvPicPr>
        <p:blipFill rotWithShape="1">
          <a:blip r:embed="rId4">
            <a:alphaModFix/>
          </a:blip>
          <a:srcRect b="0" l="0" r="0" t="0"/>
          <a:stretch/>
        </p:blipFill>
        <p:spPr>
          <a:xfrm>
            <a:off x="10734504" y="2210965"/>
            <a:ext cx="12152774" cy="683593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210" name="Google Shape;210;p38"/>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4. Code Coverage With JaCoCo</a:t>
            </a:r>
            <a:endParaRPr b="1" i="0" sz="3600" u="none" cap="none" strike="noStrike">
              <a:solidFill>
                <a:srgbClr val="0070C0"/>
              </a:solidFill>
              <a:latin typeface="Roboto Condensed"/>
              <a:ea typeface="Roboto Condensed"/>
              <a:cs typeface="Roboto Condensed"/>
              <a:sym typeface="Roboto Condensed"/>
            </a:endParaRPr>
          </a:p>
        </p:txBody>
      </p:sp>
      <p:sp>
        <p:nvSpPr>
          <p:cNvPr id="211" name="Google Shape;211;p38"/>
          <p:cNvSpPr txBox="1"/>
          <p:nvPr/>
        </p:nvSpPr>
        <p:spPr>
          <a:xfrm>
            <a:off x="1464276" y="2382047"/>
            <a:ext cx="8860824" cy="3539430"/>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None/>
            </a:pPr>
            <a:r>
              <a:rPr b="1" i="0" lang="en-US" sz="3200" u="none" cap="none" strike="noStrike">
                <a:solidFill>
                  <a:srgbClr val="11100E"/>
                </a:solidFill>
                <a:highlight>
                  <a:srgbClr val="FAFAFA"/>
                </a:highlight>
                <a:latin typeface="Roboto Condensed"/>
                <a:ea typeface="Roboto Condensed"/>
                <a:cs typeface="Roboto Condensed"/>
                <a:sym typeface="Roboto Condensed"/>
              </a:rPr>
              <a:t>4.2 Giới thiệu về JaCoCo</a:t>
            </a:r>
            <a:endParaRPr b="1" i="0" sz="4000" u="none" cap="none" strike="noStrike">
              <a:solidFill>
                <a:schemeClr val="dk1"/>
              </a:solidFill>
              <a:highlight>
                <a:srgbClr val="FFFFFF"/>
              </a:highlight>
              <a:latin typeface="Proxima Nova"/>
              <a:ea typeface="Proxima Nova"/>
              <a:cs typeface="Proxima Nova"/>
              <a:sym typeface="Proxima Nova"/>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Open Sans"/>
                <a:ea typeface="Open Sans"/>
                <a:cs typeface="Open Sans"/>
                <a:sym typeface="Open Sans"/>
              </a:rPr>
              <a:t>JaCoCo là một thư viện code coverage cho Java.</a:t>
            </a:r>
            <a:endParaRPr/>
          </a:p>
          <a:p>
            <a:pPr indent="-457200" lvl="2"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Open Sans"/>
                <a:ea typeface="Open Sans"/>
                <a:cs typeface="Open Sans"/>
                <a:sym typeface="Open Sans"/>
              </a:rPr>
              <a:t>JaCoCo cũng chính là một Apache Maven Plugin giúp chúng ta có thể đo được số lượng code đã được coverage bởi unit test, integration test</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pic>
        <p:nvPicPr>
          <p:cNvPr id="212" name="Google Shape;212;p38"/>
          <p:cNvPicPr preferRelativeResize="0"/>
          <p:nvPr/>
        </p:nvPicPr>
        <p:blipFill rotWithShape="1">
          <a:blip r:embed="rId3">
            <a:alphaModFix/>
          </a:blip>
          <a:srcRect b="0" l="0" r="0" t="0"/>
          <a:stretch/>
        </p:blipFill>
        <p:spPr>
          <a:xfrm>
            <a:off x="10528301" y="2514600"/>
            <a:ext cx="11582399" cy="50592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218" name="Google Shape;218;p39"/>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4. Code Coverage With JaCoCo</a:t>
            </a:r>
            <a:endParaRPr b="1" i="0" sz="3600" u="none" cap="none" strike="noStrike">
              <a:solidFill>
                <a:srgbClr val="0070C0"/>
              </a:solidFill>
              <a:latin typeface="Roboto Condensed"/>
              <a:ea typeface="Roboto Condensed"/>
              <a:cs typeface="Roboto Condensed"/>
              <a:sym typeface="Roboto Condensed"/>
            </a:endParaRPr>
          </a:p>
        </p:txBody>
      </p:sp>
      <p:sp>
        <p:nvSpPr>
          <p:cNvPr id="219" name="Google Shape;219;p39"/>
          <p:cNvSpPr txBox="1"/>
          <p:nvPr/>
        </p:nvSpPr>
        <p:spPr>
          <a:xfrm>
            <a:off x="1464276" y="2382047"/>
            <a:ext cx="20079000" cy="7480800"/>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None/>
            </a:pPr>
            <a:r>
              <a:rPr b="1" i="0" lang="en-US" sz="3200" u="none" cap="none" strike="noStrike">
                <a:solidFill>
                  <a:srgbClr val="11100E"/>
                </a:solidFill>
                <a:highlight>
                  <a:srgbClr val="FAFAFA"/>
                </a:highlight>
                <a:latin typeface="Roboto Condensed"/>
                <a:ea typeface="Roboto Condensed"/>
                <a:cs typeface="Roboto Condensed"/>
                <a:sym typeface="Roboto Condensed"/>
              </a:rPr>
              <a:t>4.2 Giới thiệu về JaCoCo</a:t>
            </a:r>
            <a:endParaRPr b="1" i="0" sz="4000" u="none" cap="none" strike="noStrike">
              <a:solidFill>
                <a:schemeClr val="dk1"/>
              </a:solidFill>
              <a:highlight>
                <a:srgbClr val="FFFFFF"/>
              </a:highlight>
              <a:latin typeface="Proxima Nova"/>
              <a:ea typeface="Proxima Nova"/>
              <a:cs typeface="Proxima Nova"/>
              <a:sym typeface="Proxima Nova"/>
            </a:endParaRPr>
          </a:p>
          <a:p>
            <a:pPr indent="0" lvl="0" marL="0" marR="0" rtl="0" algn="l">
              <a:lnSpc>
                <a:spcPct val="100000"/>
              </a:lnSpc>
              <a:spcBef>
                <a:spcPts val="0"/>
              </a:spcBef>
              <a:spcAft>
                <a:spcPts val="0"/>
              </a:spcAft>
              <a:buNone/>
            </a:pPr>
            <a:r>
              <a:rPr b="0" i="0" lang="en-US" sz="3200" u="none" cap="none" strike="noStrike">
                <a:solidFill>
                  <a:srgbClr val="3E3E3E"/>
                </a:solidFill>
                <a:highlight>
                  <a:srgbClr val="FFFFFF"/>
                </a:highlight>
                <a:latin typeface="Helvetica Neue"/>
                <a:ea typeface="Helvetica Neue"/>
                <a:cs typeface="Helvetica Neue"/>
                <a:sym typeface="Helvetica Neue"/>
              </a:rPr>
              <a:t>Các thuộc tính của một Coverage Report:</a:t>
            </a:r>
            <a:endParaRPr/>
          </a:p>
          <a:p>
            <a:pPr indent="-285750" lvl="1" marL="74295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3E3E3E"/>
                </a:solidFill>
                <a:highlight>
                  <a:srgbClr val="FFFFFF"/>
                </a:highlight>
                <a:latin typeface="Helvetica Neue"/>
                <a:ea typeface="Helvetica Neue"/>
                <a:cs typeface="Helvetica Neue"/>
                <a:sym typeface="Helvetica Neue"/>
              </a:rPr>
              <a:t>File: Đối tượng file test.</a:t>
            </a:r>
            <a:endParaRPr/>
          </a:p>
          <a:p>
            <a:pPr indent="-285750" lvl="1" marL="74295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3E3E3E"/>
                </a:solidFill>
                <a:highlight>
                  <a:srgbClr val="FFFFFF"/>
                </a:highlight>
                <a:latin typeface="Helvetica Neue"/>
                <a:ea typeface="Helvetica Neue"/>
                <a:cs typeface="Helvetica Neue"/>
                <a:sym typeface="Helvetica Neue"/>
              </a:rPr>
              <a:t>Stmts (Statement coverage): Tỷ lệ bao phủ xem mỗi lệnh trong chương trình có được thực hiện hay không (tỷ lệ bao phủ lệnh).</a:t>
            </a:r>
            <a:endParaRPr/>
          </a:p>
          <a:p>
            <a:pPr indent="-285750" lvl="1" marL="74295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3E3E3E"/>
                </a:solidFill>
                <a:highlight>
                  <a:srgbClr val="FFFFFF"/>
                </a:highlight>
                <a:latin typeface="Helvetica Neue"/>
                <a:ea typeface="Helvetica Neue"/>
                <a:cs typeface="Helvetica Neue"/>
                <a:sym typeface="Helvetica Neue"/>
              </a:rPr>
              <a:t>Branch (Branch coverage): Tỷ lệ bao phủ về việc liệu tất cả các xử lý nhánh như if ... else hay case ... of có được thực hiện hay không.</a:t>
            </a:r>
            <a:endParaRPr/>
          </a:p>
          <a:p>
            <a:pPr indent="-285750" lvl="1" marL="74295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3E3E3E"/>
                </a:solidFill>
                <a:highlight>
                  <a:srgbClr val="FFFFFF"/>
                </a:highlight>
                <a:latin typeface="Helvetica Neue"/>
                <a:ea typeface="Helvetica Neue"/>
                <a:cs typeface="Helvetica Neue"/>
                <a:sym typeface="Helvetica Neue"/>
              </a:rPr>
              <a:t>Funcs: (Function coverage): Tỷ lệ bao phủ của việc mỗi chức năng trong chương trình được gọi.</a:t>
            </a:r>
            <a:endParaRPr/>
          </a:p>
          <a:p>
            <a:pPr indent="-285750" lvl="1" marL="74295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3E3E3E"/>
                </a:solidFill>
                <a:highlight>
                  <a:srgbClr val="FFFFFF"/>
                </a:highlight>
                <a:latin typeface="Helvetica Neue"/>
                <a:ea typeface="Helvetica Neue"/>
                <a:cs typeface="Helvetica Neue"/>
                <a:sym typeface="Helvetica Neue"/>
              </a:rPr>
              <a:t>Lines: Tỷ lệ bao phủ của mỗi dòng code của tệp nguồn có được thực thi hay không</a:t>
            </a:r>
            <a:endParaRPr/>
          </a:p>
          <a:p>
            <a:pPr indent="-285750" lvl="1" marL="742950" marR="0" rtl="0" algn="l">
              <a:lnSpc>
                <a:spcPct val="100000"/>
              </a:lnSpc>
              <a:spcBef>
                <a:spcPts val="0"/>
              </a:spcBef>
              <a:spcAft>
                <a:spcPts val="0"/>
              </a:spcAft>
              <a:buClr>
                <a:srgbClr val="000000"/>
              </a:buClr>
              <a:buSzPts val="3200"/>
              <a:buFont typeface="Arial"/>
              <a:buChar char="•"/>
            </a:pPr>
            <a:r>
              <a:rPr lang="en-US" sz="3200">
                <a:solidFill>
                  <a:srgbClr val="3E3E3E"/>
                </a:solidFill>
                <a:highlight>
                  <a:srgbClr val="FFFFFF"/>
                </a:highlight>
                <a:latin typeface="Helvetica Neue"/>
                <a:ea typeface="Helvetica Neue"/>
                <a:cs typeface="Helvetica Neue"/>
                <a:sym typeface="Helvetica Neue"/>
              </a:rPr>
              <a:t>Uncovered</a:t>
            </a:r>
            <a:r>
              <a:rPr b="0" i="0" lang="en-US" sz="3200" u="none" cap="none" strike="noStrike">
                <a:solidFill>
                  <a:srgbClr val="3E3E3E"/>
                </a:solidFill>
                <a:highlight>
                  <a:srgbClr val="FFFFFF"/>
                </a:highlight>
                <a:latin typeface="Helvetica Neue"/>
                <a:ea typeface="Helvetica Neue"/>
                <a:cs typeface="Helvetica Neue"/>
                <a:sym typeface="Helvetica Neue"/>
              </a:rPr>
              <a:t> Line: Những dòng code chưa được thực thi unit-test.</a:t>
            </a:r>
            <a:endParaRPr/>
          </a:p>
          <a:p>
            <a:pPr indent="-285750" lvl="1" marL="74295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3E3E3E"/>
                </a:solidFill>
                <a:highlight>
                  <a:srgbClr val="FFFFFF"/>
                </a:highlight>
                <a:latin typeface="Helvetica Neue"/>
                <a:ea typeface="Helvetica Neue"/>
                <a:cs typeface="Helvetica Neue"/>
                <a:sym typeface="Helvetica Neue"/>
              </a:rPr>
              <a:t>Test Suites: Kết </a:t>
            </a:r>
            <a:r>
              <a:rPr lang="en-US" sz="3200">
                <a:solidFill>
                  <a:srgbClr val="3E3E3E"/>
                </a:solidFill>
                <a:highlight>
                  <a:srgbClr val="FFFFFF"/>
                </a:highlight>
                <a:latin typeface="Helvetica Neue"/>
                <a:ea typeface="Helvetica Neue"/>
                <a:cs typeface="Helvetica Neue"/>
                <a:sym typeface="Helvetica Neue"/>
              </a:rPr>
              <a:t>quả</a:t>
            </a:r>
            <a:r>
              <a:rPr b="0" i="0" lang="en-US" sz="3200" u="none" cap="none" strike="noStrike">
                <a:solidFill>
                  <a:srgbClr val="3E3E3E"/>
                </a:solidFill>
                <a:highlight>
                  <a:srgbClr val="FFFFFF"/>
                </a:highlight>
                <a:latin typeface="Helvetica Neue"/>
                <a:ea typeface="Helvetica Neue"/>
                <a:cs typeface="Helvetica Neue"/>
                <a:sym typeface="Helvetica Neue"/>
              </a:rPr>
              <a:t> test của từng file.</a:t>
            </a:r>
            <a:endParaRPr/>
          </a:p>
          <a:p>
            <a:pPr indent="-285750" lvl="1" marL="74295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3E3E3E"/>
                </a:solidFill>
                <a:highlight>
                  <a:srgbClr val="FFFFFF"/>
                </a:highlight>
                <a:latin typeface="Helvetica Neue"/>
                <a:ea typeface="Helvetica Neue"/>
                <a:cs typeface="Helvetica Neue"/>
                <a:sym typeface="Helvetica Neue"/>
              </a:rPr>
              <a:t>Tests: Kết quả của mỗi test case.</a:t>
            </a:r>
            <a:endParaRPr/>
          </a:p>
          <a:p>
            <a:pPr indent="-285750" lvl="1" marL="74295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3E3E3E"/>
                </a:solidFill>
                <a:highlight>
                  <a:srgbClr val="FFFFFF"/>
                </a:highlight>
                <a:latin typeface="Helvetica Neue"/>
                <a:ea typeface="Helvetica Neue"/>
                <a:cs typeface="Helvetica Neue"/>
                <a:sym typeface="Helvetica Neue"/>
              </a:rPr>
              <a:t>Snapshots: Số bản Snapshot đã tạo ra.</a:t>
            </a:r>
            <a:endParaRPr/>
          </a:p>
          <a:p>
            <a:pPr indent="-285750" lvl="1" marL="74295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3E3E3E"/>
                </a:solidFill>
                <a:highlight>
                  <a:srgbClr val="FFFFFF"/>
                </a:highlight>
                <a:latin typeface="Helvetica Neue"/>
                <a:ea typeface="Helvetica Neue"/>
                <a:cs typeface="Helvetica Neue"/>
                <a:sym typeface="Helvetica Neue"/>
              </a:rPr>
              <a:t>Time: Thời gian chạy test.</a:t>
            </a:r>
            <a:endParaRPr/>
          </a:p>
          <a:p>
            <a:pPr indent="-254000" lvl="2"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225" name="Google Shape;225;p40"/>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4. Code Coverage With JaCoCo</a:t>
            </a:r>
            <a:endParaRPr b="1" i="0" sz="3600" u="none" cap="none" strike="noStrike">
              <a:solidFill>
                <a:srgbClr val="0070C0"/>
              </a:solidFill>
              <a:latin typeface="Roboto Condensed"/>
              <a:ea typeface="Roboto Condensed"/>
              <a:cs typeface="Roboto Condensed"/>
              <a:sym typeface="Roboto Condensed"/>
            </a:endParaRPr>
          </a:p>
        </p:txBody>
      </p:sp>
      <p:sp>
        <p:nvSpPr>
          <p:cNvPr id="226" name="Google Shape;226;p40"/>
          <p:cNvSpPr txBox="1"/>
          <p:nvPr/>
        </p:nvSpPr>
        <p:spPr>
          <a:xfrm>
            <a:off x="1464276" y="2382047"/>
            <a:ext cx="5899692" cy="2062103"/>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None/>
            </a:pPr>
            <a:r>
              <a:rPr b="1" i="0" lang="en-US" sz="3200" u="none" cap="none" strike="noStrike">
                <a:solidFill>
                  <a:srgbClr val="11100E"/>
                </a:solidFill>
                <a:highlight>
                  <a:srgbClr val="FAFAFA"/>
                </a:highlight>
                <a:latin typeface="Roboto Condensed"/>
                <a:ea typeface="Roboto Condensed"/>
                <a:cs typeface="Roboto Condensed"/>
                <a:sym typeface="Roboto Condensed"/>
              </a:rPr>
              <a:t>4.3 Cài đặt JaCoCo</a:t>
            </a:r>
            <a:endParaRPr b="1" i="0" sz="4000" u="none" cap="none" strike="noStrike">
              <a:solidFill>
                <a:schemeClr val="dk1"/>
              </a:solidFill>
              <a:highlight>
                <a:srgbClr val="FFFFFF"/>
              </a:highlight>
              <a:latin typeface="Proxima Nova"/>
              <a:ea typeface="Proxima Nova"/>
              <a:cs typeface="Proxima Nova"/>
              <a:sym typeface="Proxima Nova"/>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3E3E3E"/>
                </a:solidFill>
                <a:highlight>
                  <a:srgbClr val="FFFFFF"/>
                </a:highlight>
                <a:latin typeface="Helvetica Neue"/>
                <a:ea typeface="Helvetica Neue"/>
                <a:cs typeface="Helvetica Neue"/>
                <a:sym typeface="Helvetica Neue"/>
              </a:rPr>
              <a:t>Thêm dependency jacoco vào file pom.xml</a:t>
            </a:r>
            <a:endParaRPr b="0" i="0" sz="3200" u="none" cap="none" strike="noStrike">
              <a:solidFill>
                <a:srgbClr val="3E3E3E"/>
              </a:solidFill>
              <a:highlight>
                <a:srgbClr val="FFFFFF"/>
              </a:highlight>
              <a:latin typeface="Helvetica Neue"/>
              <a:ea typeface="Helvetica Neue"/>
              <a:cs typeface="Helvetica Neue"/>
              <a:sym typeface="Helvetica Neue"/>
            </a:endParaRPr>
          </a:p>
          <a:p>
            <a:pPr indent="-254000" lvl="2"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pic>
        <p:nvPicPr>
          <p:cNvPr id="227" name="Google Shape;227;p40"/>
          <p:cNvPicPr preferRelativeResize="0"/>
          <p:nvPr/>
        </p:nvPicPr>
        <p:blipFill rotWithShape="1">
          <a:blip r:embed="rId3">
            <a:alphaModFix/>
          </a:blip>
          <a:srcRect b="0" l="0" r="0" t="0"/>
          <a:stretch/>
        </p:blipFill>
        <p:spPr>
          <a:xfrm>
            <a:off x="7620000" y="2544318"/>
            <a:ext cx="13030200" cy="7505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233" name="Google Shape;233;p41"/>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4. Code Coverage With JaCoCo</a:t>
            </a:r>
            <a:endParaRPr b="1" i="0" sz="3600" u="none" cap="none" strike="noStrike">
              <a:solidFill>
                <a:srgbClr val="0070C0"/>
              </a:solidFill>
              <a:latin typeface="Roboto Condensed"/>
              <a:ea typeface="Roboto Condensed"/>
              <a:cs typeface="Roboto Condensed"/>
              <a:sym typeface="Roboto Condensed"/>
            </a:endParaRPr>
          </a:p>
        </p:txBody>
      </p:sp>
      <p:sp>
        <p:nvSpPr>
          <p:cNvPr id="234" name="Google Shape;234;p41"/>
          <p:cNvSpPr txBox="1"/>
          <p:nvPr/>
        </p:nvSpPr>
        <p:spPr>
          <a:xfrm>
            <a:off x="1464276" y="2382047"/>
            <a:ext cx="9593868" cy="6986528"/>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None/>
            </a:pPr>
            <a:r>
              <a:rPr b="1" i="0" lang="en-US" sz="3200" u="none" cap="none" strike="noStrike">
                <a:solidFill>
                  <a:srgbClr val="11100E"/>
                </a:solidFill>
                <a:highlight>
                  <a:srgbClr val="FAFAFA"/>
                </a:highlight>
                <a:latin typeface="Roboto Condensed"/>
                <a:ea typeface="Roboto Condensed"/>
                <a:cs typeface="Roboto Condensed"/>
                <a:sym typeface="Roboto Condensed"/>
              </a:rPr>
              <a:t>4.3 Cài đặt JaCoCo</a:t>
            </a:r>
            <a:endParaRPr b="1" i="0" sz="4000" u="none" cap="none" strike="noStrike">
              <a:solidFill>
                <a:schemeClr val="dk1"/>
              </a:solidFill>
              <a:highlight>
                <a:srgbClr val="FFFFFF"/>
              </a:highlight>
              <a:latin typeface="Proxima Nova"/>
              <a:ea typeface="Proxima Nova"/>
              <a:cs typeface="Proxima Nova"/>
              <a:sym typeface="Proxima Nova"/>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3E3E3E"/>
                </a:solidFill>
                <a:highlight>
                  <a:srgbClr val="FFFFFF"/>
                </a:highlight>
                <a:latin typeface="Roboto Condensed"/>
                <a:ea typeface="Roboto Condensed"/>
                <a:cs typeface="Roboto Condensed"/>
                <a:sym typeface="Roboto Condensed"/>
              </a:rPr>
              <a:t>Thêm plugin jacoco vào session build của file pom.xml</a:t>
            </a:r>
            <a:endParaRPr/>
          </a:p>
          <a:p>
            <a:pPr indent="-457200" lvl="0" marL="457200" marR="0" rtl="0" algn="l">
              <a:lnSpc>
                <a:spcPct val="100000"/>
              </a:lnSpc>
              <a:spcBef>
                <a:spcPts val="0"/>
              </a:spcBef>
              <a:spcAft>
                <a:spcPts val="0"/>
              </a:spcAft>
              <a:buClr>
                <a:srgbClr val="000000"/>
              </a:buClr>
              <a:buSzPts val="3200"/>
              <a:buFont typeface="Arial"/>
              <a:buChar char="•"/>
            </a:pPr>
            <a:r>
              <a:rPr b="1" i="0" lang="en-US" sz="3200" u="none" cap="none" strike="noStrike">
                <a:solidFill>
                  <a:srgbClr val="1B1B1B"/>
                </a:solidFill>
                <a:highlight>
                  <a:srgbClr val="FFFFFF"/>
                </a:highlight>
                <a:latin typeface="Roboto Condensed"/>
                <a:ea typeface="Roboto Condensed"/>
                <a:cs typeface="Roboto Condensed"/>
                <a:sym typeface="Roboto Condensed"/>
              </a:rPr>
              <a:t>excludes</a:t>
            </a:r>
            <a:r>
              <a:rPr b="0" i="0" lang="en-US" sz="3200" u="none" cap="none" strike="noStrike">
                <a:solidFill>
                  <a:srgbClr val="1B1B1B"/>
                </a:solidFill>
                <a:highlight>
                  <a:srgbClr val="FFFFFF"/>
                </a:highlight>
                <a:latin typeface="Roboto Condensed"/>
                <a:ea typeface="Roboto Condensed"/>
                <a:cs typeface="Roboto Condensed"/>
                <a:sym typeface="Roboto Condensed"/>
              </a:rPr>
              <a:t> trong </a:t>
            </a:r>
            <a:r>
              <a:rPr b="1" i="1" lang="en-US" sz="3200" u="none" cap="none" strike="noStrike">
                <a:solidFill>
                  <a:srgbClr val="1B1B1B"/>
                </a:solidFill>
                <a:highlight>
                  <a:srgbClr val="FFFFFF"/>
                </a:highlight>
                <a:latin typeface="Roboto Condensed"/>
                <a:ea typeface="Roboto Condensed"/>
                <a:cs typeface="Roboto Condensed"/>
                <a:sym typeface="Roboto Condensed"/>
              </a:rPr>
              <a:t>configuration</a:t>
            </a:r>
            <a:r>
              <a:rPr b="0" i="0" lang="en-US" sz="3200" u="none" cap="none" strike="noStrike">
                <a:solidFill>
                  <a:srgbClr val="1B1B1B"/>
                </a:solidFill>
                <a:highlight>
                  <a:srgbClr val="FFFFFF"/>
                </a:highlight>
                <a:latin typeface="Roboto Condensed"/>
                <a:ea typeface="Roboto Condensed"/>
                <a:cs typeface="Roboto Condensed"/>
                <a:sym typeface="Roboto Condensed"/>
              </a:rPr>
              <a:t>: khai báo để bỏ qua các class hoặc package trong kết quả report (Jacoco sẽ không quét)</a:t>
            </a:r>
            <a:endParaRPr/>
          </a:p>
          <a:p>
            <a:pPr indent="-457200" lvl="0" marL="457200" marR="0" rtl="0" algn="l">
              <a:lnSpc>
                <a:spcPct val="100000"/>
              </a:lnSpc>
              <a:spcBef>
                <a:spcPts val="0"/>
              </a:spcBef>
              <a:spcAft>
                <a:spcPts val="0"/>
              </a:spcAft>
              <a:buClr>
                <a:srgbClr val="000000"/>
              </a:buClr>
              <a:buSzPts val="3200"/>
              <a:buFont typeface="Arial"/>
              <a:buChar char="•"/>
            </a:pPr>
            <a:r>
              <a:rPr b="1" i="0" lang="en-US" sz="3200" u="none" cap="none" strike="noStrike">
                <a:solidFill>
                  <a:srgbClr val="1B1B1B"/>
                </a:solidFill>
                <a:highlight>
                  <a:srgbClr val="FFFFFF"/>
                </a:highlight>
                <a:latin typeface="Roboto Condensed"/>
                <a:ea typeface="Roboto Condensed"/>
                <a:cs typeface="Roboto Condensed"/>
                <a:sym typeface="Roboto Condensed"/>
              </a:rPr>
              <a:t>id</a:t>
            </a:r>
            <a:r>
              <a:rPr b="0" i="0" lang="en-US" sz="3200" u="none" cap="none" strike="noStrike">
                <a:solidFill>
                  <a:srgbClr val="1B1B1B"/>
                </a:solidFill>
                <a:highlight>
                  <a:srgbClr val="FFFFFF"/>
                </a:highlight>
                <a:latin typeface="Roboto Condensed"/>
                <a:ea typeface="Roboto Condensed"/>
                <a:cs typeface="Roboto Condensed"/>
                <a:sym typeface="Roboto Condensed"/>
              </a:rPr>
              <a:t>, </a:t>
            </a:r>
            <a:r>
              <a:rPr b="1" i="0" lang="en-US" sz="3200" u="none" cap="none" strike="noStrike">
                <a:solidFill>
                  <a:srgbClr val="1B1B1B"/>
                </a:solidFill>
                <a:highlight>
                  <a:srgbClr val="FFFFFF"/>
                </a:highlight>
                <a:latin typeface="Roboto Condensed"/>
                <a:ea typeface="Roboto Condensed"/>
                <a:cs typeface="Roboto Condensed"/>
                <a:sym typeface="Roboto Condensed"/>
              </a:rPr>
              <a:t>phase</a:t>
            </a:r>
            <a:r>
              <a:rPr b="0" i="0" lang="en-US" sz="3200" u="none" cap="none" strike="noStrike">
                <a:solidFill>
                  <a:srgbClr val="1B1B1B"/>
                </a:solidFill>
                <a:highlight>
                  <a:srgbClr val="FFFFFF"/>
                </a:highlight>
                <a:latin typeface="Roboto Condensed"/>
                <a:ea typeface="Roboto Condensed"/>
                <a:cs typeface="Roboto Condensed"/>
                <a:sym typeface="Roboto Condensed"/>
              </a:rPr>
              <a:t>, </a:t>
            </a:r>
            <a:r>
              <a:rPr b="1" i="0" lang="en-US" sz="3200" u="none" cap="none" strike="noStrike">
                <a:solidFill>
                  <a:srgbClr val="1B1B1B"/>
                </a:solidFill>
                <a:highlight>
                  <a:srgbClr val="FFFFFF"/>
                </a:highlight>
                <a:latin typeface="Roboto Condensed"/>
                <a:ea typeface="Roboto Condensed"/>
                <a:cs typeface="Roboto Condensed"/>
                <a:sym typeface="Roboto Condensed"/>
              </a:rPr>
              <a:t>goals</a:t>
            </a:r>
            <a:r>
              <a:rPr b="0" i="0" lang="en-US" sz="3200" u="none" cap="none" strike="noStrike">
                <a:solidFill>
                  <a:srgbClr val="1B1B1B"/>
                </a:solidFill>
                <a:highlight>
                  <a:srgbClr val="FFFFFF"/>
                </a:highlight>
                <a:latin typeface="Roboto Condensed"/>
                <a:ea typeface="Roboto Condensed"/>
                <a:cs typeface="Roboto Condensed"/>
                <a:sym typeface="Roboto Condensed"/>
              </a:rPr>
              <a:t>: Các thành phần của maven execution</a:t>
            </a:r>
            <a:endParaRPr/>
          </a:p>
          <a:p>
            <a:pPr indent="-457200" lvl="0" marL="457200" marR="0" rtl="0" algn="l">
              <a:lnSpc>
                <a:spcPct val="100000"/>
              </a:lnSpc>
              <a:spcBef>
                <a:spcPts val="0"/>
              </a:spcBef>
              <a:spcAft>
                <a:spcPts val="0"/>
              </a:spcAft>
              <a:buClr>
                <a:srgbClr val="000000"/>
              </a:buClr>
              <a:buSzPts val="3200"/>
              <a:buFont typeface="Arial"/>
              <a:buChar char="•"/>
            </a:pPr>
            <a:r>
              <a:rPr b="1" i="0" lang="en-US" sz="3200" u="none" cap="none" strike="noStrike">
                <a:solidFill>
                  <a:srgbClr val="1B1B1B"/>
                </a:solidFill>
                <a:highlight>
                  <a:srgbClr val="FFFFFF"/>
                </a:highlight>
                <a:latin typeface="Roboto Condensed"/>
                <a:ea typeface="Roboto Condensed"/>
                <a:cs typeface="Roboto Condensed"/>
                <a:sym typeface="Roboto Condensed"/>
              </a:rPr>
              <a:t>goal</a:t>
            </a:r>
            <a:r>
              <a:rPr b="0" i="0" lang="en-US" sz="3200" u="none" cap="none" strike="noStrike">
                <a:solidFill>
                  <a:srgbClr val="1B1B1B"/>
                </a:solidFill>
                <a:highlight>
                  <a:srgbClr val="FFFFFF"/>
                </a:highlight>
                <a:latin typeface="Roboto Condensed"/>
                <a:ea typeface="Roboto Condensed"/>
                <a:cs typeface="Roboto Condensed"/>
                <a:sym typeface="Roboto Condensed"/>
              </a:rPr>
              <a:t>: Định nghĩa goal cho plugin, mỗi plugin sẽ có những goal riêng, với Jacoco plugin thì goal có thể là report-aggregate - Tạo report (HTML, XML, CSV) tổng hợp từ nhiều module trong project</a:t>
            </a:r>
            <a:endParaRPr b="0" i="0" sz="3200" u="none" cap="none" strike="noStrike">
              <a:solidFill>
                <a:srgbClr val="3E3E3E"/>
              </a:solidFill>
              <a:highlight>
                <a:srgbClr val="FFFFFF"/>
              </a:highlight>
              <a:latin typeface="Helvetica Neue"/>
              <a:ea typeface="Helvetica Neue"/>
              <a:cs typeface="Helvetica Neue"/>
              <a:sym typeface="Helvetica Neue"/>
            </a:endParaRPr>
          </a:p>
          <a:p>
            <a:pPr indent="-254000" lvl="2"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11100E"/>
              </a:solidFill>
              <a:highlight>
                <a:srgbClr val="FAFAFA"/>
              </a:highlight>
              <a:latin typeface="Roboto Condensed"/>
              <a:ea typeface="Roboto Condensed"/>
              <a:cs typeface="Roboto Condensed"/>
              <a:sym typeface="Roboto Condensed"/>
            </a:endParaRPr>
          </a:p>
        </p:txBody>
      </p:sp>
      <p:pic>
        <p:nvPicPr>
          <p:cNvPr id="235" name="Google Shape;235;p41"/>
          <p:cNvPicPr preferRelativeResize="0"/>
          <p:nvPr/>
        </p:nvPicPr>
        <p:blipFill rotWithShape="1">
          <a:blip r:embed="rId3">
            <a:alphaModFix/>
          </a:blip>
          <a:srcRect b="0" l="0" r="0" t="0"/>
          <a:stretch/>
        </p:blipFill>
        <p:spPr>
          <a:xfrm>
            <a:off x="11806047" y="2382047"/>
            <a:ext cx="11358753" cy="72866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241" name="Google Shape;241;p42"/>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4. Code Coverage With JaCoCo</a:t>
            </a:r>
            <a:endParaRPr b="1" i="0" sz="3600" u="none" cap="none" strike="noStrike">
              <a:solidFill>
                <a:srgbClr val="0070C0"/>
              </a:solidFill>
              <a:latin typeface="Roboto Condensed"/>
              <a:ea typeface="Roboto Condensed"/>
              <a:cs typeface="Roboto Condensed"/>
              <a:sym typeface="Roboto Condensed"/>
            </a:endParaRPr>
          </a:p>
        </p:txBody>
      </p:sp>
      <p:sp>
        <p:nvSpPr>
          <p:cNvPr id="242" name="Google Shape;242;p42"/>
          <p:cNvSpPr txBox="1"/>
          <p:nvPr/>
        </p:nvSpPr>
        <p:spPr>
          <a:xfrm>
            <a:off x="1464276" y="2382047"/>
            <a:ext cx="7728492" cy="2554545"/>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None/>
            </a:pPr>
            <a:r>
              <a:rPr b="1" i="0" lang="en-US" sz="3200" u="none" cap="none" strike="noStrike">
                <a:solidFill>
                  <a:srgbClr val="11100E"/>
                </a:solidFill>
                <a:highlight>
                  <a:srgbClr val="FAFAFA"/>
                </a:highlight>
                <a:latin typeface="Roboto Condensed"/>
                <a:ea typeface="Roboto Condensed"/>
                <a:cs typeface="Roboto Condensed"/>
                <a:sym typeface="Roboto Condensed"/>
              </a:rPr>
              <a:t>4.3 Cài đặt JaCoCo</a:t>
            </a:r>
            <a:endParaRPr b="0" i="0" sz="3600" u="none" cap="none" strike="noStrike">
              <a:solidFill>
                <a:srgbClr val="1B1B1B"/>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Sửa lại nội dung file pom.xml để thêm phần báo cáo xuất ra file html tiện cho việc theo dõi kết quả</a:t>
            </a:r>
            <a:endParaRPr b="0" i="0" sz="3200" u="none" cap="none" strike="noStrike">
              <a:solidFill>
                <a:srgbClr val="1B1B1B"/>
              </a:solidFill>
              <a:highlight>
                <a:srgbClr val="FFFFFF"/>
              </a:highlight>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243" name="Google Shape;243;p42"/>
          <p:cNvPicPr preferRelativeResize="0"/>
          <p:nvPr/>
        </p:nvPicPr>
        <p:blipFill rotWithShape="1">
          <a:blip r:embed="rId3">
            <a:alphaModFix/>
          </a:blip>
          <a:srcRect b="0" l="0" r="0" t="0"/>
          <a:stretch/>
        </p:blipFill>
        <p:spPr>
          <a:xfrm>
            <a:off x="9630016" y="2396964"/>
            <a:ext cx="13024387" cy="852710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3"/>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249" name="Google Shape;249;p43"/>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4. Code Coverage With JaCoCo</a:t>
            </a:r>
            <a:endParaRPr b="1" i="0" sz="3600" u="none" cap="none" strike="noStrike">
              <a:solidFill>
                <a:srgbClr val="0070C0"/>
              </a:solidFill>
              <a:latin typeface="Roboto Condensed"/>
              <a:ea typeface="Roboto Condensed"/>
              <a:cs typeface="Roboto Condensed"/>
              <a:sym typeface="Roboto Condensed"/>
            </a:endParaRPr>
          </a:p>
        </p:txBody>
      </p:sp>
      <p:sp>
        <p:nvSpPr>
          <p:cNvPr id="250" name="Google Shape;250;p43"/>
          <p:cNvSpPr txBox="1"/>
          <p:nvPr/>
        </p:nvSpPr>
        <p:spPr>
          <a:xfrm>
            <a:off x="1464276" y="2382047"/>
            <a:ext cx="11812812" cy="1569660"/>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None/>
            </a:pPr>
            <a:r>
              <a:rPr b="1" i="0" lang="en-US" sz="3200" u="none" cap="none" strike="noStrike">
                <a:solidFill>
                  <a:srgbClr val="11100E"/>
                </a:solidFill>
                <a:highlight>
                  <a:srgbClr val="FAFAFA"/>
                </a:highlight>
                <a:latin typeface="Roboto Condensed"/>
                <a:ea typeface="Roboto Condensed"/>
                <a:cs typeface="Roboto Condensed"/>
                <a:sym typeface="Roboto Condensed"/>
              </a:rPr>
              <a:t>4.4 Run test và đọc report từ JaCoCo</a:t>
            </a:r>
            <a:endParaRPr b="0" i="0" sz="3600" u="none" cap="none" strike="noStrike">
              <a:solidFill>
                <a:srgbClr val="1B1B1B"/>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Bật cửa sổ cmd và chạy câu lệnh mvn test jacoco:report</a:t>
            </a:r>
            <a:endParaRPr b="0" i="0" sz="3200" u="none" cap="none" strike="noStrike">
              <a:solidFill>
                <a:srgbClr val="1B1B1B"/>
              </a:solidFill>
              <a:highlight>
                <a:srgbClr val="FFFFFF"/>
              </a:highlight>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251" name="Google Shape;251;p43"/>
          <p:cNvPicPr preferRelativeResize="0"/>
          <p:nvPr/>
        </p:nvPicPr>
        <p:blipFill rotWithShape="1">
          <a:blip r:embed="rId3">
            <a:alphaModFix/>
          </a:blip>
          <a:srcRect b="0" l="0" r="0" t="0"/>
          <a:stretch/>
        </p:blipFill>
        <p:spPr>
          <a:xfrm>
            <a:off x="1746122" y="5209794"/>
            <a:ext cx="18647599" cy="55069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4"/>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257" name="Google Shape;257;p44"/>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4. Code Coverage With JaCoCo</a:t>
            </a:r>
            <a:endParaRPr b="1" i="0" sz="3600" u="none" cap="none" strike="noStrike">
              <a:solidFill>
                <a:srgbClr val="0070C0"/>
              </a:solidFill>
              <a:latin typeface="Roboto Condensed"/>
              <a:ea typeface="Roboto Condensed"/>
              <a:cs typeface="Roboto Condensed"/>
              <a:sym typeface="Roboto Condensed"/>
            </a:endParaRPr>
          </a:p>
        </p:txBody>
      </p:sp>
      <p:sp>
        <p:nvSpPr>
          <p:cNvPr id="258" name="Google Shape;258;p44"/>
          <p:cNvSpPr txBox="1"/>
          <p:nvPr/>
        </p:nvSpPr>
        <p:spPr>
          <a:xfrm>
            <a:off x="1464276" y="2382047"/>
            <a:ext cx="11812812" cy="1077218"/>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None/>
            </a:pPr>
            <a:r>
              <a:rPr b="1" i="0" lang="en-US" sz="3200" u="none" cap="none" strike="noStrike">
                <a:solidFill>
                  <a:srgbClr val="11100E"/>
                </a:solidFill>
                <a:highlight>
                  <a:srgbClr val="FAFAFA"/>
                </a:highlight>
                <a:latin typeface="Roboto Condensed"/>
                <a:ea typeface="Roboto Condensed"/>
                <a:cs typeface="Roboto Condensed"/>
                <a:sym typeface="Roboto Condensed"/>
              </a:rPr>
              <a:t>4.4 Run test và đọc report từ JaCoCo</a:t>
            </a:r>
            <a:endParaRPr b="0" i="0" sz="3600" u="none" cap="none" strike="noStrike">
              <a:solidFill>
                <a:srgbClr val="1B1B1B"/>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Vào thư mục target/site để tìm file báo cáo</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259" name="Google Shape;259;p44"/>
          <p:cNvPicPr preferRelativeResize="0"/>
          <p:nvPr/>
        </p:nvPicPr>
        <p:blipFill rotWithShape="1">
          <a:blip r:embed="rId3">
            <a:alphaModFix/>
          </a:blip>
          <a:srcRect b="0" l="0" r="0" t="0"/>
          <a:stretch/>
        </p:blipFill>
        <p:spPr>
          <a:xfrm>
            <a:off x="1849183" y="3821811"/>
            <a:ext cx="11858625" cy="80962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5"/>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265" name="Google Shape;265;p45"/>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4. Code Coverage With JaCoCo</a:t>
            </a:r>
            <a:endParaRPr b="1" i="0" sz="3600" u="none" cap="none" strike="noStrike">
              <a:solidFill>
                <a:srgbClr val="0070C0"/>
              </a:solidFill>
              <a:latin typeface="Roboto Condensed"/>
              <a:ea typeface="Roboto Condensed"/>
              <a:cs typeface="Roboto Condensed"/>
              <a:sym typeface="Roboto Condensed"/>
            </a:endParaRPr>
          </a:p>
        </p:txBody>
      </p:sp>
      <p:sp>
        <p:nvSpPr>
          <p:cNvPr id="266" name="Google Shape;266;p45"/>
          <p:cNvSpPr txBox="1"/>
          <p:nvPr/>
        </p:nvSpPr>
        <p:spPr>
          <a:xfrm>
            <a:off x="1464276" y="2382047"/>
            <a:ext cx="11812812" cy="1077218"/>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None/>
            </a:pPr>
            <a:r>
              <a:rPr b="1" i="0" lang="en-US" sz="3200" u="none" cap="none" strike="noStrike">
                <a:solidFill>
                  <a:srgbClr val="11100E"/>
                </a:solidFill>
                <a:highlight>
                  <a:srgbClr val="FAFAFA"/>
                </a:highlight>
                <a:latin typeface="Roboto Condensed"/>
                <a:ea typeface="Roboto Condensed"/>
                <a:cs typeface="Roboto Condensed"/>
                <a:sym typeface="Roboto Condensed"/>
              </a:rPr>
              <a:t>4.4 Run test và đọc report từ JaCoCo</a:t>
            </a:r>
            <a:endParaRPr b="0" i="0" sz="3600" u="none" cap="none" strike="noStrike">
              <a:solidFill>
                <a:srgbClr val="1B1B1B"/>
              </a:solidFill>
              <a:highlight>
                <a:srgbClr val="FFFFFF"/>
              </a:highlight>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Kết quả báo cáo được mô tả như trong hình</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267" name="Google Shape;267;p45"/>
          <p:cNvPicPr preferRelativeResize="0"/>
          <p:nvPr/>
        </p:nvPicPr>
        <p:blipFill rotWithShape="1">
          <a:blip r:embed="rId3">
            <a:alphaModFix/>
          </a:blip>
          <a:srcRect b="0" l="0" r="0" t="0"/>
          <a:stretch/>
        </p:blipFill>
        <p:spPr>
          <a:xfrm>
            <a:off x="1464276" y="4664716"/>
            <a:ext cx="17697450" cy="74866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6"/>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Roboto Condensed"/>
                <a:ea typeface="Roboto Condensed"/>
                <a:cs typeface="Roboto Condensed"/>
                <a:sym typeface="Roboto Condensed"/>
              </a:rPr>
              <a:t>Testing</a:t>
            </a:r>
            <a:endParaRPr b="1" i="0" sz="6000" u="none" cap="none" strike="noStrike">
              <a:solidFill>
                <a:srgbClr val="4F81BD"/>
              </a:solidFill>
              <a:latin typeface="Roboto Condensed"/>
              <a:ea typeface="Roboto Condensed"/>
              <a:cs typeface="Roboto Condensed"/>
              <a:sym typeface="Roboto Condensed"/>
            </a:endParaRPr>
          </a:p>
        </p:txBody>
      </p:sp>
      <p:sp>
        <p:nvSpPr>
          <p:cNvPr id="273" name="Google Shape;273;p46"/>
          <p:cNvSpPr txBox="1"/>
          <p:nvPr/>
        </p:nvSpPr>
        <p:spPr>
          <a:xfrm>
            <a:off x="1200149" y="1564634"/>
            <a:ext cx="194500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0C0"/>
                </a:solidFill>
                <a:latin typeface="Roboto Condensed"/>
                <a:ea typeface="Roboto Condensed"/>
                <a:cs typeface="Roboto Condensed"/>
                <a:sym typeface="Roboto Condensed"/>
              </a:rPr>
              <a:t>4. Code Coverage With JaCoCo</a:t>
            </a:r>
            <a:endParaRPr b="1" i="0" sz="3600" u="none" cap="none" strike="noStrike">
              <a:solidFill>
                <a:srgbClr val="0070C0"/>
              </a:solidFill>
              <a:latin typeface="Roboto Condensed"/>
              <a:ea typeface="Roboto Condensed"/>
              <a:cs typeface="Roboto Condensed"/>
              <a:sym typeface="Roboto Condensed"/>
            </a:endParaRPr>
          </a:p>
        </p:txBody>
      </p:sp>
      <p:sp>
        <p:nvSpPr>
          <p:cNvPr id="274" name="Google Shape;274;p46"/>
          <p:cNvSpPr txBox="1"/>
          <p:nvPr/>
        </p:nvSpPr>
        <p:spPr>
          <a:xfrm>
            <a:off x="1464276" y="2382047"/>
            <a:ext cx="11812812" cy="1077218"/>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None/>
            </a:pPr>
            <a:r>
              <a:rPr b="1" i="0" lang="en-US" sz="3200" u="none" cap="none" strike="noStrike">
                <a:solidFill>
                  <a:srgbClr val="11100E"/>
                </a:solidFill>
                <a:highlight>
                  <a:srgbClr val="FAFAFA"/>
                </a:highlight>
                <a:latin typeface="Roboto Condensed"/>
                <a:ea typeface="Roboto Condensed"/>
                <a:cs typeface="Roboto Condensed"/>
                <a:sym typeface="Roboto Condensed"/>
              </a:rPr>
              <a:t>4.4 Run test và đọc report từ JaCoCo</a:t>
            </a:r>
            <a:endParaRPr b="0" i="0" sz="3600" u="none" cap="none" strike="noStrike">
              <a:solidFill>
                <a:srgbClr val="1B1B1B"/>
              </a:solidFill>
              <a:highlight>
                <a:srgbClr val="FFFFFF"/>
              </a:highlight>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pic>
        <p:nvPicPr>
          <p:cNvPr id="275" name="Google Shape;275;p46"/>
          <p:cNvPicPr preferRelativeResize="0"/>
          <p:nvPr/>
        </p:nvPicPr>
        <p:blipFill rotWithShape="1">
          <a:blip r:embed="rId3">
            <a:alphaModFix/>
          </a:blip>
          <a:srcRect b="0" l="0" r="0" t="0"/>
          <a:stretch/>
        </p:blipFill>
        <p:spPr>
          <a:xfrm>
            <a:off x="1643590" y="3231843"/>
            <a:ext cx="17907000" cy="4371975"/>
          </a:xfrm>
          <a:prstGeom prst="rect">
            <a:avLst/>
          </a:prstGeom>
          <a:noFill/>
          <a:ln>
            <a:noFill/>
          </a:ln>
        </p:spPr>
      </p:pic>
      <p:sp>
        <p:nvSpPr>
          <p:cNvPr id="276" name="Google Shape;276;p46"/>
          <p:cNvSpPr txBox="1"/>
          <p:nvPr/>
        </p:nvSpPr>
        <p:spPr>
          <a:xfrm>
            <a:off x="1544788" y="7915005"/>
            <a:ext cx="18005801" cy="3046988"/>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Missed Instructions: cho biết phần trăm code đã coverage</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Missed Branches: Cho biết đã cover được bao nhiêu phần trăm lệnh rẽ nhánh</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Missed Complexity: Tổng độ phức tạp theo chu kỳ</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Missed Lines: Cho biết số lines được coverage hoặc không</a:t>
            </a:r>
            <a:endParaRPr/>
          </a:p>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1B1B1B"/>
                </a:solidFill>
                <a:highlight>
                  <a:srgbClr val="FFFFFF"/>
                </a:highlight>
                <a:latin typeface="Roboto Condensed"/>
                <a:ea typeface="Roboto Condensed"/>
                <a:cs typeface="Roboto Condensed"/>
                <a:sym typeface="Roboto Condensed"/>
              </a:rPr>
              <a:t>Missed Methods: Cho biết số methods được coverage hoặc không</a:t>
            </a:r>
            <a:endParaRPr/>
          </a:p>
          <a:p>
            <a:pPr indent="-254000" lvl="0" marL="4572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1B1B1B"/>
              </a:solidFill>
              <a:highlight>
                <a:srgbClr val="FFFFFF"/>
              </a:highlight>
              <a:latin typeface="Roboto Condensed"/>
              <a:ea typeface="Roboto Condensed"/>
              <a:cs typeface="Roboto Condensed"/>
              <a:sym typeface="Roboto Condensed"/>
            </a:endParaRP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Nguyen Anh Quan (VTI.GA)</dc:creator>
</cp:coreProperties>
</file>