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13716000" cx="24384000"/>
  <p:notesSz cx="6797675" cy="9929800"/>
  <p:embeddedFontLst>
    <p:embeddedFont>
      <p:font typeface="Helvetica Neue"/>
      <p:regular r:id="rId27"/>
      <p:bold r:id="rId28"/>
      <p:italic r:id="rId29"/>
      <p:boldItalic r:id="rId30"/>
    </p:embeddedFont>
    <p:embeddedFont>
      <p:font typeface="Helvetica Neue Light"/>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320">
          <p15:clr>
            <a:srgbClr val="A4A3A4"/>
          </p15:clr>
        </p15:guide>
        <p15:guide id="2" pos="7680">
          <p15:clr>
            <a:srgbClr val="A4A3A4"/>
          </p15:clr>
        </p15:guide>
      </p15:sldGuideLst>
    </p:ext>
    <p:ext uri="GoogleSlidesCustomDataVersion2">
      <go:slidesCustomData xmlns:go="http://customooxmlschemas.google.com/" r:id="rId35" roundtripDataSignature="AMtx7mh1jS4ITie0s8VwgCK0LC5/hrej/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320" orient="horz"/>
        <p:guide pos="76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HelveticaNeue-bold.fntdata"/><Relationship Id="rId27" Type="http://schemas.openxmlformats.org/officeDocument/2006/relationships/font" Target="fonts/HelveticaNeue-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HelveticaNeue-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HelveticaNeueLight-regular.fntdata"/><Relationship Id="rId30" Type="http://schemas.openxmlformats.org/officeDocument/2006/relationships/font" Target="fonts/HelveticaNeue-boldItalic.fntdata"/><Relationship Id="rId11" Type="http://schemas.openxmlformats.org/officeDocument/2006/relationships/slide" Target="slides/slide6.xml"/><Relationship Id="rId33" Type="http://schemas.openxmlformats.org/officeDocument/2006/relationships/font" Target="fonts/HelveticaNeueLight-italic.fntdata"/><Relationship Id="rId10" Type="http://schemas.openxmlformats.org/officeDocument/2006/relationships/slide" Target="slides/slide5.xml"/><Relationship Id="rId32" Type="http://schemas.openxmlformats.org/officeDocument/2006/relationships/font" Target="fonts/HelveticaNeueLight-bold.fntdata"/><Relationship Id="rId13" Type="http://schemas.openxmlformats.org/officeDocument/2006/relationships/slide" Target="slides/slide8.xml"/><Relationship Id="rId35" Type="http://customschemas.google.com/relationships/presentationmetadata" Target="metadata"/><Relationship Id="rId12" Type="http://schemas.openxmlformats.org/officeDocument/2006/relationships/slide" Target="slides/slide7.xml"/><Relationship Id="rId34" Type="http://schemas.openxmlformats.org/officeDocument/2006/relationships/font" Target="fonts/HelveticaNeueLight-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1pPr>
            <a:lvl2pPr indent="-228600" lvl="1" marL="9144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2pPr>
            <a:lvl3pPr indent="-228600" lvl="2" marL="13716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3pPr>
            <a:lvl4pPr indent="-228600" lvl="3" marL="18288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4pPr>
            <a:lvl5pPr indent="-228600" lvl="4" marL="22860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5pPr>
            <a:lvl6pPr indent="-228600" lvl="5" marL="27432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6pPr>
            <a:lvl7pPr indent="-228600" lvl="6" marL="32004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7pPr>
            <a:lvl8pPr indent="-228600" lvl="7" marL="36576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8pPr>
            <a:lvl9pPr indent="-228600" lvl="8" marL="41148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 name="Google Shape;33;p1: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2: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 name="Google Shape;41;p2: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4: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8" name="Google Shape;48;p4: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32df96e7d35_0_3: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55" name="Google Shape;55;g32df96e7d35_0_3: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28fee9b6ff_0_1: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1" name="Google Shape;61;g328fee9b6ff_0_1: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28fee9b6ff_0_12: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8" name="Google Shape;68;g328fee9b6ff_0_12: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28fee9b6ff_0_18: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75" name="Google Shape;75;g328fee9b6ff_0_18: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28fee9b6ff_0_25: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2" name="Google Shape;82;g328fee9b6ff_0_25: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28fee9b6ff_0_32: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9" name="Google Shape;89;g328fee9b6ff_0_32: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28fee9b6ff_0_46: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5" name="Google Shape;95;g328fee9b6ff_0_46: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28fee9b6ff_0_38: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3" name="Google Shape;103;g328fee9b6ff_0_38: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28fee9b6ff_0_53: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9" name="Google Shape;109;g328fee9b6ff_0_53: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28fee9b6ff_0_60: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16" name="Google Shape;116;g328fee9b6ff_0_60: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28fee9b6ff_0_66: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22" name="Google Shape;122;g328fee9b6ff_0_66: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2e8d105255_1_0: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29" name="Google Shape;129;g32e8d105255_1_0: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2e8d105255_1_7: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36" name="Google Shape;136;g32e8d105255_1_7: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2e8d105255_1_13: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42" name="Google Shape;142;g32e8d105255_1_13: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2e8d105255_1_21: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51" name="Google Shape;151;g32e8d105255_1_21: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2e8d105255_1_31: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59" name="Google Shape;159;g32e8d105255_1_31: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2e8d105255_1_38: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65" name="Google Shape;165;g32e8d105255_1_38: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2e8d105255_1_43: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71" name="Google Shape;171;g32e8d105255_1_43: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9" name="Shape 9"/>
        <p:cNvGrpSpPr/>
        <p:nvPr/>
      </p:nvGrpSpPr>
      <p:grpSpPr>
        <a:xfrm>
          <a:off x="0" y="0"/>
          <a:ext cx="0" cy="0"/>
          <a:chOff x="0" y="0"/>
          <a:chExt cx="0" cy="0"/>
        </a:xfrm>
      </p:grpSpPr>
      <p:pic>
        <p:nvPicPr>
          <p:cNvPr id="10" name="Google Shape;10;p13"/>
          <p:cNvPicPr preferRelativeResize="0"/>
          <p:nvPr/>
        </p:nvPicPr>
        <p:blipFill rotWithShape="1">
          <a:blip r:embed="rId2">
            <a:alphaModFix/>
          </a:blip>
          <a:srcRect b="0" l="0" r="0" t="0"/>
          <a:stretch/>
        </p:blipFill>
        <p:spPr>
          <a:xfrm>
            <a:off x="21017131" y="859479"/>
            <a:ext cx="2950192" cy="1131834"/>
          </a:xfrm>
          <a:prstGeom prst="rect">
            <a:avLst/>
          </a:prstGeom>
          <a:noFill/>
          <a:ln>
            <a:noFill/>
          </a:ln>
        </p:spPr>
      </p:pic>
      <p:pic>
        <p:nvPicPr>
          <p:cNvPr id="11" name="Google Shape;11;p13"/>
          <p:cNvPicPr preferRelativeResize="0"/>
          <p:nvPr/>
        </p:nvPicPr>
        <p:blipFill rotWithShape="1">
          <a:blip r:embed="rId3">
            <a:alphaModFix/>
          </a:blip>
          <a:srcRect b="0" l="0" r="0" t="0"/>
          <a:stretch/>
        </p:blipFill>
        <p:spPr>
          <a:xfrm>
            <a:off x="0" y="0"/>
            <a:ext cx="24384000" cy="13716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2" name="Shape 12"/>
        <p:cNvGrpSpPr/>
        <p:nvPr/>
      </p:nvGrpSpPr>
      <p:grpSpPr>
        <a:xfrm>
          <a:off x="0" y="0"/>
          <a:ext cx="0" cy="0"/>
          <a:chOff x="0" y="0"/>
          <a:chExt cx="0" cy="0"/>
        </a:xfrm>
      </p:grpSpPr>
      <p:pic>
        <p:nvPicPr>
          <p:cNvPr descr="A screenshot of a cell phone&#10;&#10;Description automatically generated" id="13" name="Google Shape;13;p14"/>
          <p:cNvPicPr preferRelativeResize="0"/>
          <p:nvPr/>
        </p:nvPicPr>
        <p:blipFill rotWithShape="1">
          <a:blip r:embed="rId2">
            <a:alphaModFix/>
          </a:blip>
          <a:srcRect b="0" l="0" r="0" t="0"/>
          <a:stretch/>
        </p:blipFill>
        <p:spPr>
          <a:xfrm>
            <a:off x="0" y="0"/>
            <a:ext cx="24384000" cy="13716000"/>
          </a:xfrm>
          <a:prstGeom prst="rect">
            <a:avLst/>
          </a:prstGeom>
          <a:noFill/>
          <a:ln>
            <a:noFill/>
          </a:ln>
        </p:spPr>
      </p:pic>
      <p:sp>
        <p:nvSpPr>
          <p:cNvPr id="14" name="Google Shape;14;p14"/>
          <p:cNvSpPr txBox="1"/>
          <p:nvPr>
            <p:ph type="title"/>
          </p:nvPr>
        </p:nvSpPr>
        <p:spPr>
          <a:xfrm>
            <a:off x="1845217" y="357188"/>
            <a:ext cx="15794390" cy="1710326"/>
          </a:xfrm>
          <a:prstGeom prst="rect">
            <a:avLst/>
          </a:prstGeom>
          <a:noFill/>
          <a:ln>
            <a:noFill/>
          </a:ln>
        </p:spPr>
        <p:txBody>
          <a:bodyPr anchorCtr="0" anchor="ctr" bIns="71425" lIns="71425" spcFirstLastPara="1" rIns="71425" wrap="square" tIns="71425">
            <a:normAutofit/>
          </a:bodyPr>
          <a:lstStyle>
            <a:lvl1pPr lvl="0" algn="l">
              <a:lnSpc>
                <a:spcPct val="100000"/>
              </a:lnSpc>
              <a:spcBef>
                <a:spcPts val="0"/>
              </a:spcBef>
              <a:spcAft>
                <a:spcPts val="0"/>
              </a:spcAft>
              <a:buClr>
                <a:srgbClr val="000000"/>
              </a:buClr>
              <a:buSzPts val="8200"/>
              <a:buFont typeface="Meiryo"/>
              <a:buNone/>
              <a:defRPr sz="8200">
                <a:latin typeface="Meiryo"/>
                <a:ea typeface="Meiryo"/>
                <a:cs typeface="Meiryo"/>
                <a:sym typeface="Meiryo"/>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5" name="Google Shape;15;p14"/>
          <p:cNvSpPr txBox="1"/>
          <p:nvPr>
            <p:ph idx="12" type="sldNum"/>
          </p:nvPr>
        </p:nvSpPr>
        <p:spPr>
          <a:xfrm>
            <a:off x="8820083" y="13156977"/>
            <a:ext cx="6743833" cy="482823"/>
          </a:xfrm>
          <a:prstGeom prst="rect">
            <a:avLst/>
          </a:prstGeom>
          <a:noFill/>
          <a:ln>
            <a:noFill/>
          </a:ln>
        </p:spPr>
        <p:txBody>
          <a:bodyPr anchorCtr="0" anchor="t" bIns="71425" lIns="71425" spcFirstLastPara="1" rIns="71425" wrap="square" tIns="71425">
            <a:spAutoFit/>
          </a:bodyPr>
          <a:lstStyle>
            <a:lvl1pPr indent="0" lvl="0"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1pPr>
            <a:lvl2pPr indent="0" lvl="1"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2pPr>
            <a:lvl3pPr indent="0" lvl="2"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3pPr>
            <a:lvl4pPr indent="0" lvl="3"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4pPr>
            <a:lvl5pPr indent="0" lvl="4"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5pPr>
            <a:lvl6pPr indent="0" lvl="5"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6pPr>
            <a:lvl7pPr indent="0" lvl="6"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7pPr>
            <a:lvl8pPr indent="0" lvl="7"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8pPr>
            <a:lvl9pPr indent="0" lvl="8"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9pPr>
          </a:lstStyle>
          <a:p>
            <a:pPr indent="0" lvl="0" marL="0" rtl="0" algn="ctr">
              <a:spcBef>
                <a:spcPts val="0"/>
              </a:spcBef>
              <a:spcAft>
                <a:spcPts val="0"/>
              </a:spcAft>
              <a:buNone/>
            </a:pPr>
            <a:r>
              <a:rPr lang="en-US"/>
              <a:t>Copyright </a:t>
            </a:r>
            <a:r>
              <a:rPr i="1" lang="en-US"/>
              <a:t>© </a:t>
            </a:r>
            <a:r>
              <a:rPr lang="en-US"/>
              <a:t>VTI Academy All Right Reserved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p:spTree>
      <p:nvGrpSpPr>
        <p:cNvPr id="16" name="Shape 16"/>
        <p:cNvGrpSpPr/>
        <p:nvPr/>
      </p:nvGrpSpPr>
      <p:grpSpPr>
        <a:xfrm>
          <a:off x="0" y="0"/>
          <a:ext cx="0" cy="0"/>
          <a:chOff x="0" y="0"/>
          <a:chExt cx="0" cy="0"/>
        </a:xfrm>
      </p:grpSpPr>
      <p:cxnSp>
        <p:nvCxnSpPr>
          <p:cNvPr id="17" name="Google Shape;17;p15"/>
          <p:cNvCxnSpPr/>
          <p:nvPr/>
        </p:nvCxnSpPr>
        <p:spPr>
          <a:xfrm>
            <a:off x="482600" y="1412390"/>
            <a:ext cx="21521992" cy="0"/>
          </a:xfrm>
          <a:prstGeom prst="straightConnector1">
            <a:avLst/>
          </a:prstGeom>
          <a:noFill/>
          <a:ln cap="flat" cmpd="sng" w="19050">
            <a:solidFill>
              <a:srgbClr val="3C5A99"/>
            </a:solidFill>
            <a:prstDash val="solid"/>
            <a:miter lim="800000"/>
            <a:headEnd len="sm" w="sm" type="none"/>
            <a:tailEnd len="sm" w="sm" type="none"/>
          </a:ln>
        </p:spPr>
      </p:cxnSp>
      <p:sp>
        <p:nvSpPr>
          <p:cNvPr id="18" name="Google Shape;18;p15"/>
          <p:cNvSpPr/>
          <p:nvPr/>
        </p:nvSpPr>
        <p:spPr>
          <a:xfrm>
            <a:off x="0" y="12670972"/>
            <a:ext cx="24384001" cy="1045028"/>
          </a:xfrm>
          <a:prstGeom prst="rect">
            <a:avLst/>
          </a:prstGeom>
          <a:solidFill>
            <a:srgbClr val="3C5A99"/>
          </a:solidFill>
          <a:ln>
            <a:noFill/>
          </a:ln>
        </p:spPr>
        <p:txBody>
          <a:bodyPr anchorCtr="0" anchor="ctr" bIns="91400" lIns="182850" spcFirstLastPara="1" rIns="182850" wrap="square" tIns="91400">
            <a:noAutofit/>
          </a:bodyPr>
          <a:lstStyle/>
          <a:p>
            <a:pPr indent="0" lvl="0" marL="0" marR="0" rtl="0" algn="ctr">
              <a:lnSpc>
                <a:spcPct val="100000"/>
              </a:lnSpc>
              <a:spcBef>
                <a:spcPts val="0"/>
              </a:spcBef>
              <a:spcAft>
                <a:spcPts val="0"/>
              </a:spcAft>
              <a:buClr>
                <a:srgbClr val="000000"/>
              </a:buClr>
              <a:buSzPts val="3600"/>
              <a:buFont typeface="Helvetica Neue"/>
              <a:buNone/>
            </a:pPr>
            <a:r>
              <a:t/>
            </a:r>
            <a:endParaRPr b="1" i="0" sz="3600" u="none" cap="none" strike="noStrike">
              <a:solidFill>
                <a:schemeClr val="lt1"/>
              </a:solidFill>
              <a:latin typeface="Calibri"/>
              <a:ea typeface="Calibri"/>
              <a:cs typeface="Calibri"/>
              <a:sym typeface="Calibri"/>
            </a:endParaRPr>
          </a:p>
        </p:txBody>
      </p:sp>
      <p:sp>
        <p:nvSpPr>
          <p:cNvPr id="19" name="Google Shape;19;p15"/>
          <p:cNvSpPr/>
          <p:nvPr/>
        </p:nvSpPr>
        <p:spPr>
          <a:xfrm>
            <a:off x="6781639" y="12854932"/>
            <a:ext cx="10458958" cy="677108"/>
          </a:xfrm>
          <a:prstGeom prst="rect">
            <a:avLst/>
          </a:prstGeom>
          <a:noFill/>
          <a:ln>
            <a:noFill/>
          </a:ln>
        </p:spPr>
        <p:txBody>
          <a:bodyPr anchorCtr="0" anchor="t" bIns="91400" lIns="182850" spcFirstLastPara="1" rIns="182850" wrap="square" tIns="91400">
            <a:noAutofit/>
          </a:bodyPr>
          <a:lstStyle/>
          <a:p>
            <a:pPr indent="0" lvl="0" marL="0" marR="0" rtl="0" algn="ctr">
              <a:lnSpc>
                <a:spcPct val="100000"/>
              </a:lnSpc>
              <a:spcBef>
                <a:spcPts val="0"/>
              </a:spcBef>
              <a:spcAft>
                <a:spcPts val="0"/>
              </a:spcAft>
              <a:buClr>
                <a:schemeClr val="lt1"/>
              </a:buClr>
              <a:buSzPts val="3200"/>
              <a:buFont typeface="Helvetica Neue"/>
              <a:buNone/>
            </a:pPr>
            <a:r>
              <a:rPr b="1" i="0" lang="en-US" sz="3200" u="none" cap="none" strike="noStrike">
                <a:solidFill>
                  <a:schemeClr val="lt1"/>
                </a:solidFill>
                <a:latin typeface="Helvetica Neue"/>
                <a:ea typeface="Helvetica Neue"/>
                <a:cs typeface="Helvetica Neue"/>
                <a:sym typeface="Helvetica Neue"/>
              </a:rPr>
              <a:t>Copyright </a:t>
            </a:r>
            <a:r>
              <a:rPr b="1" i="1" lang="en-US" sz="3200" u="none" cap="none" strike="noStrike">
                <a:solidFill>
                  <a:schemeClr val="lt1"/>
                </a:solidFill>
                <a:latin typeface="Helvetica Neue"/>
                <a:ea typeface="Helvetica Neue"/>
                <a:cs typeface="Helvetica Neue"/>
                <a:sym typeface="Helvetica Neue"/>
              </a:rPr>
              <a:t>© </a:t>
            </a:r>
            <a:r>
              <a:rPr b="1" i="0" lang="en-US" sz="3200" u="none" cap="none" strike="noStrike">
                <a:solidFill>
                  <a:schemeClr val="lt1"/>
                </a:solidFill>
                <a:latin typeface="Helvetica Neue"/>
                <a:ea typeface="Helvetica Neue"/>
                <a:cs typeface="Helvetica Neue"/>
                <a:sym typeface="Helvetica Neue"/>
              </a:rPr>
              <a:t>VTI Academy All Right Reserved </a:t>
            </a:r>
            <a:endParaRPr b="1" i="0" sz="3200" u="none" cap="none" strike="noStrike">
              <a:solidFill>
                <a:schemeClr val="lt1"/>
              </a:solidFill>
              <a:latin typeface="Helvetica Neue"/>
              <a:ea typeface="Helvetica Neue"/>
              <a:cs typeface="Helvetica Neue"/>
              <a:sym typeface="Helvetica Neue"/>
            </a:endParaRPr>
          </a:p>
        </p:txBody>
      </p:sp>
      <p:cxnSp>
        <p:nvCxnSpPr>
          <p:cNvPr id="20" name="Google Shape;20;p15"/>
          <p:cNvCxnSpPr/>
          <p:nvPr/>
        </p:nvCxnSpPr>
        <p:spPr>
          <a:xfrm>
            <a:off x="14610736" y="1412390"/>
            <a:ext cx="7393856" cy="0"/>
          </a:xfrm>
          <a:prstGeom prst="straightConnector1">
            <a:avLst/>
          </a:prstGeom>
          <a:noFill/>
          <a:ln cap="flat" cmpd="sng" w="19050">
            <a:solidFill>
              <a:srgbClr val="FFC000"/>
            </a:solidFill>
            <a:prstDash val="solid"/>
            <a:miter lim="800000"/>
            <a:headEnd len="sm" w="sm" type="none"/>
            <a:tailEnd len="sm" w="sm" type="none"/>
          </a:ln>
        </p:spPr>
      </p:cxnSp>
      <p:cxnSp>
        <p:nvCxnSpPr>
          <p:cNvPr id="21" name="Google Shape;21;p15"/>
          <p:cNvCxnSpPr/>
          <p:nvPr/>
        </p:nvCxnSpPr>
        <p:spPr>
          <a:xfrm>
            <a:off x="0" y="12670972"/>
            <a:ext cx="24384001" cy="0"/>
          </a:xfrm>
          <a:prstGeom prst="straightConnector1">
            <a:avLst/>
          </a:prstGeom>
          <a:noFill/>
          <a:ln cap="flat" cmpd="sng" w="19050">
            <a:solidFill>
              <a:srgbClr val="FFC000"/>
            </a:solidFill>
            <a:prstDash val="solid"/>
            <a:miter lim="800000"/>
            <a:headEnd len="sm" w="sm" type="none"/>
            <a:tailEnd len="sm" w="sm" type="none"/>
          </a:ln>
        </p:spPr>
      </p:cxnSp>
      <p:pic>
        <p:nvPicPr>
          <p:cNvPr descr="A picture containing drawing&#10;&#10;Description automatically generated" id="22" name="Google Shape;22;p15"/>
          <p:cNvPicPr preferRelativeResize="0"/>
          <p:nvPr/>
        </p:nvPicPr>
        <p:blipFill rotWithShape="1">
          <a:blip r:embed="rId2">
            <a:alphaModFix/>
          </a:blip>
          <a:srcRect b="0" l="0" r="0" t="0"/>
          <a:stretch/>
        </p:blipFill>
        <p:spPr>
          <a:xfrm>
            <a:off x="19252277" y="-25180"/>
            <a:ext cx="5131724" cy="143757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23" name="Shape 23"/>
        <p:cNvGrpSpPr/>
        <p:nvPr/>
      </p:nvGrpSpPr>
      <p:grpSpPr>
        <a:xfrm>
          <a:off x="0" y="0"/>
          <a:ext cx="0" cy="0"/>
          <a:chOff x="0" y="0"/>
          <a:chExt cx="0" cy="0"/>
        </a:xfrm>
      </p:grpSpPr>
      <p:sp>
        <p:nvSpPr>
          <p:cNvPr id="24" name="Google Shape;24;p16"/>
          <p:cNvSpPr txBox="1"/>
          <p:nvPr>
            <p:ph type="title"/>
          </p:nvPr>
        </p:nvSpPr>
        <p:spPr>
          <a:xfrm>
            <a:off x="1845217" y="357188"/>
            <a:ext cx="18701657" cy="1710326"/>
          </a:xfrm>
          <a:prstGeom prst="rect">
            <a:avLst/>
          </a:prstGeom>
          <a:noFill/>
          <a:ln>
            <a:noFill/>
          </a:ln>
        </p:spPr>
        <p:txBody>
          <a:bodyPr anchorCtr="0" anchor="ctr" bIns="71425" lIns="71425" spcFirstLastPara="1" rIns="71425" wrap="square" tIns="71425">
            <a:normAutofit/>
          </a:bodyPr>
          <a:lstStyle>
            <a:lvl1pPr lvl="0" algn="l">
              <a:lnSpc>
                <a:spcPct val="100000"/>
              </a:lnSpc>
              <a:spcBef>
                <a:spcPts val="0"/>
              </a:spcBef>
              <a:spcAft>
                <a:spcPts val="0"/>
              </a:spcAft>
              <a:buClr>
                <a:srgbClr val="000000"/>
              </a:buClr>
              <a:buSzPts val="8200"/>
              <a:buFont typeface="Meiryo"/>
              <a:buNone/>
              <a:defRPr sz="8200">
                <a:latin typeface="Meiryo"/>
                <a:ea typeface="Meiryo"/>
                <a:cs typeface="Meiryo"/>
                <a:sym typeface="Meiryo"/>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5" name="Google Shape;25;p16"/>
          <p:cNvSpPr txBox="1"/>
          <p:nvPr>
            <p:ph idx="10" type="dt"/>
          </p:nvPr>
        </p:nvSpPr>
        <p:spPr>
          <a:xfrm>
            <a:off x="1676400" y="12712701"/>
            <a:ext cx="5486400" cy="730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9pPr>
          </a:lstStyle>
          <a:p/>
        </p:txBody>
      </p:sp>
      <p:sp>
        <p:nvSpPr>
          <p:cNvPr id="26" name="Google Shape;26;p16"/>
          <p:cNvSpPr txBox="1"/>
          <p:nvPr>
            <p:ph idx="11" type="ftr"/>
          </p:nvPr>
        </p:nvSpPr>
        <p:spPr>
          <a:xfrm>
            <a:off x="8077200" y="12712701"/>
            <a:ext cx="8229600" cy="730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9pPr>
          </a:lstStyle>
          <a:p/>
        </p:txBody>
      </p:sp>
      <p:sp>
        <p:nvSpPr>
          <p:cNvPr id="27" name="Google Shape;27;p16"/>
          <p:cNvSpPr txBox="1"/>
          <p:nvPr>
            <p:ph idx="12" type="sldNum"/>
          </p:nvPr>
        </p:nvSpPr>
        <p:spPr>
          <a:xfrm>
            <a:off x="11962817" y="13073062"/>
            <a:ext cx="448840" cy="482823"/>
          </a:xfrm>
          <a:prstGeom prst="rect">
            <a:avLst/>
          </a:prstGeom>
          <a:noFill/>
          <a:ln>
            <a:noFill/>
          </a:ln>
        </p:spPr>
        <p:txBody>
          <a:bodyPr anchorCtr="0" anchor="t" bIns="71425" lIns="71425" spcFirstLastPara="1" rIns="71425" wrap="square" tIns="71425">
            <a:spAutoFit/>
          </a:bodyPr>
          <a:lstStyle>
            <a:lvl1pPr indent="0" lvl="0"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cxnSp>
        <p:nvCxnSpPr>
          <p:cNvPr id="28" name="Google Shape;28;p16"/>
          <p:cNvCxnSpPr/>
          <p:nvPr/>
        </p:nvCxnSpPr>
        <p:spPr>
          <a:xfrm>
            <a:off x="1845217" y="1893677"/>
            <a:ext cx="18701657" cy="0"/>
          </a:xfrm>
          <a:prstGeom prst="straightConnector1">
            <a:avLst/>
          </a:prstGeom>
          <a:noFill/>
          <a:ln cap="rnd" cmpd="sng" w="38100">
            <a:solidFill>
              <a:srgbClr val="057BBA">
                <a:alpha val="80000"/>
              </a:srgbClr>
            </a:solidFill>
            <a:prstDash val="solid"/>
            <a:round/>
            <a:headEnd len="sm" w="sm" type="none"/>
            <a:tailEnd len="sm" w="sm" type="none"/>
          </a:ln>
        </p:spPr>
      </p:cxnSp>
      <p:pic>
        <p:nvPicPr>
          <p:cNvPr descr="A close up of a sign&#10;&#10;Description automatically generated" id="29" name="Google Shape;29;p16"/>
          <p:cNvPicPr preferRelativeResize="0"/>
          <p:nvPr/>
        </p:nvPicPr>
        <p:blipFill rotWithShape="1">
          <a:blip r:embed="rId2">
            <a:alphaModFix/>
          </a:blip>
          <a:srcRect b="0" l="0" r="0" t="0"/>
          <a:stretch/>
        </p:blipFill>
        <p:spPr>
          <a:xfrm>
            <a:off x="20812883" y="427995"/>
            <a:ext cx="2645634" cy="1639519"/>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Only">
  <p:cSld name="2_Title 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30" name="Shape 3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4387453" y="357187"/>
            <a:ext cx="15609095" cy="3036095"/>
          </a:xfrm>
          <a:prstGeom prst="rect">
            <a:avLst/>
          </a:prstGeom>
          <a:noFill/>
          <a:ln>
            <a:noFill/>
          </a:ln>
        </p:spPr>
        <p:txBody>
          <a:bodyPr anchorCtr="0" anchor="ctr" bIns="71425" lIns="71425" spcFirstLastPara="1" rIns="71425" wrap="square" tIns="71425">
            <a:normAutofit/>
          </a:bodyPr>
          <a:lstStyle>
            <a:lvl1pPr lvl="0"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9pPr>
          </a:lstStyle>
          <a:p/>
        </p:txBody>
      </p:sp>
      <p:sp>
        <p:nvSpPr>
          <p:cNvPr id="7" name="Google Shape;7;p12"/>
          <p:cNvSpPr txBox="1"/>
          <p:nvPr>
            <p:ph idx="1" type="body"/>
          </p:nvPr>
        </p:nvSpPr>
        <p:spPr>
          <a:xfrm>
            <a:off x="4387453" y="3643312"/>
            <a:ext cx="15609095" cy="8840392"/>
          </a:xfrm>
          <a:prstGeom prst="rect">
            <a:avLst/>
          </a:prstGeom>
          <a:noFill/>
          <a:ln>
            <a:noFill/>
          </a:ln>
        </p:spPr>
        <p:txBody>
          <a:bodyPr anchorCtr="0" anchor="ctr" bIns="71425" lIns="71425" spcFirstLastPara="1" rIns="71425" wrap="square" tIns="71425">
            <a:normAutofit/>
          </a:bodyPr>
          <a:lstStyle>
            <a:lvl1pPr indent="-633730" lvl="0" marL="4572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1pPr>
            <a:lvl2pPr indent="-633730" lvl="1" marL="9144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2pPr>
            <a:lvl3pPr indent="-633730" lvl="2" marL="13716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3pPr>
            <a:lvl4pPr indent="-633730" lvl="3" marL="18288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4pPr>
            <a:lvl5pPr indent="-633729" lvl="4" marL="22860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5pPr>
            <a:lvl6pPr indent="-633729" lvl="5" marL="27432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6pPr>
            <a:lvl7pPr indent="-633729" lvl="6" marL="32004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7pPr>
            <a:lvl8pPr indent="-633729" lvl="7" marL="36576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8pPr>
            <a:lvl9pPr indent="-633729" lvl="8" marL="41148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9pPr>
          </a:lstStyle>
          <a:p/>
        </p:txBody>
      </p:sp>
      <p:sp>
        <p:nvSpPr>
          <p:cNvPr id="8" name="Google Shape;8;p12"/>
          <p:cNvSpPr txBox="1"/>
          <p:nvPr>
            <p:ph idx="12" type="sldNum"/>
          </p:nvPr>
        </p:nvSpPr>
        <p:spPr>
          <a:xfrm>
            <a:off x="11954103" y="13073062"/>
            <a:ext cx="466269" cy="477671"/>
          </a:xfrm>
          <a:prstGeom prst="rect">
            <a:avLst/>
          </a:prstGeom>
          <a:noFill/>
          <a:ln>
            <a:noFill/>
          </a:ln>
        </p:spPr>
        <p:txBody>
          <a:bodyPr anchorCtr="0" anchor="t" bIns="71425" lIns="71425" spcFirstLastPara="1" rIns="71425" wrap="square" tIns="71425">
            <a:spAutoFit/>
          </a:bodyPr>
          <a:lstStyle>
            <a:lvl1pPr indent="0" lvl="0"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1pPr>
            <a:lvl2pPr indent="0" lvl="1"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2pPr>
            <a:lvl3pPr indent="0" lvl="2"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3pPr>
            <a:lvl4pPr indent="0" lvl="3"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4pPr>
            <a:lvl5pPr indent="0" lvl="4"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5pPr>
            <a:lvl6pPr indent="0" lvl="5"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6pPr>
            <a:lvl7pPr indent="0" lvl="6"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7pPr>
            <a:lvl8pPr indent="0" lvl="7"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8pPr>
            <a:lvl9pPr indent="0" lvl="8"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2.png"/><Relationship Id="rId4" Type="http://schemas.openxmlformats.org/officeDocument/2006/relationships/image" Target="../media/image20.png"/><Relationship Id="rId5"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 name="Shape 34"/>
        <p:cNvGrpSpPr/>
        <p:nvPr/>
      </p:nvGrpSpPr>
      <p:grpSpPr>
        <a:xfrm>
          <a:off x="0" y="0"/>
          <a:ext cx="0" cy="0"/>
          <a:chOff x="0" y="0"/>
          <a:chExt cx="0" cy="0"/>
        </a:xfrm>
      </p:grpSpPr>
      <p:pic>
        <p:nvPicPr>
          <p:cNvPr descr="A picture containing drawing&#10;&#10;Description automatically generated" id="35" name="Google Shape;35;p1"/>
          <p:cNvPicPr preferRelativeResize="0"/>
          <p:nvPr/>
        </p:nvPicPr>
        <p:blipFill rotWithShape="1">
          <a:blip r:embed="rId3">
            <a:alphaModFix/>
          </a:blip>
          <a:srcRect b="0" l="0" r="0" t="0"/>
          <a:stretch/>
        </p:blipFill>
        <p:spPr>
          <a:xfrm>
            <a:off x="1313650" y="1753558"/>
            <a:ext cx="5103775" cy="1429741"/>
          </a:xfrm>
          <a:prstGeom prst="rect">
            <a:avLst/>
          </a:prstGeom>
          <a:noFill/>
          <a:ln>
            <a:noFill/>
          </a:ln>
        </p:spPr>
      </p:pic>
      <p:sp>
        <p:nvSpPr>
          <p:cNvPr id="36" name="Google Shape;36;p1"/>
          <p:cNvSpPr/>
          <p:nvPr/>
        </p:nvSpPr>
        <p:spPr>
          <a:xfrm>
            <a:off x="1795790" y="3025157"/>
            <a:ext cx="5636029" cy="5693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9BF"/>
              </a:buClr>
              <a:buSzPts val="3100"/>
              <a:buFont typeface="Helvetica Neue"/>
              <a:buNone/>
            </a:pPr>
            <a:r>
              <a:rPr b="1" i="0" lang="en-US" sz="3100" u="none" cap="none" strike="noStrike">
                <a:solidFill>
                  <a:srgbClr val="0079BF"/>
                </a:solidFill>
                <a:latin typeface="Helvetica Neue"/>
                <a:ea typeface="Helvetica Neue"/>
                <a:cs typeface="Helvetica Neue"/>
                <a:sym typeface="Helvetica Neue"/>
              </a:rPr>
              <a:t>WAY TO ENTERPRISE</a:t>
            </a:r>
            <a:endParaRPr b="0" i="0" sz="1400" u="none" cap="none" strike="noStrike">
              <a:solidFill>
                <a:srgbClr val="000000"/>
              </a:solidFill>
              <a:latin typeface="Arial"/>
              <a:ea typeface="Arial"/>
              <a:cs typeface="Arial"/>
              <a:sym typeface="Arial"/>
            </a:endParaRPr>
          </a:p>
        </p:txBody>
      </p:sp>
      <p:sp>
        <p:nvSpPr>
          <p:cNvPr id="37" name="Google Shape;37;p1"/>
          <p:cNvSpPr txBox="1"/>
          <p:nvPr/>
        </p:nvSpPr>
        <p:spPr>
          <a:xfrm>
            <a:off x="1215678" y="4549070"/>
            <a:ext cx="22486370" cy="131775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79BF"/>
              </a:buClr>
              <a:buSzPts val="4400"/>
              <a:buFont typeface="Helvetica Neue"/>
              <a:buNone/>
            </a:pPr>
            <a:r>
              <a:rPr b="0" i="0" lang="en-US" sz="10000" u="none" cap="none" strike="noStrike">
                <a:solidFill>
                  <a:srgbClr val="0079BF"/>
                </a:solidFill>
                <a:latin typeface="Helvetica Neue"/>
                <a:ea typeface="Helvetica Neue"/>
                <a:cs typeface="Helvetica Neue"/>
                <a:sym typeface="Helvetica Neue"/>
              </a:rPr>
              <a:t>Microservices</a:t>
            </a:r>
            <a:endParaRPr b="0" i="0" sz="10000" u="none" cap="none" strike="noStrike">
              <a:solidFill>
                <a:srgbClr val="0079BF"/>
              </a:solidFill>
              <a:latin typeface="Helvetica Neue"/>
              <a:ea typeface="Helvetica Neue"/>
              <a:cs typeface="Helvetica Neue"/>
              <a:sym typeface="Helvetica Neue"/>
            </a:endParaRPr>
          </a:p>
        </p:txBody>
      </p:sp>
      <p:sp>
        <p:nvSpPr>
          <p:cNvPr id="38" name="Google Shape;38;p1"/>
          <p:cNvSpPr txBox="1"/>
          <p:nvPr/>
        </p:nvSpPr>
        <p:spPr>
          <a:xfrm>
            <a:off x="1795790" y="8295495"/>
            <a:ext cx="11871552" cy="284166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9BF"/>
              </a:buClr>
              <a:buSzPts val="30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p2"/>
          <p:cNvSpPr txBox="1"/>
          <p:nvPr>
            <p:ph type="title"/>
          </p:nvPr>
        </p:nvSpPr>
        <p:spPr>
          <a:xfrm>
            <a:off x="1845217" y="357188"/>
            <a:ext cx="15794390" cy="1710326"/>
          </a:xfrm>
          <a:prstGeom prst="rect">
            <a:avLst/>
          </a:prstGeom>
          <a:noFill/>
          <a:ln>
            <a:noFill/>
          </a:ln>
        </p:spPr>
        <p:txBody>
          <a:bodyPr anchorCtr="0" anchor="ctr" bIns="71425" lIns="71425" spcFirstLastPara="1" rIns="71425" wrap="square" tIns="71425">
            <a:normAutofit/>
          </a:bodyPr>
          <a:lstStyle/>
          <a:p>
            <a:pPr indent="0" lvl="0" marL="0" rtl="0" algn="l">
              <a:lnSpc>
                <a:spcPct val="100000"/>
              </a:lnSpc>
              <a:spcBef>
                <a:spcPts val="0"/>
              </a:spcBef>
              <a:spcAft>
                <a:spcPts val="0"/>
              </a:spcAft>
              <a:buClr>
                <a:srgbClr val="0079BF"/>
              </a:buClr>
              <a:buSzPts val="8200"/>
              <a:buFont typeface="Calibri"/>
              <a:buNone/>
            </a:pPr>
            <a:r>
              <a:rPr lang="en-US">
                <a:solidFill>
                  <a:srgbClr val="0079BF"/>
                </a:solidFill>
                <a:latin typeface="Calibri"/>
                <a:ea typeface="Calibri"/>
                <a:cs typeface="Calibri"/>
                <a:sym typeface="Calibri"/>
              </a:rPr>
              <a:t>Agenda</a:t>
            </a:r>
            <a:endParaRPr/>
          </a:p>
        </p:txBody>
      </p:sp>
      <p:sp>
        <p:nvSpPr>
          <p:cNvPr id="44" name="Google Shape;44;p2"/>
          <p:cNvSpPr/>
          <p:nvPr/>
        </p:nvSpPr>
        <p:spPr>
          <a:xfrm>
            <a:off x="8898777" y="13198291"/>
            <a:ext cx="6688049"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2200"/>
              <a:buFont typeface="Meiryo"/>
              <a:buNone/>
            </a:pPr>
            <a:r>
              <a:rPr b="0" i="0" lang="en-US" sz="2200" u="none" cap="none" strike="noStrike">
                <a:solidFill>
                  <a:schemeClr val="lt1"/>
                </a:solidFill>
                <a:latin typeface="Meiryo"/>
                <a:ea typeface="Meiryo"/>
                <a:cs typeface="Meiryo"/>
                <a:sym typeface="Meiryo"/>
              </a:rPr>
              <a:t>Copyright </a:t>
            </a:r>
            <a:r>
              <a:rPr b="0" i="1" lang="en-US" sz="2200" u="none" cap="none" strike="noStrike">
                <a:solidFill>
                  <a:schemeClr val="lt1"/>
                </a:solidFill>
                <a:latin typeface="Meiryo"/>
                <a:ea typeface="Meiryo"/>
                <a:cs typeface="Meiryo"/>
                <a:sym typeface="Meiryo"/>
              </a:rPr>
              <a:t>© </a:t>
            </a:r>
            <a:r>
              <a:rPr b="0" i="0" lang="en-US" sz="2200" u="none" cap="none" strike="noStrike">
                <a:solidFill>
                  <a:schemeClr val="lt1"/>
                </a:solidFill>
                <a:latin typeface="Meiryo"/>
                <a:ea typeface="Meiryo"/>
                <a:cs typeface="Meiryo"/>
                <a:sym typeface="Meiryo"/>
              </a:rPr>
              <a:t>VTI Academy All Rights Reserved </a:t>
            </a:r>
            <a:endParaRPr b="0" i="0" sz="1400" u="none" cap="none" strike="noStrike">
              <a:solidFill>
                <a:srgbClr val="000000"/>
              </a:solidFill>
              <a:latin typeface="Arial"/>
              <a:ea typeface="Arial"/>
              <a:cs typeface="Arial"/>
              <a:sym typeface="Arial"/>
            </a:endParaRPr>
          </a:p>
        </p:txBody>
      </p:sp>
      <p:sp>
        <p:nvSpPr>
          <p:cNvPr id="45" name="Google Shape;45;p2"/>
          <p:cNvSpPr txBox="1"/>
          <p:nvPr/>
        </p:nvSpPr>
        <p:spPr>
          <a:xfrm>
            <a:off x="1845217" y="3116480"/>
            <a:ext cx="21401314" cy="9329058"/>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a:t>
            </a:r>
            <a:r>
              <a:rPr lang="en-US" sz="6600"/>
              <a:t>Integration between</a:t>
            </a:r>
            <a:r>
              <a:rPr b="0" i="0" lang="en-US" sz="6600" u="none" cap="none" strike="noStrike">
                <a:solidFill>
                  <a:srgbClr val="000000"/>
                </a:solidFill>
                <a:latin typeface="Arial"/>
                <a:ea typeface="Arial"/>
                <a:cs typeface="Arial"/>
                <a:sym typeface="Arial"/>
              </a:rPr>
              <a:t> microservices</a:t>
            </a:r>
            <a:endParaRPr b="0" i="0" sz="66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a:t>
            </a:r>
            <a:r>
              <a:rPr lang="en-US" sz="6600"/>
              <a:t>Splitting the Monolith</a:t>
            </a:r>
            <a:endParaRPr b="0" i="0" sz="66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6600"/>
              <a:buFont typeface="Arial"/>
              <a:buNone/>
            </a:pPr>
            <a:r>
              <a:t/>
            </a:r>
            <a:endParaRPr b="0" i="0" sz="66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4"/>
          <p:cNvSpPr txBox="1"/>
          <p:nvPr/>
        </p:nvSpPr>
        <p:spPr>
          <a:xfrm>
            <a:off x="1200150" y="571500"/>
            <a:ext cx="144474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Integration between Microservices</a:t>
            </a:r>
            <a:endParaRPr b="1" i="0" sz="6000" u="none" cap="none" strike="noStrike">
              <a:solidFill>
                <a:srgbClr val="4F81BD"/>
              </a:solidFill>
              <a:latin typeface="Arial"/>
              <a:ea typeface="Arial"/>
              <a:cs typeface="Arial"/>
              <a:sym typeface="Arial"/>
            </a:endParaRPr>
          </a:p>
        </p:txBody>
      </p:sp>
      <p:sp>
        <p:nvSpPr>
          <p:cNvPr id="51" name="Google Shape;51;p4"/>
          <p:cNvSpPr txBox="1"/>
          <p:nvPr/>
        </p:nvSpPr>
        <p:spPr>
          <a:xfrm>
            <a:off x="1491350" y="2101875"/>
            <a:ext cx="10200300" cy="9329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600"/>
              <a:buFont typeface="Arial"/>
              <a:buNone/>
            </a:pPr>
            <a:r>
              <a:rPr lang="en-US" sz="4600"/>
              <a:t>Việc tương tác giữa các microservice</a:t>
            </a:r>
            <a:r>
              <a:rPr b="0" i="0" lang="en-US" sz="4600" u="none" cap="none" strike="noStrike">
                <a:solidFill>
                  <a:srgbClr val="000000"/>
                </a:solidFill>
                <a:latin typeface="Arial"/>
                <a:ea typeface="Arial"/>
                <a:cs typeface="Arial"/>
                <a:sym typeface="Arial"/>
              </a:rPr>
              <a:t>:</a:t>
            </a:r>
            <a:endParaRPr b="0" i="0" sz="46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4500"/>
              <a:buChar char="●"/>
            </a:pPr>
            <a:r>
              <a:rPr lang="en-US" sz="4500"/>
              <a:t>Là 1 trong các yếu tố quan trọng nhất trong Microservice</a:t>
            </a:r>
            <a:endParaRPr sz="4500"/>
          </a:p>
          <a:p>
            <a:pPr indent="-457200" lvl="0" marL="457200" marR="0" rtl="0" algn="l">
              <a:lnSpc>
                <a:spcPct val="100000"/>
              </a:lnSpc>
              <a:spcBef>
                <a:spcPts val="0"/>
              </a:spcBef>
              <a:spcAft>
                <a:spcPts val="0"/>
              </a:spcAft>
              <a:buClr>
                <a:srgbClr val="000000"/>
              </a:buClr>
              <a:buSzPts val="4500"/>
              <a:buChar char="●"/>
            </a:pPr>
            <a:r>
              <a:rPr lang="en-US" sz="4500"/>
              <a:t>Nếu làm tốt:</a:t>
            </a:r>
            <a:endParaRPr sz="4500"/>
          </a:p>
          <a:p>
            <a:pPr indent="-514350" lvl="1" marL="914400" marR="0" rtl="0" algn="l">
              <a:lnSpc>
                <a:spcPct val="100000"/>
              </a:lnSpc>
              <a:spcBef>
                <a:spcPts val="0"/>
              </a:spcBef>
              <a:spcAft>
                <a:spcPts val="0"/>
              </a:spcAft>
              <a:buClr>
                <a:srgbClr val="000000"/>
              </a:buClr>
              <a:buSzPts val="4500"/>
              <a:buChar char="○"/>
            </a:pPr>
            <a:r>
              <a:rPr lang="en-US" sz="4500"/>
              <a:t>Giúp microservices hoạt động độc lập, dễ thay đổi, triển khai</a:t>
            </a:r>
            <a:endParaRPr sz="4500"/>
          </a:p>
          <a:p>
            <a:pPr indent="0" lvl="0" marL="457200" rtl="0" algn="l">
              <a:spcBef>
                <a:spcPts val="0"/>
              </a:spcBef>
              <a:spcAft>
                <a:spcPts val="0"/>
              </a:spcAft>
              <a:buNone/>
            </a:pPr>
            <a:r>
              <a:t/>
            </a:r>
            <a:endParaRPr b="1" sz="4500">
              <a:solidFill>
                <a:schemeClr val="dk1"/>
              </a:solidFill>
            </a:endParaRPr>
          </a:p>
          <a:p>
            <a:pPr indent="0" lvl="0" marL="0" rtl="0" algn="l">
              <a:spcBef>
                <a:spcPts val="0"/>
              </a:spcBef>
              <a:spcAft>
                <a:spcPts val="0"/>
              </a:spcAft>
              <a:buNone/>
            </a:pPr>
            <a:r>
              <a:t/>
            </a:r>
            <a:endParaRPr sz="4500">
              <a:solidFill>
                <a:schemeClr val="dk1"/>
              </a:solidFill>
            </a:endParaRPr>
          </a:p>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p:txBody>
      </p:sp>
      <p:pic>
        <p:nvPicPr>
          <p:cNvPr id="52" name="Google Shape;52;p4"/>
          <p:cNvPicPr preferRelativeResize="0"/>
          <p:nvPr/>
        </p:nvPicPr>
        <p:blipFill>
          <a:blip r:embed="rId3">
            <a:alphaModFix/>
          </a:blip>
          <a:stretch>
            <a:fillRect/>
          </a:stretch>
        </p:blipFill>
        <p:spPr>
          <a:xfrm>
            <a:off x="12969850" y="2902675"/>
            <a:ext cx="10094625" cy="69514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g32df96e7d35_0_3"/>
          <p:cNvSpPr txBox="1"/>
          <p:nvPr/>
        </p:nvSpPr>
        <p:spPr>
          <a:xfrm>
            <a:off x="1491350" y="2101875"/>
            <a:ext cx="21797400" cy="9329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600"/>
              <a:buFont typeface="Arial"/>
              <a:buNone/>
            </a:pPr>
            <a:r>
              <a:rPr b="1" i="1" lang="en-US" sz="4600"/>
              <a:t>Các tiêu chí lựa chọn công nghệ giao tiếp giữa các Microservice</a:t>
            </a:r>
            <a:endParaRPr b="1" i="1" sz="46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4500"/>
              <a:buFont typeface="Arial"/>
              <a:buChar char="●"/>
            </a:pPr>
            <a:r>
              <a:rPr lang="en-US" sz="4500"/>
              <a:t>Thay đổi độc lập: Nếu thay đổi 1 thành phần thì hạn chế tối đa yêu cầu thay đổi từ phía consumer.</a:t>
            </a:r>
            <a:endParaRPr b="0" i="0" sz="45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4500"/>
              <a:buFont typeface="Arial"/>
              <a:buChar char="●"/>
            </a:pPr>
            <a:r>
              <a:rPr lang="en-US" sz="4500"/>
              <a:t>Giữ API độc lập với công nghệ: Không nên ràng buộc với 1 công nghệ cụ thể, giúp khả năng thay đổi trong tương lai dễ hơn.</a:t>
            </a:r>
            <a:endParaRPr b="0" i="0" sz="45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4500"/>
              <a:buFont typeface="Arial"/>
              <a:buChar char="●"/>
            </a:pPr>
            <a:r>
              <a:rPr lang="en-US" sz="4500"/>
              <a:t>Làm cho việc sử dụng dịch vụ dễ hơn với consumer.</a:t>
            </a:r>
            <a:endParaRPr sz="4500"/>
          </a:p>
          <a:p>
            <a:pPr indent="-457200" lvl="0" marL="457200" marR="0" rtl="0" algn="l">
              <a:lnSpc>
                <a:spcPct val="100000"/>
              </a:lnSpc>
              <a:spcBef>
                <a:spcPts val="0"/>
              </a:spcBef>
              <a:spcAft>
                <a:spcPts val="0"/>
              </a:spcAft>
              <a:buSzPts val="4500"/>
              <a:buChar char="●"/>
            </a:pPr>
            <a:r>
              <a:rPr lang="en-US" sz="4500"/>
              <a:t>Ẩn chi tiết cách triển khai nội bộ: Tránh để lộ quá nhiều thông tin chi tiết bên trong 1 microservice ra ngoài, các consumer không cần biết nội bộ bên trong 1 microservice hoạt động.</a:t>
            </a:r>
            <a:endParaRPr sz="4500"/>
          </a:p>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4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p:txBody>
      </p:sp>
      <p:sp>
        <p:nvSpPr>
          <p:cNvPr id="58" name="Google Shape;58;g32df96e7d35_0_3"/>
          <p:cNvSpPr txBox="1"/>
          <p:nvPr/>
        </p:nvSpPr>
        <p:spPr>
          <a:xfrm>
            <a:off x="1200150" y="571500"/>
            <a:ext cx="135813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Integration between Microservices</a:t>
            </a:r>
            <a:endParaRPr b="1" i="0" sz="6000" u="none" cap="none" strike="noStrike">
              <a:solidFill>
                <a:srgbClr val="4F81BD"/>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g328fee9b6ff_0_1"/>
          <p:cNvSpPr txBox="1"/>
          <p:nvPr/>
        </p:nvSpPr>
        <p:spPr>
          <a:xfrm>
            <a:off x="1491350" y="2101875"/>
            <a:ext cx="12897300" cy="9329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600"/>
              <a:buFont typeface="Arial"/>
              <a:buNone/>
            </a:pPr>
            <a:r>
              <a:rPr b="1" i="1" lang="en-US" sz="4000"/>
              <a:t>Các style kết nối chính giữa các Microservices</a:t>
            </a:r>
            <a:endParaRPr b="1" i="1" sz="4000" u="none" cap="none" strike="noStrike">
              <a:solidFill>
                <a:srgbClr val="000000"/>
              </a:solidFill>
              <a:latin typeface="Arial"/>
              <a:ea typeface="Arial"/>
              <a:cs typeface="Arial"/>
              <a:sym typeface="Arial"/>
            </a:endParaRPr>
          </a:p>
          <a:p>
            <a:pPr indent="-476250" lvl="0" marL="457200" marR="0" rtl="0" algn="l">
              <a:lnSpc>
                <a:spcPct val="100000"/>
              </a:lnSpc>
              <a:spcBef>
                <a:spcPts val="0"/>
              </a:spcBef>
              <a:spcAft>
                <a:spcPts val="0"/>
              </a:spcAft>
              <a:buClr>
                <a:srgbClr val="000000"/>
              </a:buClr>
              <a:buSzPts val="3900"/>
              <a:buFont typeface="Arial"/>
              <a:buChar char="-"/>
            </a:pPr>
            <a:r>
              <a:rPr b="1" i="1" lang="en-US" sz="3900"/>
              <a:t>Synchronous Blocking</a:t>
            </a:r>
            <a:r>
              <a:rPr lang="en-US" sz="3900"/>
              <a:t>: 1 service gọi sang service khác và phải dừng mọi hoạt động khác cho đến khi thực hiện xong</a:t>
            </a:r>
            <a:endParaRPr sz="3900"/>
          </a:p>
          <a:p>
            <a:pPr indent="-476250" lvl="0" marL="457200" marR="0" rtl="0" algn="l">
              <a:lnSpc>
                <a:spcPct val="100000"/>
              </a:lnSpc>
              <a:spcBef>
                <a:spcPts val="0"/>
              </a:spcBef>
              <a:spcAft>
                <a:spcPts val="0"/>
              </a:spcAft>
              <a:buSzPts val="3900"/>
              <a:buChar char="-"/>
            </a:pPr>
            <a:r>
              <a:rPr b="1" i="1" lang="en-US" sz="3900"/>
              <a:t>Asynchronous Non Blocking</a:t>
            </a:r>
            <a:r>
              <a:rPr lang="en-US" sz="3900"/>
              <a:t>: 1 service gọi sang 1 service khác và tiếp tục làm các việc khác không cần biết đã xong chưa</a:t>
            </a:r>
            <a:endParaRPr sz="3900"/>
          </a:p>
          <a:p>
            <a:pPr indent="-476250" lvl="0" marL="457200" marR="0" rtl="0" algn="l">
              <a:lnSpc>
                <a:spcPct val="100000"/>
              </a:lnSpc>
              <a:spcBef>
                <a:spcPts val="0"/>
              </a:spcBef>
              <a:spcAft>
                <a:spcPts val="0"/>
              </a:spcAft>
              <a:buSzPts val="3900"/>
              <a:buChar char="-"/>
            </a:pPr>
            <a:r>
              <a:rPr b="1" i="1" lang="en-US" sz="3900"/>
              <a:t>Request - response</a:t>
            </a:r>
            <a:r>
              <a:rPr lang="en-US" sz="3900"/>
              <a:t>: 1 service gửi 1 request sang 1 service khác để yêu cầu 1 việc gì đó, nó sẽ chờ đợi 1 response sau khi xong.</a:t>
            </a:r>
            <a:endParaRPr sz="3900"/>
          </a:p>
          <a:p>
            <a:pPr indent="-476250" lvl="0" marL="457200" marR="0" rtl="0" algn="l">
              <a:lnSpc>
                <a:spcPct val="100000"/>
              </a:lnSpc>
              <a:spcBef>
                <a:spcPts val="0"/>
              </a:spcBef>
              <a:spcAft>
                <a:spcPts val="0"/>
              </a:spcAft>
              <a:buSzPts val="3900"/>
              <a:buChar char="-"/>
            </a:pPr>
            <a:r>
              <a:rPr b="1" i="1" lang="en-US" sz="3900"/>
              <a:t>Event-driven</a:t>
            </a:r>
            <a:r>
              <a:rPr lang="en-US" sz="3900"/>
              <a:t>: 1 service tạo 1 event, các service khác lấy event đó và thực hiện các công việc tương ứng. service ban đầu không rõ là có service khác đã nhận hoặc thực hiện công việc hay chưa</a:t>
            </a:r>
            <a:endParaRPr sz="3900"/>
          </a:p>
          <a:p>
            <a:pPr indent="-476250" lvl="0" marL="457200" marR="0" rtl="0" algn="l">
              <a:lnSpc>
                <a:spcPct val="100000"/>
              </a:lnSpc>
              <a:spcBef>
                <a:spcPts val="0"/>
              </a:spcBef>
              <a:spcAft>
                <a:spcPts val="0"/>
              </a:spcAft>
              <a:buSzPts val="3900"/>
              <a:buChar char="-"/>
            </a:pPr>
            <a:r>
              <a:rPr b="1" i="1" lang="en-US" sz="3900"/>
              <a:t>Common data</a:t>
            </a:r>
            <a:r>
              <a:rPr lang="en-US" sz="3900"/>
              <a:t>: Các service liên lạc với nhau thông qua việc chia sẻ dữ liệu</a:t>
            </a:r>
            <a:endParaRPr sz="3900"/>
          </a:p>
          <a:p>
            <a:pPr indent="-476250" lvl="0" marL="457200" marR="0" rtl="0" algn="l">
              <a:lnSpc>
                <a:spcPct val="100000"/>
              </a:lnSpc>
              <a:spcBef>
                <a:spcPts val="0"/>
              </a:spcBef>
              <a:spcAft>
                <a:spcPts val="0"/>
              </a:spcAft>
              <a:buSzPts val="3900"/>
              <a:buChar char="-"/>
            </a:pPr>
            <a:r>
              <a:t/>
            </a:r>
            <a:endParaRPr sz="3900"/>
          </a:p>
          <a:p>
            <a:pPr indent="0" lvl="0" marL="0" marR="0" rtl="0" algn="l">
              <a:lnSpc>
                <a:spcPct val="100000"/>
              </a:lnSpc>
              <a:spcBef>
                <a:spcPts val="0"/>
              </a:spcBef>
              <a:spcAft>
                <a:spcPts val="0"/>
              </a:spcAft>
              <a:buNone/>
            </a:pPr>
            <a:r>
              <a:t/>
            </a:r>
            <a:endParaRPr b="0" i="0" sz="3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500"/>
              <a:buFont typeface="Arial"/>
              <a:buNone/>
            </a:pPr>
            <a:r>
              <a:t/>
            </a:r>
            <a:endParaRPr b="0" i="0" sz="39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4500"/>
              <a:buFont typeface="Arial"/>
              <a:buNone/>
            </a:pPr>
            <a:r>
              <a:t/>
            </a:r>
            <a:endParaRPr b="0" i="0" sz="3900" u="none" cap="none" strike="noStrike">
              <a:solidFill>
                <a:srgbClr val="000000"/>
              </a:solidFill>
              <a:latin typeface="Arial"/>
              <a:ea typeface="Arial"/>
              <a:cs typeface="Arial"/>
              <a:sym typeface="Arial"/>
            </a:endParaRPr>
          </a:p>
        </p:txBody>
      </p:sp>
      <p:sp>
        <p:nvSpPr>
          <p:cNvPr id="64" name="Google Shape;64;g328fee9b6ff_0_1"/>
          <p:cNvSpPr txBox="1"/>
          <p:nvPr/>
        </p:nvSpPr>
        <p:spPr>
          <a:xfrm>
            <a:off x="1200150" y="571500"/>
            <a:ext cx="135813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Integration between Microservices</a:t>
            </a:r>
            <a:endParaRPr b="1" i="0" sz="6000" u="none" cap="none" strike="noStrike">
              <a:solidFill>
                <a:srgbClr val="4F81BD"/>
              </a:solidFill>
              <a:latin typeface="Arial"/>
              <a:ea typeface="Arial"/>
              <a:cs typeface="Arial"/>
              <a:sym typeface="Arial"/>
            </a:endParaRPr>
          </a:p>
        </p:txBody>
      </p:sp>
      <p:pic>
        <p:nvPicPr>
          <p:cNvPr id="65" name="Google Shape;65;g328fee9b6ff_0_1"/>
          <p:cNvPicPr preferRelativeResize="0"/>
          <p:nvPr/>
        </p:nvPicPr>
        <p:blipFill>
          <a:blip r:embed="rId3">
            <a:alphaModFix/>
          </a:blip>
          <a:stretch>
            <a:fillRect/>
          </a:stretch>
        </p:blipFill>
        <p:spPr>
          <a:xfrm>
            <a:off x="15349075" y="2338803"/>
            <a:ext cx="8374650" cy="950202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g328fee9b6ff_0_12"/>
          <p:cNvSpPr txBox="1"/>
          <p:nvPr/>
        </p:nvSpPr>
        <p:spPr>
          <a:xfrm>
            <a:off x="1491350" y="2101875"/>
            <a:ext cx="21344700" cy="9329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600"/>
              <a:buFont typeface="Arial"/>
              <a:buNone/>
            </a:pPr>
            <a:r>
              <a:rPr b="1" i="1" lang="en-US" sz="4600"/>
              <a:t>Synchronous Blocking</a:t>
            </a:r>
            <a:endParaRPr b="1" i="1" sz="46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SzPts val="4500"/>
              <a:buChar char="●"/>
            </a:pPr>
            <a:r>
              <a:rPr lang="en-US" sz="4500"/>
              <a:t>1 microservice gửi yêu cầu đến 1 microservice khác, và trong quá trình chờ service kia trả lời, service tạo yêu cầu sẽ bị block các hoạt động khác </a:t>
            </a:r>
            <a:r>
              <a:rPr lang="en-US" sz="4500"/>
              <a:t>.</a:t>
            </a:r>
            <a:endParaRPr sz="4500"/>
          </a:p>
          <a:p>
            <a:pPr indent="-457200" lvl="0" marL="457200" marR="0" rtl="0" algn="l">
              <a:lnSpc>
                <a:spcPct val="100000"/>
              </a:lnSpc>
              <a:spcBef>
                <a:spcPts val="0"/>
              </a:spcBef>
              <a:spcAft>
                <a:spcPts val="0"/>
              </a:spcAft>
              <a:buSzPts val="4500"/>
              <a:buChar char="●"/>
            </a:pPr>
            <a:r>
              <a:rPr lang="en-US" sz="4500"/>
              <a:t>Ưu điểm:</a:t>
            </a:r>
            <a:endParaRPr sz="4500"/>
          </a:p>
          <a:p>
            <a:pPr indent="-514350" lvl="1" marL="914400" marR="0" rtl="0" algn="l">
              <a:lnSpc>
                <a:spcPct val="100000"/>
              </a:lnSpc>
              <a:spcBef>
                <a:spcPts val="0"/>
              </a:spcBef>
              <a:spcAft>
                <a:spcPts val="0"/>
              </a:spcAft>
              <a:buSzPts val="4500"/>
              <a:buChar char="○"/>
            </a:pPr>
            <a:r>
              <a:rPr lang="en-US" sz="4500"/>
              <a:t>Đơn giản, quen thuộc: dễ hiểu với lập trình viên vì tương tự giao thức thông thường: sql, http</a:t>
            </a:r>
            <a:endParaRPr sz="4500"/>
          </a:p>
          <a:p>
            <a:pPr indent="-457200" lvl="0" marL="457200" marR="0" rtl="0" algn="l">
              <a:lnSpc>
                <a:spcPct val="100000"/>
              </a:lnSpc>
              <a:spcBef>
                <a:spcPts val="0"/>
              </a:spcBef>
              <a:spcAft>
                <a:spcPts val="0"/>
              </a:spcAft>
              <a:buSzPts val="4500"/>
              <a:buChar char="●"/>
            </a:pPr>
            <a:r>
              <a:rPr lang="en-US" sz="4500"/>
              <a:t>Nhược điểm</a:t>
            </a:r>
            <a:endParaRPr sz="4500"/>
          </a:p>
          <a:p>
            <a:pPr indent="-514350" lvl="1" marL="914400" marR="0" rtl="0" algn="l">
              <a:lnSpc>
                <a:spcPct val="100000"/>
              </a:lnSpc>
              <a:spcBef>
                <a:spcPts val="0"/>
              </a:spcBef>
              <a:spcAft>
                <a:spcPts val="0"/>
              </a:spcAft>
              <a:buSzPts val="4500"/>
              <a:buChar char="○"/>
            </a:pPr>
            <a:r>
              <a:rPr lang="en-US" sz="4500"/>
              <a:t>Gây nghẽn nếu microservice phản hồi chậm, toàn bộ luồng sẽ bị ảnh hưởng</a:t>
            </a:r>
            <a:endParaRPr sz="4500"/>
          </a:p>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4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p:txBody>
      </p:sp>
      <p:sp>
        <p:nvSpPr>
          <p:cNvPr id="71" name="Google Shape;71;g328fee9b6ff_0_12"/>
          <p:cNvSpPr txBox="1"/>
          <p:nvPr/>
        </p:nvSpPr>
        <p:spPr>
          <a:xfrm>
            <a:off x="1200150" y="571500"/>
            <a:ext cx="135813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Integration between Microservices</a:t>
            </a:r>
            <a:endParaRPr b="1" i="0" sz="6000" u="none" cap="none" strike="noStrike">
              <a:solidFill>
                <a:srgbClr val="4F81BD"/>
              </a:solidFill>
              <a:latin typeface="Arial"/>
              <a:ea typeface="Arial"/>
              <a:cs typeface="Arial"/>
              <a:sym typeface="Arial"/>
            </a:endParaRPr>
          </a:p>
        </p:txBody>
      </p:sp>
      <p:pic>
        <p:nvPicPr>
          <p:cNvPr id="72" name="Google Shape;72;g328fee9b6ff_0_12"/>
          <p:cNvPicPr preferRelativeResize="0"/>
          <p:nvPr/>
        </p:nvPicPr>
        <p:blipFill>
          <a:blip r:embed="rId3">
            <a:alphaModFix/>
          </a:blip>
          <a:stretch>
            <a:fillRect/>
          </a:stretch>
        </p:blipFill>
        <p:spPr>
          <a:xfrm>
            <a:off x="6131300" y="7874550"/>
            <a:ext cx="11476949" cy="34265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g328fee9b6ff_0_18"/>
          <p:cNvSpPr txBox="1"/>
          <p:nvPr/>
        </p:nvSpPr>
        <p:spPr>
          <a:xfrm>
            <a:off x="1491350" y="2101875"/>
            <a:ext cx="11993100" cy="9329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600"/>
              <a:buFont typeface="Arial"/>
              <a:buNone/>
            </a:pPr>
            <a:r>
              <a:rPr b="1" i="1" lang="en-US" sz="4600"/>
              <a:t>Synchronous Blocking</a:t>
            </a:r>
            <a:endParaRPr b="1" i="1" sz="46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SzPts val="4500"/>
              <a:buChar char="●"/>
            </a:pPr>
            <a:r>
              <a:rPr lang="en-US" sz="4500"/>
              <a:t>Nên sử dụng:</a:t>
            </a:r>
            <a:endParaRPr sz="4500"/>
          </a:p>
          <a:p>
            <a:pPr indent="-514350" lvl="1" marL="914400" marR="0" rtl="0" algn="l">
              <a:lnSpc>
                <a:spcPct val="100000"/>
              </a:lnSpc>
              <a:spcBef>
                <a:spcPts val="0"/>
              </a:spcBef>
              <a:spcAft>
                <a:spcPts val="0"/>
              </a:spcAft>
              <a:buSzPts val="4500"/>
              <a:buChar char="○"/>
            </a:pPr>
            <a:r>
              <a:rPr lang="en-US" sz="4500"/>
              <a:t>Cho kiến trúc đơn giản, ít microservice và không có chuỗi gọi service dài</a:t>
            </a:r>
            <a:endParaRPr sz="4500"/>
          </a:p>
          <a:p>
            <a:pPr indent="-457200" lvl="0" marL="457200" marR="0" rtl="0" algn="l">
              <a:lnSpc>
                <a:spcPct val="100000"/>
              </a:lnSpc>
              <a:spcBef>
                <a:spcPts val="0"/>
              </a:spcBef>
              <a:spcAft>
                <a:spcPts val="0"/>
              </a:spcAft>
              <a:buSzPts val="4500"/>
              <a:buChar char="●"/>
            </a:pPr>
            <a:r>
              <a:rPr lang="en-US" sz="4500"/>
              <a:t>Nên tránh:</a:t>
            </a:r>
            <a:endParaRPr sz="4500"/>
          </a:p>
          <a:p>
            <a:pPr indent="-514350" lvl="1" marL="914400" marR="0" rtl="0" algn="l">
              <a:lnSpc>
                <a:spcPct val="100000"/>
              </a:lnSpc>
              <a:spcBef>
                <a:spcPts val="0"/>
              </a:spcBef>
              <a:spcAft>
                <a:spcPts val="0"/>
              </a:spcAft>
              <a:buSzPts val="4500"/>
              <a:buChar char="○"/>
            </a:pPr>
            <a:r>
              <a:rPr lang="en-US" sz="4500"/>
              <a:t>Khi có chuỗi gọi dài, ví dụ Oder gọi Payment, Payment gọi Fraud Detecion, Fraud Detection gọi Customer, … =&gt; dễ gây chậm hoặc lỗi toàn bộ</a:t>
            </a:r>
            <a:endParaRPr sz="4500"/>
          </a:p>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4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p:txBody>
      </p:sp>
      <p:sp>
        <p:nvSpPr>
          <p:cNvPr id="78" name="Google Shape;78;g328fee9b6ff_0_18"/>
          <p:cNvSpPr txBox="1"/>
          <p:nvPr/>
        </p:nvSpPr>
        <p:spPr>
          <a:xfrm>
            <a:off x="1200150" y="571500"/>
            <a:ext cx="135813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Integration between Microservices</a:t>
            </a:r>
            <a:endParaRPr b="1" i="0" sz="6000" u="none" cap="none" strike="noStrike">
              <a:solidFill>
                <a:srgbClr val="4F81BD"/>
              </a:solidFill>
              <a:latin typeface="Arial"/>
              <a:ea typeface="Arial"/>
              <a:cs typeface="Arial"/>
              <a:sym typeface="Arial"/>
            </a:endParaRPr>
          </a:p>
        </p:txBody>
      </p:sp>
      <p:pic>
        <p:nvPicPr>
          <p:cNvPr id="79" name="Google Shape;79;g328fee9b6ff_0_18"/>
          <p:cNvPicPr preferRelativeResize="0"/>
          <p:nvPr/>
        </p:nvPicPr>
        <p:blipFill>
          <a:blip r:embed="rId3">
            <a:alphaModFix/>
          </a:blip>
          <a:stretch>
            <a:fillRect/>
          </a:stretch>
        </p:blipFill>
        <p:spPr>
          <a:xfrm>
            <a:off x="12987425" y="2924900"/>
            <a:ext cx="10829476" cy="5595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328fee9b6ff_0_25"/>
          <p:cNvSpPr txBox="1"/>
          <p:nvPr/>
        </p:nvSpPr>
        <p:spPr>
          <a:xfrm>
            <a:off x="1491350" y="2101875"/>
            <a:ext cx="12577500" cy="9329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600"/>
              <a:buFont typeface="Arial"/>
              <a:buNone/>
            </a:pPr>
            <a:r>
              <a:rPr b="1" i="1" lang="en-US" sz="4600"/>
              <a:t>As</a:t>
            </a:r>
            <a:r>
              <a:rPr b="1" i="1" lang="en-US" sz="4600"/>
              <a:t>ynchronous </a:t>
            </a:r>
            <a:r>
              <a:rPr b="1" i="1" lang="en-US" sz="4600"/>
              <a:t>Nonb</a:t>
            </a:r>
            <a:r>
              <a:rPr b="1" i="1" lang="en-US" sz="4600"/>
              <a:t>locking</a:t>
            </a:r>
            <a:endParaRPr b="1" i="1" sz="46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SzPts val="4500"/>
              <a:buChar char="●"/>
            </a:pPr>
            <a:r>
              <a:rPr lang="en-US" sz="4500"/>
              <a:t>1 microservice gửi yêu cầu đến 1 microservice khác, </a:t>
            </a:r>
            <a:r>
              <a:rPr lang="en-US" sz="4500"/>
              <a:t>nhưng không cần chờ kết quả trả về mà có thể đi làm tiếp các công việc khác, có thể sau đó update lại kết quả bằng các hàm callback</a:t>
            </a:r>
            <a:r>
              <a:rPr lang="en-US" sz="4500"/>
              <a:t> .</a:t>
            </a:r>
            <a:endParaRPr sz="4500"/>
          </a:p>
          <a:p>
            <a:pPr indent="-457200" lvl="0" marL="457200" marR="0" rtl="0" algn="l">
              <a:lnSpc>
                <a:spcPct val="100000"/>
              </a:lnSpc>
              <a:spcBef>
                <a:spcPts val="0"/>
              </a:spcBef>
              <a:spcAft>
                <a:spcPts val="0"/>
              </a:spcAft>
              <a:buSzPts val="4500"/>
              <a:buChar char="●"/>
            </a:pPr>
            <a:r>
              <a:rPr lang="en-US" sz="4500"/>
              <a:t>Ưu điểm:</a:t>
            </a:r>
            <a:endParaRPr sz="4500"/>
          </a:p>
          <a:p>
            <a:pPr indent="-514350" lvl="1" marL="914400" marR="0" rtl="0" algn="l">
              <a:lnSpc>
                <a:spcPct val="100000"/>
              </a:lnSpc>
              <a:spcBef>
                <a:spcPts val="0"/>
              </a:spcBef>
              <a:spcAft>
                <a:spcPts val="0"/>
              </a:spcAft>
              <a:buSzPts val="4500"/>
              <a:buChar char="○"/>
            </a:pPr>
            <a:r>
              <a:rPr lang="en-US" sz="4500"/>
              <a:t>HIệu năng tốt do microservice không bị block và có thể làm việc khác</a:t>
            </a:r>
            <a:endParaRPr sz="4500"/>
          </a:p>
          <a:p>
            <a:pPr indent="-457200" lvl="0" marL="457200" marR="0" rtl="0" algn="l">
              <a:lnSpc>
                <a:spcPct val="100000"/>
              </a:lnSpc>
              <a:spcBef>
                <a:spcPts val="0"/>
              </a:spcBef>
              <a:spcAft>
                <a:spcPts val="0"/>
              </a:spcAft>
              <a:buSzPts val="4500"/>
              <a:buChar char="●"/>
            </a:pPr>
            <a:r>
              <a:rPr lang="en-US" sz="4500"/>
              <a:t>Nhược điểm</a:t>
            </a:r>
            <a:endParaRPr sz="4500"/>
          </a:p>
          <a:p>
            <a:pPr indent="-514350" lvl="1" marL="914400" marR="0" rtl="0" algn="l">
              <a:lnSpc>
                <a:spcPct val="100000"/>
              </a:lnSpc>
              <a:spcBef>
                <a:spcPts val="0"/>
              </a:spcBef>
              <a:spcAft>
                <a:spcPts val="0"/>
              </a:spcAft>
              <a:buSzPts val="4500"/>
              <a:buChar char="○"/>
            </a:pPr>
            <a:r>
              <a:rPr lang="en-US" sz="4500"/>
              <a:t>Phức tạp hơn trong lập trình</a:t>
            </a:r>
            <a:endParaRPr sz="4500"/>
          </a:p>
          <a:p>
            <a:pPr indent="-514350" lvl="1" marL="914400" marR="0" rtl="0" algn="l">
              <a:lnSpc>
                <a:spcPct val="100000"/>
              </a:lnSpc>
              <a:spcBef>
                <a:spcPts val="0"/>
              </a:spcBef>
              <a:spcAft>
                <a:spcPts val="0"/>
              </a:spcAft>
              <a:buSzPts val="4500"/>
              <a:buChar char="○"/>
            </a:pPr>
            <a:r>
              <a:rPr lang="en-US" sz="4500"/>
              <a:t>Khó theo dõi vtranjg thái và kiểm soát luồng </a:t>
            </a:r>
            <a:endParaRPr sz="4500"/>
          </a:p>
          <a:p>
            <a:pPr indent="0" lvl="0" marL="914400" marR="0" rtl="0" algn="l">
              <a:lnSpc>
                <a:spcPct val="100000"/>
              </a:lnSpc>
              <a:spcBef>
                <a:spcPts val="0"/>
              </a:spcBef>
              <a:spcAft>
                <a:spcPts val="0"/>
              </a:spcAft>
              <a:buNone/>
            </a:pPr>
            <a:r>
              <a:t/>
            </a:r>
            <a:endParaRPr sz="4500"/>
          </a:p>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4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p:txBody>
      </p:sp>
      <p:sp>
        <p:nvSpPr>
          <p:cNvPr id="85" name="Google Shape;85;g328fee9b6ff_0_25"/>
          <p:cNvSpPr txBox="1"/>
          <p:nvPr/>
        </p:nvSpPr>
        <p:spPr>
          <a:xfrm>
            <a:off x="1200150" y="571500"/>
            <a:ext cx="135813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Integration between Microservices</a:t>
            </a:r>
            <a:endParaRPr b="1" i="0" sz="6000" u="none" cap="none" strike="noStrike">
              <a:solidFill>
                <a:srgbClr val="4F81BD"/>
              </a:solidFill>
              <a:latin typeface="Arial"/>
              <a:ea typeface="Arial"/>
              <a:cs typeface="Arial"/>
              <a:sym typeface="Arial"/>
            </a:endParaRPr>
          </a:p>
        </p:txBody>
      </p:sp>
      <p:pic>
        <p:nvPicPr>
          <p:cNvPr id="86" name="Google Shape;86;g328fee9b6ff_0_25"/>
          <p:cNvPicPr preferRelativeResize="0"/>
          <p:nvPr/>
        </p:nvPicPr>
        <p:blipFill>
          <a:blip r:embed="rId3">
            <a:alphaModFix/>
          </a:blip>
          <a:stretch>
            <a:fillRect/>
          </a:stretch>
        </p:blipFill>
        <p:spPr>
          <a:xfrm>
            <a:off x="14781450" y="3354300"/>
            <a:ext cx="8684825" cy="62488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g328fee9b6ff_0_32"/>
          <p:cNvSpPr txBox="1"/>
          <p:nvPr/>
        </p:nvSpPr>
        <p:spPr>
          <a:xfrm>
            <a:off x="1491350" y="2101875"/>
            <a:ext cx="21431400" cy="9329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600"/>
              <a:buFont typeface="Arial"/>
              <a:buNone/>
            </a:pPr>
            <a:r>
              <a:rPr b="1" i="1" lang="en-US" sz="4600"/>
              <a:t>Asynchronous Nonblocking</a:t>
            </a:r>
            <a:endParaRPr b="1" i="1" sz="46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SzPts val="4500"/>
              <a:buChar char="●"/>
            </a:pPr>
            <a:r>
              <a:rPr lang="en-US" sz="4500"/>
              <a:t>Nên dùng khi:</a:t>
            </a:r>
            <a:r>
              <a:rPr lang="en-US" sz="4500"/>
              <a:t> </a:t>
            </a:r>
            <a:endParaRPr sz="4500"/>
          </a:p>
          <a:p>
            <a:pPr indent="-514350" lvl="1" marL="914400" marR="0" rtl="0" algn="l">
              <a:lnSpc>
                <a:spcPct val="100000"/>
              </a:lnSpc>
              <a:spcBef>
                <a:spcPts val="0"/>
              </a:spcBef>
              <a:spcAft>
                <a:spcPts val="0"/>
              </a:spcAft>
              <a:buSzPts val="4500"/>
              <a:buChar char="○"/>
            </a:pPr>
            <a:r>
              <a:rPr lang="en-US" sz="4500"/>
              <a:t>Hệ thống yêu cầu tính mở rộng cao</a:t>
            </a:r>
            <a:endParaRPr sz="4500"/>
          </a:p>
          <a:p>
            <a:pPr indent="-514350" lvl="1" marL="914400" marR="0" rtl="0" algn="l">
              <a:lnSpc>
                <a:spcPct val="100000"/>
              </a:lnSpc>
              <a:spcBef>
                <a:spcPts val="0"/>
              </a:spcBef>
              <a:spcAft>
                <a:spcPts val="0"/>
              </a:spcAft>
              <a:buSzPts val="4500"/>
              <a:buChar char="○"/>
            </a:pPr>
            <a:r>
              <a:rPr lang="en-US" sz="4500"/>
              <a:t>Xử lý các tác vụ không cần phản hồi tức thì (gửi email, xử lý ảnh, video, …)</a:t>
            </a:r>
            <a:endParaRPr sz="4500"/>
          </a:p>
          <a:p>
            <a:pPr indent="-457200" lvl="0" marL="457200" marR="0" rtl="0" algn="l">
              <a:lnSpc>
                <a:spcPct val="100000"/>
              </a:lnSpc>
              <a:spcBef>
                <a:spcPts val="0"/>
              </a:spcBef>
              <a:spcAft>
                <a:spcPts val="0"/>
              </a:spcAft>
              <a:buSzPts val="4500"/>
              <a:buChar char="●"/>
            </a:pPr>
            <a:r>
              <a:rPr lang="en-US" sz="4500"/>
              <a:t>Không nên dùng khi:</a:t>
            </a:r>
            <a:endParaRPr sz="4500"/>
          </a:p>
          <a:p>
            <a:pPr indent="-514350" lvl="1" marL="914400" marR="0" rtl="0" algn="l">
              <a:lnSpc>
                <a:spcPct val="100000"/>
              </a:lnSpc>
              <a:spcBef>
                <a:spcPts val="0"/>
              </a:spcBef>
              <a:spcAft>
                <a:spcPts val="0"/>
              </a:spcAft>
              <a:buSzPts val="4500"/>
              <a:buChar char="○"/>
            </a:pPr>
            <a:r>
              <a:rPr lang="en-US" sz="4500"/>
              <a:t>Trong các trường hợp cần phản hồi ngay lập tức cho request (xác thực thanh toán trong thời gian thực)</a:t>
            </a:r>
            <a:endParaRPr sz="4500"/>
          </a:p>
          <a:p>
            <a:pPr indent="-514350" lvl="1" marL="914400" marR="0" rtl="0" algn="l">
              <a:lnSpc>
                <a:spcPct val="100000"/>
              </a:lnSpc>
              <a:spcBef>
                <a:spcPts val="0"/>
              </a:spcBef>
              <a:spcAft>
                <a:spcPts val="0"/>
              </a:spcAft>
              <a:buSzPts val="4500"/>
              <a:buChar char="○"/>
            </a:pPr>
            <a:r>
              <a:rPr lang="en-US" sz="4500"/>
              <a:t>Mô hình service đơn giản, không có các luồng gọi quá phức tạp</a:t>
            </a:r>
            <a:endParaRPr sz="4500"/>
          </a:p>
          <a:p>
            <a:pPr indent="0" lvl="0" marL="457200" marR="0" rtl="0" algn="l">
              <a:lnSpc>
                <a:spcPct val="100000"/>
              </a:lnSpc>
              <a:spcBef>
                <a:spcPts val="0"/>
              </a:spcBef>
              <a:spcAft>
                <a:spcPts val="0"/>
              </a:spcAft>
              <a:buNone/>
            </a:pPr>
            <a:r>
              <a:t/>
            </a:r>
            <a:endParaRPr sz="4500"/>
          </a:p>
          <a:p>
            <a:pPr indent="0" lvl="0" marL="914400" marR="0" rtl="0" algn="l">
              <a:lnSpc>
                <a:spcPct val="100000"/>
              </a:lnSpc>
              <a:spcBef>
                <a:spcPts val="0"/>
              </a:spcBef>
              <a:spcAft>
                <a:spcPts val="0"/>
              </a:spcAft>
              <a:buNone/>
            </a:pPr>
            <a:r>
              <a:t/>
            </a:r>
            <a:endParaRPr sz="4500"/>
          </a:p>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4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p:txBody>
      </p:sp>
      <p:sp>
        <p:nvSpPr>
          <p:cNvPr id="92" name="Google Shape;92;g328fee9b6ff_0_32"/>
          <p:cNvSpPr txBox="1"/>
          <p:nvPr/>
        </p:nvSpPr>
        <p:spPr>
          <a:xfrm>
            <a:off x="1200150" y="571500"/>
            <a:ext cx="135813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Integration between Microservices</a:t>
            </a:r>
            <a:endParaRPr b="1" i="0" sz="6000" u="none" cap="none" strike="noStrike">
              <a:solidFill>
                <a:srgbClr val="4F81BD"/>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g328fee9b6ff_0_46"/>
          <p:cNvSpPr txBox="1"/>
          <p:nvPr/>
        </p:nvSpPr>
        <p:spPr>
          <a:xfrm>
            <a:off x="1491350" y="2101875"/>
            <a:ext cx="12577500" cy="9329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600"/>
              <a:buFont typeface="Arial"/>
              <a:buNone/>
            </a:pPr>
            <a:r>
              <a:rPr b="1" i="1" lang="en-US" sz="4600"/>
              <a:t>Request - </a:t>
            </a:r>
            <a:r>
              <a:rPr b="1" i="1" lang="en-US" sz="4600"/>
              <a:t>Response</a:t>
            </a:r>
            <a:r>
              <a:rPr b="1" i="1" lang="en-US" sz="4600"/>
              <a:t> </a:t>
            </a:r>
            <a:endParaRPr b="1" i="1" sz="46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SzPts val="4500"/>
              <a:buChar char="●"/>
            </a:pPr>
            <a:r>
              <a:rPr lang="en-US" sz="4500"/>
              <a:t>1 microservice gửi yêu cầu đến 1 microservice khác, và chờ phản hồi từ microservice đó .</a:t>
            </a:r>
            <a:endParaRPr sz="4500"/>
          </a:p>
          <a:p>
            <a:pPr indent="-457200" lvl="0" marL="457200" marR="0" rtl="0" algn="l">
              <a:lnSpc>
                <a:spcPct val="100000"/>
              </a:lnSpc>
              <a:spcBef>
                <a:spcPts val="0"/>
              </a:spcBef>
              <a:spcAft>
                <a:spcPts val="0"/>
              </a:spcAft>
              <a:buSzPts val="4500"/>
              <a:buChar char="●"/>
            </a:pPr>
            <a:r>
              <a:rPr lang="en-US" sz="4500"/>
              <a:t>Request - </a:t>
            </a:r>
            <a:r>
              <a:rPr lang="en-US" sz="4500"/>
              <a:t>Response</a:t>
            </a:r>
            <a:r>
              <a:rPr lang="en-US" sz="4500"/>
              <a:t> có thể thực hiện theo:</a:t>
            </a:r>
            <a:endParaRPr sz="4500"/>
          </a:p>
          <a:p>
            <a:pPr indent="-514350" lvl="1" marL="914400" marR="0" rtl="0" algn="l">
              <a:lnSpc>
                <a:spcPct val="100000"/>
              </a:lnSpc>
              <a:spcBef>
                <a:spcPts val="0"/>
              </a:spcBef>
              <a:spcAft>
                <a:spcPts val="0"/>
              </a:spcAft>
              <a:buSzPts val="4500"/>
              <a:buChar char="○"/>
            </a:pPr>
            <a:r>
              <a:rPr lang="en-US" sz="4500"/>
              <a:t>Mô hình synchronous blocking call</a:t>
            </a:r>
            <a:endParaRPr sz="4500"/>
          </a:p>
          <a:p>
            <a:pPr indent="-514350" lvl="1" marL="914400" marR="0" rtl="0" algn="l">
              <a:lnSpc>
                <a:spcPct val="100000"/>
              </a:lnSpc>
              <a:spcBef>
                <a:spcPts val="0"/>
              </a:spcBef>
              <a:spcAft>
                <a:spcPts val="0"/>
              </a:spcAft>
              <a:buSzPts val="4500"/>
              <a:buChar char="○"/>
            </a:pPr>
            <a:r>
              <a:rPr lang="en-US" sz="4500"/>
              <a:t>Hoặc asynchronous nonblocking call</a:t>
            </a:r>
            <a:endParaRPr sz="4500"/>
          </a:p>
          <a:p>
            <a:pPr indent="-514350" lvl="2" marL="1371600" marR="0" rtl="0" algn="l">
              <a:lnSpc>
                <a:spcPct val="100000"/>
              </a:lnSpc>
              <a:spcBef>
                <a:spcPts val="0"/>
              </a:spcBef>
              <a:spcAft>
                <a:spcPts val="0"/>
              </a:spcAft>
              <a:buSzPts val="4500"/>
              <a:buChar char="■"/>
            </a:pPr>
            <a:r>
              <a:rPr lang="en-US" sz="4500"/>
              <a:t>Thông thường sẽ được triển khai thông qua sử dụng các queue, 1 queue riêng cho việc request và 1 queue riêng cho việc response</a:t>
            </a:r>
            <a:endParaRPr sz="4500"/>
          </a:p>
          <a:p>
            <a:pPr indent="-514350" lvl="2" marL="1371600" marR="0" rtl="0" algn="l">
              <a:lnSpc>
                <a:spcPct val="100000"/>
              </a:lnSpc>
              <a:spcBef>
                <a:spcPts val="0"/>
              </a:spcBef>
              <a:spcAft>
                <a:spcPts val="0"/>
              </a:spcAft>
              <a:buSzPts val="4500"/>
              <a:buChar char="■"/>
            </a:pPr>
            <a:r>
              <a:rPr lang="en-US" sz="4500"/>
              <a:t>Các service phải có cơ chế mapping giữa request - </a:t>
            </a:r>
            <a:r>
              <a:rPr lang="en-US" sz="4500"/>
              <a:t>response</a:t>
            </a:r>
            <a:endParaRPr sz="4500"/>
          </a:p>
          <a:p>
            <a:pPr indent="0" lvl="0" marL="914400" marR="0" rtl="0" algn="l">
              <a:lnSpc>
                <a:spcPct val="100000"/>
              </a:lnSpc>
              <a:spcBef>
                <a:spcPts val="0"/>
              </a:spcBef>
              <a:spcAft>
                <a:spcPts val="0"/>
              </a:spcAft>
              <a:buNone/>
            </a:pPr>
            <a:r>
              <a:t/>
            </a:r>
            <a:endParaRPr sz="4500"/>
          </a:p>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4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p:txBody>
      </p:sp>
      <p:sp>
        <p:nvSpPr>
          <p:cNvPr id="98" name="Google Shape;98;g328fee9b6ff_0_46"/>
          <p:cNvSpPr txBox="1"/>
          <p:nvPr/>
        </p:nvSpPr>
        <p:spPr>
          <a:xfrm>
            <a:off x="1200150" y="571500"/>
            <a:ext cx="135813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Integration between Microservices</a:t>
            </a:r>
            <a:endParaRPr b="1" i="0" sz="6000" u="none" cap="none" strike="noStrike">
              <a:solidFill>
                <a:srgbClr val="4F81BD"/>
              </a:solidFill>
              <a:latin typeface="Arial"/>
              <a:ea typeface="Arial"/>
              <a:cs typeface="Arial"/>
              <a:sym typeface="Arial"/>
            </a:endParaRPr>
          </a:p>
        </p:txBody>
      </p:sp>
      <p:pic>
        <p:nvPicPr>
          <p:cNvPr id="99" name="Google Shape;99;g328fee9b6ff_0_46"/>
          <p:cNvPicPr preferRelativeResize="0"/>
          <p:nvPr/>
        </p:nvPicPr>
        <p:blipFill>
          <a:blip r:embed="rId3">
            <a:alphaModFix/>
          </a:blip>
          <a:stretch>
            <a:fillRect/>
          </a:stretch>
        </p:blipFill>
        <p:spPr>
          <a:xfrm>
            <a:off x="14890550" y="2533650"/>
            <a:ext cx="7696200" cy="2371725"/>
          </a:xfrm>
          <a:prstGeom prst="rect">
            <a:avLst/>
          </a:prstGeom>
          <a:noFill/>
          <a:ln>
            <a:noFill/>
          </a:ln>
        </p:spPr>
      </p:pic>
      <p:pic>
        <p:nvPicPr>
          <p:cNvPr id="100" name="Google Shape;100;g328fee9b6ff_0_46"/>
          <p:cNvPicPr preferRelativeResize="0"/>
          <p:nvPr/>
        </p:nvPicPr>
        <p:blipFill>
          <a:blip r:embed="rId4">
            <a:alphaModFix/>
          </a:blip>
          <a:stretch>
            <a:fillRect/>
          </a:stretch>
        </p:blipFill>
        <p:spPr>
          <a:xfrm>
            <a:off x="14890550" y="5793800"/>
            <a:ext cx="7258050" cy="53244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g328fee9b6ff_0_38"/>
          <p:cNvSpPr txBox="1"/>
          <p:nvPr/>
        </p:nvSpPr>
        <p:spPr>
          <a:xfrm>
            <a:off x="1491350" y="2101875"/>
            <a:ext cx="19829400" cy="9329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600"/>
              <a:buFont typeface="Arial"/>
              <a:buNone/>
            </a:pPr>
            <a:r>
              <a:rPr b="1" i="1" lang="en-US" sz="4600"/>
              <a:t>Request - </a:t>
            </a:r>
            <a:r>
              <a:rPr b="1" i="1" lang="en-US" sz="4600"/>
              <a:t>Response</a:t>
            </a:r>
            <a:r>
              <a:rPr b="1" i="1" lang="en-US" sz="4600"/>
              <a:t> </a:t>
            </a:r>
            <a:endParaRPr b="1" i="1" sz="46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SzPts val="4500"/>
              <a:buChar char="●"/>
            </a:pPr>
            <a:r>
              <a:rPr lang="en-US" sz="4500"/>
              <a:t>Nên dùng:</a:t>
            </a:r>
            <a:endParaRPr sz="4500"/>
          </a:p>
          <a:p>
            <a:pPr indent="-514350" lvl="1" marL="914400" marR="0" rtl="0" algn="l">
              <a:lnSpc>
                <a:spcPct val="100000"/>
              </a:lnSpc>
              <a:spcBef>
                <a:spcPts val="0"/>
              </a:spcBef>
              <a:spcAft>
                <a:spcPts val="0"/>
              </a:spcAft>
              <a:buSzPts val="4500"/>
              <a:buChar char="○"/>
            </a:pPr>
            <a:r>
              <a:rPr lang="en-US" sz="4500"/>
              <a:t>Nếu bài toán yêu cầu phản hồi từ microservice nhận thì nên sử dụng Request - Response, ví dụ Oder service cần biết kết quả từ Inventory service để quyết định thanh toán hay hỉu giao dịch</a:t>
            </a:r>
            <a:endParaRPr sz="4500"/>
          </a:p>
          <a:p>
            <a:pPr indent="-514350" lvl="1" marL="914400" marR="0" rtl="0" algn="l">
              <a:lnSpc>
                <a:spcPct val="100000"/>
              </a:lnSpc>
              <a:spcBef>
                <a:spcPts val="0"/>
              </a:spcBef>
              <a:spcAft>
                <a:spcPts val="0"/>
              </a:spcAft>
              <a:buSzPts val="4500"/>
              <a:buChar char="○"/>
            </a:pPr>
            <a:r>
              <a:rPr lang="en-US" sz="4500"/>
              <a:t>Khi yêu cầu tính tuần tự của các hành động</a:t>
            </a:r>
            <a:endParaRPr sz="4500"/>
          </a:p>
          <a:p>
            <a:pPr indent="-457200" lvl="0" marL="457200" marR="0" rtl="0" algn="l">
              <a:lnSpc>
                <a:spcPct val="100000"/>
              </a:lnSpc>
              <a:spcBef>
                <a:spcPts val="0"/>
              </a:spcBef>
              <a:spcAft>
                <a:spcPts val="0"/>
              </a:spcAft>
              <a:buSzPts val="4500"/>
              <a:buChar char="●"/>
            </a:pPr>
            <a:r>
              <a:rPr lang="en-US" sz="4500"/>
              <a:t>Không nên dùng khi:</a:t>
            </a:r>
            <a:endParaRPr sz="4500"/>
          </a:p>
          <a:p>
            <a:pPr indent="-514350" lvl="1" marL="914400" marR="0" rtl="0" algn="l">
              <a:lnSpc>
                <a:spcPct val="100000"/>
              </a:lnSpc>
              <a:spcBef>
                <a:spcPts val="0"/>
              </a:spcBef>
              <a:spcAft>
                <a:spcPts val="0"/>
              </a:spcAft>
              <a:buSzPts val="4500"/>
              <a:buChar char="○"/>
            </a:pPr>
            <a:r>
              <a:rPr lang="en-US" sz="4500"/>
              <a:t>Khi microservice phụ thuộc nhiều và hạ tầng mạng, nếu hạ tầng mạng không ổn định, dễ timeout thì không nên dùng request - </a:t>
            </a:r>
            <a:r>
              <a:rPr lang="en-US" sz="4500"/>
              <a:t>response</a:t>
            </a:r>
            <a:endParaRPr sz="4500"/>
          </a:p>
          <a:p>
            <a:pPr indent="-514350" lvl="1" marL="914400" marR="0" rtl="0" algn="l">
              <a:lnSpc>
                <a:spcPct val="100000"/>
              </a:lnSpc>
              <a:spcBef>
                <a:spcPts val="0"/>
              </a:spcBef>
              <a:spcAft>
                <a:spcPts val="0"/>
              </a:spcAft>
              <a:buSzPts val="4500"/>
              <a:buChar char="○"/>
            </a:pPr>
            <a:r>
              <a:rPr lang="en-US" sz="4500"/>
              <a:t>Khi cần xử lý 1 khối lượng yêu cầu request lớn</a:t>
            </a:r>
            <a:endParaRPr sz="4500"/>
          </a:p>
          <a:p>
            <a:pPr indent="-514350" lvl="1" marL="914400" marR="0" rtl="0" algn="l">
              <a:lnSpc>
                <a:spcPct val="100000"/>
              </a:lnSpc>
              <a:spcBef>
                <a:spcPts val="0"/>
              </a:spcBef>
              <a:spcAft>
                <a:spcPts val="0"/>
              </a:spcAft>
              <a:buSzPts val="4500"/>
              <a:buChar char="○"/>
            </a:pPr>
            <a:r>
              <a:rPr lang="en-US" sz="4500"/>
              <a:t>Khi cần hệ thống chịu lỗi cao, vì request-response tạo nên sự phụ thuộc giữa các service</a:t>
            </a:r>
            <a:endParaRPr sz="4500"/>
          </a:p>
          <a:p>
            <a:pPr indent="0" lvl="0" marL="914400" marR="0" rtl="0" algn="l">
              <a:lnSpc>
                <a:spcPct val="100000"/>
              </a:lnSpc>
              <a:spcBef>
                <a:spcPts val="0"/>
              </a:spcBef>
              <a:spcAft>
                <a:spcPts val="0"/>
              </a:spcAft>
              <a:buNone/>
            </a:pPr>
            <a:r>
              <a:t/>
            </a:r>
            <a:endParaRPr sz="4500"/>
          </a:p>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4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p:txBody>
      </p:sp>
      <p:sp>
        <p:nvSpPr>
          <p:cNvPr id="106" name="Google Shape;106;g328fee9b6ff_0_38"/>
          <p:cNvSpPr txBox="1"/>
          <p:nvPr/>
        </p:nvSpPr>
        <p:spPr>
          <a:xfrm>
            <a:off x="1200150" y="571500"/>
            <a:ext cx="135813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Integration between Microservices</a:t>
            </a:r>
            <a:endParaRPr b="1" i="0" sz="6000" u="none" cap="none" strike="noStrike">
              <a:solidFill>
                <a:srgbClr val="4F81BD"/>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328fee9b6ff_0_53"/>
          <p:cNvSpPr txBox="1"/>
          <p:nvPr/>
        </p:nvSpPr>
        <p:spPr>
          <a:xfrm>
            <a:off x="1491350" y="2101875"/>
            <a:ext cx="13290000" cy="9329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600"/>
              <a:buFont typeface="Arial"/>
              <a:buNone/>
            </a:pPr>
            <a:r>
              <a:rPr b="1" i="1" lang="en-US" sz="4600"/>
              <a:t>Event - Driven</a:t>
            </a:r>
            <a:r>
              <a:rPr b="1" i="1" lang="en-US" sz="4600"/>
              <a:t> </a:t>
            </a:r>
            <a:endParaRPr b="1" i="1" sz="46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SzPts val="4500"/>
              <a:buChar char="●"/>
            </a:pPr>
            <a:r>
              <a:rPr lang="en-US" sz="4500"/>
              <a:t>1 microservice gửi ra 1 sự kiện (event), các microservice khác có thể hoặc không thể nhận được sự kiện này.</a:t>
            </a:r>
            <a:endParaRPr sz="4500"/>
          </a:p>
          <a:p>
            <a:pPr indent="-457200" lvl="0" marL="457200" marR="0" rtl="0" algn="l">
              <a:lnSpc>
                <a:spcPct val="100000"/>
              </a:lnSpc>
              <a:spcBef>
                <a:spcPts val="0"/>
              </a:spcBef>
              <a:spcAft>
                <a:spcPts val="0"/>
              </a:spcAft>
              <a:buSzPts val="4500"/>
              <a:buChar char="●"/>
            </a:pPr>
            <a:r>
              <a:rPr lang="en-US" sz="4500"/>
              <a:t>Ưu điểm</a:t>
            </a:r>
            <a:r>
              <a:rPr lang="en-US" sz="4500"/>
              <a:t>:</a:t>
            </a:r>
            <a:endParaRPr sz="4500"/>
          </a:p>
          <a:p>
            <a:pPr indent="-514350" lvl="1" marL="914400" marR="0" rtl="0" algn="l">
              <a:lnSpc>
                <a:spcPct val="100000"/>
              </a:lnSpc>
              <a:spcBef>
                <a:spcPts val="0"/>
              </a:spcBef>
              <a:spcAft>
                <a:spcPts val="0"/>
              </a:spcAft>
              <a:buSzPts val="4500"/>
              <a:buChar char="○"/>
            </a:pPr>
            <a:r>
              <a:rPr lang="en-US" sz="4500"/>
              <a:t>Giảm sự phụ thuộc vào các service khác</a:t>
            </a:r>
            <a:endParaRPr sz="4500"/>
          </a:p>
          <a:p>
            <a:pPr indent="-514350" lvl="1" marL="914400" marR="0" rtl="0" algn="l">
              <a:lnSpc>
                <a:spcPct val="100000"/>
              </a:lnSpc>
              <a:spcBef>
                <a:spcPts val="0"/>
              </a:spcBef>
              <a:spcAft>
                <a:spcPts val="0"/>
              </a:spcAft>
              <a:buSzPts val="4500"/>
              <a:buChar char="○"/>
            </a:pPr>
            <a:r>
              <a:rPr lang="en-US" sz="4500"/>
              <a:t>Chuyển trách nhiệm từ </a:t>
            </a:r>
            <a:r>
              <a:rPr lang="en-US" sz="4500"/>
              <a:t>microservice</a:t>
            </a:r>
            <a:r>
              <a:rPr lang="en-US" sz="4500"/>
              <a:t> ban đầu sang microservice tiếp nhận sự kiện</a:t>
            </a:r>
            <a:endParaRPr sz="4500"/>
          </a:p>
          <a:p>
            <a:pPr indent="-514350" lvl="1" marL="914400" marR="0" rtl="0" algn="l">
              <a:lnSpc>
                <a:spcPct val="100000"/>
              </a:lnSpc>
              <a:spcBef>
                <a:spcPts val="0"/>
              </a:spcBef>
              <a:spcAft>
                <a:spcPts val="0"/>
              </a:spcAft>
              <a:buSzPts val="4500"/>
              <a:buChar char="○"/>
            </a:pPr>
            <a:r>
              <a:rPr lang="en-US" sz="4500"/>
              <a:t>Mỗi microservice tự quyết định cách phản ứng với các sự kiện</a:t>
            </a:r>
            <a:endParaRPr sz="4500"/>
          </a:p>
          <a:p>
            <a:pPr indent="-457200" lvl="0" marL="457200" marR="0" rtl="0" algn="l">
              <a:lnSpc>
                <a:spcPct val="100000"/>
              </a:lnSpc>
              <a:spcBef>
                <a:spcPts val="0"/>
              </a:spcBef>
              <a:spcAft>
                <a:spcPts val="0"/>
              </a:spcAft>
              <a:buSzPts val="4500"/>
              <a:buChar char="●"/>
            </a:pPr>
            <a:r>
              <a:rPr lang="en-US" sz="4500"/>
              <a:t>Nhược điểm:</a:t>
            </a:r>
            <a:endParaRPr sz="4500"/>
          </a:p>
          <a:p>
            <a:pPr indent="-514350" lvl="1" marL="914400" marR="0" rtl="0" algn="l">
              <a:lnSpc>
                <a:spcPct val="100000"/>
              </a:lnSpc>
              <a:spcBef>
                <a:spcPts val="0"/>
              </a:spcBef>
              <a:spcAft>
                <a:spcPts val="0"/>
              </a:spcAft>
              <a:buSzPts val="4500"/>
              <a:buChar char="○"/>
            </a:pPr>
            <a:r>
              <a:rPr lang="en-US" sz="4500"/>
              <a:t>Khó khăn trong quản lý luồng sự kiện, không rõ đang ở bước nào</a:t>
            </a:r>
            <a:endParaRPr sz="4500"/>
          </a:p>
          <a:p>
            <a:pPr indent="-514350" lvl="1" marL="914400" marR="0" rtl="0" algn="l">
              <a:lnSpc>
                <a:spcPct val="100000"/>
              </a:lnSpc>
              <a:spcBef>
                <a:spcPts val="0"/>
              </a:spcBef>
              <a:spcAft>
                <a:spcPts val="0"/>
              </a:spcAft>
              <a:buSzPts val="4500"/>
              <a:buChar char="○"/>
            </a:pPr>
            <a:r>
              <a:rPr lang="en-US" sz="4500"/>
              <a:t>Độ trễ cao</a:t>
            </a:r>
            <a:endParaRPr sz="4500"/>
          </a:p>
          <a:p>
            <a:pPr indent="0" lvl="0" marL="914400" marR="0" rtl="0" algn="l">
              <a:lnSpc>
                <a:spcPct val="100000"/>
              </a:lnSpc>
              <a:spcBef>
                <a:spcPts val="0"/>
              </a:spcBef>
              <a:spcAft>
                <a:spcPts val="0"/>
              </a:spcAft>
              <a:buNone/>
            </a:pPr>
            <a:r>
              <a:t/>
            </a:r>
            <a:endParaRPr sz="4500"/>
          </a:p>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4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p:txBody>
      </p:sp>
      <p:sp>
        <p:nvSpPr>
          <p:cNvPr id="112" name="Google Shape;112;g328fee9b6ff_0_53"/>
          <p:cNvSpPr txBox="1"/>
          <p:nvPr/>
        </p:nvSpPr>
        <p:spPr>
          <a:xfrm>
            <a:off x="1200150" y="571500"/>
            <a:ext cx="135813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Integration between Microservices</a:t>
            </a:r>
            <a:endParaRPr b="1" i="0" sz="6000" u="none" cap="none" strike="noStrike">
              <a:solidFill>
                <a:srgbClr val="4F81BD"/>
              </a:solidFill>
              <a:latin typeface="Arial"/>
              <a:ea typeface="Arial"/>
              <a:cs typeface="Arial"/>
              <a:sym typeface="Arial"/>
            </a:endParaRPr>
          </a:p>
        </p:txBody>
      </p:sp>
      <p:pic>
        <p:nvPicPr>
          <p:cNvPr id="113" name="Google Shape;113;g328fee9b6ff_0_53"/>
          <p:cNvPicPr preferRelativeResize="0"/>
          <p:nvPr/>
        </p:nvPicPr>
        <p:blipFill>
          <a:blip r:embed="rId3">
            <a:alphaModFix/>
          </a:blip>
          <a:stretch>
            <a:fillRect/>
          </a:stretch>
        </p:blipFill>
        <p:spPr>
          <a:xfrm>
            <a:off x="14781350" y="2555275"/>
            <a:ext cx="9341900" cy="53746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g328fee9b6ff_0_60"/>
          <p:cNvSpPr txBox="1"/>
          <p:nvPr/>
        </p:nvSpPr>
        <p:spPr>
          <a:xfrm>
            <a:off x="1491350" y="2101875"/>
            <a:ext cx="20002800" cy="9329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600"/>
              <a:buFont typeface="Arial"/>
              <a:buNone/>
            </a:pPr>
            <a:r>
              <a:rPr b="1" i="1" lang="en-US" sz="4600"/>
              <a:t>Event - Driven </a:t>
            </a:r>
            <a:endParaRPr b="1" i="1" sz="46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SzPts val="4500"/>
              <a:buChar char="●"/>
            </a:pPr>
            <a:r>
              <a:rPr lang="en-US" sz="4500"/>
              <a:t>Nên dùng khi:</a:t>
            </a:r>
            <a:endParaRPr sz="4500"/>
          </a:p>
          <a:p>
            <a:pPr indent="-514350" lvl="1" marL="914400" marR="0" rtl="0" algn="l">
              <a:lnSpc>
                <a:spcPct val="100000"/>
              </a:lnSpc>
              <a:spcBef>
                <a:spcPts val="0"/>
              </a:spcBef>
              <a:spcAft>
                <a:spcPts val="0"/>
              </a:spcAft>
              <a:buSzPts val="4500"/>
              <a:buChar char="○"/>
            </a:pPr>
            <a:r>
              <a:rPr lang="en-US" sz="4500"/>
              <a:t>Khi 1 thông tin (sự kiện) cần phát tán đến nhiều microservice khác nhau</a:t>
            </a:r>
            <a:endParaRPr sz="4500"/>
          </a:p>
          <a:p>
            <a:pPr indent="-514350" lvl="1" marL="914400" marR="0" rtl="0" algn="l">
              <a:lnSpc>
                <a:spcPct val="100000"/>
              </a:lnSpc>
              <a:spcBef>
                <a:spcPts val="0"/>
              </a:spcBef>
              <a:spcAft>
                <a:spcPts val="0"/>
              </a:spcAft>
              <a:buSzPts val="4500"/>
              <a:buChar char="○"/>
            </a:pPr>
            <a:r>
              <a:rPr lang="en-US" sz="4500"/>
              <a:t>Khi muốn cho các microservice nhận sự kiện tự quyết định xử cách xử lý</a:t>
            </a:r>
            <a:endParaRPr sz="4500"/>
          </a:p>
          <a:p>
            <a:pPr indent="-514350" lvl="1" marL="914400" marR="0" rtl="0" algn="l">
              <a:lnSpc>
                <a:spcPct val="100000"/>
              </a:lnSpc>
              <a:spcBef>
                <a:spcPts val="0"/>
              </a:spcBef>
              <a:spcAft>
                <a:spcPts val="0"/>
              </a:spcAft>
              <a:buSzPts val="4500"/>
              <a:buChar char="○"/>
            </a:pPr>
            <a:r>
              <a:rPr lang="en-US" sz="4500"/>
              <a:t>Đặt mục tiêu giảm sự phụ thuộc giữa các microservice</a:t>
            </a:r>
            <a:endParaRPr sz="4500"/>
          </a:p>
          <a:p>
            <a:pPr indent="-514350" lvl="1" marL="914400" marR="0" rtl="0" algn="l">
              <a:lnSpc>
                <a:spcPct val="100000"/>
              </a:lnSpc>
              <a:spcBef>
                <a:spcPts val="0"/>
              </a:spcBef>
              <a:spcAft>
                <a:spcPts val="0"/>
              </a:spcAft>
              <a:buSzPts val="4500"/>
              <a:buChar char="○"/>
            </a:pPr>
            <a:r>
              <a:rPr lang="en-US" sz="4500"/>
              <a:t>Hệ thống cần tính linh hoạt và mở rộng cao</a:t>
            </a:r>
            <a:endParaRPr sz="4500"/>
          </a:p>
          <a:p>
            <a:pPr indent="-457200" lvl="0" marL="457200" marR="0" rtl="0" algn="l">
              <a:lnSpc>
                <a:spcPct val="100000"/>
              </a:lnSpc>
              <a:spcBef>
                <a:spcPts val="0"/>
              </a:spcBef>
              <a:spcAft>
                <a:spcPts val="0"/>
              </a:spcAft>
              <a:buSzPts val="4500"/>
              <a:buChar char="●"/>
            </a:pPr>
            <a:r>
              <a:rPr lang="en-US" sz="4500"/>
              <a:t>Không nên dùng khi:</a:t>
            </a:r>
            <a:endParaRPr sz="4500"/>
          </a:p>
          <a:p>
            <a:pPr indent="-514350" lvl="1" marL="914400" marR="0" rtl="0" algn="l">
              <a:lnSpc>
                <a:spcPct val="100000"/>
              </a:lnSpc>
              <a:spcBef>
                <a:spcPts val="0"/>
              </a:spcBef>
              <a:spcAft>
                <a:spcPts val="0"/>
              </a:spcAft>
              <a:buSzPts val="4500"/>
              <a:buChar char="○"/>
            </a:pPr>
            <a:r>
              <a:rPr lang="en-US" sz="4500"/>
              <a:t>Các yêu cầu cần nhận kết quả ngay lập tức</a:t>
            </a:r>
            <a:endParaRPr sz="4500"/>
          </a:p>
          <a:p>
            <a:pPr indent="-514350" lvl="1" marL="914400" marR="0" rtl="0" algn="l">
              <a:lnSpc>
                <a:spcPct val="100000"/>
              </a:lnSpc>
              <a:spcBef>
                <a:spcPts val="0"/>
              </a:spcBef>
              <a:spcAft>
                <a:spcPts val="0"/>
              </a:spcAft>
              <a:buSzPts val="4500"/>
              <a:buChar char="○"/>
            </a:pPr>
            <a:r>
              <a:rPr lang="en-US" sz="4500"/>
              <a:t>Khi chưa có các thành phần hỗ trợ hạ tầng xử lý event như Kafka, Rabbit MQ, …</a:t>
            </a:r>
            <a:endParaRPr sz="4500"/>
          </a:p>
          <a:p>
            <a:pPr indent="-514350" lvl="1" marL="914400" marR="0" rtl="0" algn="l">
              <a:lnSpc>
                <a:spcPct val="100000"/>
              </a:lnSpc>
              <a:spcBef>
                <a:spcPts val="0"/>
              </a:spcBef>
              <a:spcAft>
                <a:spcPts val="0"/>
              </a:spcAft>
              <a:buSzPts val="4500"/>
              <a:buChar char="○"/>
            </a:pPr>
            <a:r>
              <a:rPr lang="en-US" sz="4500"/>
              <a:t>Khi cần kiểm soát luồng, thứ tự giao tiếp 1 cách chặt chẽ</a:t>
            </a:r>
            <a:endParaRPr sz="4500"/>
          </a:p>
          <a:p>
            <a:pPr indent="-514350" lvl="1" marL="914400" marR="0" rtl="0" algn="l">
              <a:lnSpc>
                <a:spcPct val="100000"/>
              </a:lnSpc>
              <a:spcBef>
                <a:spcPts val="0"/>
              </a:spcBef>
              <a:spcAft>
                <a:spcPts val="0"/>
              </a:spcAft>
              <a:buSzPts val="4500"/>
              <a:buChar char="○"/>
            </a:pPr>
            <a:r>
              <a:rPr lang="en-US" sz="4500"/>
              <a:t>Khi hệ thống nhỏ</a:t>
            </a:r>
            <a:endParaRPr sz="4500"/>
          </a:p>
          <a:p>
            <a:pPr indent="0" lvl="0" marL="914400" marR="0" rtl="0" algn="l">
              <a:lnSpc>
                <a:spcPct val="100000"/>
              </a:lnSpc>
              <a:spcBef>
                <a:spcPts val="0"/>
              </a:spcBef>
              <a:spcAft>
                <a:spcPts val="0"/>
              </a:spcAft>
              <a:buNone/>
            </a:pPr>
            <a:r>
              <a:t/>
            </a:r>
            <a:endParaRPr sz="4500"/>
          </a:p>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4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p:txBody>
      </p:sp>
      <p:sp>
        <p:nvSpPr>
          <p:cNvPr id="119" name="Google Shape;119;g328fee9b6ff_0_60"/>
          <p:cNvSpPr txBox="1"/>
          <p:nvPr/>
        </p:nvSpPr>
        <p:spPr>
          <a:xfrm>
            <a:off x="1200150" y="571500"/>
            <a:ext cx="135813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Integration between Microservices</a:t>
            </a:r>
            <a:endParaRPr b="1" i="0" sz="6000" u="none" cap="none" strike="noStrike">
              <a:solidFill>
                <a:srgbClr val="4F81BD"/>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328fee9b6ff_0_66"/>
          <p:cNvSpPr txBox="1"/>
          <p:nvPr/>
        </p:nvSpPr>
        <p:spPr>
          <a:xfrm>
            <a:off x="1491350" y="2101875"/>
            <a:ext cx="10700700" cy="9329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600"/>
              <a:buFont typeface="Arial"/>
              <a:buNone/>
            </a:pPr>
            <a:r>
              <a:rPr b="1" i="1" lang="en-US" sz="4600"/>
              <a:t>Có mục tiêu rõ ràng:</a:t>
            </a:r>
            <a:r>
              <a:rPr b="1" i="1" lang="en-US" sz="4600"/>
              <a:t> </a:t>
            </a:r>
            <a:endParaRPr b="1" i="1" sz="46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SzPts val="4500"/>
              <a:buChar char="●"/>
            </a:pPr>
            <a:r>
              <a:rPr lang="en-US" sz="4500"/>
              <a:t>Cần xác định rõ vấn đề hiện tại của ứng dụng Monolith và xem liệu microservice có phải là giải pháp phù hợp hay không</a:t>
            </a:r>
            <a:r>
              <a:rPr lang="en-US" sz="4500"/>
              <a:t>:</a:t>
            </a:r>
            <a:endParaRPr sz="4500"/>
          </a:p>
          <a:p>
            <a:pPr indent="-514350" lvl="1" marL="914400" marR="0" rtl="0" algn="l">
              <a:lnSpc>
                <a:spcPct val="100000"/>
              </a:lnSpc>
              <a:spcBef>
                <a:spcPts val="0"/>
              </a:spcBef>
              <a:spcAft>
                <a:spcPts val="0"/>
              </a:spcAft>
              <a:buSzPts val="4500"/>
              <a:buChar char="○"/>
            </a:pPr>
            <a:r>
              <a:rPr lang="en-US" sz="4500"/>
              <a:t>Ví dụ: nếu vấn đề performance và scale hệ thống, nếu chỉ đơn giản cần 1 vài copy của ứng dụng monolith chạy sau LB giải quyết được =&gt; Có cần </a:t>
            </a:r>
            <a:r>
              <a:rPr lang="en-US" sz="4500"/>
              <a:t>microservice</a:t>
            </a:r>
            <a:r>
              <a:rPr lang="en-US" sz="4500"/>
              <a:t> hay không?</a:t>
            </a:r>
            <a:endParaRPr sz="4500"/>
          </a:p>
          <a:p>
            <a:pPr indent="-514350" lvl="0" marL="457200" marR="0" rtl="0" algn="l">
              <a:lnSpc>
                <a:spcPct val="100000"/>
              </a:lnSpc>
              <a:spcBef>
                <a:spcPts val="0"/>
              </a:spcBef>
              <a:spcAft>
                <a:spcPts val="0"/>
              </a:spcAft>
              <a:buSzPts val="4500"/>
              <a:buChar char="●"/>
            </a:pPr>
            <a:r>
              <a:rPr lang="en-US" sz="4500"/>
              <a:t>Bản thân Monolith không phải là vấn đề</a:t>
            </a:r>
            <a:endParaRPr sz="4500"/>
          </a:p>
          <a:p>
            <a:pPr indent="-514350" lvl="0" marL="457200" marR="0" rtl="0" algn="l">
              <a:lnSpc>
                <a:spcPct val="100000"/>
              </a:lnSpc>
              <a:spcBef>
                <a:spcPts val="0"/>
              </a:spcBef>
              <a:spcAft>
                <a:spcPts val="0"/>
              </a:spcAft>
              <a:buSzPts val="4500"/>
              <a:buChar char="●"/>
            </a:pPr>
            <a:r>
              <a:rPr lang="en-US" sz="4500"/>
              <a:t>Không phải lúc nào microservice cũng là giải pháp tối ưu nhất </a:t>
            </a:r>
            <a:endParaRPr sz="4500"/>
          </a:p>
          <a:p>
            <a:pPr indent="0" lvl="0" marL="914400" marR="0" rtl="0" algn="l">
              <a:lnSpc>
                <a:spcPct val="100000"/>
              </a:lnSpc>
              <a:spcBef>
                <a:spcPts val="0"/>
              </a:spcBef>
              <a:spcAft>
                <a:spcPts val="0"/>
              </a:spcAft>
              <a:buNone/>
            </a:pPr>
            <a:r>
              <a:t/>
            </a:r>
            <a:endParaRPr sz="4500"/>
          </a:p>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4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p:txBody>
      </p:sp>
      <p:sp>
        <p:nvSpPr>
          <p:cNvPr id="125" name="Google Shape;125;g328fee9b6ff_0_66"/>
          <p:cNvSpPr txBox="1"/>
          <p:nvPr/>
        </p:nvSpPr>
        <p:spPr>
          <a:xfrm>
            <a:off x="1200150" y="571500"/>
            <a:ext cx="135813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Splitting the Monolith</a:t>
            </a:r>
            <a:endParaRPr b="1" i="0" sz="6000" u="none" cap="none" strike="noStrike">
              <a:solidFill>
                <a:srgbClr val="4F81BD"/>
              </a:solidFill>
              <a:latin typeface="Arial"/>
              <a:ea typeface="Arial"/>
              <a:cs typeface="Arial"/>
              <a:sym typeface="Arial"/>
            </a:endParaRPr>
          </a:p>
        </p:txBody>
      </p:sp>
      <p:pic>
        <p:nvPicPr>
          <p:cNvPr id="126" name="Google Shape;126;g328fee9b6ff_0_66"/>
          <p:cNvPicPr preferRelativeResize="0"/>
          <p:nvPr/>
        </p:nvPicPr>
        <p:blipFill>
          <a:blip r:embed="rId3">
            <a:alphaModFix/>
          </a:blip>
          <a:stretch>
            <a:fillRect/>
          </a:stretch>
        </p:blipFill>
        <p:spPr>
          <a:xfrm>
            <a:off x="12664775" y="1954450"/>
            <a:ext cx="10700700" cy="611318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2e8d105255_1_0"/>
          <p:cNvSpPr txBox="1"/>
          <p:nvPr/>
        </p:nvSpPr>
        <p:spPr>
          <a:xfrm>
            <a:off x="1491350" y="2101875"/>
            <a:ext cx="10700700" cy="9329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600"/>
              <a:buFont typeface="Arial"/>
              <a:buNone/>
            </a:pPr>
            <a:r>
              <a:rPr b="1" i="1" lang="en-US" sz="4600"/>
              <a:t>Chuyển đổi dần dần</a:t>
            </a:r>
            <a:r>
              <a:rPr b="1" i="1" lang="en-US" sz="4600"/>
              <a:t>: </a:t>
            </a:r>
            <a:endParaRPr b="1" i="1" sz="46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SzPts val="4500"/>
              <a:buChar char="●"/>
            </a:pPr>
            <a:r>
              <a:rPr lang="en-US" sz="4500"/>
              <a:t>Không nên chuyển đổi 1 lúc từ ứng dụng Monolith sang toàn bộ Microservice:</a:t>
            </a:r>
            <a:endParaRPr sz="4500"/>
          </a:p>
          <a:p>
            <a:pPr indent="-514350" lvl="1" marL="914400" marR="0" rtl="0" algn="l">
              <a:lnSpc>
                <a:spcPct val="100000"/>
              </a:lnSpc>
              <a:spcBef>
                <a:spcPts val="0"/>
              </a:spcBef>
              <a:spcAft>
                <a:spcPts val="0"/>
              </a:spcAft>
              <a:buSzPts val="4500"/>
              <a:buChar char="○"/>
            </a:pPr>
            <a:r>
              <a:rPr lang="en-US" sz="4500"/>
              <a:t>Nếu là ứng dụng lớn, phức tạp</a:t>
            </a:r>
            <a:endParaRPr sz="4500"/>
          </a:p>
          <a:p>
            <a:pPr indent="-514350" lvl="1" marL="914400" marR="0" rtl="0" algn="l">
              <a:lnSpc>
                <a:spcPct val="100000"/>
              </a:lnSpc>
              <a:spcBef>
                <a:spcPts val="0"/>
              </a:spcBef>
              <a:spcAft>
                <a:spcPts val="0"/>
              </a:spcAft>
              <a:buSzPts val="4500"/>
              <a:buChar char="○"/>
            </a:pPr>
            <a:r>
              <a:rPr lang="en-US" sz="4500"/>
              <a:t>Hoặc mất nhiều thời gian để chuyển</a:t>
            </a:r>
            <a:endParaRPr sz="4500"/>
          </a:p>
          <a:p>
            <a:pPr indent="-514350" lvl="0" marL="457200" marR="0" rtl="0" algn="l">
              <a:lnSpc>
                <a:spcPct val="100000"/>
              </a:lnSpc>
              <a:spcBef>
                <a:spcPts val="0"/>
              </a:spcBef>
              <a:spcAft>
                <a:spcPts val="0"/>
              </a:spcAft>
              <a:buSzPts val="4500"/>
              <a:buChar char="●"/>
            </a:pPr>
            <a:r>
              <a:rPr lang="en-US" sz="4500"/>
              <a:t>Thay vì thế nên </a:t>
            </a:r>
            <a:r>
              <a:rPr lang="en-US" sz="4500"/>
              <a:t>tách</a:t>
            </a:r>
            <a:r>
              <a:rPr lang="en-US" sz="4500"/>
              <a:t> nhỏ các chức năng ra microservice và vẫn duy trì ứng dụng Monolith chạy song song</a:t>
            </a:r>
            <a:endParaRPr sz="4500"/>
          </a:p>
          <a:p>
            <a:pPr indent="0" lvl="0" marL="457200" marR="0" rtl="0" algn="l">
              <a:lnSpc>
                <a:spcPct val="100000"/>
              </a:lnSpc>
              <a:spcBef>
                <a:spcPts val="0"/>
              </a:spcBef>
              <a:spcAft>
                <a:spcPts val="0"/>
              </a:spcAft>
              <a:buNone/>
            </a:pPr>
            <a:r>
              <a:t/>
            </a:r>
            <a:endParaRPr sz="4500"/>
          </a:p>
          <a:p>
            <a:pPr indent="0" lvl="0" marL="914400" marR="0" rtl="0" algn="l">
              <a:lnSpc>
                <a:spcPct val="100000"/>
              </a:lnSpc>
              <a:spcBef>
                <a:spcPts val="0"/>
              </a:spcBef>
              <a:spcAft>
                <a:spcPts val="0"/>
              </a:spcAft>
              <a:buNone/>
            </a:pPr>
            <a:r>
              <a:t/>
            </a:r>
            <a:endParaRPr sz="4500"/>
          </a:p>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4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p:txBody>
      </p:sp>
      <p:sp>
        <p:nvSpPr>
          <p:cNvPr id="132" name="Google Shape;132;g32e8d105255_1_0"/>
          <p:cNvSpPr txBox="1"/>
          <p:nvPr/>
        </p:nvSpPr>
        <p:spPr>
          <a:xfrm>
            <a:off x="1200150" y="571500"/>
            <a:ext cx="135813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Splitting the Monolith</a:t>
            </a:r>
            <a:endParaRPr b="1" i="0" sz="6000" u="none" cap="none" strike="noStrike">
              <a:solidFill>
                <a:srgbClr val="4F81BD"/>
              </a:solidFill>
              <a:latin typeface="Arial"/>
              <a:ea typeface="Arial"/>
              <a:cs typeface="Arial"/>
              <a:sym typeface="Arial"/>
            </a:endParaRPr>
          </a:p>
        </p:txBody>
      </p:sp>
      <p:pic>
        <p:nvPicPr>
          <p:cNvPr id="133" name="Google Shape;133;g32e8d105255_1_0"/>
          <p:cNvPicPr preferRelativeResize="0"/>
          <p:nvPr/>
        </p:nvPicPr>
        <p:blipFill>
          <a:blip r:embed="rId3">
            <a:alphaModFix/>
          </a:blip>
          <a:stretch>
            <a:fillRect/>
          </a:stretch>
        </p:blipFill>
        <p:spPr>
          <a:xfrm>
            <a:off x="12573650" y="2226100"/>
            <a:ext cx="9753600" cy="7315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32e8d105255_1_7"/>
          <p:cNvSpPr txBox="1"/>
          <p:nvPr/>
        </p:nvSpPr>
        <p:spPr>
          <a:xfrm>
            <a:off x="1491350" y="2101875"/>
            <a:ext cx="20385600" cy="9329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600"/>
              <a:buFont typeface="Arial"/>
              <a:buNone/>
            </a:pPr>
            <a:r>
              <a:rPr b="1" i="1" lang="en-US" sz="4600"/>
              <a:t>Cách chọn chức năng để tách</a:t>
            </a:r>
            <a:r>
              <a:rPr b="1" i="1" lang="en-US" sz="4600"/>
              <a:t>: </a:t>
            </a:r>
            <a:endParaRPr b="1" i="1" sz="46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SzPts val="4500"/>
              <a:buChar char="●"/>
            </a:pPr>
            <a:r>
              <a:rPr lang="en-US" sz="4500"/>
              <a:t>Với những microservice đầu tiên:</a:t>
            </a:r>
            <a:endParaRPr sz="4500"/>
          </a:p>
          <a:p>
            <a:pPr indent="-514350" lvl="1" marL="914400" marR="0" rtl="0" algn="l">
              <a:lnSpc>
                <a:spcPct val="100000"/>
              </a:lnSpc>
              <a:spcBef>
                <a:spcPts val="0"/>
              </a:spcBef>
              <a:spcAft>
                <a:spcPts val="0"/>
              </a:spcAft>
              <a:buSzPts val="4500"/>
              <a:buChar char="○"/>
            </a:pPr>
            <a:r>
              <a:rPr lang="en-US" sz="4500"/>
              <a:t>Ưu tiên các microservice dễ, đơn giản, mất ít thời gian nhưng vẫn phù hợp với mục đích</a:t>
            </a:r>
            <a:endParaRPr sz="4500"/>
          </a:p>
          <a:p>
            <a:pPr indent="-514350" lvl="0" marL="457200" marR="0" rtl="0" algn="l">
              <a:lnSpc>
                <a:spcPct val="100000"/>
              </a:lnSpc>
              <a:spcBef>
                <a:spcPts val="0"/>
              </a:spcBef>
              <a:spcAft>
                <a:spcPts val="0"/>
              </a:spcAft>
              <a:buSzPts val="4500"/>
              <a:buChar char="●"/>
            </a:pPr>
            <a:r>
              <a:rPr lang="en-US" sz="4500"/>
              <a:t>Ví dụ:</a:t>
            </a:r>
            <a:endParaRPr sz="4500"/>
          </a:p>
          <a:p>
            <a:pPr indent="-514350" lvl="1" marL="914400" marR="0" rtl="0" algn="l">
              <a:lnSpc>
                <a:spcPct val="100000"/>
              </a:lnSpc>
              <a:spcBef>
                <a:spcPts val="0"/>
              </a:spcBef>
              <a:spcAft>
                <a:spcPts val="0"/>
              </a:spcAft>
              <a:buSzPts val="4500"/>
              <a:buChar char="○"/>
            </a:pPr>
            <a:r>
              <a:rPr lang="en-US" sz="4500"/>
              <a:t>Muốn scale để tăng performance: tìm tính năng nào đang là điểm nghẽn của hệ thống.</a:t>
            </a:r>
            <a:endParaRPr sz="4500"/>
          </a:p>
          <a:p>
            <a:pPr indent="-514350" lvl="1" marL="914400" marR="0" rtl="0" algn="l">
              <a:lnSpc>
                <a:spcPct val="100000"/>
              </a:lnSpc>
              <a:spcBef>
                <a:spcPts val="0"/>
              </a:spcBef>
              <a:spcAft>
                <a:spcPts val="0"/>
              </a:spcAft>
              <a:buSzPts val="4500"/>
              <a:buChar char="○"/>
            </a:pPr>
            <a:r>
              <a:rPr lang="en-US" sz="4500"/>
              <a:t>Muốn release ứng dụng nhanh hơn: tìm tắng năng nào mà thay đổi thường xuyên nhất của hệ thống</a:t>
            </a:r>
            <a:endParaRPr sz="4500"/>
          </a:p>
          <a:p>
            <a:pPr indent="0" lvl="0" marL="457200" marR="0" rtl="0" algn="l">
              <a:lnSpc>
                <a:spcPct val="100000"/>
              </a:lnSpc>
              <a:spcBef>
                <a:spcPts val="0"/>
              </a:spcBef>
              <a:spcAft>
                <a:spcPts val="0"/>
              </a:spcAft>
              <a:buNone/>
            </a:pPr>
            <a:r>
              <a:t/>
            </a:r>
            <a:endParaRPr sz="4500"/>
          </a:p>
          <a:p>
            <a:pPr indent="0" lvl="0" marL="914400" marR="0" rtl="0" algn="l">
              <a:lnSpc>
                <a:spcPct val="100000"/>
              </a:lnSpc>
              <a:spcBef>
                <a:spcPts val="0"/>
              </a:spcBef>
              <a:spcAft>
                <a:spcPts val="0"/>
              </a:spcAft>
              <a:buNone/>
            </a:pPr>
            <a:r>
              <a:t/>
            </a:r>
            <a:endParaRPr sz="4500"/>
          </a:p>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4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p:txBody>
      </p:sp>
      <p:sp>
        <p:nvSpPr>
          <p:cNvPr id="139" name="Google Shape;139;g32e8d105255_1_7"/>
          <p:cNvSpPr txBox="1"/>
          <p:nvPr/>
        </p:nvSpPr>
        <p:spPr>
          <a:xfrm>
            <a:off x="1200150" y="571500"/>
            <a:ext cx="135813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Splitting the Monolith</a:t>
            </a:r>
            <a:endParaRPr b="1" i="0" sz="6000" u="none" cap="none" strike="noStrike">
              <a:solidFill>
                <a:srgbClr val="4F81BD"/>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2e8d105255_1_13"/>
          <p:cNvSpPr txBox="1"/>
          <p:nvPr/>
        </p:nvSpPr>
        <p:spPr>
          <a:xfrm>
            <a:off x="1491350" y="2101875"/>
            <a:ext cx="10460100" cy="9329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600"/>
              <a:buFont typeface="Arial"/>
              <a:buNone/>
            </a:pPr>
            <a:r>
              <a:rPr b="1" i="1" lang="en-US" sz="4600"/>
              <a:t>Cách </a:t>
            </a:r>
            <a:r>
              <a:rPr b="1" i="1" lang="en-US" sz="4600"/>
              <a:t>tách microservice</a:t>
            </a:r>
            <a:r>
              <a:rPr b="1" i="1" lang="en-US" sz="4600"/>
              <a:t>: </a:t>
            </a:r>
            <a:endParaRPr b="1" i="1" sz="46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SzPts val="4500"/>
              <a:buChar char="●"/>
            </a:pPr>
            <a:r>
              <a:rPr lang="en-US" sz="4500"/>
              <a:t>Tách code trước, data tạm thời giữ nguyên:</a:t>
            </a:r>
            <a:endParaRPr sz="4500"/>
          </a:p>
          <a:p>
            <a:pPr indent="-514350" lvl="1" marL="914400" marR="0" rtl="0" algn="l">
              <a:lnSpc>
                <a:spcPct val="100000"/>
              </a:lnSpc>
              <a:spcBef>
                <a:spcPts val="0"/>
              </a:spcBef>
              <a:spcAft>
                <a:spcPts val="0"/>
              </a:spcAft>
              <a:buSzPts val="4500"/>
              <a:buChar char="○"/>
            </a:pPr>
            <a:r>
              <a:rPr lang="en-US" sz="4500"/>
              <a:t>Phổ biến, dễ thực hiện hơn</a:t>
            </a:r>
            <a:endParaRPr sz="4500"/>
          </a:p>
          <a:p>
            <a:pPr indent="-514350" lvl="1" marL="914400" marR="0" rtl="0" algn="l">
              <a:lnSpc>
                <a:spcPct val="100000"/>
              </a:lnSpc>
              <a:spcBef>
                <a:spcPts val="0"/>
              </a:spcBef>
              <a:spcAft>
                <a:spcPts val="0"/>
              </a:spcAft>
              <a:buSzPts val="4500"/>
              <a:buChar char="○"/>
            </a:pPr>
            <a:r>
              <a:rPr lang="en-US" sz="4500"/>
              <a:t>Phần tách dữ liệu khó hơn để sau</a:t>
            </a:r>
            <a:endParaRPr sz="4500"/>
          </a:p>
          <a:p>
            <a:pPr indent="-457200" lvl="0" marL="457200" marR="0" rtl="0" algn="l">
              <a:lnSpc>
                <a:spcPct val="100000"/>
              </a:lnSpc>
              <a:spcBef>
                <a:spcPts val="0"/>
              </a:spcBef>
              <a:spcAft>
                <a:spcPts val="0"/>
              </a:spcAft>
              <a:buSzPts val="4500"/>
              <a:buChar char="●"/>
            </a:pPr>
            <a:r>
              <a:rPr lang="en-US" sz="4500"/>
              <a:t>Cách data trước, code giữ nguyên:</a:t>
            </a:r>
            <a:endParaRPr sz="4500"/>
          </a:p>
          <a:p>
            <a:pPr indent="-514350" lvl="1" marL="914400" marR="0" rtl="0" algn="l">
              <a:lnSpc>
                <a:spcPct val="100000"/>
              </a:lnSpc>
              <a:spcBef>
                <a:spcPts val="0"/>
              </a:spcBef>
              <a:spcAft>
                <a:spcPts val="0"/>
              </a:spcAft>
              <a:buSzPts val="4500"/>
              <a:buChar char="○"/>
            </a:pPr>
            <a:r>
              <a:rPr lang="en-US" sz="4500"/>
              <a:t>Ít phổ biến, nhưng tách dữ liệu trước là cách kiểm tra xem có thực sự tách hoàn toàn được microservice không.</a:t>
            </a:r>
            <a:endParaRPr sz="4500"/>
          </a:p>
          <a:p>
            <a:pPr indent="-514350" lvl="1" marL="914400" marR="0" rtl="0" algn="l">
              <a:lnSpc>
                <a:spcPct val="100000"/>
              </a:lnSpc>
              <a:spcBef>
                <a:spcPts val="0"/>
              </a:spcBef>
              <a:spcAft>
                <a:spcPts val="0"/>
              </a:spcAft>
              <a:buSzPts val="4500"/>
              <a:buChar char="○"/>
            </a:pPr>
            <a:r>
              <a:rPr lang="en-US" sz="4500"/>
              <a:t>Nếu tách được data thì bước tách code về sau sẽ dễ dàng hơn nhiều</a:t>
            </a:r>
            <a:endParaRPr sz="4500"/>
          </a:p>
          <a:p>
            <a:pPr indent="0" lvl="0" marL="457200" marR="0" rtl="0" algn="l">
              <a:lnSpc>
                <a:spcPct val="100000"/>
              </a:lnSpc>
              <a:spcBef>
                <a:spcPts val="0"/>
              </a:spcBef>
              <a:spcAft>
                <a:spcPts val="0"/>
              </a:spcAft>
              <a:buNone/>
            </a:pPr>
            <a:r>
              <a:t/>
            </a:r>
            <a:endParaRPr sz="4500"/>
          </a:p>
          <a:p>
            <a:pPr indent="0" lvl="0" marL="914400" marR="0" rtl="0" algn="l">
              <a:lnSpc>
                <a:spcPct val="100000"/>
              </a:lnSpc>
              <a:spcBef>
                <a:spcPts val="0"/>
              </a:spcBef>
              <a:spcAft>
                <a:spcPts val="0"/>
              </a:spcAft>
              <a:buNone/>
            </a:pPr>
            <a:r>
              <a:t/>
            </a:r>
            <a:endParaRPr sz="4500"/>
          </a:p>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4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p:txBody>
      </p:sp>
      <p:sp>
        <p:nvSpPr>
          <p:cNvPr id="145" name="Google Shape;145;g32e8d105255_1_13"/>
          <p:cNvSpPr txBox="1"/>
          <p:nvPr/>
        </p:nvSpPr>
        <p:spPr>
          <a:xfrm>
            <a:off x="1200150" y="571500"/>
            <a:ext cx="135813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Splitting the Monolith</a:t>
            </a:r>
            <a:endParaRPr b="1" i="0" sz="6000" u="none" cap="none" strike="noStrike">
              <a:solidFill>
                <a:srgbClr val="4F81BD"/>
              </a:solidFill>
              <a:latin typeface="Arial"/>
              <a:ea typeface="Arial"/>
              <a:cs typeface="Arial"/>
              <a:sym typeface="Arial"/>
            </a:endParaRPr>
          </a:p>
        </p:txBody>
      </p:sp>
      <p:pic>
        <p:nvPicPr>
          <p:cNvPr id="146" name="Google Shape;146;g32e8d105255_1_13"/>
          <p:cNvPicPr preferRelativeResize="0"/>
          <p:nvPr/>
        </p:nvPicPr>
        <p:blipFill>
          <a:blip r:embed="rId3">
            <a:alphaModFix/>
          </a:blip>
          <a:stretch>
            <a:fillRect/>
          </a:stretch>
        </p:blipFill>
        <p:spPr>
          <a:xfrm>
            <a:off x="12314800" y="5103075"/>
            <a:ext cx="3351825" cy="4426600"/>
          </a:xfrm>
          <a:prstGeom prst="rect">
            <a:avLst/>
          </a:prstGeom>
          <a:noFill/>
          <a:ln>
            <a:noFill/>
          </a:ln>
        </p:spPr>
      </p:pic>
      <p:pic>
        <p:nvPicPr>
          <p:cNvPr id="147" name="Google Shape;147;g32e8d105255_1_13"/>
          <p:cNvPicPr preferRelativeResize="0"/>
          <p:nvPr/>
        </p:nvPicPr>
        <p:blipFill>
          <a:blip r:embed="rId4">
            <a:alphaModFix/>
          </a:blip>
          <a:stretch>
            <a:fillRect/>
          </a:stretch>
        </p:blipFill>
        <p:spPr>
          <a:xfrm>
            <a:off x="16671600" y="2101886"/>
            <a:ext cx="5205351" cy="3737150"/>
          </a:xfrm>
          <a:prstGeom prst="rect">
            <a:avLst/>
          </a:prstGeom>
          <a:noFill/>
          <a:ln>
            <a:noFill/>
          </a:ln>
        </p:spPr>
      </p:pic>
      <p:pic>
        <p:nvPicPr>
          <p:cNvPr id="148" name="Google Shape;148;g32e8d105255_1_13"/>
          <p:cNvPicPr preferRelativeResize="0"/>
          <p:nvPr/>
        </p:nvPicPr>
        <p:blipFill>
          <a:blip r:embed="rId5">
            <a:alphaModFix/>
          </a:blip>
          <a:stretch>
            <a:fillRect/>
          </a:stretch>
        </p:blipFill>
        <p:spPr>
          <a:xfrm>
            <a:off x="17112275" y="6647000"/>
            <a:ext cx="4764674" cy="41582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2e8d105255_1_21"/>
          <p:cNvSpPr txBox="1"/>
          <p:nvPr/>
        </p:nvSpPr>
        <p:spPr>
          <a:xfrm>
            <a:off x="1491350" y="2101875"/>
            <a:ext cx="20438400" cy="9329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600"/>
              <a:buFont typeface="Arial"/>
              <a:buNone/>
            </a:pPr>
            <a:r>
              <a:rPr b="1" i="1" lang="en-US" sz="4600"/>
              <a:t>T</a:t>
            </a:r>
            <a:r>
              <a:rPr b="1" i="1" lang="en-US" sz="4600"/>
              <a:t>ách </a:t>
            </a:r>
            <a:r>
              <a:rPr b="1" i="1" lang="en-US" sz="4600"/>
              <a:t>dữ liệu</a:t>
            </a:r>
            <a:r>
              <a:rPr b="1" i="1" lang="en-US" sz="4600"/>
              <a:t>: </a:t>
            </a:r>
            <a:endParaRPr b="1" i="1" sz="46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SzPts val="4500"/>
              <a:buChar char="●"/>
            </a:pPr>
            <a:r>
              <a:rPr lang="en-US" sz="4500"/>
              <a:t>Cần cân nhắc về performance:</a:t>
            </a:r>
            <a:endParaRPr sz="4500"/>
          </a:p>
          <a:p>
            <a:pPr indent="-514350" lvl="1" marL="914400" marR="0" rtl="0" algn="l">
              <a:lnSpc>
                <a:spcPct val="100000"/>
              </a:lnSpc>
              <a:spcBef>
                <a:spcPts val="0"/>
              </a:spcBef>
              <a:spcAft>
                <a:spcPts val="0"/>
              </a:spcAft>
              <a:buSzPts val="4500"/>
              <a:buChar char="○"/>
            </a:pPr>
            <a:r>
              <a:rPr lang="en-US" sz="4500"/>
              <a:t>Các hàm join sẽ chuyển từ lớp data (nhanh vì dùng CSDL quan hệ) lên lớp code (phải truy vấn microservice khác để lấy thông tin) -&gt; chậm hơn</a:t>
            </a:r>
            <a:endParaRPr sz="4500"/>
          </a:p>
          <a:p>
            <a:pPr indent="0" lvl="0" marL="457200" marR="0" rtl="0" algn="l">
              <a:lnSpc>
                <a:spcPct val="100000"/>
              </a:lnSpc>
              <a:spcBef>
                <a:spcPts val="0"/>
              </a:spcBef>
              <a:spcAft>
                <a:spcPts val="0"/>
              </a:spcAft>
              <a:buNone/>
            </a:pPr>
            <a:r>
              <a:t/>
            </a:r>
            <a:endParaRPr sz="4500"/>
          </a:p>
          <a:p>
            <a:pPr indent="0" lvl="0" marL="914400" marR="0" rtl="0" algn="l">
              <a:lnSpc>
                <a:spcPct val="100000"/>
              </a:lnSpc>
              <a:spcBef>
                <a:spcPts val="0"/>
              </a:spcBef>
              <a:spcAft>
                <a:spcPts val="0"/>
              </a:spcAft>
              <a:buNone/>
            </a:pPr>
            <a:r>
              <a:t/>
            </a:r>
            <a:endParaRPr sz="4500"/>
          </a:p>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4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p:txBody>
      </p:sp>
      <p:sp>
        <p:nvSpPr>
          <p:cNvPr id="154" name="Google Shape;154;g32e8d105255_1_21"/>
          <p:cNvSpPr txBox="1"/>
          <p:nvPr/>
        </p:nvSpPr>
        <p:spPr>
          <a:xfrm>
            <a:off x="1200150" y="571500"/>
            <a:ext cx="135813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Splitting the Monolith</a:t>
            </a:r>
            <a:endParaRPr b="1" i="0" sz="6000" u="none" cap="none" strike="noStrike">
              <a:solidFill>
                <a:srgbClr val="4F81BD"/>
              </a:solidFill>
              <a:latin typeface="Arial"/>
              <a:ea typeface="Arial"/>
              <a:cs typeface="Arial"/>
              <a:sym typeface="Arial"/>
            </a:endParaRPr>
          </a:p>
        </p:txBody>
      </p:sp>
      <p:pic>
        <p:nvPicPr>
          <p:cNvPr id="155" name="Google Shape;155;g32e8d105255_1_21"/>
          <p:cNvPicPr preferRelativeResize="0"/>
          <p:nvPr/>
        </p:nvPicPr>
        <p:blipFill>
          <a:blip r:embed="rId3">
            <a:alphaModFix/>
          </a:blip>
          <a:stretch>
            <a:fillRect/>
          </a:stretch>
        </p:blipFill>
        <p:spPr>
          <a:xfrm>
            <a:off x="3272875" y="6068500"/>
            <a:ext cx="6351300" cy="5362475"/>
          </a:xfrm>
          <a:prstGeom prst="rect">
            <a:avLst/>
          </a:prstGeom>
          <a:noFill/>
          <a:ln>
            <a:noFill/>
          </a:ln>
        </p:spPr>
      </p:pic>
      <p:pic>
        <p:nvPicPr>
          <p:cNvPr id="156" name="Google Shape;156;g32e8d105255_1_21"/>
          <p:cNvPicPr preferRelativeResize="0"/>
          <p:nvPr/>
        </p:nvPicPr>
        <p:blipFill>
          <a:blip r:embed="rId4">
            <a:alphaModFix/>
          </a:blip>
          <a:stretch>
            <a:fillRect/>
          </a:stretch>
        </p:blipFill>
        <p:spPr>
          <a:xfrm>
            <a:off x="12017275" y="6068500"/>
            <a:ext cx="7194476" cy="48020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32e8d105255_1_31"/>
          <p:cNvSpPr txBox="1"/>
          <p:nvPr/>
        </p:nvSpPr>
        <p:spPr>
          <a:xfrm>
            <a:off x="1491350" y="2101875"/>
            <a:ext cx="20438400" cy="9329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600"/>
              <a:buFont typeface="Arial"/>
              <a:buNone/>
            </a:pPr>
            <a:r>
              <a:rPr b="1" i="1" lang="en-US" sz="4600"/>
              <a:t>Tách dữ liệu: </a:t>
            </a:r>
            <a:endParaRPr b="1" i="1" sz="46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SzPts val="4500"/>
              <a:buChar char="●"/>
            </a:pPr>
            <a:r>
              <a:rPr lang="en-US" sz="4500"/>
              <a:t>Cần cân nhắc về </a:t>
            </a:r>
            <a:r>
              <a:rPr lang="en-US" sz="4500"/>
              <a:t>tính toàn vẹn</a:t>
            </a:r>
            <a:r>
              <a:rPr lang="en-US" sz="4500"/>
              <a:t>:</a:t>
            </a:r>
            <a:endParaRPr sz="4500"/>
          </a:p>
          <a:p>
            <a:pPr indent="-514350" lvl="1" marL="914400" marR="0" rtl="0" algn="l">
              <a:lnSpc>
                <a:spcPct val="100000"/>
              </a:lnSpc>
              <a:spcBef>
                <a:spcPts val="0"/>
              </a:spcBef>
              <a:spcAft>
                <a:spcPts val="0"/>
              </a:spcAft>
              <a:buSzPts val="4500"/>
              <a:buChar char="○"/>
            </a:pPr>
            <a:r>
              <a:rPr lang="en-US" sz="4500"/>
              <a:t>Monolith: Nếu có các foreign key =&gt; database sẽ không cho phép xóa dữ liệu nếu còn mối quan hệ</a:t>
            </a:r>
            <a:endParaRPr sz="4500"/>
          </a:p>
          <a:p>
            <a:pPr indent="-514350" lvl="1" marL="914400" marR="0" rtl="0" algn="l">
              <a:lnSpc>
                <a:spcPct val="100000"/>
              </a:lnSpc>
              <a:spcBef>
                <a:spcPts val="0"/>
              </a:spcBef>
              <a:spcAft>
                <a:spcPts val="0"/>
              </a:spcAft>
              <a:buSzPts val="4500"/>
              <a:buChar char="○"/>
            </a:pPr>
            <a:r>
              <a:rPr lang="en-US" sz="4500"/>
              <a:t>Microservice: Các database đã tách, không còn mối quan hệ foreign key =&gt; Thành phần nào sẽ đảm nhận việc đảm bảo toàn vẹn dữ liệu ???</a:t>
            </a:r>
            <a:endParaRPr sz="4500"/>
          </a:p>
          <a:p>
            <a:pPr indent="0" lvl="0" marL="457200" marR="0" rtl="0" algn="l">
              <a:lnSpc>
                <a:spcPct val="100000"/>
              </a:lnSpc>
              <a:spcBef>
                <a:spcPts val="0"/>
              </a:spcBef>
              <a:spcAft>
                <a:spcPts val="0"/>
              </a:spcAft>
              <a:buNone/>
            </a:pPr>
            <a:r>
              <a:t/>
            </a:r>
            <a:endParaRPr sz="4500"/>
          </a:p>
          <a:p>
            <a:pPr indent="0" lvl="0" marL="914400" marR="0" rtl="0" algn="l">
              <a:lnSpc>
                <a:spcPct val="100000"/>
              </a:lnSpc>
              <a:spcBef>
                <a:spcPts val="0"/>
              </a:spcBef>
              <a:spcAft>
                <a:spcPts val="0"/>
              </a:spcAft>
              <a:buNone/>
            </a:pPr>
            <a:r>
              <a:t/>
            </a:r>
            <a:endParaRPr sz="4500"/>
          </a:p>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4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p:txBody>
      </p:sp>
      <p:sp>
        <p:nvSpPr>
          <p:cNvPr id="162" name="Google Shape;162;g32e8d105255_1_31"/>
          <p:cNvSpPr txBox="1"/>
          <p:nvPr/>
        </p:nvSpPr>
        <p:spPr>
          <a:xfrm>
            <a:off x="1200150" y="571500"/>
            <a:ext cx="135813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Splitting the Monolith</a:t>
            </a:r>
            <a:endParaRPr b="1" i="0" sz="6000" u="none" cap="none" strike="noStrike">
              <a:solidFill>
                <a:srgbClr val="4F81BD"/>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32e8d105255_1_38"/>
          <p:cNvSpPr txBox="1"/>
          <p:nvPr/>
        </p:nvSpPr>
        <p:spPr>
          <a:xfrm>
            <a:off x="1491350" y="2101875"/>
            <a:ext cx="20438400" cy="9329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600"/>
              <a:buFont typeface="Arial"/>
              <a:buNone/>
            </a:pPr>
            <a:r>
              <a:rPr b="1" i="1" lang="en-US" sz="4600"/>
              <a:t>Tách dữ liệu: </a:t>
            </a:r>
            <a:endParaRPr b="1" i="1" sz="46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SzPts val="4500"/>
              <a:buChar char="●"/>
            </a:pPr>
            <a:r>
              <a:rPr lang="en-US" sz="4500"/>
              <a:t>Cần cân nhắc về </a:t>
            </a:r>
            <a:r>
              <a:rPr lang="en-US" sz="4500"/>
              <a:t>đảm bảo transaction (ACID)</a:t>
            </a:r>
            <a:r>
              <a:rPr lang="en-US" sz="4500"/>
              <a:t>:</a:t>
            </a:r>
            <a:endParaRPr sz="4500"/>
          </a:p>
          <a:p>
            <a:pPr indent="-514350" lvl="1" marL="914400" marR="0" rtl="0" algn="l">
              <a:lnSpc>
                <a:spcPct val="100000"/>
              </a:lnSpc>
              <a:spcBef>
                <a:spcPts val="0"/>
              </a:spcBef>
              <a:spcAft>
                <a:spcPts val="0"/>
              </a:spcAft>
              <a:buSzPts val="4500"/>
              <a:buChar char="○"/>
            </a:pPr>
            <a:r>
              <a:rPr lang="en-US" sz="4500"/>
              <a:t>Monolith: </a:t>
            </a:r>
            <a:r>
              <a:rPr lang="en-US" sz="4500"/>
              <a:t>Database sẽ đảm bảo transaction (toàn bộ query được thực hiện hoặc rollback cùng nhau)</a:t>
            </a:r>
            <a:endParaRPr sz="4500"/>
          </a:p>
          <a:p>
            <a:pPr indent="-514350" lvl="1" marL="914400" marR="0" rtl="0" algn="l">
              <a:lnSpc>
                <a:spcPct val="100000"/>
              </a:lnSpc>
              <a:spcBef>
                <a:spcPts val="0"/>
              </a:spcBef>
              <a:spcAft>
                <a:spcPts val="0"/>
              </a:spcAft>
              <a:buSzPts val="4500"/>
              <a:buChar char="○"/>
            </a:pPr>
            <a:r>
              <a:rPr lang="en-US" sz="4500"/>
              <a:t>Microservice: Các database đã tách, </a:t>
            </a:r>
            <a:r>
              <a:rPr lang="en-US" sz="4500"/>
              <a:t>thành phần nào sẽ đảm bảo transaction giữa các microservice???</a:t>
            </a:r>
            <a:endParaRPr sz="4500"/>
          </a:p>
          <a:p>
            <a:pPr indent="0" lvl="0" marL="457200" marR="0" rtl="0" algn="l">
              <a:lnSpc>
                <a:spcPct val="100000"/>
              </a:lnSpc>
              <a:spcBef>
                <a:spcPts val="0"/>
              </a:spcBef>
              <a:spcAft>
                <a:spcPts val="0"/>
              </a:spcAft>
              <a:buNone/>
            </a:pPr>
            <a:r>
              <a:t/>
            </a:r>
            <a:endParaRPr sz="4500"/>
          </a:p>
          <a:p>
            <a:pPr indent="0" lvl="0" marL="914400" marR="0" rtl="0" algn="l">
              <a:lnSpc>
                <a:spcPct val="100000"/>
              </a:lnSpc>
              <a:spcBef>
                <a:spcPts val="0"/>
              </a:spcBef>
              <a:spcAft>
                <a:spcPts val="0"/>
              </a:spcAft>
              <a:buNone/>
            </a:pPr>
            <a:r>
              <a:t/>
            </a:r>
            <a:endParaRPr sz="4500"/>
          </a:p>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4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p:txBody>
      </p:sp>
      <p:sp>
        <p:nvSpPr>
          <p:cNvPr id="168" name="Google Shape;168;g32e8d105255_1_38"/>
          <p:cNvSpPr txBox="1"/>
          <p:nvPr/>
        </p:nvSpPr>
        <p:spPr>
          <a:xfrm>
            <a:off x="1200150" y="571500"/>
            <a:ext cx="135813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Splitting the Monolith</a:t>
            </a:r>
            <a:endParaRPr b="1" i="0" sz="6000" u="none" cap="none" strike="noStrike">
              <a:solidFill>
                <a:srgbClr val="4F81BD"/>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2e8d105255_1_43"/>
          <p:cNvSpPr txBox="1"/>
          <p:nvPr/>
        </p:nvSpPr>
        <p:spPr>
          <a:xfrm>
            <a:off x="1491350" y="2101875"/>
            <a:ext cx="11623500" cy="9329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600"/>
              <a:buFont typeface="Arial"/>
              <a:buNone/>
            </a:pPr>
            <a:r>
              <a:rPr b="1" i="1" lang="en-US" sz="4600"/>
              <a:t>Chạy song song monolith và microservices</a:t>
            </a:r>
            <a:r>
              <a:rPr b="1" i="1" lang="en-US" sz="4600"/>
              <a:t>: </a:t>
            </a:r>
            <a:endParaRPr b="1" i="1" sz="46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SzPts val="4500"/>
              <a:buChar char="●"/>
            </a:pPr>
            <a:r>
              <a:rPr lang="en-US" sz="4500"/>
              <a:t>Nên sử dụng các thành phần trung gian (như HTTP proxy) để phân tách các truy vấn:</a:t>
            </a:r>
            <a:endParaRPr sz="4500"/>
          </a:p>
          <a:p>
            <a:pPr indent="-514350" lvl="1" marL="914400" marR="0" rtl="0" algn="l">
              <a:lnSpc>
                <a:spcPct val="100000"/>
              </a:lnSpc>
              <a:spcBef>
                <a:spcPts val="0"/>
              </a:spcBef>
              <a:spcAft>
                <a:spcPts val="0"/>
              </a:spcAft>
              <a:buSzPts val="4500"/>
              <a:buChar char="○"/>
            </a:pPr>
            <a:r>
              <a:rPr lang="en-US" sz="4500"/>
              <a:t>Truy vấn về chức năng đã tách thì route qua microservice</a:t>
            </a:r>
            <a:endParaRPr sz="4500"/>
          </a:p>
          <a:p>
            <a:pPr indent="-514350" lvl="1" marL="914400" marR="0" rtl="0" algn="l">
              <a:lnSpc>
                <a:spcPct val="100000"/>
              </a:lnSpc>
              <a:spcBef>
                <a:spcPts val="0"/>
              </a:spcBef>
              <a:spcAft>
                <a:spcPts val="0"/>
              </a:spcAft>
              <a:buSzPts val="4500"/>
              <a:buChar char="○"/>
            </a:pPr>
            <a:r>
              <a:rPr lang="en-US" sz="4500"/>
              <a:t>Truy vấn về chức năng khác thì route về monolith như bình thường</a:t>
            </a:r>
            <a:endParaRPr sz="4500"/>
          </a:p>
          <a:p>
            <a:pPr indent="0" lvl="0" marL="0" marR="0" rtl="0" algn="l">
              <a:lnSpc>
                <a:spcPct val="100000"/>
              </a:lnSpc>
              <a:spcBef>
                <a:spcPts val="0"/>
              </a:spcBef>
              <a:spcAft>
                <a:spcPts val="0"/>
              </a:spcAft>
              <a:buNone/>
            </a:pPr>
            <a:r>
              <a:t/>
            </a:r>
            <a:endParaRPr sz="4500"/>
          </a:p>
          <a:p>
            <a:pPr indent="0" lvl="0" marL="914400" marR="0" rtl="0" algn="l">
              <a:lnSpc>
                <a:spcPct val="100000"/>
              </a:lnSpc>
              <a:spcBef>
                <a:spcPts val="0"/>
              </a:spcBef>
              <a:spcAft>
                <a:spcPts val="0"/>
              </a:spcAft>
              <a:buNone/>
            </a:pPr>
            <a:r>
              <a:t/>
            </a:r>
            <a:endParaRPr sz="4500"/>
          </a:p>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4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Arial"/>
              <a:ea typeface="Arial"/>
              <a:cs typeface="Arial"/>
              <a:sym typeface="Arial"/>
            </a:endParaRPr>
          </a:p>
        </p:txBody>
      </p:sp>
      <p:sp>
        <p:nvSpPr>
          <p:cNvPr id="174" name="Google Shape;174;g32e8d105255_1_43"/>
          <p:cNvSpPr txBox="1"/>
          <p:nvPr/>
        </p:nvSpPr>
        <p:spPr>
          <a:xfrm>
            <a:off x="1200150" y="571500"/>
            <a:ext cx="135813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Splitting the Monolith</a:t>
            </a:r>
            <a:endParaRPr b="1" i="0" sz="6000" u="none" cap="none" strike="noStrike">
              <a:solidFill>
                <a:srgbClr val="4F81BD"/>
              </a:solidFill>
              <a:latin typeface="Arial"/>
              <a:ea typeface="Arial"/>
              <a:cs typeface="Arial"/>
              <a:sym typeface="Arial"/>
            </a:endParaRPr>
          </a:p>
        </p:txBody>
      </p:sp>
      <p:pic>
        <p:nvPicPr>
          <p:cNvPr id="175" name="Google Shape;175;g32e8d105255_1_43"/>
          <p:cNvPicPr preferRelativeResize="0"/>
          <p:nvPr/>
        </p:nvPicPr>
        <p:blipFill>
          <a:blip r:embed="rId3">
            <a:alphaModFix/>
          </a:blip>
          <a:stretch>
            <a:fillRect/>
          </a:stretch>
        </p:blipFill>
        <p:spPr>
          <a:xfrm>
            <a:off x="13639200" y="2944750"/>
            <a:ext cx="8054975" cy="54223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Nguyen Anh Quan (VTI.GA)</dc:creator>
</cp:coreProperties>
</file>