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Lst>
  <p:sldSz cy="13716000" cx="24384000"/>
  <p:notesSz cx="6797675" cy="9929800"/>
  <p:embeddedFontLst>
    <p:embeddedFont>
      <p:font typeface="Roboto Condensed"/>
      <p:regular r:id="rId46"/>
      <p:bold r:id="rId47"/>
      <p:italic r:id="rId48"/>
      <p:boldItalic r:id="rId49"/>
    </p:embeddedFont>
    <p:embeddedFont>
      <p:font typeface="Helvetica Neue"/>
      <p:regular r:id="rId50"/>
      <p:bold r:id="rId51"/>
      <p:italic r:id="rId52"/>
      <p:boldItalic r:id="rId53"/>
    </p:embeddedFont>
    <p:embeddedFont>
      <p:font typeface="Helvetica Neue Light"/>
      <p:regular r:id="rId54"/>
      <p:bold r:id="rId55"/>
      <p:italic r:id="rId56"/>
      <p:boldItalic r:id="rId5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4320">
          <p15:clr>
            <a:srgbClr val="A4A3A4"/>
          </p15:clr>
        </p15:guide>
        <p15:guide id="2" pos="7680">
          <p15:clr>
            <a:srgbClr val="A4A3A4"/>
          </p15:clr>
        </p15:guide>
      </p15:sldGuideLst>
    </p:ext>
    <p:ext uri="GoogleSlidesCustomDataVersion2">
      <go:slidesCustomData xmlns:go="http://customooxmlschemas.google.com/" r:id="rId58" roundtripDataSignature="AMtx7mj8FwvfM0pwbyR6yGtlfmbFF293l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4320" orient="horz"/>
        <p:guide pos="76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font" Target="fonts/RobotoCondensed-regular.fntdata"/><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RobotoCondensed-italic.fntdata"/><Relationship Id="rId47" Type="http://schemas.openxmlformats.org/officeDocument/2006/relationships/font" Target="fonts/RobotoCondensed-bold.fntdata"/><Relationship Id="rId49" Type="http://schemas.openxmlformats.org/officeDocument/2006/relationships/font" Target="fonts/RobotoCondensed-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HelveticaNeue-bold.fntdata"/><Relationship Id="rId50" Type="http://schemas.openxmlformats.org/officeDocument/2006/relationships/font" Target="fonts/HelveticaNeue-regular.fntdata"/><Relationship Id="rId53" Type="http://schemas.openxmlformats.org/officeDocument/2006/relationships/font" Target="fonts/HelveticaNeue-boldItalic.fntdata"/><Relationship Id="rId52" Type="http://schemas.openxmlformats.org/officeDocument/2006/relationships/font" Target="fonts/HelveticaNeue-italic.fntdata"/><Relationship Id="rId11" Type="http://schemas.openxmlformats.org/officeDocument/2006/relationships/slide" Target="slides/slide6.xml"/><Relationship Id="rId55" Type="http://schemas.openxmlformats.org/officeDocument/2006/relationships/font" Target="fonts/HelveticaNeueLight-bold.fntdata"/><Relationship Id="rId10" Type="http://schemas.openxmlformats.org/officeDocument/2006/relationships/slide" Target="slides/slide5.xml"/><Relationship Id="rId54" Type="http://schemas.openxmlformats.org/officeDocument/2006/relationships/font" Target="fonts/HelveticaNeueLight-regular.fntdata"/><Relationship Id="rId13" Type="http://schemas.openxmlformats.org/officeDocument/2006/relationships/slide" Target="slides/slide8.xml"/><Relationship Id="rId57" Type="http://schemas.openxmlformats.org/officeDocument/2006/relationships/font" Target="fonts/HelveticaNeueLight-boldItalic.fntdata"/><Relationship Id="rId12" Type="http://schemas.openxmlformats.org/officeDocument/2006/relationships/slide" Target="slides/slide7.xml"/><Relationship Id="rId56" Type="http://schemas.openxmlformats.org/officeDocument/2006/relationships/font" Target="fonts/HelveticaNeueLight-italic.fntdata"/><Relationship Id="rId15" Type="http://schemas.openxmlformats.org/officeDocument/2006/relationships/slide" Target="slides/slide10.xml"/><Relationship Id="rId14" Type="http://schemas.openxmlformats.org/officeDocument/2006/relationships/slide" Target="slides/slide9.xml"/><Relationship Id="rId58" Type="http://customschemas.google.com/relationships/presentationmetadata" Target="meta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4" name="Google Shape;4;n"/>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17999"/>
              </a:lnSpc>
              <a:spcBef>
                <a:spcPts val="0"/>
              </a:spcBef>
              <a:spcAft>
                <a:spcPts val="0"/>
              </a:spcAft>
              <a:buClr>
                <a:srgbClr val="000000"/>
              </a:buClr>
              <a:buSzPts val="1400"/>
              <a:buFont typeface="Arial"/>
              <a:buNone/>
              <a:defRPr b="0" i="0" sz="2200" u="none" cap="none" strike="noStrike">
                <a:solidFill>
                  <a:srgbClr val="000000"/>
                </a:solidFill>
                <a:latin typeface="Helvetica Neue"/>
                <a:ea typeface="Helvetica Neue"/>
                <a:cs typeface="Helvetica Neue"/>
                <a:sym typeface="Helvetica Neue"/>
              </a:defRPr>
            </a:lvl1pPr>
            <a:lvl2pPr indent="-228600" lvl="1" marL="914400" marR="0" rtl="0" algn="l">
              <a:lnSpc>
                <a:spcPct val="117999"/>
              </a:lnSpc>
              <a:spcBef>
                <a:spcPts val="0"/>
              </a:spcBef>
              <a:spcAft>
                <a:spcPts val="0"/>
              </a:spcAft>
              <a:buClr>
                <a:srgbClr val="000000"/>
              </a:buClr>
              <a:buSzPts val="1400"/>
              <a:buFont typeface="Arial"/>
              <a:buNone/>
              <a:defRPr b="0" i="0" sz="2200" u="none" cap="none" strike="noStrike">
                <a:solidFill>
                  <a:srgbClr val="000000"/>
                </a:solidFill>
                <a:latin typeface="Helvetica Neue"/>
                <a:ea typeface="Helvetica Neue"/>
                <a:cs typeface="Helvetica Neue"/>
                <a:sym typeface="Helvetica Neue"/>
              </a:defRPr>
            </a:lvl2pPr>
            <a:lvl3pPr indent="-228600" lvl="2" marL="1371600" marR="0" rtl="0" algn="l">
              <a:lnSpc>
                <a:spcPct val="117999"/>
              </a:lnSpc>
              <a:spcBef>
                <a:spcPts val="0"/>
              </a:spcBef>
              <a:spcAft>
                <a:spcPts val="0"/>
              </a:spcAft>
              <a:buClr>
                <a:srgbClr val="000000"/>
              </a:buClr>
              <a:buSzPts val="1400"/>
              <a:buFont typeface="Arial"/>
              <a:buNone/>
              <a:defRPr b="0" i="0" sz="2200" u="none" cap="none" strike="noStrike">
                <a:solidFill>
                  <a:srgbClr val="000000"/>
                </a:solidFill>
                <a:latin typeface="Helvetica Neue"/>
                <a:ea typeface="Helvetica Neue"/>
                <a:cs typeface="Helvetica Neue"/>
                <a:sym typeface="Helvetica Neue"/>
              </a:defRPr>
            </a:lvl3pPr>
            <a:lvl4pPr indent="-228600" lvl="3" marL="1828800" marR="0" rtl="0" algn="l">
              <a:lnSpc>
                <a:spcPct val="117999"/>
              </a:lnSpc>
              <a:spcBef>
                <a:spcPts val="0"/>
              </a:spcBef>
              <a:spcAft>
                <a:spcPts val="0"/>
              </a:spcAft>
              <a:buClr>
                <a:srgbClr val="000000"/>
              </a:buClr>
              <a:buSzPts val="1400"/>
              <a:buFont typeface="Arial"/>
              <a:buNone/>
              <a:defRPr b="0" i="0" sz="2200" u="none" cap="none" strike="noStrike">
                <a:solidFill>
                  <a:srgbClr val="000000"/>
                </a:solidFill>
                <a:latin typeface="Helvetica Neue"/>
                <a:ea typeface="Helvetica Neue"/>
                <a:cs typeface="Helvetica Neue"/>
                <a:sym typeface="Helvetica Neue"/>
              </a:defRPr>
            </a:lvl4pPr>
            <a:lvl5pPr indent="-228600" lvl="4" marL="2286000" marR="0" rtl="0" algn="l">
              <a:lnSpc>
                <a:spcPct val="117999"/>
              </a:lnSpc>
              <a:spcBef>
                <a:spcPts val="0"/>
              </a:spcBef>
              <a:spcAft>
                <a:spcPts val="0"/>
              </a:spcAft>
              <a:buClr>
                <a:srgbClr val="000000"/>
              </a:buClr>
              <a:buSzPts val="1400"/>
              <a:buFont typeface="Arial"/>
              <a:buNone/>
              <a:defRPr b="0" i="0" sz="2200" u="none" cap="none" strike="noStrike">
                <a:solidFill>
                  <a:srgbClr val="000000"/>
                </a:solidFill>
                <a:latin typeface="Helvetica Neue"/>
                <a:ea typeface="Helvetica Neue"/>
                <a:cs typeface="Helvetica Neue"/>
                <a:sym typeface="Helvetica Neue"/>
              </a:defRPr>
            </a:lvl5pPr>
            <a:lvl6pPr indent="-228600" lvl="5" marL="2743200" marR="0" rtl="0" algn="l">
              <a:lnSpc>
                <a:spcPct val="117999"/>
              </a:lnSpc>
              <a:spcBef>
                <a:spcPts val="0"/>
              </a:spcBef>
              <a:spcAft>
                <a:spcPts val="0"/>
              </a:spcAft>
              <a:buClr>
                <a:srgbClr val="000000"/>
              </a:buClr>
              <a:buSzPts val="1400"/>
              <a:buFont typeface="Arial"/>
              <a:buNone/>
              <a:defRPr b="0" i="0" sz="2200" u="none" cap="none" strike="noStrike">
                <a:solidFill>
                  <a:srgbClr val="000000"/>
                </a:solidFill>
                <a:latin typeface="Helvetica Neue"/>
                <a:ea typeface="Helvetica Neue"/>
                <a:cs typeface="Helvetica Neue"/>
                <a:sym typeface="Helvetica Neue"/>
              </a:defRPr>
            </a:lvl6pPr>
            <a:lvl7pPr indent="-228600" lvl="6" marL="3200400" marR="0" rtl="0" algn="l">
              <a:lnSpc>
                <a:spcPct val="117999"/>
              </a:lnSpc>
              <a:spcBef>
                <a:spcPts val="0"/>
              </a:spcBef>
              <a:spcAft>
                <a:spcPts val="0"/>
              </a:spcAft>
              <a:buClr>
                <a:srgbClr val="000000"/>
              </a:buClr>
              <a:buSzPts val="1400"/>
              <a:buFont typeface="Arial"/>
              <a:buNone/>
              <a:defRPr b="0" i="0" sz="2200" u="none" cap="none" strike="noStrike">
                <a:solidFill>
                  <a:srgbClr val="000000"/>
                </a:solidFill>
                <a:latin typeface="Helvetica Neue"/>
                <a:ea typeface="Helvetica Neue"/>
                <a:cs typeface="Helvetica Neue"/>
                <a:sym typeface="Helvetica Neue"/>
              </a:defRPr>
            </a:lvl7pPr>
            <a:lvl8pPr indent="-228600" lvl="7" marL="3657600" marR="0" rtl="0" algn="l">
              <a:lnSpc>
                <a:spcPct val="117999"/>
              </a:lnSpc>
              <a:spcBef>
                <a:spcPts val="0"/>
              </a:spcBef>
              <a:spcAft>
                <a:spcPts val="0"/>
              </a:spcAft>
              <a:buClr>
                <a:srgbClr val="000000"/>
              </a:buClr>
              <a:buSzPts val="1400"/>
              <a:buFont typeface="Arial"/>
              <a:buNone/>
              <a:defRPr b="0" i="0" sz="2200" u="none" cap="none" strike="noStrike">
                <a:solidFill>
                  <a:srgbClr val="000000"/>
                </a:solidFill>
                <a:latin typeface="Helvetica Neue"/>
                <a:ea typeface="Helvetica Neue"/>
                <a:cs typeface="Helvetica Neue"/>
                <a:sym typeface="Helvetica Neue"/>
              </a:defRPr>
            </a:lvl8pPr>
            <a:lvl9pPr indent="-228600" lvl="8" marL="4114800" marR="0" rtl="0" algn="l">
              <a:lnSpc>
                <a:spcPct val="117999"/>
              </a:lnSpc>
              <a:spcBef>
                <a:spcPts val="0"/>
              </a:spcBef>
              <a:spcAft>
                <a:spcPts val="0"/>
              </a:spcAft>
              <a:buClr>
                <a:srgbClr val="000000"/>
              </a:buClr>
              <a:buSzPts val="1400"/>
              <a:buFont typeface="Arial"/>
              <a:buNone/>
              <a:defRPr b="0" i="0" sz="2200" u="none" cap="none" strike="noStrike">
                <a:solidFill>
                  <a:srgbClr val="000000"/>
                </a:solidFill>
                <a:latin typeface="Helvetica Neue"/>
                <a:ea typeface="Helvetica Neue"/>
                <a:cs typeface="Helvetica Neue"/>
                <a:sym typeface="Helvetica Neue"/>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 name="Shape 31"/>
        <p:cNvGrpSpPr/>
        <p:nvPr/>
      </p:nvGrpSpPr>
      <p:grpSpPr>
        <a:xfrm>
          <a:off x="0" y="0"/>
          <a:ext cx="0" cy="0"/>
          <a:chOff x="0" y="0"/>
          <a:chExt cx="0" cy="0"/>
        </a:xfrm>
      </p:grpSpPr>
      <p:sp>
        <p:nvSpPr>
          <p:cNvPr id="32" name="Google Shape;32;p1: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 name="Google Shape;33;p1:notes"/>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 name="Shape 39"/>
        <p:cNvGrpSpPr/>
        <p:nvPr/>
      </p:nvGrpSpPr>
      <p:grpSpPr>
        <a:xfrm>
          <a:off x="0" y="0"/>
          <a:ext cx="0" cy="0"/>
          <a:chOff x="0" y="0"/>
          <a:chExt cx="0" cy="0"/>
        </a:xfrm>
      </p:grpSpPr>
      <p:sp>
        <p:nvSpPr>
          <p:cNvPr id="40" name="Google Shape;40;p2: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41" name="Google Shape;41;p2:notes"/>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 name="Shape 46"/>
        <p:cNvGrpSpPr/>
        <p:nvPr/>
      </p:nvGrpSpPr>
      <p:grpSpPr>
        <a:xfrm>
          <a:off x="0" y="0"/>
          <a:ext cx="0" cy="0"/>
          <a:chOff x="0" y="0"/>
          <a:chExt cx="0" cy="0"/>
        </a:xfrm>
      </p:grpSpPr>
      <p:sp>
        <p:nvSpPr>
          <p:cNvPr id="47" name="Google Shape;47;p18:notes"/>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48" name="Google Shape;48;p18: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 name="Shape 54"/>
        <p:cNvGrpSpPr/>
        <p:nvPr/>
      </p:nvGrpSpPr>
      <p:grpSpPr>
        <a:xfrm>
          <a:off x="0" y="0"/>
          <a:ext cx="0" cy="0"/>
          <a:chOff x="0" y="0"/>
          <a:chExt cx="0" cy="0"/>
        </a:xfrm>
      </p:grpSpPr>
      <p:sp>
        <p:nvSpPr>
          <p:cNvPr id="55" name="Google Shape;55;p19:notes"/>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56" name="Google Shape;56;p19: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p20:notes"/>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64" name="Google Shape;64;p20: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p21:notes"/>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72" name="Google Shape;72;p21: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p22:notes"/>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80" name="Google Shape;80;p22: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23:notes"/>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88" name="Google Shape;88;p23: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24:notes"/>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96" name="Google Shape;96;p24: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25:notes"/>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104" name="Google Shape;104;p25: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26:notes"/>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112" name="Google Shape;112;p26: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27:notes"/>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120" name="Google Shape;120;p27: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28:notes"/>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128" name="Google Shape;128;p28: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29:notes"/>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136" name="Google Shape;136;p29: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30:notes"/>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144" name="Google Shape;144;p30: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31:notes"/>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152" name="Google Shape;152;p31: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32:notes"/>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160" name="Google Shape;160;p32: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33:notes"/>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168" name="Google Shape;168;p33: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34:notes"/>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176" name="Google Shape;176;p34: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35:notes"/>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184" name="Google Shape;184;p35: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36:notes"/>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192" name="Google Shape;192;p36: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37:notes"/>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200" name="Google Shape;200;p37: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38:notes"/>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208" name="Google Shape;208;p38: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39:notes"/>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216" name="Google Shape;216;p39: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p40:notes"/>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224" name="Google Shape;224;p40: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p41:notes"/>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232" name="Google Shape;232;p41: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p42:notes"/>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240" name="Google Shape;240;p42: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p43:notes"/>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248" name="Google Shape;248;p43: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44:notes"/>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256" name="Google Shape;256;p44: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45:notes"/>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264" name="Google Shape;264;p45: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p46:notes"/>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272" name="Google Shape;272;p46: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p47:notes"/>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280" name="Google Shape;280;p47: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p48:notes"/>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288" name="Google Shape;288;p48: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49:notes"/>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296" name="Google Shape;296;p49: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p50:notes"/>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304" name="Google Shape;304;p50: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p51:notes"/>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312" name="Google Shape;312;p51: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p52:notes"/>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320" name="Google Shape;320;p52: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p53:notes"/>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328" name="Google Shape;328;p53: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p54:notes"/>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336" name="Google Shape;336;p54: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p55:notes"/>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344" name="Google Shape;344;p55: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Only">
  <p:cSld name="1_Title Only">
    <p:bg>
      <p:bgPr>
        <a:gradFill>
          <a:gsLst>
            <a:gs pos="0">
              <a:schemeClr val="lt1"/>
            </a:gs>
            <a:gs pos="17000">
              <a:schemeClr val="lt1"/>
            </a:gs>
            <a:gs pos="67000">
              <a:srgbClr val="F1FAFE"/>
            </a:gs>
            <a:gs pos="83000">
              <a:srgbClr val="FFEACC"/>
            </a:gs>
            <a:gs pos="100000">
              <a:srgbClr val="62C5FB"/>
            </a:gs>
          </a:gsLst>
          <a:path path="circle">
            <a:fillToRect b="100%" r="100%"/>
          </a:path>
          <a:tileRect l="-100%" t="-100%"/>
        </a:gradFill>
      </p:bgPr>
    </p:bg>
    <p:spTree>
      <p:nvGrpSpPr>
        <p:cNvPr id="9" name="Shape 9"/>
        <p:cNvGrpSpPr/>
        <p:nvPr/>
      </p:nvGrpSpPr>
      <p:grpSpPr>
        <a:xfrm>
          <a:off x="0" y="0"/>
          <a:ext cx="0" cy="0"/>
          <a:chOff x="0" y="0"/>
          <a:chExt cx="0" cy="0"/>
        </a:xfrm>
      </p:grpSpPr>
      <p:pic>
        <p:nvPicPr>
          <p:cNvPr id="10" name="Google Shape;10;p13"/>
          <p:cNvPicPr preferRelativeResize="0"/>
          <p:nvPr/>
        </p:nvPicPr>
        <p:blipFill rotWithShape="1">
          <a:blip r:embed="rId2">
            <a:alphaModFix/>
          </a:blip>
          <a:srcRect b="0" l="0" r="0" t="0"/>
          <a:stretch/>
        </p:blipFill>
        <p:spPr>
          <a:xfrm>
            <a:off x="21017131" y="859479"/>
            <a:ext cx="2950192" cy="1131834"/>
          </a:xfrm>
          <a:prstGeom prst="rect">
            <a:avLst/>
          </a:prstGeom>
          <a:noFill/>
          <a:ln>
            <a:noFill/>
          </a:ln>
        </p:spPr>
      </p:pic>
      <p:pic>
        <p:nvPicPr>
          <p:cNvPr id="11" name="Google Shape;11;p13"/>
          <p:cNvPicPr preferRelativeResize="0"/>
          <p:nvPr/>
        </p:nvPicPr>
        <p:blipFill rotWithShape="1">
          <a:blip r:embed="rId3">
            <a:alphaModFix/>
          </a:blip>
          <a:srcRect b="0" l="0" r="0" t="0"/>
          <a:stretch/>
        </p:blipFill>
        <p:spPr>
          <a:xfrm>
            <a:off x="0" y="0"/>
            <a:ext cx="24384000" cy="1371600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12" name="Shape 12"/>
        <p:cNvGrpSpPr/>
        <p:nvPr/>
      </p:nvGrpSpPr>
      <p:grpSpPr>
        <a:xfrm>
          <a:off x="0" y="0"/>
          <a:ext cx="0" cy="0"/>
          <a:chOff x="0" y="0"/>
          <a:chExt cx="0" cy="0"/>
        </a:xfrm>
      </p:grpSpPr>
      <p:pic>
        <p:nvPicPr>
          <p:cNvPr descr="A screenshot of a cell phone&#10;&#10;Description automatically generated" id="13" name="Google Shape;13;p14"/>
          <p:cNvPicPr preferRelativeResize="0"/>
          <p:nvPr/>
        </p:nvPicPr>
        <p:blipFill rotWithShape="1">
          <a:blip r:embed="rId2">
            <a:alphaModFix/>
          </a:blip>
          <a:srcRect b="0" l="0" r="0" t="0"/>
          <a:stretch/>
        </p:blipFill>
        <p:spPr>
          <a:xfrm>
            <a:off x="0" y="0"/>
            <a:ext cx="24384000" cy="13716000"/>
          </a:xfrm>
          <a:prstGeom prst="rect">
            <a:avLst/>
          </a:prstGeom>
          <a:noFill/>
          <a:ln>
            <a:noFill/>
          </a:ln>
        </p:spPr>
      </p:pic>
      <p:sp>
        <p:nvSpPr>
          <p:cNvPr id="14" name="Google Shape;14;p14"/>
          <p:cNvSpPr txBox="1"/>
          <p:nvPr>
            <p:ph type="title"/>
          </p:nvPr>
        </p:nvSpPr>
        <p:spPr>
          <a:xfrm>
            <a:off x="1845217" y="357188"/>
            <a:ext cx="15794390" cy="1710326"/>
          </a:xfrm>
          <a:prstGeom prst="rect">
            <a:avLst/>
          </a:prstGeom>
          <a:noFill/>
          <a:ln>
            <a:noFill/>
          </a:ln>
        </p:spPr>
        <p:txBody>
          <a:bodyPr anchorCtr="0" anchor="ctr" bIns="71425" lIns="71425" spcFirstLastPara="1" rIns="71425" wrap="square" tIns="71425">
            <a:normAutofit/>
          </a:bodyPr>
          <a:lstStyle>
            <a:lvl1pPr lvl="0" algn="l">
              <a:lnSpc>
                <a:spcPct val="100000"/>
              </a:lnSpc>
              <a:spcBef>
                <a:spcPts val="0"/>
              </a:spcBef>
              <a:spcAft>
                <a:spcPts val="0"/>
              </a:spcAft>
              <a:buClr>
                <a:srgbClr val="000000"/>
              </a:buClr>
              <a:buSzPts val="8200"/>
              <a:buFont typeface="Meiryo"/>
              <a:buNone/>
              <a:defRPr sz="8200">
                <a:latin typeface="Meiryo"/>
                <a:ea typeface="Meiryo"/>
                <a:cs typeface="Meiryo"/>
                <a:sym typeface="Meiryo"/>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p:txBody>
      </p:sp>
      <p:sp>
        <p:nvSpPr>
          <p:cNvPr id="15" name="Google Shape;15;p14"/>
          <p:cNvSpPr txBox="1"/>
          <p:nvPr>
            <p:ph idx="12" type="sldNum"/>
          </p:nvPr>
        </p:nvSpPr>
        <p:spPr>
          <a:xfrm>
            <a:off x="8820083" y="13156977"/>
            <a:ext cx="6743833" cy="482823"/>
          </a:xfrm>
          <a:prstGeom prst="rect">
            <a:avLst/>
          </a:prstGeom>
          <a:noFill/>
          <a:ln>
            <a:noFill/>
          </a:ln>
        </p:spPr>
        <p:txBody>
          <a:bodyPr anchorCtr="0" anchor="t" bIns="71425" lIns="71425" spcFirstLastPara="1" rIns="71425" wrap="square" tIns="71425">
            <a:spAutoFit/>
          </a:bodyPr>
          <a:lstStyle>
            <a:lvl1pPr indent="0" lvl="0" marL="0" marR="0" algn="ctr">
              <a:lnSpc>
                <a:spcPct val="100000"/>
              </a:lnSpc>
              <a:spcBef>
                <a:spcPts val="0"/>
              </a:spcBef>
              <a:spcAft>
                <a:spcPts val="0"/>
              </a:spcAft>
              <a:buClr>
                <a:schemeClr val="lt1"/>
              </a:buClr>
              <a:buSzPts val="2200"/>
              <a:buFont typeface="Meiryo"/>
              <a:buNone/>
              <a:defRPr b="0" i="0" sz="2200" u="none" cap="none" strike="noStrike">
                <a:solidFill>
                  <a:schemeClr val="lt1"/>
                </a:solidFill>
                <a:latin typeface="Meiryo"/>
                <a:ea typeface="Meiryo"/>
                <a:cs typeface="Meiryo"/>
                <a:sym typeface="Meiryo"/>
              </a:defRPr>
            </a:lvl1pPr>
            <a:lvl2pPr indent="0" lvl="1" marL="0" marR="0" algn="ctr">
              <a:lnSpc>
                <a:spcPct val="100000"/>
              </a:lnSpc>
              <a:spcBef>
                <a:spcPts val="0"/>
              </a:spcBef>
              <a:spcAft>
                <a:spcPts val="0"/>
              </a:spcAft>
              <a:buClr>
                <a:schemeClr val="lt1"/>
              </a:buClr>
              <a:buSzPts val="2200"/>
              <a:buFont typeface="Meiryo"/>
              <a:buNone/>
              <a:defRPr b="0" i="0" sz="2200" u="none" cap="none" strike="noStrike">
                <a:solidFill>
                  <a:schemeClr val="lt1"/>
                </a:solidFill>
                <a:latin typeface="Meiryo"/>
                <a:ea typeface="Meiryo"/>
                <a:cs typeface="Meiryo"/>
                <a:sym typeface="Meiryo"/>
              </a:defRPr>
            </a:lvl2pPr>
            <a:lvl3pPr indent="0" lvl="2" marL="0" marR="0" algn="ctr">
              <a:lnSpc>
                <a:spcPct val="100000"/>
              </a:lnSpc>
              <a:spcBef>
                <a:spcPts val="0"/>
              </a:spcBef>
              <a:spcAft>
                <a:spcPts val="0"/>
              </a:spcAft>
              <a:buClr>
                <a:schemeClr val="lt1"/>
              </a:buClr>
              <a:buSzPts val="2200"/>
              <a:buFont typeface="Meiryo"/>
              <a:buNone/>
              <a:defRPr b="0" i="0" sz="2200" u="none" cap="none" strike="noStrike">
                <a:solidFill>
                  <a:schemeClr val="lt1"/>
                </a:solidFill>
                <a:latin typeface="Meiryo"/>
                <a:ea typeface="Meiryo"/>
                <a:cs typeface="Meiryo"/>
                <a:sym typeface="Meiryo"/>
              </a:defRPr>
            </a:lvl3pPr>
            <a:lvl4pPr indent="0" lvl="3" marL="0" marR="0" algn="ctr">
              <a:lnSpc>
                <a:spcPct val="100000"/>
              </a:lnSpc>
              <a:spcBef>
                <a:spcPts val="0"/>
              </a:spcBef>
              <a:spcAft>
                <a:spcPts val="0"/>
              </a:spcAft>
              <a:buClr>
                <a:schemeClr val="lt1"/>
              </a:buClr>
              <a:buSzPts val="2200"/>
              <a:buFont typeface="Meiryo"/>
              <a:buNone/>
              <a:defRPr b="0" i="0" sz="2200" u="none" cap="none" strike="noStrike">
                <a:solidFill>
                  <a:schemeClr val="lt1"/>
                </a:solidFill>
                <a:latin typeface="Meiryo"/>
                <a:ea typeface="Meiryo"/>
                <a:cs typeface="Meiryo"/>
                <a:sym typeface="Meiryo"/>
              </a:defRPr>
            </a:lvl4pPr>
            <a:lvl5pPr indent="0" lvl="4" marL="0" marR="0" algn="ctr">
              <a:lnSpc>
                <a:spcPct val="100000"/>
              </a:lnSpc>
              <a:spcBef>
                <a:spcPts val="0"/>
              </a:spcBef>
              <a:spcAft>
                <a:spcPts val="0"/>
              </a:spcAft>
              <a:buClr>
                <a:schemeClr val="lt1"/>
              </a:buClr>
              <a:buSzPts val="2200"/>
              <a:buFont typeface="Meiryo"/>
              <a:buNone/>
              <a:defRPr b="0" i="0" sz="2200" u="none" cap="none" strike="noStrike">
                <a:solidFill>
                  <a:schemeClr val="lt1"/>
                </a:solidFill>
                <a:latin typeface="Meiryo"/>
                <a:ea typeface="Meiryo"/>
                <a:cs typeface="Meiryo"/>
                <a:sym typeface="Meiryo"/>
              </a:defRPr>
            </a:lvl5pPr>
            <a:lvl6pPr indent="0" lvl="5" marL="0" marR="0" algn="ctr">
              <a:lnSpc>
                <a:spcPct val="100000"/>
              </a:lnSpc>
              <a:spcBef>
                <a:spcPts val="0"/>
              </a:spcBef>
              <a:spcAft>
                <a:spcPts val="0"/>
              </a:spcAft>
              <a:buClr>
                <a:schemeClr val="lt1"/>
              </a:buClr>
              <a:buSzPts val="2200"/>
              <a:buFont typeface="Meiryo"/>
              <a:buNone/>
              <a:defRPr b="0" i="0" sz="2200" u="none" cap="none" strike="noStrike">
                <a:solidFill>
                  <a:schemeClr val="lt1"/>
                </a:solidFill>
                <a:latin typeface="Meiryo"/>
                <a:ea typeface="Meiryo"/>
                <a:cs typeface="Meiryo"/>
                <a:sym typeface="Meiryo"/>
              </a:defRPr>
            </a:lvl6pPr>
            <a:lvl7pPr indent="0" lvl="6" marL="0" marR="0" algn="ctr">
              <a:lnSpc>
                <a:spcPct val="100000"/>
              </a:lnSpc>
              <a:spcBef>
                <a:spcPts val="0"/>
              </a:spcBef>
              <a:spcAft>
                <a:spcPts val="0"/>
              </a:spcAft>
              <a:buClr>
                <a:schemeClr val="lt1"/>
              </a:buClr>
              <a:buSzPts val="2200"/>
              <a:buFont typeface="Meiryo"/>
              <a:buNone/>
              <a:defRPr b="0" i="0" sz="2200" u="none" cap="none" strike="noStrike">
                <a:solidFill>
                  <a:schemeClr val="lt1"/>
                </a:solidFill>
                <a:latin typeface="Meiryo"/>
                <a:ea typeface="Meiryo"/>
                <a:cs typeface="Meiryo"/>
                <a:sym typeface="Meiryo"/>
              </a:defRPr>
            </a:lvl7pPr>
            <a:lvl8pPr indent="0" lvl="7" marL="0" marR="0" algn="ctr">
              <a:lnSpc>
                <a:spcPct val="100000"/>
              </a:lnSpc>
              <a:spcBef>
                <a:spcPts val="0"/>
              </a:spcBef>
              <a:spcAft>
                <a:spcPts val="0"/>
              </a:spcAft>
              <a:buClr>
                <a:schemeClr val="lt1"/>
              </a:buClr>
              <a:buSzPts val="2200"/>
              <a:buFont typeface="Meiryo"/>
              <a:buNone/>
              <a:defRPr b="0" i="0" sz="2200" u="none" cap="none" strike="noStrike">
                <a:solidFill>
                  <a:schemeClr val="lt1"/>
                </a:solidFill>
                <a:latin typeface="Meiryo"/>
                <a:ea typeface="Meiryo"/>
                <a:cs typeface="Meiryo"/>
                <a:sym typeface="Meiryo"/>
              </a:defRPr>
            </a:lvl8pPr>
            <a:lvl9pPr indent="0" lvl="8" marL="0" marR="0" algn="ctr">
              <a:lnSpc>
                <a:spcPct val="100000"/>
              </a:lnSpc>
              <a:spcBef>
                <a:spcPts val="0"/>
              </a:spcBef>
              <a:spcAft>
                <a:spcPts val="0"/>
              </a:spcAft>
              <a:buClr>
                <a:schemeClr val="lt1"/>
              </a:buClr>
              <a:buSzPts val="2200"/>
              <a:buFont typeface="Meiryo"/>
              <a:buNone/>
              <a:defRPr b="0" i="0" sz="2200" u="none" cap="none" strike="noStrike">
                <a:solidFill>
                  <a:schemeClr val="lt1"/>
                </a:solidFill>
                <a:latin typeface="Meiryo"/>
                <a:ea typeface="Meiryo"/>
                <a:cs typeface="Meiryo"/>
                <a:sym typeface="Meiryo"/>
              </a:defRPr>
            </a:lvl9pPr>
          </a:lstStyle>
          <a:p>
            <a:pPr indent="0" lvl="0" marL="0" rtl="0" algn="ctr">
              <a:spcBef>
                <a:spcPts val="0"/>
              </a:spcBef>
              <a:spcAft>
                <a:spcPts val="0"/>
              </a:spcAft>
              <a:buNone/>
            </a:pPr>
            <a:r>
              <a:rPr lang="en-US"/>
              <a:t>Copyright </a:t>
            </a:r>
            <a:r>
              <a:rPr i="1" lang="en-US"/>
              <a:t>© </a:t>
            </a:r>
            <a:r>
              <a:rPr lang="en-US"/>
              <a:t>VTI Academy All Right Reserved </a:t>
            </a: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1_Title and Content">
    <p:spTree>
      <p:nvGrpSpPr>
        <p:cNvPr id="16" name="Shape 16"/>
        <p:cNvGrpSpPr/>
        <p:nvPr/>
      </p:nvGrpSpPr>
      <p:grpSpPr>
        <a:xfrm>
          <a:off x="0" y="0"/>
          <a:ext cx="0" cy="0"/>
          <a:chOff x="0" y="0"/>
          <a:chExt cx="0" cy="0"/>
        </a:xfrm>
      </p:grpSpPr>
      <p:cxnSp>
        <p:nvCxnSpPr>
          <p:cNvPr id="17" name="Google Shape;17;p15"/>
          <p:cNvCxnSpPr/>
          <p:nvPr/>
        </p:nvCxnSpPr>
        <p:spPr>
          <a:xfrm>
            <a:off x="482600" y="1412390"/>
            <a:ext cx="21521992" cy="0"/>
          </a:xfrm>
          <a:prstGeom prst="straightConnector1">
            <a:avLst/>
          </a:prstGeom>
          <a:noFill/>
          <a:ln cap="flat" cmpd="sng" w="19050">
            <a:solidFill>
              <a:srgbClr val="3C5A99"/>
            </a:solidFill>
            <a:prstDash val="solid"/>
            <a:miter lim="800000"/>
            <a:headEnd len="sm" w="sm" type="none"/>
            <a:tailEnd len="sm" w="sm" type="none"/>
          </a:ln>
        </p:spPr>
      </p:cxnSp>
      <p:sp>
        <p:nvSpPr>
          <p:cNvPr id="18" name="Google Shape;18;p15"/>
          <p:cNvSpPr/>
          <p:nvPr/>
        </p:nvSpPr>
        <p:spPr>
          <a:xfrm>
            <a:off x="0" y="12670972"/>
            <a:ext cx="24384001" cy="1045028"/>
          </a:xfrm>
          <a:prstGeom prst="rect">
            <a:avLst/>
          </a:prstGeom>
          <a:solidFill>
            <a:srgbClr val="3C5A99"/>
          </a:solidFill>
          <a:ln>
            <a:noFill/>
          </a:ln>
        </p:spPr>
        <p:txBody>
          <a:bodyPr anchorCtr="0" anchor="ctr" bIns="91400" lIns="182850" spcFirstLastPara="1" rIns="182850" wrap="square" tIns="91400">
            <a:noAutofit/>
          </a:bodyPr>
          <a:lstStyle/>
          <a:p>
            <a:pPr indent="0" lvl="0" marL="0" marR="0" rtl="0" algn="ctr">
              <a:lnSpc>
                <a:spcPct val="100000"/>
              </a:lnSpc>
              <a:spcBef>
                <a:spcPts val="0"/>
              </a:spcBef>
              <a:spcAft>
                <a:spcPts val="0"/>
              </a:spcAft>
              <a:buClr>
                <a:srgbClr val="000000"/>
              </a:buClr>
              <a:buSzPts val="3600"/>
              <a:buFont typeface="Helvetica Neue"/>
              <a:buNone/>
            </a:pPr>
            <a:r>
              <a:t/>
            </a:r>
            <a:endParaRPr b="1" i="0" sz="3600" u="none" cap="none" strike="noStrike">
              <a:solidFill>
                <a:schemeClr val="lt1"/>
              </a:solidFill>
              <a:latin typeface="Calibri"/>
              <a:ea typeface="Calibri"/>
              <a:cs typeface="Calibri"/>
              <a:sym typeface="Calibri"/>
            </a:endParaRPr>
          </a:p>
        </p:txBody>
      </p:sp>
      <p:sp>
        <p:nvSpPr>
          <p:cNvPr id="19" name="Google Shape;19;p15"/>
          <p:cNvSpPr/>
          <p:nvPr/>
        </p:nvSpPr>
        <p:spPr>
          <a:xfrm>
            <a:off x="6781639" y="12854932"/>
            <a:ext cx="10458958" cy="677108"/>
          </a:xfrm>
          <a:prstGeom prst="rect">
            <a:avLst/>
          </a:prstGeom>
          <a:noFill/>
          <a:ln>
            <a:noFill/>
          </a:ln>
        </p:spPr>
        <p:txBody>
          <a:bodyPr anchorCtr="0" anchor="t" bIns="91400" lIns="182850" spcFirstLastPara="1" rIns="182850" wrap="square" tIns="91400">
            <a:noAutofit/>
          </a:bodyPr>
          <a:lstStyle/>
          <a:p>
            <a:pPr indent="0" lvl="0" marL="0" marR="0" rtl="0" algn="ctr">
              <a:lnSpc>
                <a:spcPct val="100000"/>
              </a:lnSpc>
              <a:spcBef>
                <a:spcPts val="0"/>
              </a:spcBef>
              <a:spcAft>
                <a:spcPts val="0"/>
              </a:spcAft>
              <a:buClr>
                <a:schemeClr val="lt1"/>
              </a:buClr>
              <a:buSzPts val="3200"/>
              <a:buFont typeface="Helvetica Neue"/>
              <a:buNone/>
            </a:pPr>
            <a:r>
              <a:rPr b="1" i="0" lang="en-US" sz="3200" u="none" cap="none" strike="noStrike">
                <a:solidFill>
                  <a:schemeClr val="lt1"/>
                </a:solidFill>
                <a:latin typeface="Helvetica Neue"/>
                <a:ea typeface="Helvetica Neue"/>
                <a:cs typeface="Helvetica Neue"/>
                <a:sym typeface="Helvetica Neue"/>
              </a:rPr>
              <a:t>Copyright </a:t>
            </a:r>
            <a:r>
              <a:rPr b="1" i="1" lang="en-US" sz="3200" u="none" cap="none" strike="noStrike">
                <a:solidFill>
                  <a:schemeClr val="lt1"/>
                </a:solidFill>
                <a:latin typeface="Helvetica Neue"/>
                <a:ea typeface="Helvetica Neue"/>
                <a:cs typeface="Helvetica Neue"/>
                <a:sym typeface="Helvetica Neue"/>
              </a:rPr>
              <a:t>© </a:t>
            </a:r>
            <a:r>
              <a:rPr b="1" i="0" lang="en-US" sz="3200" u="none" cap="none" strike="noStrike">
                <a:solidFill>
                  <a:schemeClr val="lt1"/>
                </a:solidFill>
                <a:latin typeface="Helvetica Neue"/>
                <a:ea typeface="Helvetica Neue"/>
                <a:cs typeface="Helvetica Neue"/>
                <a:sym typeface="Helvetica Neue"/>
              </a:rPr>
              <a:t>VTI Academy All Right Reserved </a:t>
            </a:r>
            <a:endParaRPr b="1" i="0" sz="3200" u="none" cap="none" strike="noStrike">
              <a:solidFill>
                <a:schemeClr val="lt1"/>
              </a:solidFill>
              <a:latin typeface="Helvetica Neue"/>
              <a:ea typeface="Helvetica Neue"/>
              <a:cs typeface="Helvetica Neue"/>
              <a:sym typeface="Helvetica Neue"/>
            </a:endParaRPr>
          </a:p>
        </p:txBody>
      </p:sp>
      <p:cxnSp>
        <p:nvCxnSpPr>
          <p:cNvPr id="20" name="Google Shape;20;p15"/>
          <p:cNvCxnSpPr/>
          <p:nvPr/>
        </p:nvCxnSpPr>
        <p:spPr>
          <a:xfrm>
            <a:off x="14610736" y="1412390"/>
            <a:ext cx="7393856" cy="0"/>
          </a:xfrm>
          <a:prstGeom prst="straightConnector1">
            <a:avLst/>
          </a:prstGeom>
          <a:noFill/>
          <a:ln cap="flat" cmpd="sng" w="19050">
            <a:solidFill>
              <a:srgbClr val="FFC000"/>
            </a:solidFill>
            <a:prstDash val="solid"/>
            <a:miter lim="800000"/>
            <a:headEnd len="sm" w="sm" type="none"/>
            <a:tailEnd len="sm" w="sm" type="none"/>
          </a:ln>
        </p:spPr>
      </p:cxnSp>
      <p:cxnSp>
        <p:nvCxnSpPr>
          <p:cNvPr id="21" name="Google Shape;21;p15"/>
          <p:cNvCxnSpPr/>
          <p:nvPr/>
        </p:nvCxnSpPr>
        <p:spPr>
          <a:xfrm>
            <a:off x="0" y="12670972"/>
            <a:ext cx="24384001" cy="0"/>
          </a:xfrm>
          <a:prstGeom prst="straightConnector1">
            <a:avLst/>
          </a:prstGeom>
          <a:noFill/>
          <a:ln cap="flat" cmpd="sng" w="19050">
            <a:solidFill>
              <a:srgbClr val="FFC000"/>
            </a:solidFill>
            <a:prstDash val="solid"/>
            <a:miter lim="800000"/>
            <a:headEnd len="sm" w="sm" type="none"/>
            <a:tailEnd len="sm" w="sm" type="none"/>
          </a:ln>
        </p:spPr>
      </p:cxnSp>
      <p:pic>
        <p:nvPicPr>
          <p:cNvPr descr="A picture containing drawing&#10;&#10;Description automatically generated" id="22" name="Google Shape;22;p15"/>
          <p:cNvPicPr preferRelativeResize="0"/>
          <p:nvPr/>
        </p:nvPicPr>
        <p:blipFill rotWithShape="1">
          <a:blip r:embed="rId2">
            <a:alphaModFix/>
          </a:blip>
          <a:srcRect b="0" l="0" r="0" t="0"/>
          <a:stretch/>
        </p:blipFill>
        <p:spPr>
          <a:xfrm>
            <a:off x="19252277" y="-25180"/>
            <a:ext cx="5131724" cy="1437570"/>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bg>
      <p:bgPr>
        <a:gradFill>
          <a:gsLst>
            <a:gs pos="0">
              <a:schemeClr val="lt1"/>
            </a:gs>
            <a:gs pos="17000">
              <a:schemeClr val="lt1"/>
            </a:gs>
            <a:gs pos="67000">
              <a:srgbClr val="F1FAFE"/>
            </a:gs>
            <a:gs pos="83000">
              <a:srgbClr val="FFEACC"/>
            </a:gs>
            <a:gs pos="100000">
              <a:srgbClr val="62C5FB"/>
            </a:gs>
          </a:gsLst>
          <a:path path="circle">
            <a:fillToRect b="100%" r="100%"/>
          </a:path>
          <a:tileRect l="-100%" t="-100%"/>
        </a:gradFill>
      </p:bgPr>
    </p:bg>
    <p:spTree>
      <p:nvGrpSpPr>
        <p:cNvPr id="23" name="Shape 23"/>
        <p:cNvGrpSpPr/>
        <p:nvPr/>
      </p:nvGrpSpPr>
      <p:grpSpPr>
        <a:xfrm>
          <a:off x="0" y="0"/>
          <a:ext cx="0" cy="0"/>
          <a:chOff x="0" y="0"/>
          <a:chExt cx="0" cy="0"/>
        </a:xfrm>
      </p:grpSpPr>
      <p:sp>
        <p:nvSpPr>
          <p:cNvPr id="24" name="Google Shape;24;p16"/>
          <p:cNvSpPr txBox="1"/>
          <p:nvPr>
            <p:ph type="title"/>
          </p:nvPr>
        </p:nvSpPr>
        <p:spPr>
          <a:xfrm>
            <a:off x="1845217" y="357188"/>
            <a:ext cx="18701657" cy="1710326"/>
          </a:xfrm>
          <a:prstGeom prst="rect">
            <a:avLst/>
          </a:prstGeom>
          <a:noFill/>
          <a:ln>
            <a:noFill/>
          </a:ln>
        </p:spPr>
        <p:txBody>
          <a:bodyPr anchorCtr="0" anchor="ctr" bIns="71425" lIns="71425" spcFirstLastPara="1" rIns="71425" wrap="square" tIns="71425">
            <a:normAutofit/>
          </a:bodyPr>
          <a:lstStyle>
            <a:lvl1pPr lvl="0" algn="l">
              <a:lnSpc>
                <a:spcPct val="100000"/>
              </a:lnSpc>
              <a:spcBef>
                <a:spcPts val="0"/>
              </a:spcBef>
              <a:spcAft>
                <a:spcPts val="0"/>
              </a:spcAft>
              <a:buClr>
                <a:srgbClr val="000000"/>
              </a:buClr>
              <a:buSzPts val="8200"/>
              <a:buFont typeface="Meiryo"/>
              <a:buNone/>
              <a:defRPr sz="8200">
                <a:latin typeface="Meiryo"/>
                <a:ea typeface="Meiryo"/>
                <a:cs typeface="Meiryo"/>
                <a:sym typeface="Meiryo"/>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p:txBody>
      </p:sp>
      <p:sp>
        <p:nvSpPr>
          <p:cNvPr id="25" name="Google Shape;25;p16"/>
          <p:cNvSpPr txBox="1"/>
          <p:nvPr>
            <p:ph idx="10" type="dt"/>
          </p:nvPr>
        </p:nvSpPr>
        <p:spPr>
          <a:xfrm>
            <a:off x="1676400" y="12712701"/>
            <a:ext cx="5486400" cy="730250"/>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Clr>
                <a:srgbClr val="000000"/>
              </a:buClr>
              <a:buSzPts val="3200"/>
              <a:buFont typeface="Helvetica Neue"/>
              <a:buNone/>
              <a:defRPr b="1" i="0" sz="3200" u="none" cap="none" strike="noStrike">
                <a:solidFill>
                  <a:srgbClr val="000000"/>
                </a:solidFill>
                <a:latin typeface="Helvetica Neue"/>
                <a:ea typeface="Helvetica Neue"/>
                <a:cs typeface="Helvetica Neue"/>
                <a:sym typeface="Helvetica Neue"/>
              </a:defRPr>
            </a:lvl1pPr>
            <a:lvl2pPr lvl="1" marR="0" rtl="0" algn="ctr">
              <a:lnSpc>
                <a:spcPct val="100000"/>
              </a:lnSpc>
              <a:spcBef>
                <a:spcPts val="0"/>
              </a:spcBef>
              <a:spcAft>
                <a:spcPts val="0"/>
              </a:spcAft>
              <a:buClr>
                <a:srgbClr val="000000"/>
              </a:buClr>
              <a:buSzPts val="3200"/>
              <a:buFont typeface="Helvetica Neue"/>
              <a:buNone/>
              <a:defRPr b="1" i="0" sz="3200" u="none" cap="none" strike="noStrike">
                <a:solidFill>
                  <a:srgbClr val="000000"/>
                </a:solidFill>
                <a:latin typeface="Helvetica Neue"/>
                <a:ea typeface="Helvetica Neue"/>
                <a:cs typeface="Helvetica Neue"/>
                <a:sym typeface="Helvetica Neue"/>
              </a:defRPr>
            </a:lvl2pPr>
            <a:lvl3pPr lvl="2" marR="0" rtl="0" algn="ctr">
              <a:lnSpc>
                <a:spcPct val="100000"/>
              </a:lnSpc>
              <a:spcBef>
                <a:spcPts val="0"/>
              </a:spcBef>
              <a:spcAft>
                <a:spcPts val="0"/>
              </a:spcAft>
              <a:buClr>
                <a:srgbClr val="000000"/>
              </a:buClr>
              <a:buSzPts val="3200"/>
              <a:buFont typeface="Helvetica Neue"/>
              <a:buNone/>
              <a:defRPr b="1" i="0" sz="3200" u="none" cap="none" strike="noStrike">
                <a:solidFill>
                  <a:srgbClr val="000000"/>
                </a:solidFill>
                <a:latin typeface="Helvetica Neue"/>
                <a:ea typeface="Helvetica Neue"/>
                <a:cs typeface="Helvetica Neue"/>
                <a:sym typeface="Helvetica Neue"/>
              </a:defRPr>
            </a:lvl3pPr>
            <a:lvl4pPr lvl="3" marR="0" rtl="0" algn="ctr">
              <a:lnSpc>
                <a:spcPct val="100000"/>
              </a:lnSpc>
              <a:spcBef>
                <a:spcPts val="0"/>
              </a:spcBef>
              <a:spcAft>
                <a:spcPts val="0"/>
              </a:spcAft>
              <a:buClr>
                <a:srgbClr val="000000"/>
              </a:buClr>
              <a:buSzPts val="3200"/>
              <a:buFont typeface="Helvetica Neue"/>
              <a:buNone/>
              <a:defRPr b="1" i="0" sz="3200" u="none" cap="none" strike="noStrike">
                <a:solidFill>
                  <a:srgbClr val="000000"/>
                </a:solidFill>
                <a:latin typeface="Helvetica Neue"/>
                <a:ea typeface="Helvetica Neue"/>
                <a:cs typeface="Helvetica Neue"/>
                <a:sym typeface="Helvetica Neue"/>
              </a:defRPr>
            </a:lvl4pPr>
            <a:lvl5pPr lvl="4" marR="0" rtl="0" algn="ctr">
              <a:lnSpc>
                <a:spcPct val="100000"/>
              </a:lnSpc>
              <a:spcBef>
                <a:spcPts val="0"/>
              </a:spcBef>
              <a:spcAft>
                <a:spcPts val="0"/>
              </a:spcAft>
              <a:buClr>
                <a:srgbClr val="000000"/>
              </a:buClr>
              <a:buSzPts val="3200"/>
              <a:buFont typeface="Helvetica Neue"/>
              <a:buNone/>
              <a:defRPr b="1" i="0" sz="3200" u="none" cap="none" strike="noStrike">
                <a:solidFill>
                  <a:srgbClr val="000000"/>
                </a:solidFill>
                <a:latin typeface="Helvetica Neue"/>
                <a:ea typeface="Helvetica Neue"/>
                <a:cs typeface="Helvetica Neue"/>
                <a:sym typeface="Helvetica Neue"/>
              </a:defRPr>
            </a:lvl5pPr>
            <a:lvl6pPr lvl="5" marR="0" rtl="0" algn="ctr">
              <a:lnSpc>
                <a:spcPct val="100000"/>
              </a:lnSpc>
              <a:spcBef>
                <a:spcPts val="0"/>
              </a:spcBef>
              <a:spcAft>
                <a:spcPts val="0"/>
              </a:spcAft>
              <a:buClr>
                <a:srgbClr val="000000"/>
              </a:buClr>
              <a:buSzPts val="3200"/>
              <a:buFont typeface="Helvetica Neue"/>
              <a:buNone/>
              <a:defRPr b="1" i="0" sz="3200" u="none" cap="none" strike="noStrike">
                <a:solidFill>
                  <a:srgbClr val="000000"/>
                </a:solidFill>
                <a:latin typeface="Helvetica Neue"/>
                <a:ea typeface="Helvetica Neue"/>
                <a:cs typeface="Helvetica Neue"/>
                <a:sym typeface="Helvetica Neue"/>
              </a:defRPr>
            </a:lvl6pPr>
            <a:lvl7pPr lvl="6" marR="0" rtl="0" algn="ctr">
              <a:lnSpc>
                <a:spcPct val="100000"/>
              </a:lnSpc>
              <a:spcBef>
                <a:spcPts val="0"/>
              </a:spcBef>
              <a:spcAft>
                <a:spcPts val="0"/>
              </a:spcAft>
              <a:buClr>
                <a:srgbClr val="000000"/>
              </a:buClr>
              <a:buSzPts val="3200"/>
              <a:buFont typeface="Helvetica Neue"/>
              <a:buNone/>
              <a:defRPr b="1" i="0" sz="3200" u="none" cap="none" strike="noStrike">
                <a:solidFill>
                  <a:srgbClr val="000000"/>
                </a:solidFill>
                <a:latin typeface="Helvetica Neue"/>
                <a:ea typeface="Helvetica Neue"/>
                <a:cs typeface="Helvetica Neue"/>
                <a:sym typeface="Helvetica Neue"/>
              </a:defRPr>
            </a:lvl7pPr>
            <a:lvl8pPr lvl="7" marR="0" rtl="0" algn="ctr">
              <a:lnSpc>
                <a:spcPct val="100000"/>
              </a:lnSpc>
              <a:spcBef>
                <a:spcPts val="0"/>
              </a:spcBef>
              <a:spcAft>
                <a:spcPts val="0"/>
              </a:spcAft>
              <a:buClr>
                <a:srgbClr val="000000"/>
              </a:buClr>
              <a:buSzPts val="3200"/>
              <a:buFont typeface="Helvetica Neue"/>
              <a:buNone/>
              <a:defRPr b="1" i="0" sz="3200" u="none" cap="none" strike="noStrike">
                <a:solidFill>
                  <a:srgbClr val="000000"/>
                </a:solidFill>
                <a:latin typeface="Helvetica Neue"/>
                <a:ea typeface="Helvetica Neue"/>
                <a:cs typeface="Helvetica Neue"/>
                <a:sym typeface="Helvetica Neue"/>
              </a:defRPr>
            </a:lvl8pPr>
            <a:lvl9pPr lvl="8" marR="0" rtl="0" algn="ctr">
              <a:lnSpc>
                <a:spcPct val="100000"/>
              </a:lnSpc>
              <a:spcBef>
                <a:spcPts val="0"/>
              </a:spcBef>
              <a:spcAft>
                <a:spcPts val="0"/>
              </a:spcAft>
              <a:buClr>
                <a:srgbClr val="000000"/>
              </a:buClr>
              <a:buSzPts val="3200"/>
              <a:buFont typeface="Helvetica Neue"/>
              <a:buNone/>
              <a:defRPr b="1" i="0" sz="3200" u="none" cap="none" strike="noStrike">
                <a:solidFill>
                  <a:srgbClr val="000000"/>
                </a:solidFill>
                <a:latin typeface="Helvetica Neue"/>
                <a:ea typeface="Helvetica Neue"/>
                <a:cs typeface="Helvetica Neue"/>
                <a:sym typeface="Helvetica Neue"/>
              </a:defRPr>
            </a:lvl9pPr>
          </a:lstStyle>
          <a:p/>
        </p:txBody>
      </p:sp>
      <p:sp>
        <p:nvSpPr>
          <p:cNvPr id="26" name="Google Shape;26;p16"/>
          <p:cNvSpPr txBox="1"/>
          <p:nvPr>
            <p:ph idx="11" type="ftr"/>
          </p:nvPr>
        </p:nvSpPr>
        <p:spPr>
          <a:xfrm>
            <a:off x="8077200" y="12712701"/>
            <a:ext cx="8229600" cy="730250"/>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Clr>
                <a:srgbClr val="000000"/>
              </a:buClr>
              <a:buSzPts val="3200"/>
              <a:buFont typeface="Helvetica Neue"/>
              <a:buNone/>
              <a:defRPr b="1" i="0" sz="3200" u="none" cap="none" strike="noStrike">
                <a:solidFill>
                  <a:srgbClr val="000000"/>
                </a:solidFill>
                <a:latin typeface="Helvetica Neue"/>
                <a:ea typeface="Helvetica Neue"/>
                <a:cs typeface="Helvetica Neue"/>
                <a:sym typeface="Helvetica Neue"/>
              </a:defRPr>
            </a:lvl1pPr>
            <a:lvl2pPr lvl="1" marR="0" rtl="0" algn="ctr">
              <a:lnSpc>
                <a:spcPct val="100000"/>
              </a:lnSpc>
              <a:spcBef>
                <a:spcPts val="0"/>
              </a:spcBef>
              <a:spcAft>
                <a:spcPts val="0"/>
              </a:spcAft>
              <a:buClr>
                <a:srgbClr val="000000"/>
              </a:buClr>
              <a:buSzPts val="3200"/>
              <a:buFont typeface="Helvetica Neue"/>
              <a:buNone/>
              <a:defRPr b="1" i="0" sz="3200" u="none" cap="none" strike="noStrike">
                <a:solidFill>
                  <a:srgbClr val="000000"/>
                </a:solidFill>
                <a:latin typeface="Helvetica Neue"/>
                <a:ea typeface="Helvetica Neue"/>
                <a:cs typeface="Helvetica Neue"/>
                <a:sym typeface="Helvetica Neue"/>
              </a:defRPr>
            </a:lvl2pPr>
            <a:lvl3pPr lvl="2" marR="0" rtl="0" algn="ctr">
              <a:lnSpc>
                <a:spcPct val="100000"/>
              </a:lnSpc>
              <a:spcBef>
                <a:spcPts val="0"/>
              </a:spcBef>
              <a:spcAft>
                <a:spcPts val="0"/>
              </a:spcAft>
              <a:buClr>
                <a:srgbClr val="000000"/>
              </a:buClr>
              <a:buSzPts val="3200"/>
              <a:buFont typeface="Helvetica Neue"/>
              <a:buNone/>
              <a:defRPr b="1" i="0" sz="3200" u="none" cap="none" strike="noStrike">
                <a:solidFill>
                  <a:srgbClr val="000000"/>
                </a:solidFill>
                <a:latin typeface="Helvetica Neue"/>
                <a:ea typeface="Helvetica Neue"/>
                <a:cs typeface="Helvetica Neue"/>
                <a:sym typeface="Helvetica Neue"/>
              </a:defRPr>
            </a:lvl3pPr>
            <a:lvl4pPr lvl="3" marR="0" rtl="0" algn="ctr">
              <a:lnSpc>
                <a:spcPct val="100000"/>
              </a:lnSpc>
              <a:spcBef>
                <a:spcPts val="0"/>
              </a:spcBef>
              <a:spcAft>
                <a:spcPts val="0"/>
              </a:spcAft>
              <a:buClr>
                <a:srgbClr val="000000"/>
              </a:buClr>
              <a:buSzPts val="3200"/>
              <a:buFont typeface="Helvetica Neue"/>
              <a:buNone/>
              <a:defRPr b="1" i="0" sz="3200" u="none" cap="none" strike="noStrike">
                <a:solidFill>
                  <a:srgbClr val="000000"/>
                </a:solidFill>
                <a:latin typeface="Helvetica Neue"/>
                <a:ea typeface="Helvetica Neue"/>
                <a:cs typeface="Helvetica Neue"/>
                <a:sym typeface="Helvetica Neue"/>
              </a:defRPr>
            </a:lvl4pPr>
            <a:lvl5pPr lvl="4" marR="0" rtl="0" algn="ctr">
              <a:lnSpc>
                <a:spcPct val="100000"/>
              </a:lnSpc>
              <a:spcBef>
                <a:spcPts val="0"/>
              </a:spcBef>
              <a:spcAft>
                <a:spcPts val="0"/>
              </a:spcAft>
              <a:buClr>
                <a:srgbClr val="000000"/>
              </a:buClr>
              <a:buSzPts val="3200"/>
              <a:buFont typeface="Helvetica Neue"/>
              <a:buNone/>
              <a:defRPr b="1" i="0" sz="3200" u="none" cap="none" strike="noStrike">
                <a:solidFill>
                  <a:srgbClr val="000000"/>
                </a:solidFill>
                <a:latin typeface="Helvetica Neue"/>
                <a:ea typeface="Helvetica Neue"/>
                <a:cs typeface="Helvetica Neue"/>
                <a:sym typeface="Helvetica Neue"/>
              </a:defRPr>
            </a:lvl5pPr>
            <a:lvl6pPr lvl="5" marR="0" rtl="0" algn="ctr">
              <a:lnSpc>
                <a:spcPct val="100000"/>
              </a:lnSpc>
              <a:spcBef>
                <a:spcPts val="0"/>
              </a:spcBef>
              <a:spcAft>
                <a:spcPts val="0"/>
              </a:spcAft>
              <a:buClr>
                <a:srgbClr val="000000"/>
              </a:buClr>
              <a:buSzPts val="3200"/>
              <a:buFont typeface="Helvetica Neue"/>
              <a:buNone/>
              <a:defRPr b="1" i="0" sz="3200" u="none" cap="none" strike="noStrike">
                <a:solidFill>
                  <a:srgbClr val="000000"/>
                </a:solidFill>
                <a:latin typeface="Helvetica Neue"/>
                <a:ea typeface="Helvetica Neue"/>
                <a:cs typeface="Helvetica Neue"/>
                <a:sym typeface="Helvetica Neue"/>
              </a:defRPr>
            </a:lvl6pPr>
            <a:lvl7pPr lvl="6" marR="0" rtl="0" algn="ctr">
              <a:lnSpc>
                <a:spcPct val="100000"/>
              </a:lnSpc>
              <a:spcBef>
                <a:spcPts val="0"/>
              </a:spcBef>
              <a:spcAft>
                <a:spcPts val="0"/>
              </a:spcAft>
              <a:buClr>
                <a:srgbClr val="000000"/>
              </a:buClr>
              <a:buSzPts val="3200"/>
              <a:buFont typeface="Helvetica Neue"/>
              <a:buNone/>
              <a:defRPr b="1" i="0" sz="3200" u="none" cap="none" strike="noStrike">
                <a:solidFill>
                  <a:srgbClr val="000000"/>
                </a:solidFill>
                <a:latin typeface="Helvetica Neue"/>
                <a:ea typeface="Helvetica Neue"/>
                <a:cs typeface="Helvetica Neue"/>
                <a:sym typeface="Helvetica Neue"/>
              </a:defRPr>
            </a:lvl7pPr>
            <a:lvl8pPr lvl="7" marR="0" rtl="0" algn="ctr">
              <a:lnSpc>
                <a:spcPct val="100000"/>
              </a:lnSpc>
              <a:spcBef>
                <a:spcPts val="0"/>
              </a:spcBef>
              <a:spcAft>
                <a:spcPts val="0"/>
              </a:spcAft>
              <a:buClr>
                <a:srgbClr val="000000"/>
              </a:buClr>
              <a:buSzPts val="3200"/>
              <a:buFont typeface="Helvetica Neue"/>
              <a:buNone/>
              <a:defRPr b="1" i="0" sz="3200" u="none" cap="none" strike="noStrike">
                <a:solidFill>
                  <a:srgbClr val="000000"/>
                </a:solidFill>
                <a:latin typeface="Helvetica Neue"/>
                <a:ea typeface="Helvetica Neue"/>
                <a:cs typeface="Helvetica Neue"/>
                <a:sym typeface="Helvetica Neue"/>
              </a:defRPr>
            </a:lvl8pPr>
            <a:lvl9pPr lvl="8" marR="0" rtl="0" algn="ctr">
              <a:lnSpc>
                <a:spcPct val="100000"/>
              </a:lnSpc>
              <a:spcBef>
                <a:spcPts val="0"/>
              </a:spcBef>
              <a:spcAft>
                <a:spcPts val="0"/>
              </a:spcAft>
              <a:buClr>
                <a:srgbClr val="000000"/>
              </a:buClr>
              <a:buSzPts val="3200"/>
              <a:buFont typeface="Helvetica Neue"/>
              <a:buNone/>
              <a:defRPr b="1" i="0" sz="3200" u="none" cap="none" strike="noStrike">
                <a:solidFill>
                  <a:srgbClr val="000000"/>
                </a:solidFill>
                <a:latin typeface="Helvetica Neue"/>
                <a:ea typeface="Helvetica Neue"/>
                <a:cs typeface="Helvetica Neue"/>
                <a:sym typeface="Helvetica Neue"/>
              </a:defRPr>
            </a:lvl9pPr>
          </a:lstStyle>
          <a:p/>
        </p:txBody>
      </p:sp>
      <p:sp>
        <p:nvSpPr>
          <p:cNvPr id="27" name="Google Shape;27;p16"/>
          <p:cNvSpPr txBox="1"/>
          <p:nvPr>
            <p:ph idx="12" type="sldNum"/>
          </p:nvPr>
        </p:nvSpPr>
        <p:spPr>
          <a:xfrm>
            <a:off x="11962817" y="13073062"/>
            <a:ext cx="448840" cy="482823"/>
          </a:xfrm>
          <a:prstGeom prst="rect">
            <a:avLst/>
          </a:prstGeom>
          <a:noFill/>
          <a:ln>
            <a:noFill/>
          </a:ln>
        </p:spPr>
        <p:txBody>
          <a:bodyPr anchorCtr="0" anchor="t" bIns="71425" lIns="71425" spcFirstLastPara="1" rIns="71425" wrap="square" tIns="71425">
            <a:spAutoFit/>
          </a:bodyPr>
          <a:lstStyle>
            <a:lvl1pPr indent="0" lvl="0" marL="0" marR="0" algn="ctr">
              <a:lnSpc>
                <a:spcPct val="100000"/>
              </a:lnSpc>
              <a:spcBef>
                <a:spcPts val="0"/>
              </a:spcBef>
              <a:spcAft>
                <a:spcPts val="0"/>
              </a:spcAft>
              <a:buClr>
                <a:srgbClr val="000000"/>
              </a:buClr>
              <a:buSzPts val="2200"/>
              <a:buFont typeface="Helvetica Neue Light"/>
              <a:buNone/>
              <a:defRPr b="0" i="0" sz="2200" u="none" cap="none" strike="noStrike">
                <a:solidFill>
                  <a:srgbClr val="000000"/>
                </a:solidFill>
                <a:latin typeface="Helvetica Neue Light"/>
                <a:ea typeface="Helvetica Neue Light"/>
                <a:cs typeface="Helvetica Neue Light"/>
                <a:sym typeface="Helvetica Neue Light"/>
              </a:defRPr>
            </a:lvl1pPr>
            <a:lvl2pPr indent="0" lvl="1" marL="0" marR="0" algn="ctr">
              <a:lnSpc>
                <a:spcPct val="100000"/>
              </a:lnSpc>
              <a:spcBef>
                <a:spcPts val="0"/>
              </a:spcBef>
              <a:spcAft>
                <a:spcPts val="0"/>
              </a:spcAft>
              <a:buClr>
                <a:srgbClr val="000000"/>
              </a:buClr>
              <a:buSzPts val="2200"/>
              <a:buFont typeface="Helvetica Neue Light"/>
              <a:buNone/>
              <a:defRPr b="0" i="0" sz="2200" u="none" cap="none" strike="noStrike">
                <a:solidFill>
                  <a:srgbClr val="000000"/>
                </a:solidFill>
                <a:latin typeface="Helvetica Neue Light"/>
                <a:ea typeface="Helvetica Neue Light"/>
                <a:cs typeface="Helvetica Neue Light"/>
                <a:sym typeface="Helvetica Neue Light"/>
              </a:defRPr>
            </a:lvl2pPr>
            <a:lvl3pPr indent="0" lvl="2" marL="0" marR="0" algn="ctr">
              <a:lnSpc>
                <a:spcPct val="100000"/>
              </a:lnSpc>
              <a:spcBef>
                <a:spcPts val="0"/>
              </a:spcBef>
              <a:spcAft>
                <a:spcPts val="0"/>
              </a:spcAft>
              <a:buClr>
                <a:srgbClr val="000000"/>
              </a:buClr>
              <a:buSzPts val="2200"/>
              <a:buFont typeface="Helvetica Neue Light"/>
              <a:buNone/>
              <a:defRPr b="0" i="0" sz="2200" u="none" cap="none" strike="noStrike">
                <a:solidFill>
                  <a:srgbClr val="000000"/>
                </a:solidFill>
                <a:latin typeface="Helvetica Neue Light"/>
                <a:ea typeface="Helvetica Neue Light"/>
                <a:cs typeface="Helvetica Neue Light"/>
                <a:sym typeface="Helvetica Neue Light"/>
              </a:defRPr>
            </a:lvl3pPr>
            <a:lvl4pPr indent="0" lvl="3" marL="0" marR="0" algn="ctr">
              <a:lnSpc>
                <a:spcPct val="100000"/>
              </a:lnSpc>
              <a:spcBef>
                <a:spcPts val="0"/>
              </a:spcBef>
              <a:spcAft>
                <a:spcPts val="0"/>
              </a:spcAft>
              <a:buClr>
                <a:srgbClr val="000000"/>
              </a:buClr>
              <a:buSzPts val="2200"/>
              <a:buFont typeface="Helvetica Neue Light"/>
              <a:buNone/>
              <a:defRPr b="0" i="0" sz="2200" u="none" cap="none" strike="noStrike">
                <a:solidFill>
                  <a:srgbClr val="000000"/>
                </a:solidFill>
                <a:latin typeface="Helvetica Neue Light"/>
                <a:ea typeface="Helvetica Neue Light"/>
                <a:cs typeface="Helvetica Neue Light"/>
                <a:sym typeface="Helvetica Neue Light"/>
              </a:defRPr>
            </a:lvl4pPr>
            <a:lvl5pPr indent="0" lvl="4" marL="0" marR="0" algn="ctr">
              <a:lnSpc>
                <a:spcPct val="100000"/>
              </a:lnSpc>
              <a:spcBef>
                <a:spcPts val="0"/>
              </a:spcBef>
              <a:spcAft>
                <a:spcPts val="0"/>
              </a:spcAft>
              <a:buClr>
                <a:srgbClr val="000000"/>
              </a:buClr>
              <a:buSzPts val="2200"/>
              <a:buFont typeface="Helvetica Neue Light"/>
              <a:buNone/>
              <a:defRPr b="0" i="0" sz="2200" u="none" cap="none" strike="noStrike">
                <a:solidFill>
                  <a:srgbClr val="000000"/>
                </a:solidFill>
                <a:latin typeface="Helvetica Neue Light"/>
                <a:ea typeface="Helvetica Neue Light"/>
                <a:cs typeface="Helvetica Neue Light"/>
                <a:sym typeface="Helvetica Neue Light"/>
              </a:defRPr>
            </a:lvl5pPr>
            <a:lvl6pPr indent="0" lvl="5" marL="0" marR="0" algn="ctr">
              <a:lnSpc>
                <a:spcPct val="100000"/>
              </a:lnSpc>
              <a:spcBef>
                <a:spcPts val="0"/>
              </a:spcBef>
              <a:spcAft>
                <a:spcPts val="0"/>
              </a:spcAft>
              <a:buClr>
                <a:srgbClr val="000000"/>
              </a:buClr>
              <a:buSzPts val="2200"/>
              <a:buFont typeface="Helvetica Neue Light"/>
              <a:buNone/>
              <a:defRPr b="0" i="0" sz="2200" u="none" cap="none" strike="noStrike">
                <a:solidFill>
                  <a:srgbClr val="000000"/>
                </a:solidFill>
                <a:latin typeface="Helvetica Neue Light"/>
                <a:ea typeface="Helvetica Neue Light"/>
                <a:cs typeface="Helvetica Neue Light"/>
                <a:sym typeface="Helvetica Neue Light"/>
              </a:defRPr>
            </a:lvl6pPr>
            <a:lvl7pPr indent="0" lvl="6" marL="0" marR="0" algn="ctr">
              <a:lnSpc>
                <a:spcPct val="100000"/>
              </a:lnSpc>
              <a:spcBef>
                <a:spcPts val="0"/>
              </a:spcBef>
              <a:spcAft>
                <a:spcPts val="0"/>
              </a:spcAft>
              <a:buClr>
                <a:srgbClr val="000000"/>
              </a:buClr>
              <a:buSzPts val="2200"/>
              <a:buFont typeface="Helvetica Neue Light"/>
              <a:buNone/>
              <a:defRPr b="0" i="0" sz="2200" u="none" cap="none" strike="noStrike">
                <a:solidFill>
                  <a:srgbClr val="000000"/>
                </a:solidFill>
                <a:latin typeface="Helvetica Neue Light"/>
                <a:ea typeface="Helvetica Neue Light"/>
                <a:cs typeface="Helvetica Neue Light"/>
                <a:sym typeface="Helvetica Neue Light"/>
              </a:defRPr>
            </a:lvl7pPr>
            <a:lvl8pPr indent="0" lvl="7" marL="0" marR="0" algn="ctr">
              <a:lnSpc>
                <a:spcPct val="100000"/>
              </a:lnSpc>
              <a:spcBef>
                <a:spcPts val="0"/>
              </a:spcBef>
              <a:spcAft>
                <a:spcPts val="0"/>
              </a:spcAft>
              <a:buClr>
                <a:srgbClr val="000000"/>
              </a:buClr>
              <a:buSzPts val="2200"/>
              <a:buFont typeface="Helvetica Neue Light"/>
              <a:buNone/>
              <a:defRPr b="0" i="0" sz="2200" u="none" cap="none" strike="noStrike">
                <a:solidFill>
                  <a:srgbClr val="000000"/>
                </a:solidFill>
                <a:latin typeface="Helvetica Neue Light"/>
                <a:ea typeface="Helvetica Neue Light"/>
                <a:cs typeface="Helvetica Neue Light"/>
                <a:sym typeface="Helvetica Neue Light"/>
              </a:defRPr>
            </a:lvl8pPr>
            <a:lvl9pPr indent="0" lvl="8" marL="0" marR="0" algn="ctr">
              <a:lnSpc>
                <a:spcPct val="100000"/>
              </a:lnSpc>
              <a:spcBef>
                <a:spcPts val="0"/>
              </a:spcBef>
              <a:spcAft>
                <a:spcPts val="0"/>
              </a:spcAft>
              <a:buClr>
                <a:srgbClr val="000000"/>
              </a:buClr>
              <a:buSzPts val="2200"/>
              <a:buFont typeface="Helvetica Neue Light"/>
              <a:buNone/>
              <a:defRPr b="0" i="0" sz="2200" u="none" cap="none" strike="noStrike">
                <a:solidFill>
                  <a:srgbClr val="000000"/>
                </a:solidFill>
                <a:latin typeface="Helvetica Neue Light"/>
                <a:ea typeface="Helvetica Neue Light"/>
                <a:cs typeface="Helvetica Neue Light"/>
                <a:sym typeface="Helvetica Neue Light"/>
              </a:defRPr>
            </a:lvl9pPr>
          </a:lstStyle>
          <a:p>
            <a:pPr indent="0" lvl="0" marL="0" rtl="0" algn="ctr">
              <a:spcBef>
                <a:spcPts val="0"/>
              </a:spcBef>
              <a:spcAft>
                <a:spcPts val="0"/>
              </a:spcAft>
              <a:buNone/>
            </a:pPr>
            <a:fld id="{00000000-1234-1234-1234-123412341234}" type="slidenum">
              <a:rPr lang="en-US"/>
              <a:t>‹#›</a:t>
            </a:fld>
            <a:endParaRPr/>
          </a:p>
        </p:txBody>
      </p:sp>
      <p:cxnSp>
        <p:nvCxnSpPr>
          <p:cNvPr id="28" name="Google Shape;28;p16"/>
          <p:cNvCxnSpPr/>
          <p:nvPr/>
        </p:nvCxnSpPr>
        <p:spPr>
          <a:xfrm>
            <a:off x="1845217" y="1893677"/>
            <a:ext cx="18701657" cy="0"/>
          </a:xfrm>
          <a:prstGeom prst="straightConnector1">
            <a:avLst/>
          </a:prstGeom>
          <a:noFill/>
          <a:ln cap="rnd" cmpd="sng" w="38100">
            <a:solidFill>
              <a:srgbClr val="057BBA">
                <a:alpha val="80000"/>
              </a:srgbClr>
            </a:solidFill>
            <a:prstDash val="solid"/>
            <a:round/>
            <a:headEnd len="sm" w="sm" type="none"/>
            <a:tailEnd len="sm" w="sm" type="none"/>
          </a:ln>
        </p:spPr>
      </p:cxnSp>
      <p:pic>
        <p:nvPicPr>
          <p:cNvPr descr="A close up of a sign&#10;&#10;Description automatically generated" id="29" name="Google Shape;29;p16"/>
          <p:cNvPicPr preferRelativeResize="0"/>
          <p:nvPr/>
        </p:nvPicPr>
        <p:blipFill rotWithShape="1">
          <a:blip r:embed="rId2">
            <a:alphaModFix/>
          </a:blip>
          <a:srcRect b="0" l="0" r="0" t="0"/>
          <a:stretch/>
        </p:blipFill>
        <p:spPr>
          <a:xfrm>
            <a:off x="20812883" y="427995"/>
            <a:ext cx="2645634" cy="1639519"/>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itle Only">
  <p:cSld name="2_Title Only">
    <p:bg>
      <p:bgPr>
        <a:gradFill>
          <a:gsLst>
            <a:gs pos="0">
              <a:schemeClr val="lt1"/>
            </a:gs>
            <a:gs pos="17000">
              <a:schemeClr val="lt1"/>
            </a:gs>
            <a:gs pos="67000">
              <a:srgbClr val="F1FAFE"/>
            </a:gs>
            <a:gs pos="83000">
              <a:srgbClr val="FFEACC"/>
            </a:gs>
            <a:gs pos="100000">
              <a:srgbClr val="62C5FB"/>
            </a:gs>
          </a:gsLst>
          <a:path path="circle">
            <a:fillToRect b="100%" r="100%"/>
          </a:path>
          <a:tileRect l="-100%" t="-100%"/>
        </a:gradFill>
      </p:bgPr>
    </p:bg>
    <p:spTree>
      <p:nvGrpSpPr>
        <p:cNvPr id="30" name="Shape 3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 name="Shape 5"/>
        <p:cNvGrpSpPr/>
        <p:nvPr/>
      </p:nvGrpSpPr>
      <p:grpSpPr>
        <a:xfrm>
          <a:off x="0" y="0"/>
          <a:ext cx="0" cy="0"/>
          <a:chOff x="0" y="0"/>
          <a:chExt cx="0" cy="0"/>
        </a:xfrm>
      </p:grpSpPr>
      <p:sp>
        <p:nvSpPr>
          <p:cNvPr id="6" name="Google Shape;6;p12"/>
          <p:cNvSpPr txBox="1"/>
          <p:nvPr>
            <p:ph type="title"/>
          </p:nvPr>
        </p:nvSpPr>
        <p:spPr>
          <a:xfrm>
            <a:off x="4387453" y="357187"/>
            <a:ext cx="15609095" cy="3036095"/>
          </a:xfrm>
          <a:prstGeom prst="rect">
            <a:avLst/>
          </a:prstGeom>
          <a:noFill/>
          <a:ln>
            <a:noFill/>
          </a:ln>
        </p:spPr>
        <p:txBody>
          <a:bodyPr anchorCtr="0" anchor="ctr" bIns="71425" lIns="71425" spcFirstLastPara="1" rIns="71425" wrap="square" tIns="71425">
            <a:normAutofit/>
          </a:bodyPr>
          <a:lstStyle>
            <a:lvl1pPr lvl="0" marR="0" rtl="0" algn="ctr">
              <a:lnSpc>
                <a:spcPct val="100000"/>
              </a:lnSpc>
              <a:spcBef>
                <a:spcPts val="0"/>
              </a:spcBef>
              <a:spcAft>
                <a:spcPts val="0"/>
              </a:spcAft>
              <a:buClr>
                <a:srgbClr val="000000"/>
              </a:buClr>
              <a:buSzPts val="11200"/>
              <a:buFont typeface="Helvetica Neue"/>
              <a:buNone/>
              <a:defRPr b="0" i="0" sz="11200" u="none" cap="none" strike="noStrike">
                <a:solidFill>
                  <a:srgbClr val="000000"/>
                </a:solidFill>
                <a:latin typeface="Helvetica Neue"/>
                <a:ea typeface="Helvetica Neue"/>
                <a:cs typeface="Helvetica Neue"/>
                <a:sym typeface="Helvetica Neue"/>
              </a:defRPr>
            </a:lvl1pPr>
            <a:lvl2pPr lvl="1" marR="0" rtl="0" algn="ctr">
              <a:lnSpc>
                <a:spcPct val="100000"/>
              </a:lnSpc>
              <a:spcBef>
                <a:spcPts val="0"/>
              </a:spcBef>
              <a:spcAft>
                <a:spcPts val="0"/>
              </a:spcAft>
              <a:buClr>
                <a:srgbClr val="000000"/>
              </a:buClr>
              <a:buSzPts val="11200"/>
              <a:buFont typeface="Helvetica Neue"/>
              <a:buNone/>
              <a:defRPr b="0" i="0" sz="11200" u="none" cap="none" strike="noStrike">
                <a:solidFill>
                  <a:srgbClr val="000000"/>
                </a:solidFill>
                <a:latin typeface="Helvetica Neue"/>
                <a:ea typeface="Helvetica Neue"/>
                <a:cs typeface="Helvetica Neue"/>
                <a:sym typeface="Helvetica Neue"/>
              </a:defRPr>
            </a:lvl2pPr>
            <a:lvl3pPr lvl="2" marR="0" rtl="0" algn="ctr">
              <a:lnSpc>
                <a:spcPct val="100000"/>
              </a:lnSpc>
              <a:spcBef>
                <a:spcPts val="0"/>
              </a:spcBef>
              <a:spcAft>
                <a:spcPts val="0"/>
              </a:spcAft>
              <a:buClr>
                <a:srgbClr val="000000"/>
              </a:buClr>
              <a:buSzPts val="11200"/>
              <a:buFont typeface="Helvetica Neue"/>
              <a:buNone/>
              <a:defRPr b="0" i="0" sz="11200" u="none" cap="none" strike="noStrike">
                <a:solidFill>
                  <a:srgbClr val="000000"/>
                </a:solidFill>
                <a:latin typeface="Helvetica Neue"/>
                <a:ea typeface="Helvetica Neue"/>
                <a:cs typeface="Helvetica Neue"/>
                <a:sym typeface="Helvetica Neue"/>
              </a:defRPr>
            </a:lvl3pPr>
            <a:lvl4pPr lvl="3" marR="0" rtl="0" algn="ctr">
              <a:lnSpc>
                <a:spcPct val="100000"/>
              </a:lnSpc>
              <a:spcBef>
                <a:spcPts val="0"/>
              </a:spcBef>
              <a:spcAft>
                <a:spcPts val="0"/>
              </a:spcAft>
              <a:buClr>
                <a:srgbClr val="000000"/>
              </a:buClr>
              <a:buSzPts val="11200"/>
              <a:buFont typeface="Helvetica Neue"/>
              <a:buNone/>
              <a:defRPr b="0" i="0" sz="11200" u="none" cap="none" strike="noStrike">
                <a:solidFill>
                  <a:srgbClr val="000000"/>
                </a:solidFill>
                <a:latin typeface="Helvetica Neue"/>
                <a:ea typeface="Helvetica Neue"/>
                <a:cs typeface="Helvetica Neue"/>
                <a:sym typeface="Helvetica Neue"/>
              </a:defRPr>
            </a:lvl4pPr>
            <a:lvl5pPr lvl="4" marR="0" rtl="0" algn="ctr">
              <a:lnSpc>
                <a:spcPct val="100000"/>
              </a:lnSpc>
              <a:spcBef>
                <a:spcPts val="0"/>
              </a:spcBef>
              <a:spcAft>
                <a:spcPts val="0"/>
              </a:spcAft>
              <a:buClr>
                <a:srgbClr val="000000"/>
              </a:buClr>
              <a:buSzPts val="11200"/>
              <a:buFont typeface="Helvetica Neue"/>
              <a:buNone/>
              <a:defRPr b="0" i="0" sz="11200" u="none" cap="none" strike="noStrike">
                <a:solidFill>
                  <a:srgbClr val="000000"/>
                </a:solidFill>
                <a:latin typeface="Helvetica Neue"/>
                <a:ea typeface="Helvetica Neue"/>
                <a:cs typeface="Helvetica Neue"/>
                <a:sym typeface="Helvetica Neue"/>
              </a:defRPr>
            </a:lvl5pPr>
            <a:lvl6pPr lvl="5" marR="0" rtl="0" algn="ctr">
              <a:lnSpc>
                <a:spcPct val="100000"/>
              </a:lnSpc>
              <a:spcBef>
                <a:spcPts val="0"/>
              </a:spcBef>
              <a:spcAft>
                <a:spcPts val="0"/>
              </a:spcAft>
              <a:buClr>
                <a:srgbClr val="000000"/>
              </a:buClr>
              <a:buSzPts val="11200"/>
              <a:buFont typeface="Helvetica Neue"/>
              <a:buNone/>
              <a:defRPr b="0" i="0" sz="11200" u="none" cap="none" strike="noStrike">
                <a:solidFill>
                  <a:srgbClr val="000000"/>
                </a:solidFill>
                <a:latin typeface="Helvetica Neue"/>
                <a:ea typeface="Helvetica Neue"/>
                <a:cs typeface="Helvetica Neue"/>
                <a:sym typeface="Helvetica Neue"/>
              </a:defRPr>
            </a:lvl6pPr>
            <a:lvl7pPr lvl="6" marR="0" rtl="0" algn="ctr">
              <a:lnSpc>
                <a:spcPct val="100000"/>
              </a:lnSpc>
              <a:spcBef>
                <a:spcPts val="0"/>
              </a:spcBef>
              <a:spcAft>
                <a:spcPts val="0"/>
              </a:spcAft>
              <a:buClr>
                <a:srgbClr val="000000"/>
              </a:buClr>
              <a:buSzPts val="11200"/>
              <a:buFont typeface="Helvetica Neue"/>
              <a:buNone/>
              <a:defRPr b="0" i="0" sz="11200" u="none" cap="none" strike="noStrike">
                <a:solidFill>
                  <a:srgbClr val="000000"/>
                </a:solidFill>
                <a:latin typeface="Helvetica Neue"/>
                <a:ea typeface="Helvetica Neue"/>
                <a:cs typeface="Helvetica Neue"/>
                <a:sym typeface="Helvetica Neue"/>
              </a:defRPr>
            </a:lvl7pPr>
            <a:lvl8pPr lvl="7" marR="0" rtl="0" algn="ctr">
              <a:lnSpc>
                <a:spcPct val="100000"/>
              </a:lnSpc>
              <a:spcBef>
                <a:spcPts val="0"/>
              </a:spcBef>
              <a:spcAft>
                <a:spcPts val="0"/>
              </a:spcAft>
              <a:buClr>
                <a:srgbClr val="000000"/>
              </a:buClr>
              <a:buSzPts val="11200"/>
              <a:buFont typeface="Helvetica Neue"/>
              <a:buNone/>
              <a:defRPr b="0" i="0" sz="11200" u="none" cap="none" strike="noStrike">
                <a:solidFill>
                  <a:srgbClr val="000000"/>
                </a:solidFill>
                <a:latin typeface="Helvetica Neue"/>
                <a:ea typeface="Helvetica Neue"/>
                <a:cs typeface="Helvetica Neue"/>
                <a:sym typeface="Helvetica Neue"/>
              </a:defRPr>
            </a:lvl8pPr>
            <a:lvl9pPr lvl="8" marR="0" rtl="0" algn="ctr">
              <a:lnSpc>
                <a:spcPct val="100000"/>
              </a:lnSpc>
              <a:spcBef>
                <a:spcPts val="0"/>
              </a:spcBef>
              <a:spcAft>
                <a:spcPts val="0"/>
              </a:spcAft>
              <a:buClr>
                <a:srgbClr val="000000"/>
              </a:buClr>
              <a:buSzPts val="11200"/>
              <a:buFont typeface="Helvetica Neue"/>
              <a:buNone/>
              <a:defRPr b="0" i="0" sz="11200" u="none" cap="none" strike="noStrike">
                <a:solidFill>
                  <a:srgbClr val="000000"/>
                </a:solidFill>
                <a:latin typeface="Helvetica Neue"/>
                <a:ea typeface="Helvetica Neue"/>
                <a:cs typeface="Helvetica Neue"/>
                <a:sym typeface="Helvetica Neue"/>
              </a:defRPr>
            </a:lvl9pPr>
          </a:lstStyle>
          <a:p/>
        </p:txBody>
      </p:sp>
      <p:sp>
        <p:nvSpPr>
          <p:cNvPr id="7" name="Google Shape;7;p12"/>
          <p:cNvSpPr txBox="1"/>
          <p:nvPr>
            <p:ph idx="1" type="body"/>
          </p:nvPr>
        </p:nvSpPr>
        <p:spPr>
          <a:xfrm>
            <a:off x="4387453" y="3643312"/>
            <a:ext cx="15609095" cy="8840392"/>
          </a:xfrm>
          <a:prstGeom prst="rect">
            <a:avLst/>
          </a:prstGeom>
          <a:noFill/>
          <a:ln>
            <a:noFill/>
          </a:ln>
        </p:spPr>
        <p:txBody>
          <a:bodyPr anchorCtr="0" anchor="ctr" bIns="71425" lIns="71425" spcFirstLastPara="1" rIns="71425" wrap="square" tIns="71425">
            <a:normAutofit/>
          </a:bodyPr>
          <a:lstStyle>
            <a:lvl1pPr indent="-633730" lvl="0" marL="457200" marR="0" rtl="0" algn="l">
              <a:lnSpc>
                <a:spcPct val="100000"/>
              </a:lnSpc>
              <a:spcBef>
                <a:spcPts val="5900"/>
              </a:spcBef>
              <a:spcAft>
                <a:spcPts val="0"/>
              </a:spcAft>
              <a:buClr>
                <a:srgbClr val="000000"/>
              </a:buClr>
              <a:buSzPts val="6380"/>
              <a:buFont typeface="Helvetica Neue"/>
              <a:buChar char="•"/>
              <a:defRPr b="0" i="0" sz="4400" u="none" cap="none" strike="noStrike">
                <a:solidFill>
                  <a:srgbClr val="000000"/>
                </a:solidFill>
                <a:latin typeface="Helvetica Neue"/>
                <a:ea typeface="Helvetica Neue"/>
                <a:cs typeface="Helvetica Neue"/>
                <a:sym typeface="Helvetica Neue"/>
              </a:defRPr>
            </a:lvl1pPr>
            <a:lvl2pPr indent="-633730" lvl="1" marL="914400" marR="0" rtl="0" algn="l">
              <a:lnSpc>
                <a:spcPct val="100000"/>
              </a:lnSpc>
              <a:spcBef>
                <a:spcPts val="5900"/>
              </a:spcBef>
              <a:spcAft>
                <a:spcPts val="0"/>
              </a:spcAft>
              <a:buClr>
                <a:srgbClr val="000000"/>
              </a:buClr>
              <a:buSzPts val="6380"/>
              <a:buFont typeface="Helvetica Neue"/>
              <a:buChar char="•"/>
              <a:defRPr b="0" i="0" sz="4400" u="none" cap="none" strike="noStrike">
                <a:solidFill>
                  <a:srgbClr val="000000"/>
                </a:solidFill>
                <a:latin typeface="Helvetica Neue"/>
                <a:ea typeface="Helvetica Neue"/>
                <a:cs typeface="Helvetica Neue"/>
                <a:sym typeface="Helvetica Neue"/>
              </a:defRPr>
            </a:lvl2pPr>
            <a:lvl3pPr indent="-633730" lvl="2" marL="1371600" marR="0" rtl="0" algn="l">
              <a:lnSpc>
                <a:spcPct val="100000"/>
              </a:lnSpc>
              <a:spcBef>
                <a:spcPts val="5900"/>
              </a:spcBef>
              <a:spcAft>
                <a:spcPts val="0"/>
              </a:spcAft>
              <a:buClr>
                <a:srgbClr val="000000"/>
              </a:buClr>
              <a:buSzPts val="6380"/>
              <a:buFont typeface="Helvetica Neue"/>
              <a:buChar char="•"/>
              <a:defRPr b="0" i="0" sz="4400" u="none" cap="none" strike="noStrike">
                <a:solidFill>
                  <a:srgbClr val="000000"/>
                </a:solidFill>
                <a:latin typeface="Helvetica Neue"/>
                <a:ea typeface="Helvetica Neue"/>
                <a:cs typeface="Helvetica Neue"/>
                <a:sym typeface="Helvetica Neue"/>
              </a:defRPr>
            </a:lvl3pPr>
            <a:lvl4pPr indent="-633730" lvl="3" marL="1828800" marR="0" rtl="0" algn="l">
              <a:lnSpc>
                <a:spcPct val="100000"/>
              </a:lnSpc>
              <a:spcBef>
                <a:spcPts val="5900"/>
              </a:spcBef>
              <a:spcAft>
                <a:spcPts val="0"/>
              </a:spcAft>
              <a:buClr>
                <a:srgbClr val="000000"/>
              </a:buClr>
              <a:buSzPts val="6380"/>
              <a:buFont typeface="Helvetica Neue"/>
              <a:buChar char="•"/>
              <a:defRPr b="0" i="0" sz="4400" u="none" cap="none" strike="noStrike">
                <a:solidFill>
                  <a:srgbClr val="000000"/>
                </a:solidFill>
                <a:latin typeface="Helvetica Neue"/>
                <a:ea typeface="Helvetica Neue"/>
                <a:cs typeface="Helvetica Neue"/>
                <a:sym typeface="Helvetica Neue"/>
              </a:defRPr>
            </a:lvl4pPr>
            <a:lvl5pPr indent="-633729" lvl="4" marL="2286000" marR="0" rtl="0" algn="l">
              <a:lnSpc>
                <a:spcPct val="100000"/>
              </a:lnSpc>
              <a:spcBef>
                <a:spcPts val="5900"/>
              </a:spcBef>
              <a:spcAft>
                <a:spcPts val="0"/>
              </a:spcAft>
              <a:buClr>
                <a:srgbClr val="000000"/>
              </a:buClr>
              <a:buSzPts val="6380"/>
              <a:buFont typeface="Helvetica Neue"/>
              <a:buChar char="•"/>
              <a:defRPr b="0" i="0" sz="4400" u="none" cap="none" strike="noStrike">
                <a:solidFill>
                  <a:srgbClr val="000000"/>
                </a:solidFill>
                <a:latin typeface="Helvetica Neue"/>
                <a:ea typeface="Helvetica Neue"/>
                <a:cs typeface="Helvetica Neue"/>
                <a:sym typeface="Helvetica Neue"/>
              </a:defRPr>
            </a:lvl5pPr>
            <a:lvl6pPr indent="-633729" lvl="5" marL="2743200" marR="0" rtl="0" algn="l">
              <a:lnSpc>
                <a:spcPct val="100000"/>
              </a:lnSpc>
              <a:spcBef>
                <a:spcPts val="5900"/>
              </a:spcBef>
              <a:spcAft>
                <a:spcPts val="0"/>
              </a:spcAft>
              <a:buClr>
                <a:srgbClr val="000000"/>
              </a:buClr>
              <a:buSzPts val="6380"/>
              <a:buFont typeface="Helvetica Neue"/>
              <a:buChar char="•"/>
              <a:defRPr b="0" i="0" sz="4400" u="none" cap="none" strike="noStrike">
                <a:solidFill>
                  <a:srgbClr val="000000"/>
                </a:solidFill>
                <a:latin typeface="Helvetica Neue"/>
                <a:ea typeface="Helvetica Neue"/>
                <a:cs typeface="Helvetica Neue"/>
                <a:sym typeface="Helvetica Neue"/>
              </a:defRPr>
            </a:lvl6pPr>
            <a:lvl7pPr indent="-633729" lvl="6" marL="3200400" marR="0" rtl="0" algn="l">
              <a:lnSpc>
                <a:spcPct val="100000"/>
              </a:lnSpc>
              <a:spcBef>
                <a:spcPts val="5900"/>
              </a:spcBef>
              <a:spcAft>
                <a:spcPts val="0"/>
              </a:spcAft>
              <a:buClr>
                <a:srgbClr val="000000"/>
              </a:buClr>
              <a:buSzPts val="6380"/>
              <a:buFont typeface="Helvetica Neue"/>
              <a:buChar char="•"/>
              <a:defRPr b="0" i="0" sz="4400" u="none" cap="none" strike="noStrike">
                <a:solidFill>
                  <a:srgbClr val="000000"/>
                </a:solidFill>
                <a:latin typeface="Helvetica Neue"/>
                <a:ea typeface="Helvetica Neue"/>
                <a:cs typeface="Helvetica Neue"/>
                <a:sym typeface="Helvetica Neue"/>
              </a:defRPr>
            </a:lvl7pPr>
            <a:lvl8pPr indent="-633729" lvl="7" marL="3657600" marR="0" rtl="0" algn="l">
              <a:lnSpc>
                <a:spcPct val="100000"/>
              </a:lnSpc>
              <a:spcBef>
                <a:spcPts val="5900"/>
              </a:spcBef>
              <a:spcAft>
                <a:spcPts val="0"/>
              </a:spcAft>
              <a:buClr>
                <a:srgbClr val="000000"/>
              </a:buClr>
              <a:buSzPts val="6380"/>
              <a:buFont typeface="Helvetica Neue"/>
              <a:buChar char="•"/>
              <a:defRPr b="0" i="0" sz="4400" u="none" cap="none" strike="noStrike">
                <a:solidFill>
                  <a:srgbClr val="000000"/>
                </a:solidFill>
                <a:latin typeface="Helvetica Neue"/>
                <a:ea typeface="Helvetica Neue"/>
                <a:cs typeface="Helvetica Neue"/>
                <a:sym typeface="Helvetica Neue"/>
              </a:defRPr>
            </a:lvl8pPr>
            <a:lvl9pPr indent="-633729" lvl="8" marL="4114800" marR="0" rtl="0" algn="l">
              <a:lnSpc>
                <a:spcPct val="100000"/>
              </a:lnSpc>
              <a:spcBef>
                <a:spcPts val="5900"/>
              </a:spcBef>
              <a:spcAft>
                <a:spcPts val="0"/>
              </a:spcAft>
              <a:buClr>
                <a:srgbClr val="000000"/>
              </a:buClr>
              <a:buSzPts val="6380"/>
              <a:buFont typeface="Helvetica Neue"/>
              <a:buChar char="•"/>
              <a:defRPr b="0" i="0" sz="4400" u="none" cap="none" strike="noStrike">
                <a:solidFill>
                  <a:srgbClr val="000000"/>
                </a:solidFill>
                <a:latin typeface="Helvetica Neue"/>
                <a:ea typeface="Helvetica Neue"/>
                <a:cs typeface="Helvetica Neue"/>
                <a:sym typeface="Helvetica Neue"/>
              </a:defRPr>
            </a:lvl9pPr>
          </a:lstStyle>
          <a:p/>
        </p:txBody>
      </p:sp>
      <p:sp>
        <p:nvSpPr>
          <p:cNvPr id="8" name="Google Shape;8;p12"/>
          <p:cNvSpPr txBox="1"/>
          <p:nvPr>
            <p:ph idx="12" type="sldNum"/>
          </p:nvPr>
        </p:nvSpPr>
        <p:spPr>
          <a:xfrm>
            <a:off x="11954103" y="13073062"/>
            <a:ext cx="466269" cy="477671"/>
          </a:xfrm>
          <a:prstGeom prst="rect">
            <a:avLst/>
          </a:prstGeom>
          <a:noFill/>
          <a:ln>
            <a:noFill/>
          </a:ln>
        </p:spPr>
        <p:txBody>
          <a:bodyPr anchorCtr="0" anchor="t" bIns="71425" lIns="71425" spcFirstLastPara="1" rIns="71425" wrap="square" tIns="71425">
            <a:spAutoFit/>
          </a:bodyPr>
          <a:lstStyle>
            <a:lvl1pPr indent="0" lvl="0" marL="0" marR="0" rtl="0" algn="ctr">
              <a:lnSpc>
                <a:spcPct val="100000"/>
              </a:lnSpc>
              <a:spcBef>
                <a:spcPts val="0"/>
              </a:spcBef>
              <a:spcAft>
                <a:spcPts val="0"/>
              </a:spcAft>
              <a:buClr>
                <a:srgbClr val="000000"/>
              </a:buClr>
              <a:buSzPts val="2200"/>
              <a:buFont typeface="Helvetica Neue Light"/>
              <a:buNone/>
              <a:defRPr b="0" i="0" sz="2200" u="none" cap="none" strike="noStrike">
                <a:solidFill>
                  <a:srgbClr val="000000"/>
                </a:solidFill>
                <a:latin typeface="Helvetica Neue Light"/>
                <a:ea typeface="Helvetica Neue Light"/>
                <a:cs typeface="Helvetica Neue Light"/>
                <a:sym typeface="Helvetica Neue Light"/>
              </a:defRPr>
            </a:lvl1pPr>
            <a:lvl2pPr indent="0" lvl="1" marL="0" marR="0" rtl="0" algn="ctr">
              <a:lnSpc>
                <a:spcPct val="100000"/>
              </a:lnSpc>
              <a:spcBef>
                <a:spcPts val="0"/>
              </a:spcBef>
              <a:spcAft>
                <a:spcPts val="0"/>
              </a:spcAft>
              <a:buClr>
                <a:srgbClr val="000000"/>
              </a:buClr>
              <a:buSzPts val="2200"/>
              <a:buFont typeface="Helvetica Neue Light"/>
              <a:buNone/>
              <a:defRPr b="0" i="0" sz="2200" u="none" cap="none" strike="noStrike">
                <a:solidFill>
                  <a:srgbClr val="000000"/>
                </a:solidFill>
                <a:latin typeface="Helvetica Neue Light"/>
                <a:ea typeface="Helvetica Neue Light"/>
                <a:cs typeface="Helvetica Neue Light"/>
                <a:sym typeface="Helvetica Neue Light"/>
              </a:defRPr>
            </a:lvl2pPr>
            <a:lvl3pPr indent="0" lvl="2" marL="0" marR="0" rtl="0" algn="ctr">
              <a:lnSpc>
                <a:spcPct val="100000"/>
              </a:lnSpc>
              <a:spcBef>
                <a:spcPts val="0"/>
              </a:spcBef>
              <a:spcAft>
                <a:spcPts val="0"/>
              </a:spcAft>
              <a:buClr>
                <a:srgbClr val="000000"/>
              </a:buClr>
              <a:buSzPts val="2200"/>
              <a:buFont typeface="Helvetica Neue Light"/>
              <a:buNone/>
              <a:defRPr b="0" i="0" sz="2200" u="none" cap="none" strike="noStrike">
                <a:solidFill>
                  <a:srgbClr val="000000"/>
                </a:solidFill>
                <a:latin typeface="Helvetica Neue Light"/>
                <a:ea typeface="Helvetica Neue Light"/>
                <a:cs typeface="Helvetica Neue Light"/>
                <a:sym typeface="Helvetica Neue Light"/>
              </a:defRPr>
            </a:lvl3pPr>
            <a:lvl4pPr indent="0" lvl="3" marL="0" marR="0" rtl="0" algn="ctr">
              <a:lnSpc>
                <a:spcPct val="100000"/>
              </a:lnSpc>
              <a:spcBef>
                <a:spcPts val="0"/>
              </a:spcBef>
              <a:spcAft>
                <a:spcPts val="0"/>
              </a:spcAft>
              <a:buClr>
                <a:srgbClr val="000000"/>
              </a:buClr>
              <a:buSzPts val="2200"/>
              <a:buFont typeface="Helvetica Neue Light"/>
              <a:buNone/>
              <a:defRPr b="0" i="0" sz="2200" u="none" cap="none" strike="noStrike">
                <a:solidFill>
                  <a:srgbClr val="000000"/>
                </a:solidFill>
                <a:latin typeface="Helvetica Neue Light"/>
                <a:ea typeface="Helvetica Neue Light"/>
                <a:cs typeface="Helvetica Neue Light"/>
                <a:sym typeface="Helvetica Neue Light"/>
              </a:defRPr>
            </a:lvl4pPr>
            <a:lvl5pPr indent="0" lvl="4" marL="0" marR="0" rtl="0" algn="ctr">
              <a:lnSpc>
                <a:spcPct val="100000"/>
              </a:lnSpc>
              <a:spcBef>
                <a:spcPts val="0"/>
              </a:spcBef>
              <a:spcAft>
                <a:spcPts val="0"/>
              </a:spcAft>
              <a:buClr>
                <a:srgbClr val="000000"/>
              </a:buClr>
              <a:buSzPts val="2200"/>
              <a:buFont typeface="Helvetica Neue Light"/>
              <a:buNone/>
              <a:defRPr b="0" i="0" sz="2200" u="none" cap="none" strike="noStrike">
                <a:solidFill>
                  <a:srgbClr val="000000"/>
                </a:solidFill>
                <a:latin typeface="Helvetica Neue Light"/>
                <a:ea typeface="Helvetica Neue Light"/>
                <a:cs typeface="Helvetica Neue Light"/>
                <a:sym typeface="Helvetica Neue Light"/>
              </a:defRPr>
            </a:lvl5pPr>
            <a:lvl6pPr indent="0" lvl="5" marL="0" marR="0" rtl="0" algn="ctr">
              <a:lnSpc>
                <a:spcPct val="100000"/>
              </a:lnSpc>
              <a:spcBef>
                <a:spcPts val="0"/>
              </a:spcBef>
              <a:spcAft>
                <a:spcPts val="0"/>
              </a:spcAft>
              <a:buClr>
                <a:srgbClr val="000000"/>
              </a:buClr>
              <a:buSzPts val="2200"/>
              <a:buFont typeface="Helvetica Neue Light"/>
              <a:buNone/>
              <a:defRPr b="0" i="0" sz="2200" u="none" cap="none" strike="noStrike">
                <a:solidFill>
                  <a:srgbClr val="000000"/>
                </a:solidFill>
                <a:latin typeface="Helvetica Neue Light"/>
                <a:ea typeface="Helvetica Neue Light"/>
                <a:cs typeface="Helvetica Neue Light"/>
                <a:sym typeface="Helvetica Neue Light"/>
              </a:defRPr>
            </a:lvl6pPr>
            <a:lvl7pPr indent="0" lvl="6" marL="0" marR="0" rtl="0" algn="ctr">
              <a:lnSpc>
                <a:spcPct val="100000"/>
              </a:lnSpc>
              <a:spcBef>
                <a:spcPts val="0"/>
              </a:spcBef>
              <a:spcAft>
                <a:spcPts val="0"/>
              </a:spcAft>
              <a:buClr>
                <a:srgbClr val="000000"/>
              </a:buClr>
              <a:buSzPts val="2200"/>
              <a:buFont typeface="Helvetica Neue Light"/>
              <a:buNone/>
              <a:defRPr b="0" i="0" sz="2200" u="none" cap="none" strike="noStrike">
                <a:solidFill>
                  <a:srgbClr val="000000"/>
                </a:solidFill>
                <a:latin typeface="Helvetica Neue Light"/>
                <a:ea typeface="Helvetica Neue Light"/>
                <a:cs typeface="Helvetica Neue Light"/>
                <a:sym typeface="Helvetica Neue Light"/>
              </a:defRPr>
            </a:lvl7pPr>
            <a:lvl8pPr indent="0" lvl="7" marL="0" marR="0" rtl="0" algn="ctr">
              <a:lnSpc>
                <a:spcPct val="100000"/>
              </a:lnSpc>
              <a:spcBef>
                <a:spcPts val="0"/>
              </a:spcBef>
              <a:spcAft>
                <a:spcPts val="0"/>
              </a:spcAft>
              <a:buClr>
                <a:srgbClr val="000000"/>
              </a:buClr>
              <a:buSzPts val="2200"/>
              <a:buFont typeface="Helvetica Neue Light"/>
              <a:buNone/>
              <a:defRPr b="0" i="0" sz="2200" u="none" cap="none" strike="noStrike">
                <a:solidFill>
                  <a:srgbClr val="000000"/>
                </a:solidFill>
                <a:latin typeface="Helvetica Neue Light"/>
                <a:ea typeface="Helvetica Neue Light"/>
                <a:cs typeface="Helvetica Neue Light"/>
                <a:sym typeface="Helvetica Neue Light"/>
              </a:defRPr>
            </a:lvl8pPr>
            <a:lvl9pPr indent="0" lvl="8" marL="0" marR="0" rtl="0" algn="ctr">
              <a:lnSpc>
                <a:spcPct val="100000"/>
              </a:lnSpc>
              <a:spcBef>
                <a:spcPts val="0"/>
              </a:spcBef>
              <a:spcAft>
                <a:spcPts val="0"/>
              </a:spcAft>
              <a:buClr>
                <a:srgbClr val="000000"/>
              </a:buClr>
              <a:buSzPts val="2200"/>
              <a:buFont typeface="Helvetica Neue Light"/>
              <a:buNone/>
              <a:defRPr b="0" i="0" sz="2200" u="none" cap="none" strike="noStrike">
                <a:solidFill>
                  <a:srgbClr val="000000"/>
                </a:solidFill>
                <a:latin typeface="Helvetica Neue Light"/>
                <a:ea typeface="Helvetica Neue Light"/>
                <a:cs typeface="Helvetica Neue Light"/>
                <a:sym typeface="Helvetica Neue Light"/>
              </a:defRPr>
            </a:lvl9pPr>
          </a:lstStyle>
          <a:p>
            <a:pPr indent="0" lvl="0" marL="0" rtl="0" algn="ct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9.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3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3.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2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7.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2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3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2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2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1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2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2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3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3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2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19.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36.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24.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37.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27.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4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28.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30.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38.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40.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43.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image" Target="../media/image35.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image" Target="../media/image44.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image" Target="../media/image31.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image" Target="../media/image4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 name="Shape 34"/>
        <p:cNvGrpSpPr/>
        <p:nvPr/>
      </p:nvGrpSpPr>
      <p:grpSpPr>
        <a:xfrm>
          <a:off x="0" y="0"/>
          <a:ext cx="0" cy="0"/>
          <a:chOff x="0" y="0"/>
          <a:chExt cx="0" cy="0"/>
        </a:xfrm>
      </p:grpSpPr>
      <p:pic>
        <p:nvPicPr>
          <p:cNvPr descr="A picture containing drawing&#10;&#10;Description automatically generated" id="35" name="Google Shape;35;p1"/>
          <p:cNvPicPr preferRelativeResize="0"/>
          <p:nvPr/>
        </p:nvPicPr>
        <p:blipFill rotWithShape="1">
          <a:blip r:embed="rId3">
            <a:alphaModFix/>
          </a:blip>
          <a:srcRect b="0" l="0" r="0" t="0"/>
          <a:stretch/>
        </p:blipFill>
        <p:spPr>
          <a:xfrm>
            <a:off x="1313650" y="1753558"/>
            <a:ext cx="5103775" cy="1429741"/>
          </a:xfrm>
          <a:prstGeom prst="rect">
            <a:avLst/>
          </a:prstGeom>
          <a:noFill/>
          <a:ln>
            <a:noFill/>
          </a:ln>
        </p:spPr>
      </p:pic>
      <p:sp>
        <p:nvSpPr>
          <p:cNvPr id="36" name="Google Shape;36;p1"/>
          <p:cNvSpPr/>
          <p:nvPr/>
        </p:nvSpPr>
        <p:spPr>
          <a:xfrm>
            <a:off x="1795790" y="3025157"/>
            <a:ext cx="5636029" cy="5693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79BF"/>
              </a:buClr>
              <a:buSzPts val="3100"/>
              <a:buFont typeface="Helvetica Neue"/>
              <a:buNone/>
            </a:pPr>
            <a:r>
              <a:rPr b="1" i="0" lang="en-US" sz="3100" u="none" cap="none" strike="noStrike">
                <a:solidFill>
                  <a:srgbClr val="0079BF"/>
                </a:solidFill>
                <a:latin typeface="Helvetica Neue"/>
                <a:ea typeface="Helvetica Neue"/>
                <a:cs typeface="Helvetica Neue"/>
                <a:sym typeface="Helvetica Neue"/>
              </a:rPr>
              <a:t>WAY TO ENTERPRISE</a:t>
            </a:r>
            <a:endParaRPr b="0" i="0" sz="1400" u="none" cap="none" strike="noStrike">
              <a:solidFill>
                <a:srgbClr val="000000"/>
              </a:solidFill>
              <a:latin typeface="Arial"/>
              <a:ea typeface="Arial"/>
              <a:cs typeface="Arial"/>
              <a:sym typeface="Arial"/>
            </a:endParaRPr>
          </a:p>
        </p:txBody>
      </p:sp>
      <p:sp>
        <p:nvSpPr>
          <p:cNvPr id="37" name="Google Shape;37;p1"/>
          <p:cNvSpPr txBox="1"/>
          <p:nvPr/>
        </p:nvSpPr>
        <p:spPr>
          <a:xfrm>
            <a:off x="1959429" y="3853744"/>
            <a:ext cx="20876821" cy="4182551"/>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79BF"/>
              </a:buClr>
              <a:buSzPts val="4400"/>
              <a:buFont typeface="Helvetica Neue"/>
              <a:buNone/>
            </a:pPr>
            <a:r>
              <a:rPr b="0" i="0" lang="en-US" sz="9600" u="none" cap="none" strike="noStrike">
                <a:solidFill>
                  <a:srgbClr val="0079BF"/>
                </a:solidFill>
                <a:latin typeface="Roboto Condensed"/>
                <a:ea typeface="Roboto Condensed"/>
                <a:cs typeface="Roboto Condensed"/>
                <a:sym typeface="Roboto Condensed"/>
              </a:rPr>
              <a:t>Fault-Tolerant &amp; OAuth2</a:t>
            </a:r>
            <a:endParaRPr b="0" i="0" sz="9600" u="none" cap="none" strike="noStrike">
              <a:solidFill>
                <a:srgbClr val="0079BF"/>
              </a:solidFill>
              <a:latin typeface="Roboto Condensed"/>
              <a:ea typeface="Roboto Condensed"/>
              <a:cs typeface="Roboto Condensed"/>
              <a:sym typeface="Roboto Condensed"/>
            </a:endParaRPr>
          </a:p>
        </p:txBody>
      </p:sp>
      <p:sp>
        <p:nvSpPr>
          <p:cNvPr id="38" name="Google Shape;38;p1"/>
          <p:cNvSpPr txBox="1"/>
          <p:nvPr/>
        </p:nvSpPr>
        <p:spPr>
          <a:xfrm>
            <a:off x="1795790" y="8295495"/>
            <a:ext cx="11871552" cy="284166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9BF"/>
              </a:buClr>
              <a:buSzPts val="3000"/>
              <a:buFont typeface="Arial"/>
              <a:buNone/>
            </a:pPr>
            <a:r>
              <a:rPr b="1" i="0" lang="en-US" sz="5000" u="none" cap="none" strike="noStrike">
                <a:solidFill>
                  <a:srgbClr val="0079BF"/>
                </a:solidFill>
                <a:latin typeface="Arial"/>
                <a:ea typeface="Arial"/>
                <a:cs typeface="Arial"/>
                <a:sym typeface="Arial"/>
              </a:rPr>
              <a:t>VTI ACADEMY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79BF"/>
              </a:buClr>
              <a:buSzPts val="3000"/>
              <a:buFont typeface="Arial"/>
              <a:buNone/>
            </a:pPr>
            <a:r>
              <a:rPr b="1" i="0" lang="en-US" sz="5000" u="none" cap="none" strike="noStrike">
                <a:solidFill>
                  <a:srgbClr val="0079BF"/>
                </a:solidFill>
                <a:latin typeface="Arial"/>
                <a:ea typeface="Arial"/>
                <a:cs typeface="Arial"/>
                <a:sym typeface="Arial"/>
              </a:rPr>
              <a:t>Author: </a:t>
            </a:r>
            <a:r>
              <a:rPr b="1" i="0" lang="en-US" sz="5000" u="sng" cap="none" strike="noStrike">
                <a:solidFill>
                  <a:srgbClr val="0079BF"/>
                </a:solidFill>
                <a:latin typeface="Arial"/>
                <a:ea typeface="Arial"/>
                <a:cs typeface="Arial"/>
                <a:sym typeface="Arial"/>
              </a:rPr>
              <a:t>namviet0710@gmail.com</a:t>
            </a:r>
            <a:endParaRPr b="1" i="0" sz="5000" u="none" cap="none" strike="noStrike">
              <a:solidFill>
                <a:srgbClr val="0079BF"/>
              </a:solidFill>
              <a:latin typeface="Arial"/>
              <a:ea typeface="Arial"/>
              <a:cs typeface="Arial"/>
              <a:sym typeface="Arial"/>
            </a:endParaRPr>
          </a:p>
          <a:p>
            <a:pPr indent="0" lvl="0" marL="0" marR="0" rtl="0" algn="l">
              <a:lnSpc>
                <a:spcPct val="100000"/>
              </a:lnSpc>
              <a:spcBef>
                <a:spcPts val="1000"/>
              </a:spcBef>
              <a:spcAft>
                <a:spcPts val="0"/>
              </a:spcAft>
              <a:buClr>
                <a:srgbClr val="0079BF"/>
              </a:buClr>
              <a:buSzPts val="3000"/>
              <a:buFont typeface="Arial"/>
              <a:buNone/>
            </a:pPr>
            <a:r>
              <a:rPr b="1" i="0" lang="en-US" sz="5000" u="none" cap="none" strike="noStrike">
                <a:solidFill>
                  <a:srgbClr val="0079BF"/>
                </a:solidFill>
                <a:latin typeface="Arial"/>
                <a:ea typeface="Arial"/>
                <a:cs typeface="Arial"/>
                <a:sym typeface="Arial"/>
              </a:rPr>
              <a:t>February 2024</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 name="Shape 42"/>
        <p:cNvGrpSpPr/>
        <p:nvPr/>
      </p:nvGrpSpPr>
      <p:grpSpPr>
        <a:xfrm>
          <a:off x="0" y="0"/>
          <a:ext cx="0" cy="0"/>
          <a:chOff x="0" y="0"/>
          <a:chExt cx="0" cy="0"/>
        </a:xfrm>
      </p:grpSpPr>
      <p:sp>
        <p:nvSpPr>
          <p:cNvPr id="43" name="Google Shape;43;p2"/>
          <p:cNvSpPr txBox="1"/>
          <p:nvPr>
            <p:ph type="title"/>
          </p:nvPr>
        </p:nvSpPr>
        <p:spPr>
          <a:xfrm>
            <a:off x="1845217" y="357188"/>
            <a:ext cx="15794390" cy="1710326"/>
          </a:xfrm>
          <a:prstGeom prst="rect">
            <a:avLst/>
          </a:prstGeom>
          <a:noFill/>
          <a:ln>
            <a:noFill/>
          </a:ln>
        </p:spPr>
        <p:txBody>
          <a:bodyPr anchorCtr="0" anchor="ctr" bIns="71425" lIns="71425" spcFirstLastPara="1" rIns="71425" wrap="square" tIns="71425">
            <a:normAutofit/>
          </a:bodyPr>
          <a:lstStyle/>
          <a:p>
            <a:pPr indent="0" lvl="0" marL="0" rtl="0" algn="l">
              <a:lnSpc>
                <a:spcPct val="100000"/>
              </a:lnSpc>
              <a:spcBef>
                <a:spcPts val="0"/>
              </a:spcBef>
              <a:spcAft>
                <a:spcPts val="0"/>
              </a:spcAft>
              <a:buClr>
                <a:srgbClr val="0079BF"/>
              </a:buClr>
              <a:buSzPts val="8200"/>
              <a:buFont typeface="Calibri"/>
              <a:buNone/>
            </a:pPr>
            <a:r>
              <a:rPr lang="en-US">
                <a:solidFill>
                  <a:srgbClr val="0079BF"/>
                </a:solidFill>
                <a:latin typeface="Calibri"/>
                <a:ea typeface="Calibri"/>
                <a:cs typeface="Calibri"/>
                <a:sym typeface="Calibri"/>
              </a:rPr>
              <a:t>Agenda</a:t>
            </a:r>
            <a:endParaRPr/>
          </a:p>
        </p:txBody>
      </p:sp>
      <p:sp>
        <p:nvSpPr>
          <p:cNvPr id="44" name="Google Shape;44;p2"/>
          <p:cNvSpPr/>
          <p:nvPr/>
        </p:nvSpPr>
        <p:spPr>
          <a:xfrm>
            <a:off x="8898777" y="13198291"/>
            <a:ext cx="6688049" cy="43088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lt1"/>
              </a:buClr>
              <a:buSzPts val="2200"/>
              <a:buFont typeface="Meiryo"/>
              <a:buNone/>
            </a:pPr>
            <a:r>
              <a:rPr b="0" i="0" lang="en-US" sz="2200" u="none" cap="none" strike="noStrike">
                <a:solidFill>
                  <a:schemeClr val="lt1"/>
                </a:solidFill>
                <a:latin typeface="Meiryo"/>
                <a:ea typeface="Meiryo"/>
                <a:cs typeface="Meiryo"/>
                <a:sym typeface="Meiryo"/>
              </a:rPr>
              <a:t>Copyright </a:t>
            </a:r>
            <a:r>
              <a:rPr b="0" i="1" lang="en-US" sz="2200" u="none" cap="none" strike="noStrike">
                <a:solidFill>
                  <a:schemeClr val="lt1"/>
                </a:solidFill>
                <a:latin typeface="Meiryo"/>
                <a:ea typeface="Meiryo"/>
                <a:cs typeface="Meiryo"/>
                <a:sym typeface="Meiryo"/>
              </a:rPr>
              <a:t>© </a:t>
            </a:r>
            <a:r>
              <a:rPr b="0" i="0" lang="en-US" sz="2200" u="none" cap="none" strike="noStrike">
                <a:solidFill>
                  <a:schemeClr val="lt1"/>
                </a:solidFill>
                <a:latin typeface="Meiryo"/>
                <a:ea typeface="Meiryo"/>
                <a:cs typeface="Meiryo"/>
                <a:sym typeface="Meiryo"/>
              </a:rPr>
              <a:t>VTI Academy All Rights Reserved </a:t>
            </a:r>
            <a:endParaRPr b="0" i="0" sz="1400" u="none" cap="none" strike="noStrike">
              <a:solidFill>
                <a:srgbClr val="000000"/>
              </a:solidFill>
              <a:latin typeface="Arial"/>
              <a:ea typeface="Arial"/>
              <a:cs typeface="Arial"/>
              <a:sym typeface="Arial"/>
            </a:endParaRPr>
          </a:p>
        </p:txBody>
      </p:sp>
      <p:sp>
        <p:nvSpPr>
          <p:cNvPr id="45" name="Google Shape;45;p2"/>
          <p:cNvSpPr txBox="1"/>
          <p:nvPr/>
        </p:nvSpPr>
        <p:spPr>
          <a:xfrm>
            <a:off x="1845217" y="2402496"/>
            <a:ext cx="21401314" cy="9329058"/>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000000"/>
              </a:buClr>
              <a:buSzPts val="3960"/>
              <a:buFont typeface="Noto Sans Symbols"/>
              <a:buChar char="❑"/>
            </a:pPr>
            <a:r>
              <a:rPr b="0" i="0" lang="en-US" sz="6600" u="none" cap="none" strike="noStrike">
                <a:solidFill>
                  <a:srgbClr val="000000"/>
                </a:solidFill>
                <a:latin typeface="Arial"/>
                <a:ea typeface="Arial"/>
                <a:cs typeface="Arial"/>
                <a:sym typeface="Arial"/>
              </a:rPr>
              <a:t> Circuit Breaker Pattern.</a:t>
            </a:r>
            <a:endParaRPr/>
          </a:p>
          <a:p>
            <a:pPr indent="-342900" lvl="0" marL="342900" marR="0" rtl="0" algn="l">
              <a:lnSpc>
                <a:spcPct val="100000"/>
              </a:lnSpc>
              <a:spcBef>
                <a:spcPts val="0"/>
              </a:spcBef>
              <a:spcAft>
                <a:spcPts val="0"/>
              </a:spcAft>
              <a:buClr>
                <a:srgbClr val="000000"/>
              </a:buClr>
              <a:buSzPts val="3960"/>
              <a:buFont typeface="Noto Sans Symbols"/>
              <a:buChar char="❑"/>
            </a:pPr>
            <a:r>
              <a:rPr b="0" i="0" lang="en-US" sz="6600" u="none" cap="none" strike="noStrike">
                <a:solidFill>
                  <a:srgbClr val="000000"/>
                </a:solidFill>
                <a:latin typeface="Arial"/>
                <a:ea typeface="Arial"/>
                <a:cs typeface="Arial"/>
                <a:sym typeface="Arial"/>
              </a:rPr>
              <a:t> </a:t>
            </a:r>
            <a:r>
              <a:rPr b="0" i="0" lang="en-US" sz="6600" u="none" cap="none" strike="noStrike">
                <a:solidFill>
                  <a:srgbClr val="000000"/>
                </a:solidFill>
                <a:latin typeface="Roboto Condensed"/>
                <a:ea typeface="Roboto Condensed"/>
                <a:cs typeface="Roboto Condensed"/>
                <a:sym typeface="Roboto Condensed"/>
              </a:rPr>
              <a:t>Resilience4j Library?</a:t>
            </a:r>
            <a:endParaRPr b="0" i="0" sz="6600" u="none" cap="none" strike="noStrike">
              <a:solidFill>
                <a:srgbClr val="000000"/>
              </a:solidFill>
              <a:latin typeface="Roboto Condensed"/>
              <a:ea typeface="Roboto Condensed"/>
              <a:cs typeface="Roboto Condensed"/>
              <a:sym typeface="Roboto Condensed"/>
            </a:endParaRPr>
          </a:p>
          <a:p>
            <a:pPr indent="-342900" lvl="1" marL="342900" marR="0" rtl="0" algn="l">
              <a:lnSpc>
                <a:spcPct val="100000"/>
              </a:lnSpc>
              <a:spcBef>
                <a:spcPts val="0"/>
              </a:spcBef>
              <a:spcAft>
                <a:spcPts val="0"/>
              </a:spcAft>
              <a:buClr>
                <a:srgbClr val="000000"/>
              </a:buClr>
              <a:buSzPts val="3960"/>
              <a:buFont typeface="Noto Sans Symbols"/>
              <a:buChar char="❑"/>
            </a:pPr>
            <a:r>
              <a:rPr b="0" i="0" lang="en-US" sz="6600" u="none" cap="none" strike="noStrike">
                <a:solidFill>
                  <a:srgbClr val="000000"/>
                </a:solidFill>
                <a:latin typeface="Arial"/>
                <a:ea typeface="Arial"/>
                <a:cs typeface="Arial"/>
                <a:sym typeface="Arial"/>
              </a:rPr>
              <a:t> Implement Circuit </a:t>
            </a:r>
            <a:r>
              <a:rPr lang="en-US" sz="6600"/>
              <a:t>Breaker</a:t>
            </a:r>
            <a:r>
              <a:rPr b="0" i="0" lang="en-US" sz="6600" u="none" cap="none" strike="noStrike">
                <a:solidFill>
                  <a:srgbClr val="000000"/>
                </a:solidFill>
                <a:latin typeface="Arial"/>
                <a:ea typeface="Arial"/>
                <a:cs typeface="Arial"/>
                <a:sym typeface="Arial"/>
              </a:rPr>
              <a:t> With Resilience4j</a:t>
            </a:r>
            <a:endParaRPr/>
          </a:p>
          <a:p>
            <a:pPr indent="-342900" lvl="0" marL="342900" marR="0" rtl="0" algn="l">
              <a:lnSpc>
                <a:spcPct val="100000"/>
              </a:lnSpc>
              <a:spcBef>
                <a:spcPts val="0"/>
              </a:spcBef>
              <a:spcAft>
                <a:spcPts val="0"/>
              </a:spcAft>
              <a:buClr>
                <a:srgbClr val="000000"/>
              </a:buClr>
              <a:buSzPts val="3960"/>
              <a:buFont typeface="Noto Sans Symbols"/>
              <a:buChar char="❑"/>
            </a:pPr>
            <a:r>
              <a:rPr b="0" i="0" lang="en-US" sz="6600" u="none" cap="none" strike="noStrike">
                <a:solidFill>
                  <a:srgbClr val="000000"/>
                </a:solidFill>
                <a:latin typeface="Arial"/>
                <a:ea typeface="Arial"/>
                <a:cs typeface="Arial"/>
                <a:sym typeface="Arial"/>
              </a:rPr>
              <a:t> </a:t>
            </a:r>
            <a:r>
              <a:rPr b="0" i="0" lang="en-US" sz="6600" u="none" cap="none" strike="noStrike">
                <a:solidFill>
                  <a:srgbClr val="000000"/>
                </a:solidFill>
                <a:latin typeface="Roboto Condensed"/>
                <a:ea typeface="Roboto Condensed"/>
                <a:cs typeface="Roboto Condensed"/>
                <a:sym typeface="Roboto Condensed"/>
              </a:rPr>
              <a:t>What is OAuth (</a:t>
            </a:r>
            <a:r>
              <a:rPr b="0" i="0" lang="en-US" sz="6600" u="none" cap="none" strike="noStrike">
                <a:solidFill>
                  <a:srgbClr val="202124"/>
                </a:solidFill>
                <a:highlight>
                  <a:srgbClr val="FFFFFF"/>
                </a:highlight>
                <a:latin typeface="Roboto Condensed"/>
                <a:ea typeface="Roboto Condensed"/>
                <a:cs typeface="Roboto Condensed"/>
                <a:sym typeface="Roboto Condensed"/>
              </a:rPr>
              <a:t>Open Authorization) ?</a:t>
            </a:r>
            <a:endParaRPr b="0" i="0" sz="6600" u="none" cap="none" strike="noStrike">
              <a:solidFill>
                <a:srgbClr val="000000"/>
              </a:solidFill>
              <a:latin typeface="Roboto Condensed"/>
              <a:ea typeface="Roboto Condensed"/>
              <a:cs typeface="Roboto Condensed"/>
              <a:sym typeface="Roboto Condensed"/>
            </a:endParaRPr>
          </a:p>
          <a:p>
            <a:pPr indent="-342900" lvl="0" marL="342900" marR="0" rtl="0" algn="l">
              <a:lnSpc>
                <a:spcPct val="100000"/>
              </a:lnSpc>
              <a:spcBef>
                <a:spcPts val="0"/>
              </a:spcBef>
              <a:spcAft>
                <a:spcPts val="0"/>
              </a:spcAft>
              <a:buClr>
                <a:srgbClr val="000000"/>
              </a:buClr>
              <a:buSzPts val="3960"/>
              <a:buFont typeface="Noto Sans Symbols"/>
              <a:buChar char="❑"/>
            </a:pPr>
            <a:r>
              <a:rPr b="0" i="0" lang="en-US" sz="6600" u="none" cap="none" strike="noStrike">
                <a:solidFill>
                  <a:srgbClr val="000000"/>
                </a:solidFill>
                <a:latin typeface="Arial"/>
                <a:ea typeface="Arial"/>
                <a:cs typeface="Arial"/>
                <a:sym typeface="Arial"/>
              </a:rPr>
              <a:t> Implement OAuth2 With Springboot Application</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 name="Shape 49"/>
        <p:cNvGrpSpPr/>
        <p:nvPr/>
      </p:nvGrpSpPr>
      <p:grpSpPr>
        <a:xfrm>
          <a:off x="0" y="0"/>
          <a:ext cx="0" cy="0"/>
          <a:chOff x="0" y="0"/>
          <a:chExt cx="0" cy="0"/>
        </a:xfrm>
      </p:grpSpPr>
      <p:sp>
        <p:nvSpPr>
          <p:cNvPr id="50" name="Google Shape;50;p18"/>
          <p:cNvSpPr txBox="1"/>
          <p:nvPr/>
        </p:nvSpPr>
        <p:spPr>
          <a:xfrm>
            <a:off x="1200148" y="571499"/>
            <a:ext cx="15610743" cy="807136"/>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79BF"/>
              </a:buClr>
              <a:buSzPts val="4400"/>
              <a:buFont typeface="Helvetica Neue"/>
              <a:buNone/>
            </a:pPr>
            <a:r>
              <a:rPr b="1" i="0" lang="en-US" sz="6000" u="none" cap="none" strike="noStrike">
                <a:solidFill>
                  <a:srgbClr val="0079BF"/>
                </a:solidFill>
                <a:latin typeface="Roboto Condensed"/>
                <a:ea typeface="Roboto Condensed"/>
                <a:cs typeface="Roboto Condensed"/>
                <a:sym typeface="Roboto Condensed"/>
              </a:rPr>
              <a:t>Fault-Tolerant &amp; OAuth2</a:t>
            </a:r>
            <a:endParaRPr b="1" i="0" sz="6000" u="none" cap="none" strike="noStrike">
              <a:solidFill>
                <a:srgbClr val="4F81BD"/>
              </a:solidFill>
              <a:latin typeface="Roboto Condensed"/>
              <a:ea typeface="Roboto Condensed"/>
              <a:cs typeface="Roboto Condensed"/>
              <a:sym typeface="Roboto Condensed"/>
            </a:endParaRPr>
          </a:p>
        </p:txBody>
      </p:sp>
      <p:sp>
        <p:nvSpPr>
          <p:cNvPr id="51" name="Google Shape;51;p18"/>
          <p:cNvSpPr txBox="1"/>
          <p:nvPr/>
        </p:nvSpPr>
        <p:spPr>
          <a:xfrm>
            <a:off x="1200149" y="1564634"/>
            <a:ext cx="19450051"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600" u="none" cap="none" strike="noStrike">
                <a:solidFill>
                  <a:srgbClr val="0079BF"/>
                </a:solidFill>
                <a:latin typeface="Roboto Condensed"/>
                <a:ea typeface="Roboto Condensed"/>
                <a:cs typeface="Roboto Condensed"/>
                <a:sym typeface="Roboto Condensed"/>
              </a:rPr>
              <a:t>1</a:t>
            </a:r>
            <a:r>
              <a:rPr b="1" i="0" lang="en-US" sz="3600" u="none" cap="none" strike="noStrike">
                <a:solidFill>
                  <a:srgbClr val="000000"/>
                </a:solidFill>
                <a:latin typeface="Roboto Condensed"/>
                <a:ea typeface="Roboto Condensed"/>
                <a:cs typeface="Roboto Condensed"/>
                <a:sym typeface="Roboto Condensed"/>
              </a:rPr>
              <a:t>. </a:t>
            </a:r>
            <a:r>
              <a:rPr b="1" i="0" lang="en-US" sz="3600" u="none" cap="none" strike="noStrike">
                <a:solidFill>
                  <a:srgbClr val="0070C0"/>
                </a:solidFill>
                <a:latin typeface="Roboto Condensed"/>
                <a:ea typeface="Roboto Condensed"/>
                <a:cs typeface="Roboto Condensed"/>
                <a:sym typeface="Roboto Condensed"/>
              </a:rPr>
              <a:t>Circuit Breaker Pattern</a:t>
            </a:r>
            <a:endParaRPr b="1" i="0" sz="3600" u="none" cap="none" strike="noStrike">
              <a:solidFill>
                <a:srgbClr val="0070C0"/>
              </a:solidFill>
              <a:latin typeface="Roboto Condensed"/>
              <a:ea typeface="Roboto Condensed"/>
              <a:cs typeface="Roboto Condensed"/>
              <a:sym typeface="Roboto Condensed"/>
            </a:endParaRPr>
          </a:p>
        </p:txBody>
      </p:sp>
      <p:sp>
        <p:nvSpPr>
          <p:cNvPr id="52" name="Google Shape;52;p18"/>
          <p:cNvSpPr txBox="1"/>
          <p:nvPr/>
        </p:nvSpPr>
        <p:spPr>
          <a:xfrm>
            <a:off x="1464277" y="2534447"/>
            <a:ext cx="11248423" cy="513986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200" u="none" cap="none" strike="noStrike">
                <a:solidFill>
                  <a:schemeClr val="dk1"/>
                </a:solidFill>
                <a:latin typeface="Roboto Condensed"/>
                <a:ea typeface="Roboto Condensed"/>
                <a:cs typeface="Roboto Condensed"/>
                <a:sym typeface="Roboto Condensed"/>
              </a:rPr>
              <a:t>1.1 </a:t>
            </a:r>
            <a:r>
              <a:rPr b="1" i="0" lang="en-US" sz="3200" u="none" cap="none" strike="noStrike">
                <a:solidFill>
                  <a:srgbClr val="242424"/>
                </a:solidFill>
                <a:highlight>
                  <a:srgbClr val="FFFFFF"/>
                </a:highlight>
                <a:latin typeface="Arial"/>
                <a:ea typeface="Arial"/>
                <a:cs typeface="Arial"/>
                <a:sym typeface="Arial"/>
              </a:rPr>
              <a:t>Cascading failures in microservices</a:t>
            </a:r>
            <a:endParaRPr b="1" i="0" sz="3200" u="none" cap="none" strike="noStrike">
              <a:solidFill>
                <a:schemeClr val="dk1"/>
              </a:solidFill>
              <a:latin typeface="Arial"/>
              <a:ea typeface="Arial"/>
              <a:cs typeface="Arial"/>
              <a:sym typeface="Arial"/>
            </a:endParaRPr>
          </a:p>
          <a:p>
            <a:pPr indent="-457200" lvl="0" marL="457200" marR="0" rtl="0" algn="l">
              <a:lnSpc>
                <a:spcPct val="100000"/>
              </a:lnSpc>
              <a:spcBef>
                <a:spcPts val="0"/>
              </a:spcBef>
              <a:spcAft>
                <a:spcPts val="0"/>
              </a:spcAft>
              <a:buClr>
                <a:srgbClr val="000000"/>
              </a:buClr>
              <a:buSzPts val="3200"/>
              <a:buFont typeface="Arial"/>
              <a:buChar char="•"/>
            </a:pPr>
            <a:r>
              <a:rPr b="0" i="0" lang="en-US" sz="3200" u="none" cap="none" strike="noStrike">
                <a:solidFill>
                  <a:srgbClr val="161616"/>
                </a:solidFill>
                <a:highlight>
                  <a:srgbClr val="FFFFFF"/>
                </a:highlight>
                <a:latin typeface="Roboto Condensed"/>
                <a:ea typeface="Roboto Condensed"/>
                <a:cs typeface="Roboto Condensed"/>
                <a:sym typeface="Roboto Condensed"/>
              </a:rPr>
              <a:t>Kiến trúc microservices mang lại nhiều lợi ích so với kiến trúc nguyên khối (monolithic).</a:t>
            </a:r>
            <a:endParaRPr b="0" i="0" sz="3200" u="none" cap="none" strike="noStrike">
              <a:solidFill>
                <a:srgbClr val="212529"/>
              </a:solidFill>
              <a:highlight>
                <a:srgbClr val="FFFFFF"/>
              </a:highlight>
              <a:latin typeface="Roboto Condensed"/>
              <a:ea typeface="Roboto Condensed"/>
              <a:cs typeface="Roboto Condensed"/>
              <a:sym typeface="Roboto Condensed"/>
            </a:endParaRPr>
          </a:p>
          <a:p>
            <a:pPr indent="-457200" lvl="0" marL="457200" marR="0" rtl="0" algn="l">
              <a:lnSpc>
                <a:spcPct val="100000"/>
              </a:lnSpc>
              <a:spcBef>
                <a:spcPts val="0"/>
              </a:spcBef>
              <a:spcAft>
                <a:spcPts val="0"/>
              </a:spcAft>
              <a:buClr>
                <a:srgbClr val="000000"/>
              </a:buClr>
              <a:buSzPts val="3200"/>
              <a:buFont typeface="Arial"/>
              <a:buChar char="•"/>
            </a:pPr>
            <a:r>
              <a:rPr b="0" i="0" lang="en-US" sz="3200" u="none" cap="none" strike="noStrike">
                <a:solidFill>
                  <a:srgbClr val="161616"/>
                </a:solidFill>
                <a:highlight>
                  <a:srgbClr val="FFFFFF"/>
                </a:highlight>
                <a:latin typeface="Roboto Condensed"/>
                <a:ea typeface="Roboto Condensed"/>
                <a:cs typeface="Roboto Condensed"/>
                <a:sym typeface="Roboto Condensed"/>
              </a:rPr>
              <a:t>Tuy nhiên một trong những vấn đề khó khăn nhất trong kiến trúc microservices đó chính là giải quyết bài toán </a:t>
            </a:r>
            <a:r>
              <a:rPr b="0" i="0" lang="en-US" sz="3200" u="none" cap="none" strike="noStrike">
                <a:solidFill>
                  <a:srgbClr val="242424"/>
                </a:solidFill>
                <a:highlight>
                  <a:srgbClr val="FFFFFF"/>
                </a:highlight>
                <a:latin typeface="Roboto Condensed"/>
                <a:ea typeface="Roboto Condensed"/>
                <a:cs typeface="Roboto Condensed"/>
                <a:sym typeface="Roboto Condensed"/>
              </a:rPr>
              <a:t>Cascading failures</a:t>
            </a:r>
            <a:r>
              <a:rPr b="0" i="0" lang="en-US" sz="3200" u="none" cap="none" strike="noStrike">
                <a:solidFill>
                  <a:srgbClr val="161616"/>
                </a:solidFill>
                <a:highlight>
                  <a:srgbClr val="FFFFFF"/>
                </a:highlight>
                <a:latin typeface="Roboto Condensed"/>
                <a:ea typeface="Roboto Condensed"/>
                <a:cs typeface="Roboto Condensed"/>
                <a:sym typeface="Roboto Condensed"/>
              </a:rPr>
              <a:t>. </a:t>
            </a:r>
            <a:r>
              <a:rPr b="0" i="0" lang="en-US" sz="3200" u="none" cap="none" strike="noStrike">
                <a:solidFill>
                  <a:srgbClr val="242424"/>
                </a:solidFill>
                <a:highlight>
                  <a:srgbClr val="FFFFFF"/>
                </a:highlight>
                <a:latin typeface="Roboto Condensed"/>
                <a:ea typeface="Roboto Condensed"/>
                <a:cs typeface="Roboto Condensed"/>
                <a:sym typeface="Roboto Condensed"/>
              </a:rPr>
              <a:t>Cascading failures</a:t>
            </a:r>
            <a:r>
              <a:rPr b="0" i="0" lang="en-US" sz="3200" u="none" cap="none" strike="noStrike">
                <a:solidFill>
                  <a:srgbClr val="161616"/>
                </a:solidFill>
                <a:highlight>
                  <a:srgbClr val="FFFFFF"/>
                </a:highlight>
                <a:latin typeface="Roboto Condensed"/>
                <a:ea typeface="Roboto Condensed"/>
                <a:cs typeface="Roboto Condensed"/>
                <a:sym typeface="Roboto Condensed"/>
              </a:rPr>
              <a:t> được gọi là lỗi xếp tầng, trong đó lỗi của một vi dịch vụ có thể ảnh hưởng đến những dịch vụ khác phụ thuộc vào nó và hiệu ứng domino xảy ra gây ra lỗi trên toàn hệ thống.</a:t>
            </a:r>
            <a:endParaRPr b="0" i="0" sz="3200" u="none" cap="none" strike="noStrike">
              <a:solidFill>
                <a:srgbClr val="161616"/>
              </a:solidFill>
              <a:highlight>
                <a:srgbClr val="FFFFFF"/>
              </a:highlight>
              <a:latin typeface="Roboto Condensed"/>
              <a:ea typeface="Roboto Condensed"/>
              <a:cs typeface="Roboto Condensed"/>
              <a:sym typeface="Roboto Condensed"/>
            </a:endParaRPr>
          </a:p>
          <a:p>
            <a:pPr indent="-254000" lvl="0" marL="45720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Roboto Condensed"/>
              <a:ea typeface="Roboto Condensed"/>
              <a:cs typeface="Roboto Condensed"/>
              <a:sym typeface="Roboto Condensed"/>
            </a:endParaRPr>
          </a:p>
        </p:txBody>
      </p:sp>
      <p:pic>
        <p:nvPicPr>
          <p:cNvPr id="53" name="Google Shape;53;p18"/>
          <p:cNvPicPr preferRelativeResize="0"/>
          <p:nvPr/>
        </p:nvPicPr>
        <p:blipFill rotWithShape="1">
          <a:blip r:embed="rId3">
            <a:alphaModFix/>
          </a:blip>
          <a:srcRect b="0" l="0" r="0" t="0"/>
          <a:stretch/>
        </p:blipFill>
        <p:spPr>
          <a:xfrm>
            <a:off x="13124711" y="3495801"/>
            <a:ext cx="9487388" cy="417851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 name="Shape 57"/>
        <p:cNvGrpSpPr/>
        <p:nvPr/>
      </p:nvGrpSpPr>
      <p:grpSpPr>
        <a:xfrm>
          <a:off x="0" y="0"/>
          <a:ext cx="0" cy="0"/>
          <a:chOff x="0" y="0"/>
          <a:chExt cx="0" cy="0"/>
        </a:xfrm>
      </p:grpSpPr>
      <p:sp>
        <p:nvSpPr>
          <p:cNvPr id="58" name="Google Shape;58;p19"/>
          <p:cNvSpPr txBox="1"/>
          <p:nvPr/>
        </p:nvSpPr>
        <p:spPr>
          <a:xfrm>
            <a:off x="1200148" y="571499"/>
            <a:ext cx="15610743" cy="807136"/>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79BF"/>
              </a:buClr>
              <a:buSzPts val="4400"/>
              <a:buFont typeface="Helvetica Neue"/>
              <a:buNone/>
            </a:pPr>
            <a:r>
              <a:rPr b="1" i="0" lang="en-US" sz="6000" u="none" cap="none" strike="noStrike">
                <a:solidFill>
                  <a:srgbClr val="0079BF"/>
                </a:solidFill>
                <a:latin typeface="Roboto Condensed"/>
                <a:ea typeface="Roboto Condensed"/>
                <a:cs typeface="Roboto Condensed"/>
                <a:sym typeface="Roboto Condensed"/>
              </a:rPr>
              <a:t>Fault-Tolerant &amp; OAuth2</a:t>
            </a:r>
            <a:endParaRPr b="1" i="0" sz="6000" u="none" cap="none" strike="noStrike">
              <a:solidFill>
                <a:srgbClr val="4F81BD"/>
              </a:solidFill>
              <a:latin typeface="Roboto Condensed"/>
              <a:ea typeface="Roboto Condensed"/>
              <a:cs typeface="Roboto Condensed"/>
              <a:sym typeface="Roboto Condensed"/>
            </a:endParaRPr>
          </a:p>
        </p:txBody>
      </p:sp>
      <p:sp>
        <p:nvSpPr>
          <p:cNvPr id="59" name="Google Shape;59;p19"/>
          <p:cNvSpPr txBox="1"/>
          <p:nvPr/>
        </p:nvSpPr>
        <p:spPr>
          <a:xfrm>
            <a:off x="1200149" y="1564634"/>
            <a:ext cx="19450051"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600" u="none" cap="none" strike="noStrike">
                <a:solidFill>
                  <a:srgbClr val="0079BF"/>
                </a:solidFill>
                <a:latin typeface="Roboto Condensed"/>
                <a:ea typeface="Roboto Condensed"/>
                <a:cs typeface="Roboto Condensed"/>
                <a:sym typeface="Roboto Condensed"/>
              </a:rPr>
              <a:t>1</a:t>
            </a:r>
            <a:r>
              <a:rPr b="1" i="0" lang="en-US" sz="3600" u="none" cap="none" strike="noStrike">
                <a:solidFill>
                  <a:srgbClr val="000000"/>
                </a:solidFill>
                <a:latin typeface="Roboto Condensed"/>
                <a:ea typeface="Roboto Condensed"/>
                <a:cs typeface="Roboto Condensed"/>
                <a:sym typeface="Roboto Condensed"/>
              </a:rPr>
              <a:t>. </a:t>
            </a:r>
            <a:r>
              <a:rPr b="1" i="0" lang="en-US" sz="3600" u="none" cap="none" strike="noStrike">
                <a:solidFill>
                  <a:srgbClr val="0070C0"/>
                </a:solidFill>
                <a:latin typeface="Roboto Condensed"/>
                <a:ea typeface="Roboto Condensed"/>
                <a:cs typeface="Roboto Condensed"/>
                <a:sym typeface="Roboto Condensed"/>
              </a:rPr>
              <a:t>Circuit Breaker Pattern</a:t>
            </a:r>
            <a:endParaRPr b="1" i="0" sz="3600" u="none" cap="none" strike="noStrike">
              <a:solidFill>
                <a:srgbClr val="0070C0"/>
              </a:solidFill>
              <a:latin typeface="Roboto Condensed"/>
              <a:ea typeface="Roboto Condensed"/>
              <a:cs typeface="Roboto Condensed"/>
              <a:sym typeface="Roboto Condensed"/>
            </a:endParaRPr>
          </a:p>
        </p:txBody>
      </p:sp>
      <p:sp>
        <p:nvSpPr>
          <p:cNvPr id="60" name="Google Shape;60;p19"/>
          <p:cNvSpPr txBox="1"/>
          <p:nvPr/>
        </p:nvSpPr>
        <p:spPr>
          <a:xfrm>
            <a:off x="1464277" y="2534447"/>
            <a:ext cx="19516123" cy="15696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200" u="none" cap="none" strike="noStrike">
                <a:solidFill>
                  <a:schemeClr val="dk1"/>
                </a:solidFill>
                <a:latin typeface="Roboto Condensed"/>
                <a:ea typeface="Roboto Condensed"/>
                <a:cs typeface="Roboto Condensed"/>
                <a:sym typeface="Roboto Condensed"/>
              </a:rPr>
              <a:t>1.2 What is Circuit Breaker Pattern ?</a:t>
            </a:r>
            <a:endParaRPr b="1" i="0" sz="3200" u="none" cap="none" strike="noStrike">
              <a:solidFill>
                <a:schemeClr val="dk1"/>
              </a:solidFill>
              <a:latin typeface="Arial"/>
              <a:ea typeface="Arial"/>
              <a:cs typeface="Arial"/>
              <a:sym typeface="Arial"/>
            </a:endParaRPr>
          </a:p>
          <a:p>
            <a:pPr indent="-457200" lvl="0" marL="457200" marR="0" rtl="0" algn="l">
              <a:lnSpc>
                <a:spcPct val="100000"/>
              </a:lnSpc>
              <a:spcBef>
                <a:spcPts val="0"/>
              </a:spcBef>
              <a:spcAft>
                <a:spcPts val="0"/>
              </a:spcAft>
              <a:buClr>
                <a:srgbClr val="000000"/>
              </a:buClr>
              <a:buSzPts val="3200"/>
              <a:buFont typeface="Arial"/>
              <a:buChar char="•"/>
            </a:pPr>
            <a:r>
              <a:rPr b="0" i="0" lang="en-US" sz="3200" u="none" cap="none" strike="noStrike">
                <a:solidFill>
                  <a:srgbClr val="1B1B1B"/>
                </a:solidFill>
                <a:highlight>
                  <a:srgbClr val="FFFFFF"/>
                </a:highlight>
                <a:latin typeface="Roboto Condensed"/>
                <a:ea typeface="Roboto Condensed"/>
                <a:cs typeface="Roboto Condensed"/>
                <a:sym typeface="Roboto Condensed"/>
              </a:rPr>
              <a:t>Circuit breaker là một mẫu thiết kế được tạo ra để bảo vệ ứng dụng/dịch vụ khỏi các dịch vụ phụ thuộc đang bị lỗi hoặc chậm chạp (đang quá tải).</a:t>
            </a:r>
            <a:endParaRPr b="0" i="0" sz="3200" u="none" cap="none" strike="noStrike">
              <a:solidFill>
                <a:srgbClr val="161616"/>
              </a:solidFill>
              <a:highlight>
                <a:srgbClr val="FFFFFF"/>
              </a:highlight>
              <a:latin typeface="Roboto Condensed"/>
              <a:ea typeface="Roboto Condensed"/>
              <a:cs typeface="Roboto Condensed"/>
              <a:sym typeface="Roboto Condensed"/>
            </a:endParaRPr>
          </a:p>
        </p:txBody>
      </p:sp>
      <p:pic>
        <p:nvPicPr>
          <p:cNvPr id="61" name="Google Shape;61;p19"/>
          <p:cNvPicPr preferRelativeResize="0"/>
          <p:nvPr/>
        </p:nvPicPr>
        <p:blipFill rotWithShape="1">
          <a:blip r:embed="rId3">
            <a:alphaModFix/>
          </a:blip>
          <a:srcRect b="0" l="0" r="0" t="0"/>
          <a:stretch/>
        </p:blipFill>
        <p:spPr>
          <a:xfrm>
            <a:off x="2000645" y="4364016"/>
            <a:ext cx="18979755" cy="8158184"/>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20"/>
          <p:cNvSpPr txBox="1"/>
          <p:nvPr/>
        </p:nvSpPr>
        <p:spPr>
          <a:xfrm>
            <a:off x="1200148" y="571499"/>
            <a:ext cx="15610743" cy="807136"/>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79BF"/>
              </a:buClr>
              <a:buSzPts val="4400"/>
              <a:buFont typeface="Helvetica Neue"/>
              <a:buNone/>
            </a:pPr>
            <a:r>
              <a:rPr b="1" i="0" lang="en-US" sz="6000" u="none" cap="none" strike="noStrike">
                <a:solidFill>
                  <a:srgbClr val="0079BF"/>
                </a:solidFill>
                <a:latin typeface="Roboto Condensed"/>
                <a:ea typeface="Roboto Condensed"/>
                <a:cs typeface="Roboto Condensed"/>
                <a:sym typeface="Roboto Condensed"/>
              </a:rPr>
              <a:t>Fault-Tolerant &amp; OAuth2</a:t>
            </a:r>
            <a:endParaRPr b="1" i="0" sz="6000" u="none" cap="none" strike="noStrike">
              <a:solidFill>
                <a:srgbClr val="4F81BD"/>
              </a:solidFill>
              <a:latin typeface="Roboto Condensed"/>
              <a:ea typeface="Roboto Condensed"/>
              <a:cs typeface="Roboto Condensed"/>
              <a:sym typeface="Roboto Condensed"/>
            </a:endParaRPr>
          </a:p>
        </p:txBody>
      </p:sp>
      <p:sp>
        <p:nvSpPr>
          <p:cNvPr id="67" name="Google Shape;67;p20"/>
          <p:cNvSpPr txBox="1"/>
          <p:nvPr/>
        </p:nvSpPr>
        <p:spPr>
          <a:xfrm>
            <a:off x="1200149" y="1564634"/>
            <a:ext cx="19450051"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600" u="none" cap="none" strike="noStrike">
                <a:solidFill>
                  <a:srgbClr val="0079BF"/>
                </a:solidFill>
                <a:latin typeface="Roboto Condensed"/>
                <a:ea typeface="Roboto Condensed"/>
                <a:cs typeface="Roboto Condensed"/>
                <a:sym typeface="Roboto Condensed"/>
              </a:rPr>
              <a:t>1</a:t>
            </a:r>
            <a:r>
              <a:rPr b="1" i="0" lang="en-US" sz="3600" u="none" cap="none" strike="noStrike">
                <a:solidFill>
                  <a:srgbClr val="000000"/>
                </a:solidFill>
                <a:latin typeface="Roboto Condensed"/>
                <a:ea typeface="Roboto Condensed"/>
                <a:cs typeface="Roboto Condensed"/>
                <a:sym typeface="Roboto Condensed"/>
              </a:rPr>
              <a:t>. </a:t>
            </a:r>
            <a:r>
              <a:rPr b="1" i="0" lang="en-US" sz="3600" u="none" cap="none" strike="noStrike">
                <a:solidFill>
                  <a:srgbClr val="0070C0"/>
                </a:solidFill>
                <a:latin typeface="Roboto Condensed"/>
                <a:ea typeface="Roboto Condensed"/>
                <a:cs typeface="Roboto Condensed"/>
                <a:sym typeface="Roboto Condensed"/>
              </a:rPr>
              <a:t>Circuit Breaker Pattern</a:t>
            </a:r>
            <a:endParaRPr b="1" i="0" sz="3600" u="none" cap="none" strike="noStrike">
              <a:solidFill>
                <a:srgbClr val="0070C0"/>
              </a:solidFill>
              <a:latin typeface="Roboto Condensed"/>
              <a:ea typeface="Roboto Condensed"/>
              <a:cs typeface="Roboto Condensed"/>
              <a:sym typeface="Roboto Condensed"/>
            </a:endParaRPr>
          </a:p>
        </p:txBody>
      </p:sp>
      <p:sp>
        <p:nvSpPr>
          <p:cNvPr id="68" name="Google Shape;68;p20"/>
          <p:cNvSpPr txBox="1"/>
          <p:nvPr/>
        </p:nvSpPr>
        <p:spPr>
          <a:xfrm>
            <a:off x="1464277" y="2534447"/>
            <a:ext cx="9838723" cy="464742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200" u="none" cap="none" strike="noStrike">
                <a:solidFill>
                  <a:schemeClr val="dk1"/>
                </a:solidFill>
                <a:latin typeface="Roboto Condensed"/>
                <a:ea typeface="Roboto Condensed"/>
                <a:cs typeface="Roboto Condensed"/>
                <a:sym typeface="Roboto Condensed"/>
              </a:rPr>
              <a:t>1.3 </a:t>
            </a:r>
            <a:r>
              <a:rPr b="1" i="0" lang="en-US" sz="3200" u="none" cap="none" strike="noStrike">
                <a:solidFill>
                  <a:srgbClr val="000000"/>
                </a:solidFill>
                <a:latin typeface="Roboto Condensed"/>
                <a:ea typeface="Roboto Condensed"/>
                <a:cs typeface="Roboto Condensed"/>
                <a:sym typeface="Roboto Condensed"/>
              </a:rPr>
              <a:t>Various States of the Circuit Breaker</a:t>
            </a:r>
            <a:endParaRPr b="1" i="0" sz="3200" u="none" cap="none" strike="noStrike">
              <a:solidFill>
                <a:schemeClr val="dk1"/>
              </a:solidFill>
              <a:latin typeface="Roboto Condensed"/>
              <a:ea typeface="Roboto Condensed"/>
              <a:cs typeface="Roboto Condensed"/>
              <a:sym typeface="Roboto Condensed"/>
            </a:endParaRPr>
          </a:p>
          <a:p>
            <a:pPr indent="-457200" lvl="0" marL="457200" marR="0" rtl="0" algn="l">
              <a:lnSpc>
                <a:spcPct val="100000"/>
              </a:lnSpc>
              <a:spcBef>
                <a:spcPts val="0"/>
              </a:spcBef>
              <a:spcAft>
                <a:spcPts val="0"/>
              </a:spcAft>
              <a:buClr>
                <a:srgbClr val="000000"/>
              </a:buClr>
              <a:buSzPts val="3200"/>
              <a:buFont typeface="Arial"/>
              <a:buChar char="•"/>
            </a:pPr>
            <a:r>
              <a:rPr b="0" i="0" lang="en-US" sz="3200" u="none" cap="none" strike="noStrike">
                <a:solidFill>
                  <a:srgbClr val="1B1B1B"/>
                </a:solidFill>
                <a:highlight>
                  <a:srgbClr val="FFFFFF"/>
                </a:highlight>
                <a:latin typeface="Roboto Condensed"/>
                <a:ea typeface="Roboto Condensed"/>
                <a:cs typeface="Roboto Condensed"/>
                <a:sym typeface="Roboto Condensed"/>
              </a:rPr>
              <a:t>Đóng: Ở trạng thái bình thường, bộ ngắt mạch duy trì trạng thái đóng, cho phép tất cả các cuộc gọi được truyền liên tục đến các dịch vụ được chỉ định. Tuy nhiên, khi số lần thất bại vượt quá ngưỡng xác định trước, bộ ngắt mạch sẽ được kích hoạt, chuyển sang trạng thái Mở. Điều quan trọng cần lưu ý là ngay cả ở trạng thái Mở, dịch vụ vẫn hoạt động và đang hoạt động.</a:t>
            </a:r>
            <a:endParaRPr b="0" i="0" sz="3200" u="none" cap="none" strike="noStrike">
              <a:solidFill>
                <a:srgbClr val="161616"/>
              </a:solidFill>
              <a:highlight>
                <a:srgbClr val="FFFFFF"/>
              </a:highlight>
              <a:latin typeface="Roboto Condensed"/>
              <a:ea typeface="Roboto Condensed"/>
              <a:cs typeface="Roboto Condensed"/>
              <a:sym typeface="Roboto Condensed"/>
            </a:endParaRPr>
          </a:p>
        </p:txBody>
      </p:sp>
      <p:pic>
        <p:nvPicPr>
          <p:cNvPr id="69" name="Google Shape;69;p20"/>
          <p:cNvPicPr preferRelativeResize="0"/>
          <p:nvPr/>
        </p:nvPicPr>
        <p:blipFill rotWithShape="1">
          <a:blip r:embed="rId3">
            <a:alphaModFix/>
          </a:blip>
          <a:srcRect b="0" l="0" r="0" t="0"/>
          <a:stretch/>
        </p:blipFill>
        <p:spPr>
          <a:xfrm>
            <a:off x="11504630" y="2396964"/>
            <a:ext cx="10612522" cy="6609553"/>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21"/>
          <p:cNvSpPr txBox="1"/>
          <p:nvPr/>
        </p:nvSpPr>
        <p:spPr>
          <a:xfrm>
            <a:off x="1200148" y="571499"/>
            <a:ext cx="15610743" cy="807136"/>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79BF"/>
              </a:buClr>
              <a:buSzPts val="4400"/>
              <a:buFont typeface="Helvetica Neue"/>
              <a:buNone/>
            </a:pPr>
            <a:r>
              <a:rPr b="1" i="0" lang="en-US" sz="6000" u="none" cap="none" strike="noStrike">
                <a:solidFill>
                  <a:srgbClr val="0079BF"/>
                </a:solidFill>
                <a:latin typeface="Roboto Condensed"/>
                <a:ea typeface="Roboto Condensed"/>
                <a:cs typeface="Roboto Condensed"/>
                <a:sym typeface="Roboto Condensed"/>
              </a:rPr>
              <a:t>Fault-Tolerant &amp; OAuth2</a:t>
            </a:r>
            <a:endParaRPr b="1" i="0" sz="6000" u="none" cap="none" strike="noStrike">
              <a:solidFill>
                <a:srgbClr val="4F81BD"/>
              </a:solidFill>
              <a:latin typeface="Roboto Condensed"/>
              <a:ea typeface="Roboto Condensed"/>
              <a:cs typeface="Roboto Condensed"/>
              <a:sym typeface="Roboto Condensed"/>
            </a:endParaRPr>
          </a:p>
        </p:txBody>
      </p:sp>
      <p:sp>
        <p:nvSpPr>
          <p:cNvPr id="75" name="Google Shape;75;p21"/>
          <p:cNvSpPr txBox="1"/>
          <p:nvPr/>
        </p:nvSpPr>
        <p:spPr>
          <a:xfrm>
            <a:off x="1200149" y="1564634"/>
            <a:ext cx="19450051"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600" u="none" cap="none" strike="noStrike">
                <a:solidFill>
                  <a:srgbClr val="0079BF"/>
                </a:solidFill>
                <a:latin typeface="Roboto Condensed"/>
                <a:ea typeface="Roboto Condensed"/>
                <a:cs typeface="Roboto Condensed"/>
                <a:sym typeface="Roboto Condensed"/>
              </a:rPr>
              <a:t>1</a:t>
            </a:r>
            <a:r>
              <a:rPr b="1" i="0" lang="en-US" sz="3600" u="none" cap="none" strike="noStrike">
                <a:solidFill>
                  <a:srgbClr val="000000"/>
                </a:solidFill>
                <a:latin typeface="Roboto Condensed"/>
                <a:ea typeface="Roboto Condensed"/>
                <a:cs typeface="Roboto Condensed"/>
                <a:sym typeface="Roboto Condensed"/>
              </a:rPr>
              <a:t>. </a:t>
            </a:r>
            <a:r>
              <a:rPr b="1" i="0" lang="en-US" sz="3600" u="none" cap="none" strike="noStrike">
                <a:solidFill>
                  <a:srgbClr val="0070C0"/>
                </a:solidFill>
                <a:latin typeface="Roboto Condensed"/>
                <a:ea typeface="Roboto Condensed"/>
                <a:cs typeface="Roboto Condensed"/>
                <a:sym typeface="Roboto Condensed"/>
              </a:rPr>
              <a:t>Circuit Breaker Pattern</a:t>
            </a:r>
            <a:endParaRPr b="1" i="0" sz="3600" u="none" cap="none" strike="noStrike">
              <a:solidFill>
                <a:srgbClr val="0070C0"/>
              </a:solidFill>
              <a:latin typeface="Roboto Condensed"/>
              <a:ea typeface="Roboto Condensed"/>
              <a:cs typeface="Roboto Condensed"/>
              <a:sym typeface="Roboto Condensed"/>
            </a:endParaRPr>
          </a:p>
        </p:txBody>
      </p:sp>
      <p:sp>
        <p:nvSpPr>
          <p:cNvPr id="76" name="Google Shape;76;p21"/>
          <p:cNvSpPr txBox="1"/>
          <p:nvPr/>
        </p:nvSpPr>
        <p:spPr>
          <a:xfrm>
            <a:off x="1464277" y="2534447"/>
            <a:ext cx="9838723" cy="747897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200" u="none" cap="none" strike="noStrike">
                <a:solidFill>
                  <a:schemeClr val="dk1"/>
                </a:solidFill>
                <a:latin typeface="Roboto Condensed"/>
                <a:ea typeface="Roboto Condensed"/>
                <a:cs typeface="Roboto Condensed"/>
                <a:sym typeface="Roboto Condensed"/>
              </a:rPr>
              <a:t>1.3 </a:t>
            </a:r>
            <a:r>
              <a:rPr b="1" i="0" lang="en-US" sz="3200" u="none" cap="none" strike="noStrike">
                <a:solidFill>
                  <a:srgbClr val="000000"/>
                </a:solidFill>
                <a:latin typeface="Roboto Condensed"/>
                <a:ea typeface="Roboto Condensed"/>
                <a:cs typeface="Roboto Condensed"/>
                <a:sym typeface="Roboto Condensed"/>
              </a:rPr>
              <a:t>Various States of the Circuit Breaker</a:t>
            </a:r>
            <a:endParaRPr b="1" i="0" sz="3200" u="none" cap="none" strike="noStrike">
              <a:solidFill>
                <a:schemeClr val="dk1"/>
              </a:solidFill>
              <a:latin typeface="Roboto Condensed"/>
              <a:ea typeface="Roboto Condensed"/>
              <a:cs typeface="Roboto Condensed"/>
              <a:sym typeface="Roboto Condensed"/>
            </a:endParaRPr>
          </a:p>
          <a:p>
            <a:pPr indent="-457200" lvl="0" marL="457200" marR="0" rtl="0" algn="l">
              <a:lnSpc>
                <a:spcPct val="100000"/>
              </a:lnSpc>
              <a:spcBef>
                <a:spcPts val="0"/>
              </a:spcBef>
              <a:spcAft>
                <a:spcPts val="0"/>
              </a:spcAft>
              <a:buClr>
                <a:srgbClr val="000000"/>
              </a:buClr>
              <a:buSzPts val="3200"/>
              <a:buFont typeface="Arial"/>
              <a:buChar char="•"/>
            </a:pPr>
            <a:r>
              <a:rPr b="0" i="0" lang="en-US" sz="3200" u="none" cap="none" strike="noStrike">
                <a:solidFill>
                  <a:srgbClr val="1B1B1B"/>
                </a:solidFill>
                <a:highlight>
                  <a:srgbClr val="FFFFFF"/>
                </a:highlight>
                <a:latin typeface="Roboto Condensed"/>
                <a:ea typeface="Roboto Condensed"/>
                <a:cs typeface="Roboto Condensed"/>
                <a:sym typeface="Roboto Condensed"/>
              </a:rPr>
              <a:t>Mở: Khi một service được gắn với circuit breaker gặp phải sự chậm trễ, bộ ngắt mạch sẽ bắt đầu tính thời gian chờ hoặc đếm số lần phát sinh exception đối với mọi yêu cầu gửi đến dịch vụ đó. Khi hết thời gian chờ hoặc số ngoại lệ vượt quá giới hạn được xác định trước, bộ ngắt mạch sẽ được kích hoạt và chuyển sang trạng thái MỞ. </a:t>
            </a:r>
            <a:endParaRPr/>
          </a:p>
          <a:p>
            <a:pPr indent="-457200" lvl="0" marL="457200" marR="0" rtl="0" algn="l">
              <a:lnSpc>
                <a:spcPct val="100000"/>
              </a:lnSpc>
              <a:spcBef>
                <a:spcPts val="0"/>
              </a:spcBef>
              <a:spcAft>
                <a:spcPts val="0"/>
              </a:spcAft>
              <a:buClr>
                <a:srgbClr val="000000"/>
              </a:buClr>
              <a:buSzPts val="3200"/>
              <a:buFont typeface="Arial"/>
              <a:buChar char="•"/>
            </a:pPr>
            <a:r>
              <a:rPr b="0" i="0" lang="en-US" sz="3200" u="none" cap="none" strike="noStrike">
                <a:solidFill>
                  <a:srgbClr val="1B1B1B"/>
                </a:solidFill>
                <a:highlight>
                  <a:srgbClr val="FFFFFF"/>
                </a:highlight>
                <a:latin typeface="Roboto Condensed"/>
                <a:ea typeface="Roboto Condensed"/>
                <a:cs typeface="Roboto Condensed"/>
                <a:sym typeface="Roboto Condensed"/>
              </a:rPr>
              <a:t>Ở trạng thái MỞ, bất kỳ lệnh gọi nào được thực hiện tới dịch vụ đều dẫn đến lỗi được bộ ngắt mạch trả về mà không có yêu cầu thực tế nào được gửi đến service đang gặp sự cố. </a:t>
            </a:r>
            <a:endParaRPr/>
          </a:p>
          <a:p>
            <a:pPr indent="-457200" lvl="0" marL="457200" marR="0" rtl="0" algn="l">
              <a:lnSpc>
                <a:spcPct val="100000"/>
              </a:lnSpc>
              <a:spcBef>
                <a:spcPts val="0"/>
              </a:spcBef>
              <a:spcAft>
                <a:spcPts val="0"/>
              </a:spcAft>
              <a:buClr>
                <a:srgbClr val="000000"/>
              </a:buClr>
              <a:buSzPts val="3200"/>
              <a:buFont typeface="Arial"/>
              <a:buChar char="•"/>
            </a:pPr>
            <a:r>
              <a:rPr b="0" i="0" lang="en-US" sz="3200" u="none" cap="none" strike="noStrike">
                <a:solidFill>
                  <a:srgbClr val="1B1B1B"/>
                </a:solidFill>
                <a:highlight>
                  <a:srgbClr val="FFFFFF"/>
                </a:highlight>
                <a:latin typeface="Roboto Condensed"/>
                <a:ea typeface="Roboto Condensed"/>
                <a:cs typeface="Roboto Condensed"/>
                <a:sym typeface="Roboto Condensed"/>
              </a:rPr>
              <a:t>Cách tiếp cận này tạo điều kiện thuận lợi cho việc khôi phục service bị lỗi bằng cách giảm bớt khối lượng công việc của nó.</a:t>
            </a:r>
            <a:endParaRPr b="0" i="0" sz="3200" u="none" cap="none" strike="noStrike">
              <a:solidFill>
                <a:srgbClr val="161616"/>
              </a:solidFill>
              <a:highlight>
                <a:srgbClr val="FFFFFF"/>
              </a:highlight>
              <a:latin typeface="Roboto Condensed"/>
              <a:ea typeface="Roboto Condensed"/>
              <a:cs typeface="Roboto Condensed"/>
              <a:sym typeface="Roboto Condensed"/>
            </a:endParaRPr>
          </a:p>
        </p:txBody>
      </p:sp>
      <p:pic>
        <p:nvPicPr>
          <p:cNvPr id="77" name="Google Shape;77;p21"/>
          <p:cNvPicPr preferRelativeResize="0"/>
          <p:nvPr/>
        </p:nvPicPr>
        <p:blipFill rotWithShape="1">
          <a:blip r:embed="rId3">
            <a:alphaModFix/>
          </a:blip>
          <a:srcRect b="0" l="0" r="0" t="0"/>
          <a:stretch/>
        </p:blipFill>
        <p:spPr>
          <a:xfrm>
            <a:off x="11504630" y="2396964"/>
            <a:ext cx="10612522" cy="6609553"/>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22"/>
          <p:cNvSpPr txBox="1"/>
          <p:nvPr/>
        </p:nvSpPr>
        <p:spPr>
          <a:xfrm>
            <a:off x="1200148" y="571499"/>
            <a:ext cx="15610743" cy="807136"/>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79BF"/>
              </a:buClr>
              <a:buSzPts val="4400"/>
              <a:buFont typeface="Helvetica Neue"/>
              <a:buNone/>
            </a:pPr>
            <a:r>
              <a:rPr b="1" i="0" lang="en-US" sz="6000" u="none" cap="none" strike="noStrike">
                <a:solidFill>
                  <a:srgbClr val="0079BF"/>
                </a:solidFill>
                <a:latin typeface="Roboto Condensed"/>
                <a:ea typeface="Roboto Condensed"/>
                <a:cs typeface="Roboto Condensed"/>
                <a:sym typeface="Roboto Condensed"/>
              </a:rPr>
              <a:t>Fault-Tolerant &amp; OAuth2</a:t>
            </a:r>
            <a:endParaRPr b="1" i="0" sz="6000" u="none" cap="none" strike="noStrike">
              <a:solidFill>
                <a:srgbClr val="4F81BD"/>
              </a:solidFill>
              <a:latin typeface="Roboto Condensed"/>
              <a:ea typeface="Roboto Condensed"/>
              <a:cs typeface="Roboto Condensed"/>
              <a:sym typeface="Roboto Condensed"/>
            </a:endParaRPr>
          </a:p>
        </p:txBody>
      </p:sp>
      <p:sp>
        <p:nvSpPr>
          <p:cNvPr id="83" name="Google Shape;83;p22"/>
          <p:cNvSpPr txBox="1"/>
          <p:nvPr/>
        </p:nvSpPr>
        <p:spPr>
          <a:xfrm>
            <a:off x="1200149" y="1564634"/>
            <a:ext cx="19450051"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600" u="none" cap="none" strike="noStrike">
                <a:solidFill>
                  <a:srgbClr val="0079BF"/>
                </a:solidFill>
                <a:latin typeface="Roboto Condensed"/>
                <a:ea typeface="Roboto Condensed"/>
                <a:cs typeface="Roboto Condensed"/>
                <a:sym typeface="Roboto Condensed"/>
              </a:rPr>
              <a:t>1</a:t>
            </a:r>
            <a:r>
              <a:rPr b="1" i="0" lang="en-US" sz="3600" u="none" cap="none" strike="noStrike">
                <a:solidFill>
                  <a:srgbClr val="000000"/>
                </a:solidFill>
                <a:latin typeface="Roboto Condensed"/>
                <a:ea typeface="Roboto Condensed"/>
                <a:cs typeface="Roboto Condensed"/>
                <a:sym typeface="Roboto Condensed"/>
              </a:rPr>
              <a:t>. </a:t>
            </a:r>
            <a:r>
              <a:rPr b="1" i="0" lang="en-US" sz="3600" u="none" cap="none" strike="noStrike">
                <a:solidFill>
                  <a:srgbClr val="0070C0"/>
                </a:solidFill>
                <a:latin typeface="Roboto Condensed"/>
                <a:ea typeface="Roboto Condensed"/>
                <a:cs typeface="Roboto Condensed"/>
                <a:sym typeface="Roboto Condensed"/>
              </a:rPr>
              <a:t>Circuit Breaker Pattern</a:t>
            </a:r>
            <a:endParaRPr b="1" i="0" sz="3600" u="none" cap="none" strike="noStrike">
              <a:solidFill>
                <a:srgbClr val="0070C0"/>
              </a:solidFill>
              <a:latin typeface="Roboto Condensed"/>
              <a:ea typeface="Roboto Condensed"/>
              <a:cs typeface="Roboto Condensed"/>
              <a:sym typeface="Roboto Condensed"/>
            </a:endParaRPr>
          </a:p>
        </p:txBody>
      </p:sp>
      <p:sp>
        <p:nvSpPr>
          <p:cNvPr id="84" name="Google Shape;84;p22"/>
          <p:cNvSpPr txBox="1"/>
          <p:nvPr/>
        </p:nvSpPr>
        <p:spPr>
          <a:xfrm>
            <a:off x="1464277" y="2534447"/>
            <a:ext cx="9838723" cy="747897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200" u="none" cap="none" strike="noStrike">
                <a:solidFill>
                  <a:schemeClr val="dk1"/>
                </a:solidFill>
                <a:latin typeface="Roboto Condensed"/>
                <a:ea typeface="Roboto Condensed"/>
                <a:cs typeface="Roboto Condensed"/>
                <a:sym typeface="Roboto Condensed"/>
              </a:rPr>
              <a:t>1.3 </a:t>
            </a:r>
            <a:r>
              <a:rPr b="1" i="0" lang="en-US" sz="3200" u="none" cap="none" strike="noStrike">
                <a:solidFill>
                  <a:srgbClr val="000000"/>
                </a:solidFill>
                <a:latin typeface="Roboto Condensed"/>
                <a:ea typeface="Roboto Condensed"/>
                <a:cs typeface="Roboto Condensed"/>
                <a:sym typeface="Roboto Condensed"/>
              </a:rPr>
              <a:t>Various States of the Circuit Breaker</a:t>
            </a:r>
            <a:endParaRPr b="1" i="0" sz="3200" u="none" cap="none" strike="noStrike">
              <a:solidFill>
                <a:schemeClr val="dk1"/>
              </a:solidFill>
              <a:latin typeface="Roboto Condensed"/>
              <a:ea typeface="Roboto Condensed"/>
              <a:cs typeface="Roboto Condensed"/>
              <a:sym typeface="Roboto Condensed"/>
            </a:endParaRPr>
          </a:p>
          <a:p>
            <a:pPr indent="-457200" lvl="0" marL="457200" marR="0" rtl="0" algn="l">
              <a:lnSpc>
                <a:spcPct val="100000"/>
              </a:lnSpc>
              <a:spcBef>
                <a:spcPts val="0"/>
              </a:spcBef>
              <a:spcAft>
                <a:spcPts val="0"/>
              </a:spcAft>
              <a:buClr>
                <a:srgbClr val="000000"/>
              </a:buClr>
              <a:buSzPts val="3200"/>
              <a:buFont typeface="Arial"/>
              <a:buChar char="•"/>
            </a:pPr>
            <a:r>
              <a:rPr b="0" i="0" lang="en-US" sz="3200" u="none" cap="none" strike="noStrike">
                <a:solidFill>
                  <a:srgbClr val="1B1B1B"/>
                </a:solidFill>
                <a:highlight>
                  <a:srgbClr val="FFFFFF"/>
                </a:highlight>
                <a:latin typeface="Roboto Condensed"/>
                <a:ea typeface="Roboto Condensed"/>
                <a:cs typeface="Roboto Condensed"/>
                <a:sym typeface="Roboto Condensed"/>
              </a:rPr>
              <a:t>Nửa mở: Bộ ngắt mạch sử dụng cơ chế giám sát và phản hồi được gọi là trạng thái HALF-OPEN để xác định trạng thái khôi phục của service đang gặp vấn đề. Cơ chế này bao gồm việc thực hiện các cuộc gọi thử định kỳ tới service đó để đánh giá khả năng phục hồi của nó. </a:t>
            </a:r>
            <a:endParaRPr/>
          </a:p>
          <a:p>
            <a:pPr indent="-457200" lvl="0" marL="457200" marR="0" rtl="0" algn="l">
              <a:lnSpc>
                <a:spcPct val="100000"/>
              </a:lnSpc>
              <a:spcBef>
                <a:spcPts val="0"/>
              </a:spcBef>
              <a:spcAft>
                <a:spcPts val="0"/>
              </a:spcAft>
              <a:buClr>
                <a:srgbClr val="000000"/>
              </a:buClr>
              <a:buSzPts val="3200"/>
              <a:buFont typeface="Arial"/>
              <a:buChar char="•"/>
            </a:pPr>
            <a:r>
              <a:rPr b="0" i="0" lang="en-US" sz="3200" u="none" cap="none" strike="noStrike">
                <a:solidFill>
                  <a:srgbClr val="1B1B1B"/>
                </a:solidFill>
                <a:highlight>
                  <a:srgbClr val="FFFFFF"/>
                </a:highlight>
                <a:latin typeface="Roboto Condensed"/>
                <a:ea typeface="Roboto Condensed"/>
                <a:cs typeface="Roboto Condensed"/>
                <a:sym typeface="Roboto Condensed"/>
              </a:rPr>
              <a:t>Trong trường hợp lệnh gọi thử tới hết thời gian chờ, bộ ngắt mạch sẽ tiếp tục duy trì trạng thái MỞ. Ngược lại, nếu cuộc gọi thử trả về kết quả thành công, mạch sẽ chuyển sang trạng thái ĐÓNG. </a:t>
            </a:r>
            <a:endParaRPr/>
          </a:p>
          <a:p>
            <a:pPr indent="-457200" lvl="0" marL="457200" marR="0" rtl="0" algn="l">
              <a:lnSpc>
                <a:spcPct val="100000"/>
              </a:lnSpc>
              <a:spcBef>
                <a:spcPts val="0"/>
              </a:spcBef>
              <a:spcAft>
                <a:spcPts val="0"/>
              </a:spcAft>
              <a:buClr>
                <a:srgbClr val="000000"/>
              </a:buClr>
              <a:buSzPts val="3200"/>
              <a:buFont typeface="Arial"/>
              <a:buChar char="•"/>
            </a:pPr>
            <a:r>
              <a:rPr b="0" i="0" lang="en-US" sz="3200" u="none" cap="none" strike="noStrike">
                <a:solidFill>
                  <a:srgbClr val="1B1B1B"/>
                </a:solidFill>
                <a:highlight>
                  <a:srgbClr val="FFFFFF"/>
                </a:highlight>
                <a:latin typeface="Roboto Condensed"/>
                <a:ea typeface="Roboto Condensed"/>
                <a:cs typeface="Roboto Condensed"/>
                <a:sym typeface="Roboto Condensed"/>
              </a:rPr>
              <a:t>Trong trạng thái HALF-OPEN, bộ ngắt mạch sẽ phản hồi tất về lỗi tất cả các cuộc gọi dịch vụ đó từ bên ngoài.</a:t>
            </a:r>
            <a:endParaRPr b="0" i="0" sz="3200" u="none" cap="none" strike="noStrike">
              <a:solidFill>
                <a:srgbClr val="161616"/>
              </a:solidFill>
              <a:highlight>
                <a:srgbClr val="FFFFFF"/>
              </a:highlight>
              <a:latin typeface="Roboto Condensed"/>
              <a:ea typeface="Roboto Condensed"/>
              <a:cs typeface="Roboto Condensed"/>
              <a:sym typeface="Roboto Condensed"/>
            </a:endParaRPr>
          </a:p>
        </p:txBody>
      </p:sp>
      <p:pic>
        <p:nvPicPr>
          <p:cNvPr id="85" name="Google Shape;85;p22"/>
          <p:cNvPicPr preferRelativeResize="0"/>
          <p:nvPr/>
        </p:nvPicPr>
        <p:blipFill rotWithShape="1">
          <a:blip r:embed="rId3">
            <a:alphaModFix/>
          </a:blip>
          <a:srcRect b="0" l="0" r="0" t="0"/>
          <a:stretch/>
        </p:blipFill>
        <p:spPr>
          <a:xfrm>
            <a:off x="12573002" y="2396964"/>
            <a:ext cx="8661398" cy="8946313"/>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23"/>
          <p:cNvSpPr txBox="1"/>
          <p:nvPr/>
        </p:nvSpPr>
        <p:spPr>
          <a:xfrm>
            <a:off x="1200148" y="571499"/>
            <a:ext cx="15610743" cy="807136"/>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79BF"/>
              </a:buClr>
              <a:buSzPts val="4400"/>
              <a:buFont typeface="Helvetica Neue"/>
              <a:buNone/>
            </a:pPr>
            <a:r>
              <a:rPr b="1" i="0" lang="en-US" sz="6000" u="none" cap="none" strike="noStrike">
                <a:solidFill>
                  <a:srgbClr val="0079BF"/>
                </a:solidFill>
                <a:latin typeface="Roboto Condensed"/>
                <a:ea typeface="Roboto Condensed"/>
                <a:cs typeface="Roboto Condensed"/>
                <a:sym typeface="Roboto Condensed"/>
              </a:rPr>
              <a:t>Fault-Tolerant &amp; OAuth2</a:t>
            </a:r>
            <a:endParaRPr b="1" i="0" sz="6000" u="none" cap="none" strike="noStrike">
              <a:solidFill>
                <a:srgbClr val="4F81BD"/>
              </a:solidFill>
              <a:latin typeface="Roboto Condensed"/>
              <a:ea typeface="Roboto Condensed"/>
              <a:cs typeface="Roboto Condensed"/>
              <a:sym typeface="Roboto Condensed"/>
            </a:endParaRPr>
          </a:p>
        </p:txBody>
      </p:sp>
      <p:sp>
        <p:nvSpPr>
          <p:cNvPr id="91" name="Google Shape;91;p23"/>
          <p:cNvSpPr txBox="1"/>
          <p:nvPr/>
        </p:nvSpPr>
        <p:spPr>
          <a:xfrm>
            <a:off x="1200149" y="1564634"/>
            <a:ext cx="19450051"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600" u="none" cap="none" strike="noStrike">
                <a:solidFill>
                  <a:srgbClr val="0079BF"/>
                </a:solidFill>
                <a:latin typeface="Roboto Condensed"/>
                <a:ea typeface="Roboto Condensed"/>
                <a:cs typeface="Roboto Condensed"/>
                <a:sym typeface="Roboto Condensed"/>
              </a:rPr>
              <a:t>2</a:t>
            </a:r>
            <a:r>
              <a:rPr b="1" i="0" lang="en-US" sz="3600" u="none" cap="none" strike="noStrike">
                <a:solidFill>
                  <a:srgbClr val="000000"/>
                </a:solidFill>
                <a:latin typeface="Roboto Condensed"/>
                <a:ea typeface="Roboto Condensed"/>
                <a:cs typeface="Roboto Condensed"/>
                <a:sym typeface="Roboto Condensed"/>
              </a:rPr>
              <a:t>. </a:t>
            </a:r>
            <a:r>
              <a:rPr b="1" i="0" lang="en-US" sz="3600" u="none" cap="none" strike="noStrike">
                <a:solidFill>
                  <a:srgbClr val="0070C0"/>
                </a:solidFill>
                <a:latin typeface="Roboto Condensed"/>
                <a:ea typeface="Roboto Condensed"/>
                <a:cs typeface="Roboto Condensed"/>
                <a:sym typeface="Roboto Condensed"/>
              </a:rPr>
              <a:t>Resilience4j Library?</a:t>
            </a:r>
            <a:endParaRPr b="1" i="0" sz="3600" u="none" cap="none" strike="noStrike">
              <a:solidFill>
                <a:srgbClr val="0070C0"/>
              </a:solidFill>
              <a:latin typeface="Roboto Condensed"/>
              <a:ea typeface="Roboto Condensed"/>
              <a:cs typeface="Roboto Condensed"/>
              <a:sym typeface="Roboto Condensed"/>
            </a:endParaRPr>
          </a:p>
        </p:txBody>
      </p:sp>
      <p:sp>
        <p:nvSpPr>
          <p:cNvPr id="92" name="Google Shape;92;p23"/>
          <p:cNvSpPr txBox="1"/>
          <p:nvPr/>
        </p:nvSpPr>
        <p:spPr>
          <a:xfrm>
            <a:off x="1464277" y="2534447"/>
            <a:ext cx="7540023" cy="7478970"/>
          </a:xfrm>
          <a:prstGeom prst="rect">
            <a:avLst/>
          </a:prstGeom>
          <a:noFill/>
          <a:ln>
            <a:noFill/>
          </a:ln>
        </p:spPr>
        <p:txBody>
          <a:bodyPr anchorCtr="0" anchor="t" bIns="45700" lIns="91425" spcFirstLastPara="1" rIns="91425" wrap="square" tIns="45700">
            <a:spAutoFit/>
          </a:bodyPr>
          <a:lstStyle/>
          <a:p>
            <a:pPr indent="-457200" lvl="0" marL="457200" marR="0" rtl="0" algn="l">
              <a:lnSpc>
                <a:spcPct val="100000"/>
              </a:lnSpc>
              <a:spcBef>
                <a:spcPts val="0"/>
              </a:spcBef>
              <a:spcAft>
                <a:spcPts val="0"/>
              </a:spcAft>
              <a:buClr>
                <a:srgbClr val="000000"/>
              </a:buClr>
              <a:buSzPts val="3200"/>
              <a:buFont typeface="Arial"/>
              <a:buChar char="•"/>
            </a:pPr>
            <a:r>
              <a:rPr b="0" i="0" lang="en-US" sz="3200" u="none" cap="none" strike="noStrike">
                <a:solidFill>
                  <a:srgbClr val="1B1B1B"/>
                </a:solidFill>
                <a:highlight>
                  <a:srgbClr val="FFFFFF"/>
                </a:highlight>
                <a:latin typeface="Roboto Condensed"/>
                <a:ea typeface="Roboto Condensed"/>
                <a:cs typeface="Roboto Condensed"/>
                <a:sym typeface="Roboto Condensed"/>
              </a:rPr>
              <a:t>Resilience4j là một thư viện Java cung cấp một số mẫu nhằm mục đích xây dựng các ứng dụng có khả năng phục hồi và chịu lỗi. </a:t>
            </a:r>
            <a:endParaRPr/>
          </a:p>
          <a:p>
            <a:pPr indent="-457200" lvl="0" marL="457200" marR="0" rtl="0" algn="l">
              <a:lnSpc>
                <a:spcPct val="100000"/>
              </a:lnSpc>
              <a:spcBef>
                <a:spcPts val="0"/>
              </a:spcBef>
              <a:spcAft>
                <a:spcPts val="0"/>
              </a:spcAft>
              <a:buClr>
                <a:srgbClr val="000000"/>
              </a:buClr>
              <a:buSzPts val="3200"/>
              <a:buFont typeface="Arial"/>
              <a:buChar char="•"/>
            </a:pPr>
            <a:r>
              <a:rPr b="0" i="0" lang="en-US" sz="3200" u="none" cap="none" strike="noStrike">
                <a:solidFill>
                  <a:srgbClr val="1B1B1B"/>
                </a:solidFill>
                <a:highlight>
                  <a:srgbClr val="FFFFFF"/>
                </a:highlight>
                <a:latin typeface="Roboto Condensed"/>
                <a:ea typeface="Roboto Condensed"/>
                <a:cs typeface="Roboto Condensed"/>
                <a:sym typeface="Roboto Condensed"/>
              </a:rPr>
              <a:t>Nó được thiết kế để giúp các nhà phát triển viết các ứng dụng linh hoạt, có khả năng chịu lỗi và có thể mở rộng với ít công sức nhất. </a:t>
            </a:r>
            <a:endParaRPr/>
          </a:p>
          <a:p>
            <a:pPr indent="-457200" lvl="0" marL="457200" marR="0" rtl="0" algn="l">
              <a:lnSpc>
                <a:spcPct val="100000"/>
              </a:lnSpc>
              <a:spcBef>
                <a:spcPts val="0"/>
              </a:spcBef>
              <a:spcAft>
                <a:spcPts val="0"/>
              </a:spcAft>
              <a:buClr>
                <a:srgbClr val="000000"/>
              </a:buClr>
              <a:buSzPts val="3200"/>
              <a:buFont typeface="Arial"/>
              <a:buChar char="•"/>
            </a:pPr>
            <a:r>
              <a:rPr b="0" i="0" lang="en-US" sz="3200" u="none" cap="none" strike="noStrike">
                <a:solidFill>
                  <a:srgbClr val="1B1B1B"/>
                </a:solidFill>
                <a:highlight>
                  <a:srgbClr val="FFFFFF"/>
                </a:highlight>
                <a:latin typeface="Roboto Condensed"/>
                <a:ea typeface="Roboto Condensed"/>
                <a:cs typeface="Roboto Condensed"/>
                <a:sym typeface="Roboto Condensed"/>
              </a:rPr>
              <a:t>Resilience4j được thiết kế để dễ sử dụng và tích hợp vào các ứng dụng. Nó cũng cung cấp một hệ thống cấu hình linh hoạt cho phép các nhà phát triển tùy chỉnh hành vi của từng mẫu để phù hợp với nhu cầu cụ thể của họ.</a:t>
            </a:r>
            <a:endParaRPr b="0" i="0" sz="3200" u="none" cap="none" strike="noStrike">
              <a:solidFill>
                <a:srgbClr val="161616"/>
              </a:solidFill>
              <a:highlight>
                <a:srgbClr val="FFFFFF"/>
              </a:highlight>
              <a:latin typeface="Roboto Condensed"/>
              <a:ea typeface="Roboto Condensed"/>
              <a:cs typeface="Roboto Condensed"/>
              <a:sym typeface="Roboto Condensed"/>
            </a:endParaRPr>
          </a:p>
        </p:txBody>
      </p:sp>
      <p:pic>
        <p:nvPicPr>
          <p:cNvPr id="93" name="Google Shape;93;p23"/>
          <p:cNvPicPr preferRelativeResize="0"/>
          <p:nvPr/>
        </p:nvPicPr>
        <p:blipFill rotWithShape="1">
          <a:blip r:embed="rId3">
            <a:alphaModFix/>
          </a:blip>
          <a:srcRect b="0" l="0" r="0" t="0"/>
          <a:stretch/>
        </p:blipFill>
        <p:spPr>
          <a:xfrm>
            <a:off x="9931400" y="2676364"/>
            <a:ext cx="12192000" cy="68580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24"/>
          <p:cNvSpPr txBox="1"/>
          <p:nvPr/>
        </p:nvSpPr>
        <p:spPr>
          <a:xfrm>
            <a:off x="1200148" y="571499"/>
            <a:ext cx="15610743" cy="807136"/>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79BF"/>
              </a:buClr>
              <a:buSzPts val="4400"/>
              <a:buFont typeface="Helvetica Neue"/>
              <a:buNone/>
            </a:pPr>
            <a:r>
              <a:rPr b="1" i="0" lang="en-US" sz="6000" u="none" cap="none" strike="noStrike">
                <a:solidFill>
                  <a:srgbClr val="0079BF"/>
                </a:solidFill>
                <a:latin typeface="Roboto Condensed"/>
                <a:ea typeface="Roboto Condensed"/>
                <a:cs typeface="Roboto Condensed"/>
                <a:sym typeface="Roboto Condensed"/>
              </a:rPr>
              <a:t>Fault-Tolerant &amp; OAuth2</a:t>
            </a:r>
            <a:endParaRPr b="1" i="0" sz="6000" u="none" cap="none" strike="noStrike">
              <a:solidFill>
                <a:srgbClr val="4F81BD"/>
              </a:solidFill>
              <a:latin typeface="Roboto Condensed"/>
              <a:ea typeface="Roboto Condensed"/>
              <a:cs typeface="Roboto Condensed"/>
              <a:sym typeface="Roboto Condensed"/>
            </a:endParaRPr>
          </a:p>
        </p:txBody>
      </p:sp>
      <p:sp>
        <p:nvSpPr>
          <p:cNvPr id="99" name="Google Shape;99;p24"/>
          <p:cNvSpPr txBox="1"/>
          <p:nvPr/>
        </p:nvSpPr>
        <p:spPr>
          <a:xfrm>
            <a:off x="1200149" y="1564634"/>
            <a:ext cx="19450051"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600" u="none" cap="none" strike="noStrike">
                <a:solidFill>
                  <a:srgbClr val="0079BF"/>
                </a:solidFill>
                <a:latin typeface="Roboto Condensed"/>
                <a:ea typeface="Roboto Condensed"/>
                <a:cs typeface="Roboto Condensed"/>
                <a:sym typeface="Roboto Condensed"/>
              </a:rPr>
              <a:t>3</a:t>
            </a:r>
            <a:r>
              <a:rPr b="1" i="0" lang="en-US" sz="3600" u="none" cap="none" strike="noStrike">
                <a:solidFill>
                  <a:srgbClr val="000000"/>
                </a:solidFill>
                <a:latin typeface="Roboto Condensed"/>
                <a:ea typeface="Roboto Condensed"/>
                <a:cs typeface="Roboto Condensed"/>
                <a:sym typeface="Roboto Condensed"/>
              </a:rPr>
              <a:t>. </a:t>
            </a:r>
            <a:r>
              <a:rPr b="1" i="0" lang="en-US" sz="3600" u="none" cap="none" strike="noStrike">
                <a:solidFill>
                  <a:srgbClr val="0070C0"/>
                </a:solidFill>
                <a:latin typeface="Roboto Condensed"/>
                <a:ea typeface="Roboto Condensed"/>
                <a:cs typeface="Roboto Condensed"/>
                <a:sym typeface="Roboto Condensed"/>
              </a:rPr>
              <a:t>Implement</a:t>
            </a:r>
            <a:r>
              <a:rPr b="1" i="0" lang="en-US" sz="3600" u="none" cap="none" strike="noStrike">
                <a:solidFill>
                  <a:srgbClr val="000000"/>
                </a:solidFill>
                <a:latin typeface="Roboto Condensed"/>
                <a:ea typeface="Roboto Condensed"/>
                <a:cs typeface="Roboto Condensed"/>
                <a:sym typeface="Roboto Condensed"/>
              </a:rPr>
              <a:t> </a:t>
            </a:r>
            <a:r>
              <a:rPr b="1" i="0" lang="en-US" sz="3600" u="none" cap="none" strike="noStrike">
                <a:solidFill>
                  <a:srgbClr val="0070C0"/>
                </a:solidFill>
                <a:latin typeface="Roboto Condensed"/>
                <a:ea typeface="Roboto Condensed"/>
                <a:cs typeface="Roboto Condensed"/>
                <a:sym typeface="Roboto Condensed"/>
              </a:rPr>
              <a:t>Circuit Breaker With Resilience4j</a:t>
            </a:r>
            <a:endParaRPr b="1" i="0" sz="3600" u="none" cap="none" strike="noStrike">
              <a:solidFill>
                <a:srgbClr val="0070C0"/>
              </a:solidFill>
              <a:latin typeface="Roboto Condensed"/>
              <a:ea typeface="Roboto Condensed"/>
              <a:cs typeface="Roboto Condensed"/>
              <a:sym typeface="Roboto Condensed"/>
            </a:endParaRPr>
          </a:p>
        </p:txBody>
      </p:sp>
      <p:sp>
        <p:nvSpPr>
          <p:cNvPr id="100" name="Google Shape;100;p24"/>
          <p:cNvSpPr txBox="1"/>
          <p:nvPr/>
        </p:nvSpPr>
        <p:spPr>
          <a:xfrm>
            <a:off x="1464277" y="2534447"/>
            <a:ext cx="11248500" cy="1569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200" u="none" cap="none" strike="noStrike">
                <a:solidFill>
                  <a:schemeClr val="dk1"/>
                </a:solidFill>
                <a:latin typeface="Roboto Condensed"/>
                <a:ea typeface="Roboto Condensed"/>
                <a:cs typeface="Roboto Condensed"/>
                <a:sym typeface="Roboto Condensed"/>
              </a:rPr>
              <a:t>3.1 Tích hợp thư viện Resilience4j vào account service</a:t>
            </a:r>
            <a:endParaRPr b="1" i="0" sz="3200" u="none" cap="none" strike="noStrike">
              <a:solidFill>
                <a:schemeClr val="dk1"/>
              </a:solidFill>
              <a:latin typeface="Arial"/>
              <a:ea typeface="Arial"/>
              <a:cs typeface="Arial"/>
              <a:sym typeface="Arial"/>
            </a:endParaRPr>
          </a:p>
          <a:p>
            <a:pPr indent="-457200" lvl="0" marL="457200" marR="0" rtl="0" algn="l">
              <a:lnSpc>
                <a:spcPct val="100000"/>
              </a:lnSpc>
              <a:spcBef>
                <a:spcPts val="0"/>
              </a:spcBef>
              <a:spcAft>
                <a:spcPts val="0"/>
              </a:spcAft>
              <a:buClr>
                <a:srgbClr val="000000"/>
              </a:buClr>
              <a:buSzPts val="3200"/>
              <a:buFont typeface="Arial"/>
              <a:buChar char="•"/>
            </a:pPr>
            <a:r>
              <a:rPr b="0" i="0" lang="en-US" sz="3200" u="none" cap="none" strike="noStrike">
                <a:solidFill>
                  <a:srgbClr val="161616"/>
                </a:solidFill>
                <a:highlight>
                  <a:srgbClr val="FFFFFF"/>
                </a:highlight>
                <a:latin typeface="Roboto Condensed"/>
                <a:ea typeface="Roboto Condensed"/>
                <a:cs typeface="Roboto Condensed"/>
                <a:sym typeface="Roboto Condensed"/>
              </a:rPr>
              <a:t>Thêm dependency vào file pom.xml</a:t>
            </a:r>
            <a:endParaRPr b="0" i="0" sz="3200" u="none" cap="none" strike="noStrike">
              <a:solidFill>
                <a:srgbClr val="161616"/>
              </a:solidFill>
              <a:highlight>
                <a:srgbClr val="FFFFFF"/>
              </a:highlight>
              <a:latin typeface="Roboto Condensed"/>
              <a:ea typeface="Roboto Condensed"/>
              <a:cs typeface="Roboto Condensed"/>
              <a:sym typeface="Roboto Condensed"/>
            </a:endParaRPr>
          </a:p>
          <a:p>
            <a:pPr indent="-254000" lvl="0" marL="45720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Roboto Condensed"/>
              <a:ea typeface="Roboto Condensed"/>
              <a:cs typeface="Roboto Condensed"/>
              <a:sym typeface="Roboto Condensed"/>
            </a:endParaRPr>
          </a:p>
        </p:txBody>
      </p:sp>
      <p:pic>
        <p:nvPicPr>
          <p:cNvPr id="101" name="Google Shape;101;p24"/>
          <p:cNvPicPr preferRelativeResize="0"/>
          <p:nvPr/>
        </p:nvPicPr>
        <p:blipFill rotWithShape="1">
          <a:blip r:embed="rId3">
            <a:alphaModFix/>
          </a:blip>
          <a:srcRect b="0" l="0" r="0" t="0"/>
          <a:stretch/>
        </p:blipFill>
        <p:spPr>
          <a:xfrm>
            <a:off x="1571625" y="4104107"/>
            <a:ext cx="13468350" cy="72390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25"/>
          <p:cNvSpPr txBox="1"/>
          <p:nvPr/>
        </p:nvSpPr>
        <p:spPr>
          <a:xfrm>
            <a:off x="1200148" y="571499"/>
            <a:ext cx="15610743" cy="807136"/>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79BF"/>
              </a:buClr>
              <a:buSzPts val="4400"/>
              <a:buFont typeface="Helvetica Neue"/>
              <a:buNone/>
            </a:pPr>
            <a:r>
              <a:rPr b="1" i="0" lang="en-US" sz="6000" u="none" cap="none" strike="noStrike">
                <a:solidFill>
                  <a:srgbClr val="0079BF"/>
                </a:solidFill>
                <a:latin typeface="Roboto Condensed"/>
                <a:ea typeface="Roboto Condensed"/>
                <a:cs typeface="Roboto Condensed"/>
                <a:sym typeface="Roboto Condensed"/>
              </a:rPr>
              <a:t>Fault-Tolerant &amp; OAuth2</a:t>
            </a:r>
            <a:endParaRPr b="1" i="0" sz="6000" u="none" cap="none" strike="noStrike">
              <a:solidFill>
                <a:srgbClr val="4F81BD"/>
              </a:solidFill>
              <a:latin typeface="Roboto Condensed"/>
              <a:ea typeface="Roboto Condensed"/>
              <a:cs typeface="Roboto Condensed"/>
              <a:sym typeface="Roboto Condensed"/>
            </a:endParaRPr>
          </a:p>
        </p:txBody>
      </p:sp>
      <p:sp>
        <p:nvSpPr>
          <p:cNvPr id="107" name="Google Shape;107;p25"/>
          <p:cNvSpPr txBox="1"/>
          <p:nvPr/>
        </p:nvSpPr>
        <p:spPr>
          <a:xfrm>
            <a:off x="1200149" y="1564634"/>
            <a:ext cx="19450051"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600" u="none" cap="none" strike="noStrike">
                <a:solidFill>
                  <a:srgbClr val="0079BF"/>
                </a:solidFill>
                <a:latin typeface="Roboto Condensed"/>
                <a:ea typeface="Roboto Condensed"/>
                <a:cs typeface="Roboto Condensed"/>
                <a:sym typeface="Roboto Condensed"/>
              </a:rPr>
              <a:t>3</a:t>
            </a:r>
            <a:r>
              <a:rPr b="1" i="0" lang="en-US" sz="3600" u="none" cap="none" strike="noStrike">
                <a:solidFill>
                  <a:srgbClr val="000000"/>
                </a:solidFill>
                <a:latin typeface="Roboto Condensed"/>
                <a:ea typeface="Roboto Condensed"/>
                <a:cs typeface="Roboto Condensed"/>
                <a:sym typeface="Roboto Condensed"/>
              </a:rPr>
              <a:t>. </a:t>
            </a:r>
            <a:r>
              <a:rPr b="1" i="0" lang="en-US" sz="3600" u="none" cap="none" strike="noStrike">
                <a:solidFill>
                  <a:srgbClr val="0070C0"/>
                </a:solidFill>
                <a:latin typeface="Roboto Condensed"/>
                <a:ea typeface="Roboto Condensed"/>
                <a:cs typeface="Roboto Condensed"/>
                <a:sym typeface="Roboto Condensed"/>
              </a:rPr>
              <a:t>Implement</a:t>
            </a:r>
            <a:r>
              <a:rPr b="1" i="0" lang="en-US" sz="3600" u="none" cap="none" strike="noStrike">
                <a:solidFill>
                  <a:srgbClr val="000000"/>
                </a:solidFill>
                <a:latin typeface="Roboto Condensed"/>
                <a:ea typeface="Roboto Condensed"/>
                <a:cs typeface="Roboto Condensed"/>
                <a:sym typeface="Roboto Condensed"/>
              </a:rPr>
              <a:t> </a:t>
            </a:r>
            <a:r>
              <a:rPr b="1" i="0" lang="en-US" sz="3600" u="none" cap="none" strike="noStrike">
                <a:solidFill>
                  <a:srgbClr val="0070C0"/>
                </a:solidFill>
                <a:latin typeface="Roboto Condensed"/>
                <a:ea typeface="Roboto Condensed"/>
                <a:cs typeface="Roboto Condensed"/>
                <a:sym typeface="Roboto Condensed"/>
              </a:rPr>
              <a:t>Circuit Breaker With Resilience4j</a:t>
            </a:r>
            <a:endParaRPr b="1" i="0" sz="3600" u="none" cap="none" strike="noStrike">
              <a:solidFill>
                <a:srgbClr val="0070C0"/>
              </a:solidFill>
              <a:latin typeface="Roboto Condensed"/>
              <a:ea typeface="Roboto Condensed"/>
              <a:cs typeface="Roboto Condensed"/>
              <a:sym typeface="Roboto Condensed"/>
            </a:endParaRPr>
          </a:p>
        </p:txBody>
      </p:sp>
      <p:sp>
        <p:nvSpPr>
          <p:cNvPr id="108" name="Google Shape;108;p25"/>
          <p:cNvSpPr txBox="1"/>
          <p:nvPr/>
        </p:nvSpPr>
        <p:spPr>
          <a:xfrm>
            <a:off x="1464277" y="2420147"/>
            <a:ext cx="15490200" cy="2555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200" u="none" cap="none" strike="noStrike">
                <a:solidFill>
                  <a:schemeClr val="dk1"/>
                </a:solidFill>
                <a:latin typeface="Roboto Condensed"/>
                <a:ea typeface="Roboto Condensed"/>
                <a:cs typeface="Roboto Condensed"/>
                <a:sym typeface="Roboto Condensed"/>
              </a:rPr>
              <a:t>3.1 Tích hợp thư viện Resilience4j vào account service</a:t>
            </a:r>
            <a:endParaRPr b="1" i="0" sz="3200" u="none" cap="none" strike="noStrike">
              <a:solidFill>
                <a:schemeClr val="dk1"/>
              </a:solidFill>
              <a:latin typeface="Arial"/>
              <a:ea typeface="Arial"/>
              <a:cs typeface="Arial"/>
              <a:sym typeface="Arial"/>
            </a:endParaRPr>
          </a:p>
          <a:p>
            <a:pPr indent="-457200" lvl="0" marL="457200" marR="0" rtl="0" algn="l">
              <a:lnSpc>
                <a:spcPct val="100000"/>
              </a:lnSpc>
              <a:spcBef>
                <a:spcPts val="0"/>
              </a:spcBef>
              <a:spcAft>
                <a:spcPts val="0"/>
              </a:spcAft>
              <a:buClr>
                <a:srgbClr val="000000"/>
              </a:buClr>
              <a:buSzPts val="3200"/>
              <a:buFont typeface="Arial"/>
              <a:buChar char="•"/>
            </a:pPr>
            <a:r>
              <a:rPr b="0" i="0" lang="en-US" sz="3200" u="none" cap="none" strike="noStrike">
                <a:solidFill>
                  <a:srgbClr val="161616"/>
                </a:solidFill>
                <a:highlight>
                  <a:srgbClr val="FFFFFF"/>
                </a:highlight>
                <a:latin typeface="Roboto Condensed"/>
                <a:ea typeface="Roboto Condensed"/>
                <a:cs typeface="Roboto Condensed"/>
                <a:sym typeface="Roboto Condensed"/>
              </a:rPr>
              <a:t>Enable Circuit Breaker và tạo method fallback khi có lỗi xảy ra</a:t>
            </a:r>
            <a:endParaRPr/>
          </a:p>
          <a:p>
            <a:pPr indent="-457200" lvl="0" marL="457200" marR="0" rtl="0" algn="l">
              <a:lnSpc>
                <a:spcPct val="100000"/>
              </a:lnSpc>
              <a:spcBef>
                <a:spcPts val="0"/>
              </a:spcBef>
              <a:spcAft>
                <a:spcPts val="0"/>
              </a:spcAft>
              <a:buClr>
                <a:srgbClr val="000000"/>
              </a:buClr>
              <a:buSzPts val="3200"/>
              <a:buFont typeface="Arial"/>
              <a:buChar char="•"/>
            </a:pPr>
            <a:r>
              <a:rPr b="0" i="0" lang="en-US" sz="3200" u="none" cap="none" strike="noStrike">
                <a:solidFill>
                  <a:srgbClr val="161616"/>
                </a:solidFill>
                <a:highlight>
                  <a:srgbClr val="FFFFFF"/>
                </a:highlight>
                <a:latin typeface="Roboto Condensed"/>
                <a:ea typeface="Roboto Condensed"/>
                <a:cs typeface="Roboto Condensed"/>
                <a:sym typeface="Roboto Condensed"/>
              </a:rPr>
              <a:t>Sử dụng RestTemplate gọi api sang department </a:t>
            </a:r>
            <a:r>
              <a:rPr lang="en-US" sz="3200">
                <a:solidFill>
                  <a:srgbClr val="161616"/>
                </a:solidFill>
                <a:highlight>
                  <a:srgbClr val="FFFFFF"/>
                </a:highlight>
                <a:latin typeface="Roboto Condensed"/>
                <a:ea typeface="Roboto Condensed"/>
                <a:cs typeface="Roboto Condensed"/>
                <a:sym typeface="Roboto Condensed"/>
              </a:rPr>
              <a:t>service</a:t>
            </a:r>
            <a:endParaRPr/>
          </a:p>
          <a:p>
            <a:pPr indent="-457200" lvl="0" marL="457200" marR="0" rtl="0" algn="l">
              <a:lnSpc>
                <a:spcPct val="100000"/>
              </a:lnSpc>
              <a:spcBef>
                <a:spcPts val="0"/>
              </a:spcBef>
              <a:spcAft>
                <a:spcPts val="0"/>
              </a:spcAft>
              <a:buClr>
                <a:srgbClr val="000000"/>
              </a:buClr>
              <a:buSzPts val="3200"/>
              <a:buFont typeface="Arial"/>
              <a:buChar char="•"/>
            </a:pPr>
            <a:r>
              <a:rPr b="0" i="0" lang="en-US" sz="3200" u="none" cap="none" strike="noStrike">
                <a:solidFill>
                  <a:srgbClr val="161616"/>
                </a:solidFill>
                <a:highlight>
                  <a:srgbClr val="FFFFFF"/>
                </a:highlight>
                <a:latin typeface="Roboto Condensed"/>
                <a:ea typeface="Roboto Condensed"/>
                <a:cs typeface="Roboto Condensed"/>
                <a:sym typeface="Roboto Condensed"/>
              </a:rPr>
              <a:t>Tắt department service để kiểm tra kết quả từ Circuit Breaker (Lưu ý trường hợp sử dụng cân bằng tải Ribbon trong FeignClient thực hiện trong Lab-Assignment)</a:t>
            </a:r>
            <a:endParaRPr b="0" i="0" sz="3200" u="none" cap="none" strike="noStrike">
              <a:solidFill>
                <a:srgbClr val="161616"/>
              </a:solidFill>
              <a:highlight>
                <a:srgbClr val="FFFFFF"/>
              </a:highlight>
              <a:latin typeface="Roboto Condensed"/>
              <a:ea typeface="Roboto Condensed"/>
              <a:cs typeface="Roboto Condensed"/>
              <a:sym typeface="Roboto Condensed"/>
            </a:endParaRPr>
          </a:p>
        </p:txBody>
      </p:sp>
      <p:pic>
        <p:nvPicPr>
          <p:cNvPr id="109" name="Google Shape;109;p25"/>
          <p:cNvPicPr preferRelativeResize="0"/>
          <p:nvPr/>
        </p:nvPicPr>
        <p:blipFill rotWithShape="1">
          <a:blip r:embed="rId3">
            <a:alphaModFix/>
          </a:blip>
          <a:srcRect b="0" l="0" r="0" t="0"/>
          <a:stretch/>
        </p:blipFill>
        <p:spPr>
          <a:xfrm>
            <a:off x="1563687" y="5229225"/>
            <a:ext cx="17345025" cy="72199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26"/>
          <p:cNvSpPr txBox="1"/>
          <p:nvPr/>
        </p:nvSpPr>
        <p:spPr>
          <a:xfrm>
            <a:off x="1200148" y="571499"/>
            <a:ext cx="15610743" cy="807136"/>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79BF"/>
              </a:buClr>
              <a:buSzPts val="4400"/>
              <a:buFont typeface="Helvetica Neue"/>
              <a:buNone/>
            </a:pPr>
            <a:r>
              <a:rPr b="1" i="0" lang="en-US" sz="6000" u="none" cap="none" strike="noStrike">
                <a:solidFill>
                  <a:srgbClr val="0079BF"/>
                </a:solidFill>
                <a:latin typeface="Roboto Condensed"/>
                <a:ea typeface="Roboto Condensed"/>
                <a:cs typeface="Roboto Condensed"/>
                <a:sym typeface="Roboto Condensed"/>
              </a:rPr>
              <a:t>Fault-Tolerant &amp; OAuth2</a:t>
            </a:r>
            <a:endParaRPr b="1" i="0" sz="6000" u="none" cap="none" strike="noStrike">
              <a:solidFill>
                <a:srgbClr val="4F81BD"/>
              </a:solidFill>
              <a:latin typeface="Roboto Condensed"/>
              <a:ea typeface="Roboto Condensed"/>
              <a:cs typeface="Roboto Condensed"/>
              <a:sym typeface="Roboto Condensed"/>
            </a:endParaRPr>
          </a:p>
        </p:txBody>
      </p:sp>
      <p:sp>
        <p:nvSpPr>
          <p:cNvPr id="115" name="Google Shape;115;p26"/>
          <p:cNvSpPr txBox="1"/>
          <p:nvPr/>
        </p:nvSpPr>
        <p:spPr>
          <a:xfrm>
            <a:off x="1200149" y="1564634"/>
            <a:ext cx="19450051"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600" u="none" cap="none" strike="noStrike">
                <a:solidFill>
                  <a:srgbClr val="0079BF"/>
                </a:solidFill>
                <a:latin typeface="Roboto Condensed"/>
                <a:ea typeface="Roboto Condensed"/>
                <a:cs typeface="Roboto Condensed"/>
                <a:sym typeface="Roboto Condensed"/>
              </a:rPr>
              <a:t>3</a:t>
            </a:r>
            <a:r>
              <a:rPr b="1" i="0" lang="en-US" sz="3600" u="none" cap="none" strike="noStrike">
                <a:solidFill>
                  <a:srgbClr val="000000"/>
                </a:solidFill>
                <a:latin typeface="Roboto Condensed"/>
                <a:ea typeface="Roboto Condensed"/>
                <a:cs typeface="Roboto Condensed"/>
                <a:sym typeface="Roboto Condensed"/>
              </a:rPr>
              <a:t>. </a:t>
            </a:r>
            <a:r>
              <a:rPr b="1" i="0" lang="en-US" sz="3600" u="none" cap="none" strike="noStrike">
                <a:solidFill>
                  <a:srgbClr val="0070C0"/>
                </a:solidFill>
                <a:latin typeface="Roboto Condensed"/>
                <a:ea typeface="Roboto Condensed"/>
                <a:cs typeface="Roboto Condensed"/>
                <a:sym typeface="Roboto Condensed"/>
              </a:rPr>
              <a:t>Implement</a:t>
            </a:r>
            <a:r>
              <a:rPr b="1" i="0" lang="en-US" sz="3600" u="none" cap="none" strike="noStrike">
                <a:solidFill>
                  <a:srgbClr val="000000"/>
                </a:solidFill>
                <a:latin typeface="Roboto Condensed"/>
                <a:ea typeface="Roboto Condensed"/>
                <a:cs typeface="Roboto Condensed"/>
                <a:sym typeface="Roboto Condensed"/>
              </a:rPr>
              <a:t> </a:t>
            </a:r>
            <a:r>
              <a:rPr b="1" i="0" lang="en-US" sz="3600" u="none" cap="none" strike="noStrike">
                <a:solidFill>
                  <a:srgbClr val="0070C0"/>
                </a:solidFill>
                <a:latin typeface="Roboto Condensed"/>
                <a:ea typeface="Roboto Condensed"/>
                <a:cs typeface="Roboto Condensed"/>
                <a:sym typeface="Roboto Condensed"/>
              </a:rPr>
              <a:t>Circuit Breaker With Resilience4j</a:t>
            </a:r>
            <a:endParaRPr b="1" i="0" sz="3600" u="none" cap="none" strike="noStrike">
              <a:solidFill>
                <a:srgbClr val="0070C0"/>
              </a:solidFill>
              <a:latin typeface="Roboto Condensed"/>
              <a:ea typeface="Roboto Condensed"/>
              <a:cs typeface="Roboto Condensed"/>
              <a:sym typeface="Roboto Condensed"/>
            </a:endParaRPr>
          </a:p>
        </p:txBody>
      </p:sp>
      <p:sp>
        <p:nvSpPr>
          <p:cNvPr id="116" name="Google Shape;116;p26"/>
          <p:cNvSpPr txBox="1"/>
          <p:nvPr/>
        </p:nvSpPr>
        <p:spPr>
          <a:xfrm>
            <a:off x="1464277" y="2420147"/>
            <a:ext cx="15490200" cy="1569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200" u="none" cap="none" strike="noStrike">
                <a:solidFill>
                  <a:schemeClr val="dk1"/>
                </a:solidFill>
                <a:latin typeface="Roboto Condensed"/>
                <a:ea typeface="Roboto Condensed"/>
                <a:cs typeface="Roboto Condensed"/>
                <a:sym typeface="Roboto Condensed"/>
              </a:rPr>
              <a:t>3.1 Tích hợp thư viện Resilience4j vào account service</a:t>
            </a:r>
            <a:endParaRPr b="1" i="0" sz="3200" u="none" cap="none" strike="noStrike">
              <a:solidFill>
                <a:schemeClr val="dk1"/>
              </a:solidFill>
              <a:latin typeface="Arial"/>
              <a:ea typeface="Arial"/>
              <a:cs typeface="Arial"/>
              <a:sym typeface="Arial"/>
            </a:endParaRPr>
          </a:p>
          <a:p>
            <a:pPr indent="-457200" lvl="0" marL="457200" marR="0" rtl="0" algn="l">
              <a:lnSpc>
                <a:spcPct val="100000"/>
              </a:lnSpc>
              <a:spcBef>
                <a:spcPts val="0"/>
              </a:spcBef>
              <a:spcAft>
                <a:spcPts val="0"/>
              </a:spcAft>
              <a:buClr>
                <a:srgbClr val="000000"/>
              </a:buClr>
              <a:buSzPts val="3200"/>
              <a:buFont typeface="Arial"/>
              <a:buChar char="•"/>
            </a:pPr>
            <a:r>
              <a:rPr b="0" i="0" lang="en-US" sz="3200" u="none" cap="none" strike="noStrike">
                <a:solidFill>
                  <a:srgbClr val="161616"/>
                </a:solidFill>
                <a:highlight>
                  <a:srgbClr val="FFFFFF"/>
                </a:highlight>
                <a:latin typeface="Roboto Condensed"/>
                <a:ea typeface="Roboto Condensed"/>
                <a:cs typeface="Roboto Condensed"/>
                <a:sym typeface="Roboto Condensed"/>
              </a:rPr>
              <a:t>Test Api trên postman kiểm tra kết quả</a:t>
            </a:r>
            <a:endParaRPr/>
          </a:p>
          <a:p>
            <a:pPr indent="-457200" lvl="0" marL="457200" marR="0" rtl="0" algn="l">
              <a:lnSpc>
                <a:spcPct val="100000"/>
              </a:lnSpc>
              <a:spcBef>
                <a:spcPts val="0"/>
              </a:spcBef>
              <a:spcAft>
                <a:spcPts val="0"/>
              </a:spcAft>
              <a:buClr>
                <a:srgbClr val="000000"/>
              </a:buClr>
              <a:buSzPts val="3200"/>
              <a:buFont typeface="Arial"/>
              <a:buChar char="•"/>
            </a:pPr>
            <a:r>
              <a:rPr b="0" i="0" lang="en-US" sz="3200" u="none" cap="none" strike="noStrike">
                <a:solidFill>
                  <a:srgbClr val="161616"/>
                </a:solidFill>
                <a:highlight>
                  <a:srgbClr val="FFFFFF"/>
                </a:highlight>
                <a:latin typeface="Roboto Condensed"/>
                <a:ea typeface="Roboto Condensed"/>
                <a:cs typeface="Roboto Condensed"/>
                <a:sym typeface="Roboto Condensed"/>
              </a:rPr>
              <a:t>Lưu ý là tạo một tài khoản trong bảng account và truyền đúng id vào đường dẫn</a:t>
            </a:r>
            <a:endParaRPr/>
          </a:p>
        </p:txBody>
      </p:sp>
      <p:pic>
        <p:nvPicPr>
          <p:cNvPr id="117" name="Google Shape;117;p26"/>
          <p:cNvPicPr preferRelativeResize="0"/>
          <p:nvPr/>
        </p:nvPicPr>
        <p:blipFill rotWithShape="1">
          <a:blip r:embed="rId3">
            <a:alphaModFix/>
          </a:blip>
          <a:srcRect b="0" l="0" r="0" t="0"/>
          <a:stretch/>
        </p:blipFill>
        <p:spPr>
          <a:xfrm>
            <a:off x="1464277" y="5489575"/>
            <a:ext cx="19971940" cy="5292726"/>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27"/>
          <p:cNvSpPr txBox="1"/>
          <p:nvPr/>
        </p:nvSpPr>
        <p:spPr>
          <a:xfrm>
            <a:off x="1200148" y="571499"/>
            <a:ext cx="15610743" cy="807136"/>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79BF"/>
              </a:buClr>
              <a:buSzPts val="4400"/>
              <a:buFont typeface="Helvetica Neue"/>
              <a:buNone/>
            </a:pPr>
            <a:r>
              <a:rPr b="1" i="0" lang="en-US" sz="6000" u="none" cap="none" strike="noStrike">
                <a:solidFill>
                  <a:srgbClr val="0079BF"/>
                </a:solidFill>
                <a:latin typeface="Roboto Condensed"/>
                <a:ea typeface="Roboto Condensed"/>
                <a:cs typeface="Roboto Condensed"/>
                <a:sym typeface="Roboto Condensed"/>
              </a:rPr>
              <a:t>Fault-Tolerant &amp; OAuth2</a:t>
            </a:r>
            <a:endParaRPr b="1" i="0" sz="6000" u="none" cap="none" strike="noStrike">
              <a:solidFill>
                <a:srgbClr val="4F81BD"/>
              </a:solidFill>
              <a:latin typeface="Roboto Condensed"/>
              <a:ea typeface="Roboto Condensed"/>
              <a:cs typeface="Roboto Condensed"/>
              <a:sym typeface="Roboto Condensed"/>
            </a:endParaRPr>
          </a:p>
        </p:txBody>
      </p:sp>
      <p:sp>
        <p:nvSpPr>
          <p:cNvPr id="123" name="Google Shape;123;p27"/>
          <p:cNvSpPr txBox="1"/>
          <p:nvPr/>
        </p:nvSpPr>
        <p:spPr>
          <a:xfrm>
            <a:off x="1200149" y="1564634"/>
            <a:ext cx="19450051"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600" u="none" cap="none" strike="noStrike">
                <a:solidFill>
                  <a:srgbClr val="0079BF"/>
                </a:solidFill>
                <a:latin typeface="Roboto Condensed"/>
                <a:ea typeface="Roboto Condensed"/>
                <a:cs typeface="Roboto Condensed"/>
                <a:sym typeface="Roboto Condensed"/>
              </a:rPr>
              <a:t>4</a:t>
            </a:r>
            <a:r>
              <a:rPr b="1" i="0" lang="en-US" sz="3600" u="none" cap="none" strike="noStrike">
                <a:solidFill>
                  <a:srgbClr val="000000"/>
                </a:solidFill>
                <a:latin typeface="Roboto Condensed"/>
                <a:ea typeface="Roboto Condensed"/>
                <a:cs typeface="Roboto Condensed"/>
                <a:sym typeface="Roboto Condensed"/>
              </a:rPr>
              <a:t>. Oauth (Open Authentication) là gì?</a:t>
            </a:r>
            <a:endParaRPr b="1" i="0" sz="3600" u="none" cap="none" strike="noStrike">
              <a:solidFill>
                <a:srgbClr val="0070C0"/>
              </a:solidFill>
              <a:latin typeface="Roboto Condensed"/>
              <a:ea typeface="Roboto Condensed"/>
              <a:cs typeface="Roboto Condensed"/>
              <a:sym typeface="Roboto Condensed"/>
            </a:endParaRPr>
          </a:p>
        </p:txBody>
      </p:sp>
      <p:sp>
        <p:nvSpPr>
          <p:cNvPr id="124" name="Google Shape;124;p27"/>
          <p:cNvSpPr txBox="1"/>
          <p:nvPr/>
        </p:nvSpPr>
        <p:spPr>
          <a:xfrm>
            <a:off x="1464277" y="2382047"/>
            <a:ext cx="9889523" cy="747897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200" u="none" cap="none" strike="noStrike">
                <a:solidFill>
                  <a:schemeClr val="dk1"/>
                </a:solidFill>
                <a:latin typeface="Roboto Condensed"/>
                <a:ea typeface="Roboto Condensed"/>
                <a:cs typeface="Roboto Condensed"/>
                <a:sym typeface="Roboto Condensed"/>
              </a:rPr>
              <a:t>4.1 Oauth là gì?</a:t>
            </a:r>
            <a:endParaRPr b="1" i="0" sz="3200" u="none" cap="none" strike="noStrike">
              <a:solidFill>
                <a:schemeClr val="dk1"/>
              </a:solidFill>
              <a:latin typeface="Arial"/>
              <a:ea typeface="Arial"/>
              <a:cs typeface="Arial"/>
              <a:sym typeface="Arial"/>
            </a:endParaRPr>
          </a:p>
          <a:p>
            <a:pPr indent="-457200" lvl="0" marL="457200" marR="0" rtl="0" algn="l">
              <a:lnSpc>
                <a:spcPct val="100000"/>
              </a:lnSpc>
              <a:spcBef>
                <a:spcPts val="0"/>
              </a:spcBef>
              <a:spcAft>
                <a:spcPts val="0"/>
              </a:spcAft>
              <a:buClr>
                <a:srgbClr val="000000"/>
              </a:buClr>
              <a:buSzPts val="3200"/>
              <a:buFont typeface="Arial"/>
              <a:buChar char="•"/>
            </a:pPr>
            <a:r>
              <a:rPr b="0" i="0" lang="en-US" sz="3200" u="none" cap="none" strike="noStrike">
                <a:solidFill>
                  <a:srgbClr val="161616"/>
                </a:solidFill>
                <a:highlight>
                  <a:srgbClr val="FFFFFF"/>
                </a:highlight>
                <a:latin typeface="Roboto Condensed"/>
                <a:ea typeface="Roboto Condensed"/>
                <a:cs typeface="Roboto Condensed"/>
                <a:sym typeface="Roboto Condensed"/>
              </a:rPr>
              <a:t>OAuth (Ủy quyền mở) là một giao thức ủy quyền tiêu chuẩn mở để ủy quyền dựa trên mã thông báo token. </a:t>
            </a:r>
            <a:endParaRPr/>
          </a:p>
          <a:p>
            <a:pPr indent="-457200" lvl="0" marL="457200" marR="0" rtl="0" algn="l">
              <a:lnSpc>
                <a:spcPct val="100000"/>
              </a:lnSpc>
              <a:spcBef>
                <a:spcPts val="0"/>
              </a:spcBef>
              <a:spcAft>
                <a:spcPts val="0"/>
              </a:spcAft>
              <a:buClr>
                <a:srgbClr val="000000"/>
              </a:buClr>
              <a:buSzPts val="3200"/>
              <a:buFont typeface="Arial"/>
              <a:buChar char="•"/>
            </a:pPr>
            <a:r>
              <a:rPr b="0" i="0" lang="en-US" sz="3200" u="none" cap="none" strike="noStrike">
                <a:solidFill>
                  <a:srgbClr val="161616"/>
                </a:solidFill>
                <a:highlight>
                  <a:srgbClr val="FFFFFF"/>
                </a:highlight>
                <a:latin typeface="Roboto Condensed"/>
                <a:ea typeface="Roboto Condensed"/>
                <a:cs typeface="Roboto Condensed"/>
                <a:sym typeface="Roboto Condensed"/>
              </a:rPr>
              <a:t>OAuth </a:t>
            </a:r>
            <a:r>
              <a:rPr b="0" i="0" lang="en-US" sz="3200" u="none" cap="none" strike="noStrike">
                <a:solidFill>
                  <a:srgbClr val="444B52"/>
                </a:solidFill>
                <a:highlight>
                  <a:srgbClr val="FFFFFF"/>
                </a:highlight>
                <a:latin typeface="Roboto Condensed"/>
                <a:ea typeface="Roboto Condensed"/>
                <a:cs typeface="Roboto Condensed"/>
                <a:sym typeface="Roboto Condensed"/>
              </a:rPr>
              <a:t>cho phép các ứng dụng truy cập vào tài nguyên của người dùng mà không cần biết thông tin đăng nhập của họ</a:t>
            </a:r>
            <a:r>
              <a:rPr b="0" i="0" lang="en-US" sz="3200" u="none" cap="none" strike="noStrike">
                <a:solidFill>
                  <a:srgbClr val="161616"/>
                </a:solidFill>
                <a:highlight>
                  <a:srgbClr val="FFFFFF"/>
                </a:highlight>
                <a:latin typeface="Roboto Condensed"/>
                <a:ea typeface="Roboto Condensed"/>
                <a:cs typeface="Roboto Condensed"/>
                <a:sym typeface="Roboto Condensed"/>
              </a:rPr>
              <a:t>. </a:t>
            </a:r>
            <a:endParaRPr/>
          </a:p>
          <a:p>
            <a:pPr indent="-457200" lvl="0" marL="457200" marR="0" rtl="0" algn="l">
              <a:lnSpc>
                <a:spcPct val="100000"/>
              </a:lnSpc>
              <a:spcBef>
                <a:spcPts val="0"/>
              </a:spcBef>
              <a:spcAft>
                <a:spcPts val="0"/>
              </a:spcAft>
              <a:buClr>
                <a:srgbClr val="000000"/>
              </a:buClr>
              <a:buSzPts val="3200"/>
              <a:buFont typeface="Arial"/>
              <a:buChar char="•"/>
            </a:pPr>
            <a:r>
              <a:rPr b="0" i="0" lang="en-US" sz="3200" u="none" cap="none" strike="noStrike">
                <a:solidFill>
                  <a:srgbClr val="444B52"/>
                </a:solidFill>
                <a:highlight>
                  <a:srgbClr val="FFFFFF"/>
                </a:highlight>
                <a:latin typeface="Roboto Condensed"/>
                <a:ea typeface="Roboto Condensed"/>
                <a:cs typeface="Roboto Condensed"/>
                <a:sym typeface="Roboto Condensed"/>
              </a:rPr>
              <a:t>OAuth hoạt động bằng cách cung cấp một phương pháp cho ứng dụng yêu cầu và nhận token ủy quyền từ một dịch vụ xác thực. Sau đó, nó sử dụng token này để truy cập vào tài nguyên được ủy quyền. Giao thức này tập trung vào việc truy cập vào tài nguyên người dùng từ các ứng dụng bên thứ ba mà không cần chia sẻ thông tin đăng nhập.</a:t>
            </a:r>
            <a:endParaRPr b="0" i="0" sz="3200" u="none" cap="none" strike="noStrike">
              <a:solidFill>
                <a:srgbClr val="161616"/>
              </a:solidFill>
              <a:highlight>
                <a:srgbClr val="FFFFFF"/>
              </a:highlight>
              <a:latin typeface="Roboto Condensed"/>
              <a:ea typeface="Roboto Condensed"/>
              <a:cs typeface="Roboto Condensed"/>
              <a:sym typeface="Roboto Condensed"/>
            </a:endParaRPr>
          </a:p>
          <a:p>
            <a:pPr indent="-254000" lvl="0" marL="45720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Roboto Condensed"/>
              <a:ea typeface="Roboto Condensed"/>
              <a:cs typeface="Roboto Condensed"/>
              <a:sym typeface="Roboto Condensed"/>
            </a:endParaRPr>
          </a:p>
        </p:txBody>
      </p:sp>
      <p:pic>
        <p:nvPicPr>
          <p:cNvPr id="125" name="Google Shape;125;p27"/>
          <p:cNvPicPr preferRelativeResize="0"/>
          <p:nvPr/>
        </p:nvPicPr>
        <p:blipFill rotWithShape="1">
          <a:blip r:embed="rId3">
            <a:alphaModFix/>
          </a:blip>
          <a:srcRect b="0" l="0" r="0" t="0"/>
          <a:stretch/>
        </p:blipFill>
        <p:spPr>
          <a:xfrm>
            <a:off x="11722100" y="2509047"/>
            <a:ext cx="10654546" cy="69723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28"/>
          <p:cNvSpPr txBox="1"/>
          <p:nvPr/>
        </p:nvSpPr>
        <p:spPr>
          <a:xfrm>
            <a:off x="1200148" y="571499"/>
            <a:ext cx="15610743" cy="807136"/>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79BF"/>
              </a:buClr>
              <a:buSzPts val="4400"/>
              <a:buFont typeface="Helvetica Neue"/>
              <a:buNone/>
            </a:pPr>
            <a:r>
              <a:rPr b="1" i="0" lang="en-US" sz="6000" u="none" cap="none" strike="noStrike">
                <a:solidFill>
                  <a:srgbClr val="0079BF"/>
                </a:solidFill>
                <a:latin typeface="Roboto Condensed"/>
                <a:ea typeface="Roboto Condensed"/>
                <a:cs typeface="Roboto Condensed"/>
                <a:sym typeface="Roboto Condensed"/>
              </a:rPr>
              <a:t>Fault-Tolerant &amp; OAuth2</a:t>
            </a:r>
            <a:endParaRPr b="1" i="0" sz="6000" u="none" cap="none" strike="noStrike">
              <a:solidFill>
                <a:srgbClr val="4F81BD"/>
              </a:solidFill>
              <a:latin typeface="Roboto Condensed"/>
              <a:ea typeface="Roboto Condensed"/>
              <a:cs typeface="Roboto Condensed"/>
              <a:sym typeface="Roboto Condensed"/>
            </a:endParaRPr>
          </a:p>
        </p:txBody>
      </p:sp>
      <p:sp>
        <p:nvSpPr>
          <p:cNvPr id="131" name="Google Shape;131;p28"/>
          <p:cNvSpPr txBox="1"/>
          <p:nvPr/>
        </p:nvSpPr>
        <p:spPr>
          <a:xfrm>
            <a:off x="1200149" y="1564634"/>
            <a:ext cx="19450051"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600" u="none" cap="none" strike="noStrike">
                <a:solidFill>
                  <a:srgbClr val="0079BF"/>
                </a:solidFill>
                <a:latin typeface="Roboto Condensed"/>
                <a:ea typeface="Roboto Condensed"/>
                <a:cs typeface="Roboto Condensed"/>
                <a:sym typeface="Roboto Condensed"/>
              </a:rPr>
              <a:t>4</a:t>
            </a:r>
            <a:r>
              <a:rPr b="1" i="0" lang="en-US" sz="3600" u="none" cap="none" strike="noStrike">
                <a:solidFill>
                  <a:srgbClr val="000000"/>
                </a:solidFill>
                <a:latin typeface="Roboto Condensed"/>
                <a:ea typeface="Roboto Condensed"/>
                <a:cs typeface="Roboto Condensed"/>
                <a:sym typeface="Roboto Condensed"/>
              </a:rPr>
              <a:t>. Oauth (Open Authentication) là gì?</a:t>
            </a:r>
            <a:endParaRPr b="1" i="0" sz="3600" u="none" cap="none" strike="noStrike">
              <a:solidFill>
                <a:srgbClr val="0070C0"/>
              </a:solidFill>
              <a:latin typeface="Roboto Condensed"/>
              <a:ea typeface="Roboto Condensed"/>
              <a:cs typeface="Roboto Condensed"/>
              <a:sym typeface="Roboto Condensed"/>
            </a:endParaRPr>
          </a:p>
        </p:txBody>
      </p:sp>
      <p:sp>
        <p:nvSpPr>
          <p:cNvPr id="132" name="Google Shape;132;p28"/>
          <p:cNvSpPr txBox="1"/>
          <p:nvPr/>
        </p:nvSpPr>
        <p:spPr>
          <a:xfrm>
            <a:off x="1464277" y="2382047"/>
            <a:ext cx="9889523" cy="353943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200" u="none" cap="none" strike="noStrike">
                <a:solidFill>
                  <a:schemeClr val="dk1"/>
                </a:solidFill>
                <a:latin typeface="Roboto Condensed"/>
                <a:ea typeface="Roboto Condensed"/>
                <a:cs typeface="Roboto Condensed"/>
                <a:sym typeface="Roboto Condensed"/>
              </a:rPr>
              <a:t>4.1 Oauth là gì?</a:t>
            </a:r>
            <a:endParaRPr b="1" i="0" sz="3200" u="none" cap="none" strike="noStrike">
              <a:solidFill>
                <a:schemeClr val="dk1"/>
              </a:solidFill>
              <a:latin typeface="Arial"/>
              <a:ea typeface="Arial"/>
              <a:cs typeface="Arial"/>
              <a:sym typeface="Arial"/>
            </a:endParaRPr>
          </a:p>
          <a:p>
            <a:pPr indent="-457200" lvl="0" marL="457200" marR="0" rtl="0" algn="l">
              <a:lnSpc>
                <a:spcPct val="100000"/>
              </a:lnSpc>
              <a:spcBef>
                <a:spcPts val="0"/>
              </a:spcBef>
              <a:spcAft>
                <a:spcPts val="0"/>
              </a:spcAft>
              <a:buClr>
                <a:srgbClr val="000000"/>
              </a:buClr>
              <a:buSzPts val="3200"/>
              <a:buFont typeface="Arial"/>
              <a:buChar char="•"/>
            </a:pPr>
            <a:r>
              <a:rPr b="0" i="0" lang="en-US" sz="3200" u="none" cap="none" strike="noStrike">
                <a:solidFill>
                  <a:srgbClr val="161616"/>
                </a:solidFill>
                <a:highlight>
                  <a:srgbClr val="FFFFFF"/>
                </a:highlight>
                <a:latin typeface="Roboto Condensed"/>
                <a:ea typeface="Roboto Condensed"/>
                <a:cs typeface="Roboto Condensed"/>
                <a:sym typeface="Roboto Condensed"/>
              </a:rPr>
              <a:t>Ví dụ có thể đăng nhập Instagram bằng tài khoản Facebook mà không cần đăng ký tài khoản mới trên hệ thống Instagram.</a:t>
            </a:r>
            <a:endParaRPr/>
          </a:p>
          <a:p>
            <a:pPr indent="-457200" lvl="0" marL="457200" marR="0" rtl="0" algn="l">
              <a:lnSpc>
                <a:spcPct val="100000"/>
              </a:lnSpc>
              <a:spcBef>
                <a:spcPts val="0"/>
              </a:spcBef>
              <a:spcAft>
                <a:spcPts val="0"/>
              </a:spcAft>
              <a:buClr>
                <a:srgbClr val="000000"/>
              </a:buClr>
              <a:buSzPts val="3200"/>
              <a:buFont typeface="Arial"/>
              <a:buChar char="•"/>
            </a:pPr>
            <a:r>
              <a:rPr b="0" i="0" lang="en-US" sz="3200" u="none" cap="none" strike="noStrike">
                <a:solidFill>
                  <a:srgbClr val="161616"/>
                </a:solidFill>
                <a:highlight>
                  <a:srgbClr val="FFFFFF"/>
                </a:highlight>
                <a:latin typeface="Roboto Condensed"/>
                <a:ea typeface="Roboto Condensed"/>
                <a:cs typeface="Roboto Condensed"/>
                <a:sym typeface="Roboto Condensed"/>
              </a:rPr>
              <a:t>Khi đăng nhập xong có thể liên kết 2 tài khoản và chia sẻ ảnh trên 2 ứng dụng.</a:t>
            </a:r>
            <a:endParaRPr b="0" i="0" sz="3200" u="none" cap="none" strike="noStrike">
              <a:solidFill>
                <a:srgbClr val="161616"/>
              </a:solidFill>
              <a:highlight>
                <a:srgbClr val="FFFFFF"/>
              </a:highlight>
              <a:latin typeface="Roboto Condensed"/>
              <a:ea typeface="Roboto Condensed"/>
              <a:cs typeface="Roboto Condensed"/>
              <a:sym typeface="Roboto Condensed"/>
            </a:endParaRPr>
          </a:p>
          <a:p>
            <a:pPr indent="-254000" lvl="0" marL="45720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Roboto Condensed"/>
              <a:ea typeface="Roboto Condensed"/>
              <a:cs typeface="Roboto Condensed"/>
              <a:sym typeface="Roboto Condensed"/>
            </a:endParaRPr>
          </a:p>
        </p:txBody>
      </p:sp>
      <p:pic>
        <p:nvPicPr>
          <p:cNvPr id="133" name="Google Shape;133;p28"/>
          <p:cNvPicPr preferRelativeResize="0"/>
          <p:nvPr/>
        </p:nvPicPr>
        <p:blipFill rotWithShape="1">
          <a:blip r:embed="rId3">
            <a:alphaModFix/>
          </a:blip>
          <a:srcRect b="0" l="0" r="0" t="0"/>
          <a:stretch/>
        </p:blipFill>
        <p:spPr>
          <a:xfrm>
            <a:off x="11877674" y="2382047"/>
            <a:ext cx="9708805" cy="7752553"/>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29"/>
          <p:cNvSpPr txBox="1"/>
          <p:nvPr/>
        </p:nvSpPr>
        <p:spPr>
          <a:xfrm>
            <a:off x="1200148" y="571499"/>
            <a:ext cx="15610743" cy="807136"/>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79BF"/>
              </a:buClr>
              <a:buSzPts val="4400"/>
              <a:buFont typeface="Helvetica Neue"/>
              <a:buNone/>
            </a:pPr>
            <a:r>
              <a:rPr b="1" i="0" lang="en-US" sz="6000" u="none" cap="none" strike="noStrike">
                <a:solidFill>
                  <a:srgbClr val="0079BF"/>
                </a:solidFill>
                <a:latin typeface="Roboto Condensed"/>
                <a:ea typeface="Roboto Condensed"/>
                <a:cs typeface="Roboto Condensed"/>
                <a:sym typeface="Roboto Condensed"/>
              </a:rPr>
              <a:t>Fault-Tolerant &amp; OAuth2</a:t>
            </a:r>
            <a:endParaRPr b="1" i="0" sz="6000" u="none" cap="none" strike="noStrike">
              <a:solidFill>
                <a:srgbClr val="4F81BD"/>
              </a:solidFill>
              <a:latin typeface="Roboto Condensed"/>
              <a:ea typeface="Roboto Condensed"/>
              <a:cs typeface="Roboto Condensed"/>
              <a:sym typeface="Roboto Condensed"/>
            </a:endParaRPr>
          </a:p>
        </p:txBody>
      </p:sp>
      <p:sp>
        <p:nvSpPr>
          <p:cNvPr id="139" name="Google Shape;139;p29"/>
          <p:cNvSpPr txBox="1"/>
          <p:nvPr/>
        </p:nvSpPr>
        <p:spPr>
          <a:xfrm>
            <a:off x="1200149" y="1564634"/>
            <a:ext cx="19450051"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600" u="none" cap="none" strike="noStrike">
                <a:solidFill>
                  <a:srgbClr val="0079BF"/>
                </a:solidFill>
                <a:latin typeface="Roboto Condensed"/>
                <a:ea typeface="Roboto Condensed"/>
                <a:cs typeface="Roboto Condensed"/>
                <a:sym typeface="Roboto Condensed"/>
              </a:rPr>
              <a:t>4</a:t>
            </a:r>
            <a:r>
              <a:rPr b="1" i="0" lang="en-US" sz="3600" u="none" cap="none" strike="noStrike">
                <a:solidFill>
                  <a:srgbClr val="000000"/>
                </a:solidFill>
                <a:latin typeface="Roboto Condensed"/>
                <a:ea typeface="Roboto Condensed"/>
                <a:cs typeface="Roboto Condensed"/>
                <a:sym typeface="Roboto Condensed"/>
              </a:rPr>
              <a:t>. Oauth (Open Authentication) là gì?</a:t>
            </a:r>
            <a:endParaRPr b="1" i="0" sz="3600" u="none" cap="none" strike="noStrike">
              <a:solidFill>
                <a:srgbClr val="0070C0"/>
              </a:solidFill>
              <a:latin typeface="Roboto Condensed"/>
              <a:ea typeface="Roboto Condensed"/>
              <a:cs typeface="Roboto Condensed"/>
              <a:sym typeface="Roboto Condensed"/>
            </a:endParaRPr>
          </a:p>
        </p:txBody>
      </p:sp>
      <p:sp>
        <p:nvSpPr>
          <p:cNvPr id="140" name="Google Shape;140;p29"/>
          <p:cNvSpPr txBox="1"/>
          <p:nvPr/>
        </p:nvSpPr>
        <p:spPr>
          <a:xfrm>
            <a:off x="1464277" y="2382047"/>
            <a:ext cx="9140223" cy="698652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200" u="none" cap="none" strike="noStrike">
                <a:solidFill>
                  <a:schemeClr val="dk1"/>
                </a:solidFill>
                <a:latin typeface="Roboto Condensed"/>
                <a:ea typeface="Roboto Condensed"/>
                <a:cs typeface="Roboto Condensed"/>
                <a:sym typeface="Roboto Condensed"/>
              </a:rPr>
              <a:t>4.2 Oauth2 ?</a:t>
            </a:r>
            <a:endParaRPr b="0" i="0" sz="3200" u="none" cap="none" strike="noStrike">
              <a:solidFill>
                <a:srgbClr val="161616"/>
              </a:solidFill>
              <a:highlight>
                <a:srgbClr val="FFFFFF"/>
              </a:highlight>
              <a:latin typeface="Roboto Condensed"/>
              <a:ea typeface="Roboto Condensed"/>
              <a:cs typeface="Roboto Condensed"/>
              <a:sym typeface="Roboto Condensed"/>
            </a:endParaRPr>
          </a:p>
          <a:p>
            <a:pPr indent="-457200" lvl="0" marL="457200" marR="0" rtl="0" algn="l">
              <a:lnSpc>
                <a:spcPct val="100000"/>
              </a:lnSpc>
              <a:spcBef>
                <a:spcPts val="0"/>
              </a:spcBef>
              <a:spcAft>
                <a:spcPts val="0"/>
              </a:spcAft>
              <a:buClr>
                <a:srgbClr val="000000"/>
              </a:buClr>
              <a:buSzPts val="3200"/>
              <a:buFont typeface="Arial"/>
              <a:buChar char="•"/>
            </a:pPr>
            <a:r>
              <a:rPr b="0" i="0" lang="en-US" sz="3200" u="none" cap="none" strike="noStrike">
                <a:solidFill>
                  <a:srgbClr val="161616"/>
                </a:solidFill>
                <a:highlight>
                  <a:srgbClr val="FFFFFF"/>
                </a:highlight>
                <a:latin typeface="Roboto Condensed"/>
                <a:ea typeface="Roboto Condensed"/>
                <a:cs typeface="Roboto Condensed"/>
                <a:sym typeface="Roboto Condensed"/>
              </a:rPr>
              <a:t>OAuth2 ra đời năm 2012 là bẩn nâng cấp của OAuth1(ra đời năm 2010). </a:t>
            </a:r>
            <a:endParaRPr/>
          </a:p>
          <a:p>
            <a:pPr indent="-457200" lvl="0" marL="457200" marR="0" rtl="0" algn="l">
              <a:lnSpc>
                <a:spcPct val="100000"/>
              </a:lnSpc>
              <a:spcBef>
                <a:spcPts val="0"/>
              </a:spcBef>
              <a:spcAft>
                <a:spcPts val="0"/>
              </a:spcAft>
              <a:buClr>
                <a:srgbClr val="000000"/>
              </a:buClr>
              <a:buSzPts val="3200"/>
              <a:buFont typeface="Arial"/>
              <a:buChar char="•"/>
            </a:pPr>
            <a:r>
              <a:rPr b="0" i="0" lang="en-US" sz="3200" u="none" cap="none" strike="noStrike">
                <a:solidFill>
                  <a:srgbClr val="444B52"/>
                </a:solidFill>
                <a:highlight>
                  <a:srgbClr val="FFFFFF"/>
                </a:highlight>
                <a:latin typeface="Roboto Condensed"/>
                <a:ea typeface="Roboto Condensed"/>
                <a:cs typeface="Roboto Condensed"/>
                <a:sym typeface="Roboto Condensed"/>
              </a:rPr>
              <a:t>Quá trình phát triển OAuth2 là kết quả của nhiều bước cải tiến và mở rộng từ phiên bản cũ. Mục đích của hoạt động nghiên cứu nhằm đáp ứng nhu cầu sử dụng phức tạp và đa dạng của môi trường trực tuyến ngày nay.</a:t>
            </a:r>
            <a:endParaRPr b="0" i="0" sz="3200" u="none" cap="none" strike="noStrike">
              <a:solidFill>
                <a:srgbClr val="161616"/>
              </a:solidFill>
              <a:highlight>
                <a:srgbClr val="FFFFFF"/>
              </a:highlight>
              <a:latin typeface="Roboto Condensed"/>
              <a:ea typeface="Roboto Condensed"/>
              <a:cs typeface="Roboto Condensed"/>
              <a:sym typeface="Roboto Condensed"/>
            </a:endParaRPr>
          </a:p>
          <a:p>
            <a:pPr indent="-457200" lvl="0" marL="457200" marR="0" rtl="0" algn="l">
              <a:lnSpc>
                <a:spcPct val="100000"/>
              </a:lnSpc>
              <a:spcBef>
                <a:spcPts val="0"/>
              </a:spcBef>
              <a:spcAft>
                <a:spcPts val="0"/>
              </a:spcAft>
              <a:buClr>
                <a:srgbClr val="000000"/>
              </a:buClr>
              <a:buSzPts val="3200"/>
              <a:buFont typeface="Arial"/>
              <a:buChar char="•"/>
            </a:pPr>
            <a:r>
              <a:rPr b="0" i="0" lang="en-US" sz="3200" u="none" cap="none" strike="noStrike">
                <a:solidFill>
                  <a:srgbClr val="444B52"/>
                </a:solidFill>
                <a:highlight>
                  <a:srgbClr val="FFFFFF"/>
                </a:highlight>
                <a:latin typeface="Roboto Condensed"/>
                <a:ea typeface="Roboto Condensed"/>
                <a:cs typeface="Roboto Condensed"/>
                <a:sym typeface="Roboto Condensed"/>
              </a:rPr>
              <a:t>Qua quá trình phát triển này, OAuth2 không chỉ trở thành công cụ cần thiết cho việc xác thực và ủy quyền trên Internet. Nền tảng còn đóng vai trò đặc biệt trong việc định hình các tiêu chuẩn an toàn, bảo mật cho các ứng dụng web và dịch vụ trực tuyến.</a:t>
            </a:r>
            <a:endParaRPr b="1" i="0" sz="3200" u="none" cap="none" strike="noStrike">
              <a:solidFill>
                <a:schemeClr val="dk1"/>
              </a:solidFill>
              <a:latin typeface="Roboto Condensed"/>
              <a:ea typeface="Roboto Condensed"/>
              <a:cs typeface="Roboto Condensed"/>
              <a:sym typeface="Roboto Condensed"/>
            </a:endParaRPr>
          </a:p>
        </p:txBody>
      </p:sp>
      <p:pic>
        <p:nvPicPr>
          <p:cNvPr id="141" name="Google Shape;141;p29"/>
          <p:cNvPicPr preferRelativeResize="0"/>
          <p:nvPr/>
        </p:nvPicPr>
        <p:blipFill rotWithShape="1">
          <a:blip r:embed="rId3">
            <a:alphaModFix/>
          </a:blip>
          <a:srcRect b="0" l="0" r="0" t="0"/>
          <a:stretch/>
        </p:blipFill>
        <p:spPr>
          <a:xfrm>
            <a:off x="11047411" y="2670118"/>
            <a:ext cx="11526960" cy="6118282"/>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30"/>
          <p:cNvSpPr txBox="1"/>
          <p:nvPr/>
        </p:nvSpPr>
        <p:spPr>
          <a:xfrm>
            <a:off x="1200148" y="571499"/>
            <a:ext cx="15610743" cy="807136"/>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79BF"/>
              </a:buClr>
              <a:buSzPts val="4400"/>
              <a:buFont typeface="Helvetica Neue"/>
              <a:buNone/>
            </a:pPr>
            <a:r>
              <a:rPr b="1" i="0" lang="en-US" sz="6000" u="none" cap="none" strike="noStrike">
                <a:solidFill>
                  <a:srgbClr val="0079BF"/>
                </a:solidFill>
                <a:latin typeface="Roboto Condensed"/>
                <a:ea typeface="Roboto Condensed"/>
                <a:cs typeface="Roboto Condensed"/>
                <a:sym typeface="Roboto Condensed"/>
              </a:rPr>
              <a:t>Fault-Tolerant &amp; OAuth2</a:t>
            </a:r>
            <a:endParaRPr b="1" i="0" sz="6000" u="none" cap="none" strike="noStrike">
              <a:solidFill>
                <a:srgbClr val="4F81BD"/>
              </a:solidFill>
              <a:latin typeface="Roboto Condensed"/>
              <a:ea typeface="Roboto Condensed"/>
              <a:cs typeface="Roboto Condensed"/>
              <a:sym typeface="Roboto Condensed"/>
            </a:endParaRPr>
          </a:p>
        </p:txBody>
      </p:sp>
      <p:sp>
        <p:nvSpPr>
          <p:cNvPr id="147" name="Google Shape;147;p30"/>
          <p:cNvSpPr txBox="1"/>
          <p:nvPr/>
        </p:nvSpPr>
        <p:spPr>
          <a:xfrm>
            <a:off x="1200149" y="1564634"/>
            <a:ext cx="19450051"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600" u="none" cap="none" strike="noStrike">
                <a:solidFill>
                  <a:srgbClr val="0079BF"/>
                </a:solidFill>
                <a:latin typeface="Roboto Condensed"/>
                <a:ea typeface="Roboto Condensed"/>
                <a:cs typeface="Roboto Condensed"/>
                <a:sym typeface="Roboto Condensed"/>
              </a:rPr>
              <a:t>4</a:t>
            </a:r>
            <a:r>
              <a:rPr b="1" i="0" lang="en-US" sz="3600" u="none" cap="none" strike="noStrike">
                <a:solidFill>
                  <a:srgbClr val="000000"/>
                </a:solidFill>
                <a:latin typeface="Roboto Condensed"/>
                <a:ea typeface="Roboto Condensed"/>
                <a:cs typeface="Roboto Condensed"/>
                <a:sym typeface="Roboto Condensed"/>
              </a:rPr>
              <a:t>. Oauth (Open Authentication) là gì?</a:t>
            </a:r>
            <a:endParaRPr b="1" i="0" sz="3600" u="none" cap="none" strike="noStrike">
              <a:solidFill>
                <a:srgbClr val="0070C0"/>
              </a:solidFill>
              <a:latin typeface="Roboto Condensed"/>
              <a:ea typeface="Roboto Condensed"/>
              <a:cs typeface="Roboto Condensed"/>
              <a:sym typeface="Roboto Condensed"/>
            </a:endParaRPr>
          </a:p>
        </p:txBody>
      </p:sp>
      <p:sp>
        <p:nvSpPr>
          <p:cNvPr id="148" name="Google Shape;148;p30"/>
          <p:cNvSpPr txBox="1"/>
          <p:nvPr/>
        </p:nvSpPr>
        <p:spPr>
          <a:xfrm>
            <a:off x="1464277" y="2382047"/>
            <a:ext cx="12245373" cy="994118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200" u="none" cap="none" strike="noStrike">
                <a:solidFill>
                  <a:schemeClr val="dk1"/>
                </a:solidFill>
                <a:latin typeface="Roboto Condensed"/>
                <a:ea typeface="Roboto Condensed"/>
                <a:cs typeface="Roboto Condensed"/>
                <a:sym typeface="Roboto Condensed"/>
              </a:rPr>
              <a:t>4.3 Cơ chế hoạt động của Oauth2 </a:t>
            </a:r>
            <a:endParaRPr b="0" i="0" sz="3200" u="none" cap="none" strike="noStrike">
              <a:solidFill>
                <a:srgbClr val="161616"/>
              </a:solidFill>
              <a:highlight>
                <a:srgbClr val="FFFFFF"/>
              </a:highlight>
              <a:latin typeface="Roboto Condensed"/>
              <a:ea typeface="Roboto Condensed"/>
              <a:cs typeface="Roboto Condensed"/>
              <a:sym typeface="Roboto Condensed"/>
            </a:endParaRPr>
          </a:p>
          <a:p>
            <a:pPr indent="-457200" lvl="0" marL="457200" marR="0" rtl="0" algn="l">
              <a:lnSpc>
                <a:spcPct val="100000"/>
              </a:lnSpc>
              <a:spcBef>
                <a:spcPts val="0"/>
              </a:spcBef>
              <a:spcAft>
                <a:spcPts val="0"/>
              </a:spcAft>
              <a:buClr>
                <a:srgbClr val="000000"/>
              </a:buClr>
              <a:buSzPts val="3200"/>
              <a:buFont typeface="Arial"/>
              <a:buChar char="•"/>
            </a:pPr>
            <a:r>
              <a:rPr b="0" i="0" lang="en-US" sz="3200" u="none" cap="none" strike="noStrike">
                <a:solidFill>
                  <a:srgbClr val="161616"/>
                </a:solidFill>
                <a:highlight>
                  <a:srgbClr val="FFFFFF"/>
                </a:highlight>
                <a:latin typeface="Roboto Condensed"/>
                <a:ea typeface="Roboto Condensed"/>
                <a:cs typeface="Roboto Condensed"/>
                <a:sym typeface="Roboto Condensed"/>
              </a:rPr>
              <a:t>Đầu tiên: người dùng truy cập vào ứng dụng khách, trong ứng dụng này sẽ có nút "đăng nhập qua Facebook".</a:t>
            </a:r>
            <a:endParaRPr/>
          </a:p>
          <a:p>
            <a:pPr indent="-457200" lvl="0" marL="457200" marR="0" rtl="0" algn="l">
              <a:lnSpc>
                <a:spcPct val="100000"/>
              </a:lnSpc>
              <a:spcBef>
                <a:spcPts val="0"/>
              </a:spcBef>
              <a:spcAft>
                <a:spcPts val="0"/>
              </a:spcAft>
              <a:buClr>
                <a:srgbClr val="000000"/>
              </a:buClr>
              <a:buSzPts val="3200"/>
              <a:buFont typeface="Arial"/>
              <a:buChar char="•"/>
            </a:pPr>
            <a:r>
              <a:rPr b="0" i="0" lang="en-US" sz="3200" u="none" cap="none" strike="noStrike">
                <a:solidFill>
                  <a:srgbClr val="444B52"/>
                </a:solidFill>
                <a:highlight>
                  <a:srgbClr val="FFFFFF"/>
                </a:highlight>
                <a:latin typeface="Roboto Condensed"/>
                <a:ea typeface="Roboto Condensed"/>
                <a:cs typeface="Roboto Condensed"/>
                <a:sym typeface="Roboto Condensed"/>
              </a:rPr>
              <a:t>Bước thứ hai: người dùng nhấp vào nút liên kết  và được chuyển hướng đến máy chủ xác thực (Facebook). Sau đó, người dùng bắt đầu đăng nhập và sau khi đăng nhập thành công, có thể sẽ được hỏi liệu ứng dụng khách có thể sử dụng thông tin người dùng hay không. Người dùng nhấp vào nút xác nhận.</a:t>
            </a:r>
            <a:endParaRPr/>
          </a:p>
          <a:p>
            <a:pPr indent="-457200" lvl="0" marL="457200" marR="0" rtl="0" algn="l">
              <a:lnSpc>
                <a:spcPct val="100000"/>
              </a:lnSpc>
              <a:spcBef>
                <a:spcPts val="0"/>
              </a:spcBef>
              <a:spcAft>
                <a:spcPts val="0"/>
              </a:spcAft>
              <a:buClr>
                <a:srgbClr val="000000"/>
              </a:buClr>
              <a:buSzPts val="3200"/>
              <a:buFont typeface="Arial"/>
              <a:buChar char="•"/>
            </a:pPr>
            <a:r>
              <a:rPr b="0" i="0" lang="en-US" sz="3200" u="none" cap="none" strike="noStrike">
                <a:solidFill>
                  <a:srgbClr val="444B52"/>
                </a:solidFill>
                <a:highlight>
                  <a:srgbClr val="FFFFFF"/>
                </a:highlight>
                <a:latin typeface="Roboto Condensed"/>
                <a:ea typeface="Roboto Condensed"/>
                <a:cs typeface="Roboto Condensed"/>
                <a:sym typeface="Roboto Condensed"/>
              </a:rPr>
              <a:t>Bước thứ ba: máy chủ xác thực chuyển hướng người dùng đến URL do ứng dụng khách cung cấp. URL chuyển hướng này thường được đăng ký trong máy chủ xác thực và việc đăng ký được thực hiện bởi chủ sở hữu ứng dụng khách. </a:t>
            </a:r>
            <a:endParaRPr/>
          </a:p>
          <a:p>
            <a:pPr indent="-457200" lvl="0" marL="457200" marR="0" rtl="0" algn="l">
              <a:lnSpc>
                <a:spcPct val="100000"/>
              </a:lnSpc>
              <a:spcBef>
                <a:spcPts val="0"/>
              </a:spcBef>
              <a:spcAft>
                <a:spcPts val="0"/>
              </a:spcAft>
              <a:buClr>
                <a:srgbClr val="000000"/>
              </a:buClr>
              <a:buSzPts val="3200"/>
              <a:buFont typeface="Arial"/>
              <a:buChar char="•"/>
            </a:pPr>
            <a:r>
              <a:rPr b="0" i="0" lang="en-US" sz="3200" u="none" cap="none" strike="noStrike">
                <a:solidFill>
                  <a:srgbClr val="444B52"/>
                </a:solidFill>
                <a:highlight>
                  <a:srgbClr val="FFFFFF"/>
                </a:highlight>
                <a:latin typeface="Roboto Condensed"/>
                <a:ea typeface="Roboto Condensed"/>
                <a:cs typeface="Roboto Condensed"/>
                <a:sym typeface="Roboto Condensed"/>
              </a:rPr>
              <a:t>Bước thứ tư: </a:t>
            </a:r>
            <a:r>
              <a:rPr b="0" i="0" lang="en-US" sz="3200" u="none" cap="none" strike="noStrike">
                <a:solidFill>
                  <a:srgbClr val="161616"/>
                </a:solidFill>
                <a:highlight>
                  <a:srgbClr val="FFFFFF"/>
                </a:highlight>
                <a:latin typeface="Roboto Condensed"/>
                <a:ea typeface="Roboto Condensed"/>
                <a:cs typeface="Roboto Condensed"/>
                <a:sym typeface="Roboto Condensed"/>
              </a:rPr>
              <a:t>sau khi chuyển hướng hoàn tất, người dùng sẽ vào trang được chuyển hướng và ứng dụng khách sẽ giao tiếp với máy chủ xác thực ở chế độ nền, và gửi id máy khách, token có được ở bước trước đó đến máy chủ xác thực để xác thự. Máy chủ trả về access token gắn với quyền truy cập những tài nguyên đã được người dùng ủy quyền.</a:t>
            </a:r>
            <a:endParaRPr b="0" i="0" sz="3200" u="none" cap="none" strike="noStrike">
              <a:solidFill>
                <a:srgbClr val="161616"/>
              </a:solidFill>
              <a:highlight>
                <a:srgbClr val="FFFFFF"/>
              </a:highlight>
              <a:latin typeface="Roboto Condensed"/>
              <a:ea typeface="Roboto Condensed"/>
              <a:cs typeface="Roboto Condensed"/>
              <a:sym typeface="Roboto Condensed"/>
            </a:endParaRPr>
          </a:p>
          <a:p>
            <a:pPr indent="-254000" lvl="0" marL="45720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Roboto Condensed"/>
              <a:ea typeface="Roboto Condensed"/>
              <a:cs typeface="Roboto Condensed"/>
              <a:sym typeface="Roboto Condensed"/>
            </a:endParaRPr>
          </a:p>
        </p:txBody>
      </p:sp>
      <p:pic>
        <p:nvPicPr>
          <p:cNvPr id="149" name="Google Shape;149;p30"/>
          <p:cNvPicPr preferRelativeResize="0"/>
          <p:nvPr/>
        </p:nvPicPr>
        <p:blipFill rotWithShape="1">
          <a:blip r:embed="rId3">
            <a:alphaModFix/>
          </a:blip>
          <a:srcRect b="0" l="0" r="0" t="0"/>
          <a:stretch/>
        </p:blipFill>
        <p:spPr>
          <a:xfrm>
            <a:off x="13709650" y="1887799"/>
            <a:ext cx="8616950" cy="9719118"/>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31"/>
          <p:cNvSpPr txBox="1"/>
          <p:nvPr/>
        </p:nvSpPr>
        <p:spPr>
          <a:xfrm>
            <a:off x="1200148" y="571499"/>
            <a:ext cx="15610743" cy="807136"/>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79BF"/>
              </a:buClr>
              <a:buSzPts val="4400"/>
              <a:buFont typeface="Helvetica Neue"/>
              <a:buNone/>
            </a:pPr>
            <a:r>
              <a:rPr b="1" i="0" lang="en-US" sz="6000" u="none" cap="none" strike="noStrike">
                <a:solidFill>
                  <a:srgbClr val="0079BF"/>
                </a:solidFill>
                <a:latin typeface="Roboto Condensed"/>
                <a:ea typeface="Roboto Condensed"/>
                <a:cs typeface="Roboto Condensed"/>
                <a:sym typeface="Roboto Condensed"/>
              </a:rPr>
              <a:t>Fault-Tolerant &amp; OAuth2</a:t>
            </a:r>
            <a:endParaRPr b="1" i="0" sz="6000" u="none" cap="none" strike="noStrike">
              <a:solidFill>
                <a:srgbClr val="4F81BD"/>
              </a:solidFill>
              <a:latin typeface="Roboto Condensed"/>
              <a:ea typeface="Roboto Condensed"/>
              <a:cs typeface="Roboto Condensed"/>
              <a:sym typeface="Roboto Condensed"/>
            </a:endParaRPr>
          </a:p>
        </p:txBody>
      </p:sp>
      <p:sp>
        <p:nvSpPr>
          <p:cNvPr id="155" name="Google Shape;155;p31"/>
          <p:cNvSpPr txBox="1"/>
          <p:nvPr/>
        </p:nvSpPr>
        <p:spPr>
          <a:xfrm>
            <a:off x="1200149" y="1564634"/>
            <a:ext cx="194502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600" u="none" cap="none" strike="noStrike">
                <a:solidFill>
                  <a:srgbClr val="0079BF"/>
                </a:solidFill>
                <a:latin typeface="Roboto Condensed"/>
                <a:ea typeface="Roboto Condensed"/>
                <a:cs typeface="Roboto Condensed"/>
                <a:sym typeface="Roboto Condensed"/>
              </a:rPr>
              <a:t>5</a:t>
            </a:r>
            <a:r>
              <a:rPr b="1" i="0" lang="en-US" sz="3600" u="none" cap="none" strike="noStrike">
                <a:solidFill>
                  <a:srgbClr val="000000"/>
                </a:solidFill>
                <a:latin typeface="Roboto Condensed"/>
                <a:ea typeface="Roboto Condensed"/>
                <a:cs typeface="Roboto Condensed"/>
                <a:sym typeface="Roboto Condensed"/>
              </a:rPr>
              <a:t>. </a:t>
            </a:r>
            <a:r>
              <a:rPr b="1" i="0" lang="en-US" sz="3600" u="none" cap="none" strike="noStrike">
                <a:solidFill>
                  <a:srgbClr val="0070C0"/>
                </a:solidFill>
                <a:latin typeface="Arial"/>
                <a:ea typeface="Arial"/>
                <a:cs typeface="Arial"/>
                <a:sym typeface="Arial"/>
              </a:rPr>
              <a:t>Implement OAuth2 With Springboot Application</a:t>
            </a:r>
            <a:endParaRPr b="1" i="0" sz="3600" u="none" cap="none" strike="noStrike">
              <a:solidFill>
                <a:srgbClr val="0070C0"/>
              </a:solidFill>
              <a:latin typeface="Roboto Condensed"/>
              <a:ea typeface="Roboto Condensed"/>
              <a:cs typeface="Roboto Condensed"/>
              <a:sym typeface="Roboto Condensed"/>
            </a:endParaRPr>
          </a:p>
        </p:txBody>
      </p:sp>
      <p:sp>
        <p:nvSpPr>
          <p:cNvPr id="156" name="Google Shape;156;p31"/>
          <p:cNvSpPr txBox="1"/>
          <p:nvPr/>
        </p:nvSpPr>
        <p:spPr>
          <a:xfrm>
            <a:off x="1464278" y="2382047"/>
            <a:ext cx="8047858" cy="107721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200" u="none" cap="none" strike="noStrike">
                <a:solidFill>
                  <a:schemeClr val="dk1"/>
                </a:solidFill>
                <a:latin typeface="Roboto Condensed"/>
                <a:ea typeface="Roboto Condensed"/>
                <a:cs typeface="Roboto Condensed"/>
                <a:sym typeface="Roboto Condensed"/>
              </a:rPr>
              <a:t>5.1 Setup project auth-service</a:t>
            </a:r>
            <a:endParaRPr b="0" i="0" sz="3200" u="none" cap="none" strike="noStrike">
              <a:solidFill>
                <a:srgbClr val="161616"/>
              </a:solidFill>
              <a:highlight>
                <a:srgbClr val="FFFFFF"/>
              </a:highlight>
              <a:latin typeface="Roboto Condensed"/>
              <a:ea typeface="Roboto Condensed"/>
              <a:cs typeface="Roboto Condensed"/>
              <a:sym typeface="Roboto Condensed"/>
            </a:endParaRPr>
          </a:p>
          <a:p>
            <a:pPr indent="-457200" lvl="0" marL="457200" marR="0" rtl="0" algn="l">
              <a:lnSpc>
                <a:spcPct val="100000"/>
              </a:lnSpc>
              <a:spcBef>
                <a:spcPts val="0"/>
              </a:spcBef>
              <a:spcAft>
                <a:spcPts val="0"/>
              </a:spcAft>
              <a:buClr>
                <a:srgbClr val="000000"/>
              </a:buClr>
              <a:buSzPts val="3200"/>
              <a:buFont typeface="Arial"/>
              <a:buChar char="•"/>
            </a:pPr>
            <a:r>
              <a:rPr b="0" i="0" lang="en-US" sz="3200" u="none" cap="none" strike="noStrike">
                <a:solidFill>
                  <a:srgbClr val="161616"/>
                </a:solidFill>
                <a:highlight>
                  <a:srgbClr val="FFFFFF"/>
                </a:highlight>
                <a:latin typeface="Roboto Condensed"/>
                <a:ea typeface="Roboto Condensed"/>
                <a:cs typeface="Roboto Condensed"/>
                <a:sym typeface="Roboto Condensed"/>
              </a:rPr>
              <a:t>Thêm các dependency vào file pom.xml</a:t>
            </a:r>
            <a:endParaRPr/>
          </a:p>
        </p:txBody>
      </p:sp>
      <p:pic>
        <p:nvPicPr>
          <p:cNvPr id="157" name="Google Shape;157;p31"/>
          <p:cNvPicPr preferRelativeResize="0"/>
          <p:nvPr/>
        </p:nvPicPr>
        <p:blipFill rotWithShape="1">
          <a:blip r:embed="rId3">
            <a:alphaModFix/>
          </a:blip>
          <a:srcRect b="0" l="0" r="0" t="0"/>
          <a:stretch/>
        </p:blipFill>
        <p:spPr>
          <a:xfrm>
            <a:off x="1590520" y="4274127"/>
            <a:ext cx="15843231" cy="5982609"/>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32"/>
          <p:cNvSpPr txBox="1"/>
          <p:nvPr/>
        </p:nvSpPr>
        <p:spPr>
          <a:xfrm>
            <a:off x="1200148" y="571499"/>
            <a:ext cx="15610743" cy="807136"/>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79BF"/>
              </a:buClr>
              <a:buSzPts val="4400"/>
              <a:buFont typeface="Helvetica Neue"/>
              <a:buNone/>
            </a:pPr>
            <a:r>
              <a:rPr b="1" i="0" lang="en-US" sz="6000" u="none" cap="none" strike="noStrike">
                <a:solidFill>
                  <a:srgbClr val="0079BF"/>
                </a:solidFill>
                <a:latin typeface="Roboto Condensed"/>
                <a:ea typeface="Roboto Condensed"/>
                <a:cs typeface="Roboto Condensed"/>
                <a:sym typeface="Roboto Condensed"/>
              </a:rPr>
              <a:t>Fault-Tolerant &amp; OAuth2</a:t>
            </a:r>
            <a:endParaRPr b="1" i="0" sz="6000" u="none" cap="none" strike="noStrike">
              <a:solidFill>
                <a:srgbClr val="4F81BD"/>
              </a:solidFill>
              <a:latin typeface="Roboto Condensed"/>
              <a:ea typeface="Roboto Condensed"/>
              <a:cs typeface="Roboto Condensed"/>
              <a:sym typeface="Roboto Condensed"/>
            </a:endParaRPr>
          </a:p>
        </p:txBody>
      </p:sp>
      <p:sp>
        <p:nvSpPr>
          <p:cNvPr id="163" name="Google Shape;163;p32"/>
          <p:cNvSpPr txBox="1"/>
          <p:nvPr/>
        </p:nvSpPr>
        <p:spPr>
          <a:xfrm>
            <a:off x="1200149" y="1564634"/>
            <a:ext cx="194502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600" u="none" cap="none" strike="noStrike">
                <a:solidFill>
                  <a:srgbClr val="0079BF"/>
                </a:solidFill>
                <a:latin typeface="Roboto Condensed"/>
                <a:ea typeface="Roboto Condensed"/>
                <a:cs typeface="Roboto Condensed"/>
                <a:sym typeface="Roboto Condensed"/>
              </a:rPr>
              <a:t>5</a:t>
            </a:r>
            <a:r>
              <a:rPr b="1" i="0" lang="en-US" sz="3600" u="none" cap="none" strike="noStrike">
                <a:solidFill>
                  <a:srgbClr val="000000"/>
                </a:solidFill>
                <a:latin typeface="Roboto Condensed"/>
                <a:ea typeface="Roboto Condensed"/>
                <a:cs typeface="Roboto Condensed"/>
                <a:sym typeface="Roboto Condensed"/>
              </a:rPr>
              <a:t>. </a:t>
            </a:r>
            <a:r>
              <a:rPr b="1" i="0" lang="en-US" sz="3600" u="none" cap="none" strike="noStrike">
                <a:solidFill>
                  <a:srgbClr val="0070C0"/>
                </a:solidFill>
                <a:latin typeface="Arial"/>
                <a:ea typeface="Arial"/>
                <a:cs typeface="Arial"/>
                <a:sym typeface="Arial"/>
              </a:rPr>
              <a:t>Implement OAuth2 With Springboot Application</a:t>
            </a:r>
            <a:endParaRPr b="1" i="0" sz="3600" u="none" cap="none" strike="noStrike">
              <a:solidFill>
                <a:srgbClr val="0070C0"/>
              </a:solidFill>
              <a:latin typeface="Roboto Condensed"/>
              <a:ea typeface="Roboto Condensed"/>
              <a:cs typeface="Roboto Condensed"/>
              <a:sym typeface="Roboto Condensed"/>
            </a:endParaRPr>
          </a:p>
        </p:txBody>
      </p:sp>
      <p:sp>
        <p:nvSpPr>
          <p:cNvPr id="164" name="Google Shape;164;p32"/>
          <p:cNvSpPr txBox="1"/>
          <p:nvPr/>
        </p:nvSpPr>
        <p:spPr>
          <a:xfrm>
            <a:off x="1464278" y="2382047"/>
            <a:ext cx="8047858" cy="15696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200" u="none" cap="none" strike="noStrike">
                <a:solidFill>
                  <a:schemeClr val="dk1"/>
                </a:solidFill>
                <a:latin typeface="Roboto Condensed"/>
                <a:ea typeface="Roboto Condensed"/>
                <a:cs typeface="Roboto Condensed"/>
                <a:sym typeface="Roboto Condensed"/>
              </a:rPr>
              <a:t>5.1 Setup project auth-service</a:t>
            </a:r>
            <a:endParaRPr b="0" i="0" sz="3200" u="none" cap="none" strike="noStrike">
              <a:solidFill>
                <a:srgbClr val="161616"/>
              </a:solidFill>
              <a:highlight>
                <a:srgbClr val="FFFFFF"/>
              </a:highlight>
              <a:latin typeface="Roboto Condensed"/>
              <a:ea typeface="Roboto Condensed"/>
              <a:cs typeface="Roboto Condensed"/>
              <a:sym typeface="Roboto Condensed"/>
            </a:endParaRPr>
          </a:p>
          <a:p>
            <a:pPr indent="-457200" lvl="0" marL="457200" marR="0" rtl="0" algn="l">
              <a:lnSpc>
                <a:spcPct val="100000"/>
              </a:lnSpc>
              <a:spcBef>
                <a:spcPts val="0"/>
              </a:spcBef>
              <a:spcAft>
                <a:spcPts val="0"/>
              </a:spcAft>
              <a:buClr>
                <a:srgbClr val="000000"/>
              </a:buClr>
              <a:buSzPts val="3200"/>
              <a:buFont typeface="Arial"/>
              <a:buChar char="•"/>
            </a:pPr>
            <a:r>
              <a:rPr b="0" i="0" lang="en-US" sz="3200" u="none" cap="none" strike="noStrike">
                <a:solidFill>
                  <a:srgbClr val="161616"/>
                </a:solidFill>
                <a:highlight>
                  <a:srgbClr val="FFFFFF"/>
                </a:highlight>
                <a:latin typeface="Roboto Condensed"/>
                <a:ea typeface="Roboto Condensed"/>
                <a:cs typeface="Roboto Condensed"/>
                <a:sym typeface="Roboto Condensed"/>
              </a:rPr>
              <a:t>Thêm package oauth2 với cấu trúc như trong hình</a:t>
            </a:r>
            <a:endParaRPr/>
          </a:p>
        </p:txBody>
      </p:sp>
      <p:pic>
        <p:nvPicPr>
          <p:cNvPr id="165" name="Google Shape;165;p32"/>
          <p:cNvPicPr preferRelativeResize="0"/>
          <p:nvPr/>
        </p:nvPicPr>
        <p:blipFill rotWithShape="1">
          <a:blip r:embed="rId3">
            <a:alphaModFix/>
          </a:blip>
          <a:srcRect b="0" l="0" r="0" t="0"/>
          <a:stretch/>
        </p:blipFill>
        <p:spPr>
          <a:xfrm>
            <a:off x="10252363" y="2860947"/>
            <a:ext cx="7845632" cy="9290419"/>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33"/>
          <p:cNvSpPr txBox="1"/>
          <p:nvPr/>
        </p:nvSpPr>
        <p:spPr>
          <a:xfrm>
            <a:off x="1200148" y="571499"/>
            <a:ext cx="15610743" cy="807136"/>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79BF"/>
              </a:buClr>
              <a:buSzPts val="4400"/>
              <a:buFont typeface="Helvetica Neue"/>
              <a:buNone/>
            </a:pPr>
            <a:r>
              <a:rPr b="1" i="0" lang="en-US" sz="6000" u="none" cap="none" strike="noStrike">
                <a:solidFill>
                  <a:srgbClr val="0079BF"/>
                </a:solidFill>
                <a:latin typeface="Roboto Condensed"/>
                <a:ea typeface="Roboto Condensed"/>
                <a:cs typeface="Roboto Condensed"/>
                <a:sym typeface="Roboto Condensed"/>
              </a:rPr>
              <a:t>Fault-Tolerant &amp; OAuth2</a:t>
            </a:r>
            <a:endParaRPr b="1" i="0" sz="6000" u="none" cap="none" strike="noStrike">
              <a:solidFill>
                <a:srgbClr val="4F81BD"/>
              </a:solidFill>
              <a:latin typeface="Roboto Condensed"/>
              <a:ea typeface="Roboto Condensed"/>
              <a:cs typeface="Roboto Condensed"/>
              <a:sym typeface="Roboto Condensed"/>
            </a:endParaRPr>
          </a:p>
        </p:txBody>
      </p:sp>
      <p:sp>
        <p:nvSpPr>
          <p:cNvPr id="171" name="Google Shape;171;p33"/>
          <p:cNvSpPr txBox="1"/>
          <p:nvPr/>
        </p:nvSpPr>
        <p:spPr>
          <a:xfrm>
            <a:off x="1200149" y="1564634"/>
            <a:ext cx="194502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600" u="none" cap="none" strike="noStrike">
                <a:solidFill>
                  <a:srgbClr val="0079BF"/>
                </a:solidFill>
                <a:latin typeface="Roboto Condensed"/>
                <a:ea typeface="Roboto Condensed"/>
                <a:cs typeface="Roboto Condensed"/>
                <a:sym typeface="Roboto Condensed"/>
              </a:rPr>
              <a:t>5</a:t>
            </a:r>
            <a:r>
              <a:rPr b="1" i="0" lang="en-US" sz="3600" u="none" cap="none" strike="noStrike">
                <a:solidFill>
                  <a:srgbClr val="000000"/>
                </a:solidFill>
                <a:latin typeface="Roboto Condensed"/>
                <a:ea typeface="Roboto Condensed"/>
                <a:cs typeface="Roboto Condensed"/>
                <a:sym typeface="Roboto Condensed"/>
              </a:rPr>
              <a:t>. </a:t>
            </a:r>
            <a:r>
              <a:rPr b="1" i="0" lang="en-US" sz="3600" u="none" cap="none" strike="noStrike">
                <a:solidFill>
                  <a:srgbClr val="0070C0"/>
                </a:solidFill>
                <a:latin typeface="Arial"/>
                <a:ea typeface="Arial"/>
                <a:cs typeface="Arial"/>
                <a:sym typeface="Arial"/>
              </a:rPr>
              <a:t>Implement OAuth2 With Springboot Application</a:t>
            </a:r>
            <a:endParaRPr b="1" i="0" sz="3600" u="none" cap="none" strike="noStrike">
              <a:solidFill>
                <a:srgbClr val="0070C0"/>
              </a:solidFill>
              <a:latin typeface="Roboto Condensed"/>
              <a:ea typeface="Roboto Condensed"/>
              <a:cs typeface="Roboto Condensed"/>
              <a:sym typeface="Roboto Condensed"/>
            </a:endParaRPr>
          </a:p>
        </p:txBody>
      </p:sp>
      <p:sp>
        <p:nvSpPr>
          <p:cNvPr id="172" name="Google Shape;172;p33"/>
          <p:cNvSpPr txBox="1"/>
          <p:nvPr/>
        </p:nvSpPr>
        <p:spPr>
          <a:xfrm>
            <a:off x="1464277" y="2382047"/>
            <a:ext cx="20671327" cy="15696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200" u="none" cap="none" strike="noStrike">
                <a:solidFill>
                  <a:schemeClr val="dk1"/>
                </a:solidFill>
                <a:latin typeface="Roboto Condensed"/>
                <a:ea typeface="Roboto Condensed"/>
                <a:cs typeface="Roboto Condensed"/>
                <a:sym typeface="Roboto Condensed"/>
              </a:rPr>
              <a:t>5.1 Setup project auth-service</a:t>
            </a:r>
            <a:endParaRPr b="0" i="0" sz="3200" u="none" cap="none" strike="noStrike">
              <a:solidFill>
                <a:srgbClr val="161616"/>
              </a:solidFill>
              <a:highlight>
                <a:srgbClr val="FFFFFF"/>
              </a:highlight>
              <a:latin typeface="Roboto Condensed"/>
              <a:ea typeface="Roboto Condensed"/>
              <a:cs typeface="Roboto Condensed"/>
              <a:sym typeface="Roboto Condensed"/>
            </a:endParaRPr>
          </a:p>
          <a:p>
            <a:pPr indent="-457200" lvl="0" marL="457200" marR="0" rtl="0" algn="l">
              <a:lnSpc>
                <a:spcPct val="100000"/>
              </a:lnSpc>
              <a:spcBef>
                <a:spcPts val="0"/>
              </a:spcBef>
              <a:spcAft>
                <a:spcPts val="0"/>
              </a:spcAft>
              <a:buClr>
                <a:srgbClr val="000000"/>
              </a:buClr>
              <a:buSzPts val="3200"/>
              <a:buFont typeface="Arial"/>
              <a:buChar char="•"/>
            </a:pPr>
            <a:r>
              <a:rPr b="0" i="0" lang="en-US" sz="3200" u="none" cap="none" strike="noStrike">
                <a:solidFill>
                  <a:srgbClr val="161616"/>
                </a:solidFill>
                <a:highlight>
                  <a:srgbClr val="FFFFFF"/>
                </a:highlight>
                <a:latin typeface="Roboto Condensed"/>
                <a:ea typeface="Roboto Condensed"/>
                <a:cs typeface="Roboto Condensed"/>
                <a:sym typeface="Roboto Condensed"/>
              </a:rPr>
              <a:t>Trong entity User bổ sung thêm 3 trường provider, provider_id, imageUrl để lưu thông tin đăng nhập bằng OAuth2 (chú ý thêm các getter, setter tương ứng)</a:t>
            </a:r>
            <a:endParaRPr/>
          </a:p>
        </p:txBody>
      </p:sp>
      <p:pic>
        <p:nvPicPr>
          <p:cNvPr id="173" name="Google Shape;173;p33"/>
          <p:cNvPicPr preferRelativeResize="0"/>
          <p:nvPr/>
        </p:nvPicPr>
        <p:blipFill rotWithShape="1">
          <a:blip r:embed="rId3">
            <a:alphaModFix/>
          </a:blip>
          <a:srcRect b="0" l="0" r="0" t="0"/>
          <a:stretch/>
        </p:blipFill>
        <p:spPr>
          <a:xfrm>
            <a:off x="1555420" y="4541754"/>
            <a:ext cx="15430500" cy="774382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34"/>
          <p:cNvSpPr txBox="1"/>
          <p:nvPr/>
        </p:nvSpPr>
        <p:spPr>
          <a:xfrm>
            <a:off x="1200148" y="571499"/>
            <a:ext cx="15610743" cy="807136"/>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79BF"/>
              </a:buClr>
              <a:buSzPts val="4400"/>
              <a:buFont typeface="Helvetica Neue"/>
              <a:buNone/>
            </a:pPr>
            <a:r>
              <a:rPr b="1" i="0" lang="en-US" sz="6000" u="none" cap="none" strike="noStrike">
                <a:solidFill>
                  <a:srgbClr val="0079BF"/>
                </a:solidFill>
                <a:latin typeface="Roboto Condensed"/>
                <a:ea typeface="Roboto Condensed"/>
                <a:cs typeface="Roboto Condensed"/>
                <a:sym typeface="Roboto Condensed"/>
              </a:rPr>
              <a:t>Fault-Tolerant &amp; OAuth2</a:t>
            </a:r>
            <a:endParaRPr b="1" i="0" sz="6000" u="none" cap="none" strike="noStrike">
              <a:solidFill>
                <a:srgbClr val="4F81BD"/>
              </a:solidFill>
              <a:latin typeface="Roboto Condensed"/>
              <a:ea typeface="Roboto Condensed"/>
              <a:cs typeface="Roboto Condensed"/>
              <a:sym typeface="Roboto Condensed"/>
            </a:endParaRPr>
          </a:p>
        </p:txBody>
      </p:sp>
      <p:sp>
        <p:nvSpPr>
          <p:cNvPr id="179" name="Google Shape;179;p34"/>
          <p:cNvSpPr txBox="1"/>
          <p:nvPr/>
        </p:nvSpPr>
        <p:spPr>
          <a:xfrm>
            <a:off x="1200149" y="1564634"/>
            <a:ext cx="194502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600" u="none" cap="none" strike="noStrike">
                <a:solidFill>
                  <a:srgbClr val="0079BF"/>
                </a:solidFill>
                <a:latin typeface="Roboto Condensed"/>
                <a:ea typeface="Roboto Condensed"/>
                <a:cs typeface="Roboto Condensed"/>
                <a:sym typeface="Roboto Condensed"/>
              </a:rPr>
              <a:t>5</a:t>
            </a:r>
            <a:r>
              <a:rPr b="1" i="0" lang="en-US" sz="3600" u="none" cap="none" strike="noStrike">
                <a:solidFill>
                  <a:srgbClr val="000000"/>
                </a:solidFill>
                <a:latin typeface="Roboto Condensed"/>
                <a:ea typeface="Roboto Condensed"/>
                <a:cs typeface="Roboto Condensed"/>
                <a:sym typeface="Roboto Condensed"/>
              </a:rPr>
              <a:t>. </a:t>
            </a:r>
            <a:r>
              <a:rPr b="1" i="0" lang="en-US" sz="3600" u="none" cap="none" strike="noStrike">
                <a:solidFill>
                  <a:srgbClr val="0070C0"/>
                </a:solidFill>
                <a:latin typeface="Arial"/>
                <a:ea typeface="Arial"/>
                <a:cs typeface="Arial"/>
                <a:sym typeface="Arial"/>
              </a:rPr>
              <a:t>Implement OAuth2 With Springboot Application</a:t>
            </a:r>
            <a:endParaRPr b="1" i="0" sz="3600" u="none" cap="none" strike="noStrike">
              <a:solidFill>
                <a:srgbClr val="0070C0"/>
              </a:solidFill>
              <a:latin typeface="Roboto Condensed"/>
              <a:ea typeface="Roboto Condensed"/>
              <a:cs typeface="Roboto Condensed"/>
              <a:sym typeface="Roboto Condensed"/>
            </a:endParaRPr>
          </a:p>
        </p:txBody>
      </p:sp>
      <p:sp>
        <p:nvSpPr>
          <p:cNvPr id="180" name="Google Shape;180;p34"/>
          <p:cNvSpPr txBox="1"/>
          <p:nvPr/>
        </p:nvSpPr>
        <p:spPr>
          <a:xfrm>
            <a:off x="1464277" y="2382047"/>
            <a:ext cx="13225499" cy="107721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200" u="none" cap="none" strike="noStrike">
                <a:solidFill>
                  <a:schemeClr val="dk1"/>
                </a:solidFill>
                <a:latin typeface="Roboto Condensed"/>
                <a:ea typeface="Roboto Condensed"/>
                <a:cs typeface="Roboto Condensed"/>
                <a:sym typeface="Roboto Condensed"/>
              </a:rPr>
              <a:t>5.1 Setup project auth-service</a:t>
            </a:r>
            <a:endParaRPr b="0" i="0" sz="3200" u="none" cap="none" strike="noStrike">
              <a:solidFill>
                <a:srgbClr val="161616"/>
              </a:solidFill>
              <a:highlight>
                <a:srgbClr val="FFFFFF"/>
              </a:highlight>
              <a:latin typeface="Roboto Condensed"/>
              <a:ea typeface="Roboto Condensed"/>
              <a:cs typeface="Roboto Condensed"/>
              <a:sym typeface="Roboto Condensed"/>
            </a:endParaRPr>
          </a:p>
          <a:p>
            <a:pPr indent="-457200" lvl="0" marL="457200" marR="0" rtl="0" algn="l">
              <a:lnSpc>
                <a:spcPct val="100000"/>
              </a:lnSpc>
              <a:spcBef>
                <a:spcPts val="0"/>
              </a:spcBef>
              <a:spcAft>
                <a:spcPts val="0"/>
              </a:spcAft>
              <a:buClr>
                <a:srgbClr val="000000"/>
              </a:buClr>
              <a:buSzPts val="3200"/>
              <a:buFont typeface="Arial"/>
              <a:buChar char="•"/>
            </a:pPr>
            <a:r>
              <a:rPr b="0" i="0" lang="en-US" sz="3200" u="none" cap="none" strike="noStrike">
                <a:solidFill>
                  <a:srgbClr val="161616"/>
                </a:solidFill>
                <a:highlight>
                  <a:srgbClr val="FFFFFF"/>
                </a:highlight>
                <a:latin typeface="Roboto Condensed"/>
                <a:ea typeface="Roboto Condensed"/>
                <a:cs typeface="Roboto Condensed"/>
                <a:sym typeface="Roboto Condensed"/>
              </a:rPr>
              <a:t>Thêm class UserPrincipal trong package oauth2</a:t>
            </a:r>
            <a:endParaRPr/>
          </a:p>
        </p:txBody>
      </p:sp>
      <p:pic>
        <p:nvPicPr>
          <p:cNvPr id="181" name="Google Shape;181;p34"/>
          <p:cNvPicPr preferRelativeResize="0"/>
          <p:nvPr/>
        </p:nvPicPr>
        <p:blipFill rotWithShape="1">
          <a:blip r:embed="rId3">
            <a:alphaModFix/>
          </a:blip>
          <a:srcRect b="0" l="0" r="0" t="0"/>
          <a:stretch/>
        </p:blipFill>
        <p:spPr>
          <a:xfrm>
            <a:off x="1606782" y="3779898"/>
            <a:ext cx="15469935" cy="8637306"/>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35"/>
          <p:cNvSpPr txBox="1"/>
          <p:nvPr/>
        </p:nvSpPr>
        <p:spPr>
          <a:xfrm>
            <a:off x="1200148" y="571499"/>
            <a:ext cx="15610743" cy="807136"/>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79BF"/>
              </a:buClr>
              <a:buSzPts val="4400"/>
              <a:buFont typeface="Helvetica Neue"/>
              <a:buNone/>
            </a:pPr>
            <a:r>
              <a:rPr b="1" i="0" lang="en-US" sz="6000" u="none" cap="none" strike="noStrike">
                <a:solidFill>
                  <a:srgbClr val="0079BF"/>
                </a:solidFill>
                <a:latin typeface="Roboto Condensed"/>
                <a:ea typeface="Roboto Condensed"/>
                <a:cs typeface="Roboto Condensed"/>
                <a:sym typeface="Roboto Condensed"/>
              </a:rPr>
              <a:t>Fault-Tolerant &amp; OAuth2</a:t>
            </a:r>
            <a:endParaRPr b="1" i="0" sz="6000" u="none" cap="none" strike="noStrike">
              <a:solidFill>
                <a:srgbClr val="4F81BD"/>
              </a:solidFill>
              <a:latin typeface="Roboto Condensed"/>
              <a:ea typeface="Roboto Condensed"/>
              <a:cs typeface="Roboto Condensed"/>
              <a:sym typeface="Roboto Condensed"/>
            </a:endParaRPr>
          </a:p>
        </p:txBody>
      </p:sp>
      <p:sp>
        <p:nvSpPr>
          <p:cNvPr id="187" name="Google Shape;187;p35"/>
          <p:cNvSpPr txBox="1"/>
          <p:nvPr/>
        </p:nvSpPr>
        <p:spPr>
          <a:xfrm>
            <a:off x="1200149" y="1564634"/>
            <a:ext cx="194502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600" u="none" cap="none" strike="noStrike">
                <a:solidFill>
                  <a:srgbClr val="0079BF"/>
                </a:solidFill>
                <a:latin typeface="Roboto Condensed"/>
                <a:ea typeface="Roboto Condensed"/>
                <a:cs typeface="Roboto Condensed"/>
                <a:sym typeface="Roboto Condensed"/>
              </a:rPr>
              <a:t>5</a:t>
            </a:r>
            <a:r>
              <a:rPr b="1" i="0" lang="en-US" sz="3600" u="none" cap="none" strike="noStrike">
                <a:solidFill>
                  <a:srgbClr val="000000"/>
                </a:solidFill>
                <a:latin typeface="Roboto Condensed"/>
                <a:ea typeface="Roboto Condensed"/>
                <a:cs typeface="Roboto Condensed"/>
                <a:sym typeface="Roboto Condensed"/>
              </a:rPr>
              <a:t>. </a:t>
            </a:r>
            <a:r>
              <a:rPr b="1" i="0" lang="en-US" sz="3600" u="none" cap="none" strike="noStrike">
                <a:solidFill>
                  <a:srgbClr val="0070C0"/>
                </a:solidFill>
                <a:latin typeface="Arial"/>
                <a:ea typeface="Arial"/>
                <a:cs typeface="Arial"/>
                <a:sym typeface="Arial"/>
              </a:rPr>
              <a:t>Implement OAuth2 With Springboot Application</a:t>
            </a:r>
            <a:endParaRPr b="1" i="0" sz="3600" u="none" cap="none" strike="noStrike">
              <a:solidFill>
                <a:srgbClr val="0070C0"/>
              </a:solidFill>
              <a:latin typeface="Roboto Condensed"/>
              <a:ea typeface="Roboto Condensed"/>
              <a:cs typeface="Roboto Condensed"/>
              <a:sym typeface="Roboto Condensed"/>
            </a:endParaRPr>
          </a:p>
        </p:txBody>
      </p:sp>
      <p:sp>
        <p:nvSpPr>
          <p:cNvPr id="188" name="Google Shape;188;p35"/>
          <p:cNvSpPr txBox="1"/>
          <p:nvPr/>
        </p:nvSpPr>
        <p:spPr>
          <a:xfrm>
            <a:off x="1464278" y="2382047"/>
            <a:ext cx="17809374" cy="107721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200" u="none" cap="none" strike="noStrike">
                <a:solidFill>
                  <a:schemeClr val="dk1"/>
                </a:solidFill>
                <a:latin typeface="Roboto Condensed"/>
                <a:ea typeface="Roboto Condensed"/>
                <a:cs typeface="Roboto Condensed"/>
                <a:sym typeface="Roboto Condensed"/>
              </a:rPr>
              <a:t>5.1 Setup project auth-service</a:t>
            </a:r>
            <a:endParaRPr b="0" i="0" sz="3200" u="none" cap="none" strike="noStrike">
              <a:solidFill>
                <a:srgbClr val="161616"/>
              </a:solidFill>
              <a:highlight>
                <a:srgbClr val="FFFFFF"/>
              </a:highlight>
              <a:latin typeface="Roboto Condensed"/>
              <a:ea typeface="Roboto Condensed"/>
              <a:cs typeface="Roboto Condensed"/>
              <a:sym typeface="Roboto Condensed"/>
            </a:endParaRPr>
          </a:p>
          <a:p>
            <a:pPr indent="-457200" lvl="0" marL="457200" marR="0" rtl="0" algn="l">
              <a:lnSpc>
                <a:spcPct val="100000"/>
              </a:lnSpc>
              <a:spcBef>
                <a:spcPts val="0"/>
              </a:spcBef>
              <a:spcAft>
                <a:spcPts val="0"/>
              </a:spcAft>
              <a:buClr>
                <a:srgbClr val="000000"/>
              </a:buClr>
              <a:buSzPts val="3200"/>
              <a:buFont typeface="Arial"/>
              <a:buChar char="•"/>
            </a:pPr>
            <a:r>
              <a:rPr b="0" i="0" lang="en-US" sz="3200" u="none" cap="none" strike="noStrike">
                <a:solidFill>
                  <a:srgbClr val="161616"/>
                </a:solidFill>
                <a:highlight>
                  <a:srgbClr val="FFFFFF"/>
                </a:highlight>
                <a:latin typeface="Roboto Condensed"/>
                <a:ea typeface="Roboto Condensed"/>
                <a:cs typeface="Roboto Condensed"/>
                <a:sym typeface="Roboto Condensed"/>
              </a:rPr>
              <a:t>Tạo 2 class trong package user là con của package oauth2 để xử lý thông tin đăng nhập</a:t>
            </a:r>
            <a:endParaRPr/>
          </a:p>
        </p:txBody>
      </p:sp>
      <p:pic>
        <p:nvPicPr>
          <p:cNvPr id="189" name="Google Shape;189;p35"/>
          <p:cNvPicPr preferRelativeResize="0"/>
          <p:nvPr/>
        </p:nvPicPr>
        <p:blipFill rotWithShape="1">
          <a:blip r:embed="rId3">
            <a:alphaModFix/>
          </a:blip>
          <a:srcRect b="0" l="0" r="0" t="0"/>
          <a:stretch/>
        </p:blipFill>
        <p:spPr>
          <a:xfrm>
            <a:off x="1507211" y="3868670"/>
            <a:ext cx="19130408" cy="8436338"/>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36"/>
          <p:cNvSpPr txBox="1"/>
          <p:nvPr/>
        </p:nvSpPr>
        <p:spPr>
          <a:xfrm>
            <a:off x="1200148" y="571499"/>
            <a:ext cx="15610743" cy="807136"/>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79BF"/>
              </a:buClr>
              <a:buSzPts val="4400"/>
              <a:buFont typeface="Helvetica Neue"/>
              <a:buNone/>
            </a:pPr>
            <a:r>
              <a:rPr b="1" i="0" lang="en-US" sz="6000" u="none" cap="none" strike="noStrike">
                <a:solidFill>
                  <a:srgbClr val="0079BF"/>
                </a:solidFill>
                <a:latin typeface="Roboto Condensed"/>
                <a:ea typeface="Roboto Condensed"/>
                <a:cs typeface="Roboto Condensed"/>
                <a:sym typeface="Roboto Condensed"/>
              </a:rPr>
              <a:t>Fault-Tolerant &amp; OAuth2</a:t>
            </a:r>
            <a:endParaRPr b="1" i="0" sz="6000" u="none" cap="none" strike="noStrike">
              <a:solidFill>
                <a:srgbClr val="4F81BD"/>
              </a:solidFill>
              <a:latin typeface="Roboto Condensed"/>
              <a:ea typeface="Roboto Condensed"/>
              <a:cs typeface="Roboto Condensed"/>
              <a:sym typeface="Roboto Condensed"/>
            </a:endParaRPr>
          </a:p>
        </p:txBody>
      </p:sp>
      <p:sp>
        <p:nvSpPr>
          <p:cNvPr id="195" name="Google Shape;195;p36"/>
          <p:cNvSpPr txBox="1"/>
          <p:nvPr/>
        </p:nvSpPr>
        <p:spPr>
          <a:xfrm>
            <a:off x="1200149" y="1564634"/>
            <a:ext cx="194502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600" u="none" cap="none" strike="noStrike">
                <a:solidFill>
                  <a:srgbClr val="0079BF"/>
                </a:solidFill>
                <a:latin typeface="Roboto Condensed"/>
                <a:ea typeface="Roboto Condensed"/>
                <a:cs typeface="Roboto Condensed"/>
                <a:sym typeface="Roboto Condensed"/>
              </a:rPr>
              <a:t>5</a:t>
            </a:r>
            <a:r>
              <a:rPr b="1" i="0" lang="en-US" sz="3600" u="none" cap="none" strike="noStrike">
                <a:solidFill>
                  <a:srgbClr val="000000"/>
                </a:solidFill>
                <a:latin typeface="Roboto Condensed"/>
                <a:ea typeface="Roboto Condensed"/>
                <a:cs typeface="Roboto Condensed"/>
                <a:sym typeface="Roboto Condensed"/>
              </a:rPr>
              <a:t>. </a:t>
            </a:r>
            <a:r>
              <a:rPr b="1" i="0" lang="en-US" sz="3600" u="none" cap="none" strike="noStrike">
                <a:solidFill>
                  <a:srgbClr val="0070C0"/>
                </a:solidFill>
                <a:latin typeface="Arial"/>
                <a:ea typeface="Arial"/>
                <a:cs typeface="Arial"/>
                <a:sym typeface="Arial"/>
              </a:rPr>
              <a:t>Implement OAuth2 With Springboot Application</a:t>
            </a:r>
            <a:endParaRPr b="1" i="0" sz="3600" u="none" cap="none" strike="noStrike">
              <a:solidFill>
                <a:srgbClr val="0070C0"/>
              </a:solidFill>
              <a:latin typeface="Roboto Condensed"/>
              <a:ea typeface="Roboto Condensed"/>
              <a:cs typeface="Roboto Condensed"/>
              <a:sym typeface="Roboto Condensed"/>
            </a:endParaRPr>
          </a:p>
        </p:txBody>
      </p:sp>
      <p:sp>
        <p:nvSpPr>
          <p:cNvPr id="196" name="Google Shape;196;p36"/>
          <p:cNvSpPr txBox="1"/>
          <p:nvPr/>
        </p:nvSpPr>
        <p:spPr>
          <a:xfrm>
            <a:off x="1464278" y="2382047"/>
            <a:ext cx="17809374" cy="107721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200" u="none" cap="none" strike="noStrike">
                <a:solidFill>
                  <a:schemeClr val="dk1"/>
                </a:solidFill>
                <a:latin typeface="Roboto Condensed"/>
                <a:ea typeface="Roboto Condensed"/>
                <a:cs typeface="Roboto Condensed"/>
                <a:sym typeface="Roboto Condensed"/>
              </a:rPr>
              <a:t>5.1 Setup project auth-service</a:t>
            </a:r>
            <a:endParaRPr b="0" i="0" sz="3200" u="none" cap="none" strike="noStrike">
              <a:solidFill>
                <a:srgbClr val="161616"/>
              </a:solidFill>
              <a:highlight>
                <a:srgbClr val="FFFFFF"/>
              </a:highlight>
              <a:latin typeface="Roboto Condensed"/>
              <a:ea typeface="Roboto Condensed"/>
              <a:cs typeface="Roboto Condensed"/>
              <a:sym typeface="Roboto Condensed"/>
            </a:endParaRPr>
          </a:p>
          <a:p>
            <a:pPr indent="-457200" lvl="0" marL="457200" marR="0" rtl="0" algn="l">
              <a:lnSpc>
                <a:spcPct val="100000"/>
              </a:lnSpc>
              <a:spcBef>
                <a:spcPts val="0"/>
              </a:spcBef>
              <a:spcAft>
                <a:spcPts val="0"/>
              </a:spcAft>
              <a:buClr>
                <a:srgbClr val="000000"/>
              </a:buClr>
              <a:buSzPts val="3200"/>
              <a:buFont typeface="Arial"/>
              <a:buChar char="•"/>
            </a:pPr>
            <a:r>
              <a:rPr b="0" i="0" lang="en-US" sz="3200" u="none" cap="none" strike="noStrike">
                <a:solidFill>
                  <a:srgbClr val="161616"/>
                </a:solidFill>
                <a:highlight>
                  <a:srgbClr val="FFFFFF"/>
                </a:highlight>
                <a:latin typeface="Roboto Condensed"/>
                <a:ea typeface="Roboto Condensed"/>
                <a:cs typeface="Roboto Condensed"/>
                <a:sym typeface="Roboto Condensed"/>
              </a:rPr>
              <a:t>Tạo 2 class trong package user là con của package oauth2 để xử lý thông tin đăng nhập</a:t>
            </a:r>
            <a:endParaRPr/>
          </a:p>
        </p:txBody>
      </p:sp>
      <p:pic>
        <p:nvPicPr>
          <p:cNvPr id="197" name="Google Shape;197;p36"/>
          <p:cNvPicPr preferRelativeResize="0"/>
          <p:nvPr/>
        </p:nvPicPr>
        <p:blipFill rotWithShape="1">
          <a:blip r:embed="rId3">
            <a:alphaModFix/>
          </a:blip>
          <a:srcRect b="0" l="0" r="0" t="0"/>
          <a:stretch/>
        </p:blipFill>
        <p:spPr>
          <a:xfrm>
            <a:off x="1632114" y="3835730"/>
            <a:ext cx="17870301" cy="7734299"/>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37"/>
          <p:cNvSpPr txBox="1"/>
          <p:nvPr/>
        </p:nvSpPr>
        <p:spPr>
          <a:xfrm>
            <a:off x="1200148" y="571499"/>
            <a:ext cx="15610743" cy="807136"/>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79BF"/>
              </a:buClr>
              <a:buSzPts val="4400"/>
              <a:buFont typeface="Helvetica Neue"/>
              <a:buNone/>
            </a:pPr>
            <a:r>
              <a:rPr b="1" i="0" lang="en-US" sz="6000" u="none" cap="none" strike="noStrike">
                <a:solidFill>
                  <a:srgbClr val="0079BF"/>
                </a:solidFill>
                <a:latin typeface="Roboto Condensed"/>
                <a:ea typeface="Roboto Condensed"/>
                <a:cs typeface="Roboto Condensed"/>
                <a:sym typeface="Roboto Condensed"/>
              </a:rPr>
              <a:t>Fault-Tolerant &amp; OAuth2</a:t>
            </a:r>
            <a:endParaRPr b="1" i="0" sz="6000" u="none" cap="none" strike="noStrike">
              <a:solidFill>
                <a:srgbClr val="4F81BD"/>
              </a:solidFill>
              <a:latin typeface="Roboto Condensed"/>
              <a:ea typeface="Roboto Condensed"/>
              <a:cs typeface="Roboto Condensed"/>
              <a:sym typeface="Roboto Condensed"/>
            </a:endParaRPr>
          </a:p>
        </p:txBody>
      </p:sp>
      <p:sp>
        <p:nvSpPr>
          <p:cNvPr id="203" name="Google Shape;203;p37"/>
          <p:cNvSpPr txBox="1"/>
          <p:nvPr/>
        </p:nvSpPr>
        <p:spPr>
          <a:xfrm>
            <a:off x="1200149" y="1564634"/>
            <a:ext cx="194502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600" u="none" cap="none" strike="noStrike">
                <a:solidFill>
                  <a:srgbClr val="0079BF"/>
                </a:solidFill>
                <a:latin typeface="Roboto Condensed"/>
                <a:ea typeface="Roboto Condensed"/>
                <a:cs typeface="Roboto Condensed"/>
                <a:sym typeface="Roboto Condensed"/>
              </a:rPr>
              <a:t>5</a:t>
            </a:r>
            <a:r>
              <a:rPr b="1" i="0" lang="en-US" sz="3600" u="none" cap="none" strike="noStrike">
                <a:solidFill>
                  <a:srgbClr val="000000"/>
                </a:solidFill>
                <a:latin typeface="Roboto Condensed"/>
                <a:ea typeface="Roboto Condensed"/>
                <a:cs typeface="Roboto Condensed"/>
                <a:sym typeface="Roboto Condensed"/>
              </a:rPr>
              <a:t>. </a:t>
            </a:r>
            <a:r>
              <a:rPr b="1" i="0" lang="en-US" sz="3600" u="none" cap="none" strike="noStrike">
                <a:solidFill>
                  <a:srgbClr val="0070C0"/>
                </a:solidFill>
                <a:latin typeface="Arial"/>
                <a:ea typeface="Arial"/>
                <a:cs typeface="Arial"/>
                <a:sym typeface="Arial"/>
              </a:rPr>
              <a:t>Implement OAuth2 With Springboot Application</a:t>
            </a:r>
            <a:endParaRPr b="1" i="0" sz="3600" u="none" cap="none" strike="noStrike">
              <a:solidFill>
                <a:srgbClr val="0070C0"/>
              </a:solidFill>
              <a:latin typeface="Roboto Condensed"/>
              <a:ea typeface="Roboto Condensed"/>
              <a:cs typeface="Roboto Condensed"/>
              <a:sym typeface="Roboto Condensed"/>
            </a:endParaRPr>
          </a:p>
        </p:txBody>
      </p:sp>
      <p:sp>
        <p:nvSpPr>
          <p:cNvPr id="204" name="Google Shape;204;p37"/>
          <p:cNvSpPr txBox="1"/>
          <p:nvPr/>
        </p:nvSpPr>
        <p:spPr>
          <a:xfrm>
            <a:off x="1464278" y="2382047"/>
            <a:ext cx="17937900" cy="1569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200" u="none" cap="none" strike="noStrike">
                <a:solidFill>
                  <a:schemeClr val="dk1"/>
                </a:solidFill>
                <a:latin typeface="Roboto Condensed"/>
                <a:ea typeface="Roboto Condensed"/>
                <a:cs typeface="Roboto Condensed"/>
                <a:sym typeface="Roboto Condensed"/>
              </a:rPr>
              <a:t>5.1 Setup project auth-service</a:t>
            </a:r>
            <a:endParaRPr b="0" i="0" sz="3200" u="none" cap="none" strike="noStrike">
              <a:solidFill>
                <a:srgbClr val="161616"/>
              </a:solidFill>
              <a:highlight>
                <a:srgbClr val="FFFFFF"/>
              </a:highlight>
              <a:latin typeface="Roboto Condensed"/>
              <a:ea typeface="Roboto Condensed"/>
              <a:cs typeface="Roboto Condensed"/>
              <a:sym typeface="Roboto Condensed"/>
            </a:endParaRPr>
          </a:p>
          <a:p>
            <a:pPr indent="-457200" lvl="0" marL="457200" marR="0" rtl="0" algn="l">
              <a:lnSpc>
                <a:spcPct val="100000"/>
              </a:lnSpc>
              <a:spcBef>
                <a:spcPts val="0"/>
              </a:spcBef>
              <a:spcAft>
                <a:spcPts val="0"/>
              </a:spcAft>
              <a:buClr>
                <a:srgbClr val="000000"/>
              </a:buClr>
              <a:buSzPts val="3200"/>
              <a:buFont typeface="Arial"/>
              <a:buChar char="•"/>
            </a:pPr>
            <a:r>
              <a:rPr b="0" i="0" lang="en-US" sz="3200" u="none" cap="none" strike="noStrike">
                <a:solidFill>
                  <a:srgbClr val="161616"/>
                </a:solidFill>
                <a:highlight>
                  <a:srgbClr val="FFFFFF"/>
                </a:highlight>
                <a:latin typeface="Roboto Condensed"/>
                <a:ea typeface="Roboto Condensed"/>
                <a:cs typeface="Roboto Condensed"/>
                <a:sym typeface="Roboto Condensed"/>
              </a:rPr>
              <a:t>Tạo class OAuth2UserInfoFactory trong package user là con của package chứa thông tin các provider xác thực ủy quyền</a:t>
            </a:r>
            <a:endParaRPr/>
          </a:p>
        </p:txBody>
      </p:sp>
      <p:pic>
        <p:nvPicPr>
          <p:cNvPr id="205" name="Google Shape;205;p37"/>
          <p:cNvPicPr preferRelativeResize="0"/>
          <p:nvPr/>
        </p:nvPicPr>
        <p:blipFill rotWithShape="1">
          <a:blip r:embed="rId3">
            <a:alphaModFix/>
          </a:blip>
          <a:srcRect b="0" l="0" r="0" t="0"/>
          <a:stretch/>
        </p:blipFill>
        <p:spPr>
          <a:xfrm>
            <a:off x="1609354" y="4192175"/>
            <a:ext cx="17792700" cy="836295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38"/>
          <p:cNvSpPr txBox="1"/>
          <p:nvPr/>
        </p:nvSpPr>
        <p:spPr>
          <a:xfrm>
            <a:off x="1200148" y="571499"/>
            <a:ext cx="15610743" cy="807136"/>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79BF"/>
              </a:buClr>
              <a:buSzPts val="4400"/>
              <a:buFont typeface="Helvetica Neue"/>
              <a:buNone/>
            </a:pPr>
            <a:r>
              <a:rPr b="1" i="0" lang="en-US" sz="6000" u="none" cap="none" strike="noStrike">
                <a:solidFill>
                  <a:srgbClr val="0079BF"/>
                </a:solidFill>
                <a:latin typeface="Roboto Condensed"/>
                <a:ea typeface="Roboto Condensed"/>
                <a:cs typeface="Roboto Condensed"/>
                <a:sym typeface="Roboto Condensed"/>
              </a:rPr>
              <a:t>Fault-Tolerant &amp; OAuth2</a:t>
            </a:r>
            <a:endParaRPr b="1" i="0" sz="6000" u="none" cap="none" strike="noStrike">
              <a:solidFill>
                <a:srgbClr val="4F81BD"/>
              </a:solidFill>
              <a:latin typeface="Roboto Condensed"/>
              <a:ea typeface="Roboto Condensed"/>
              <a:cs typeface="Roboto Condensed"/>
              <a:sym typeface="Roboto Condensed"/>
            </a:endParaRPr>
          </a:p>
        </p:txBody>
      </p:sp>
      <p:sp>
        <p:nvSpPr>
          <p:cNvPr id="211" name="Google Shape;211;p38"/>
          <p:cNvSpPr txBox="1"/>
          <p:nvPr/>
        </p:nvSpPr>
        <p:spPr>
          <a:xfrm>
            <a:off x="1200149" y="1564634"/>
            <a:ext cx="194502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600" u="none" cap="none" strike="noStrike">
                <a:solidFill>
                  <a:srgbClr val="0079BF"/>
                </a:solidFill>
                <a:latin typeface="Roboto Condensed"/>
                <a:ea typeface="Roboto Condensed"/>
                <a:cs typeface="Roboto Condensed"/>
                <a:sym typeface="Roboto Condensed"/>
              </a:rPr>
              <a:t>5</a:t>
            </a:r>
            <a:r>
              <a:rPr b="1" i="0" lang="en-US" sz="3600" u="none" cap="none" strike="noStrike">
                <a:solidFill>
                  <a:srgbClr val="000000"/>
                </a:solidFill>
                <a:latin typeface="Roboto Condensed"/>
                <a:ea typeface="Roboto Condensed"/>
                <a:cs typeface="Roboto Condensed"/>
                <a:sym typeface="Roboto Condensed"/>
              </a:rPr>
              <a:t>. </a:t>
            </a:r>
            <a:r>
              <a:rPr b="1" i="0" lang="en-US" sz="3600" u="none" cap="none" strike="noStrike">
                <a:solidFill>
                  <a:srgbClr val="0070C0"/>
                </a:solidFill>
                <a:latin typeface="Arial"/>
                <a:ea typeface="Arial"/>
                <a:cs typeface="Arial"/>
                <a:sym typeface="Arial"/>
              </a:rPr>
              <a:t>Implement OAuth2 With Springboot Application</a:t>
            </a:r>
            <a:endParaRPr b="1" i="0" sz="3600" u="none" cap="none" strike="noStrike">
              <a:solidFill>
                <a:srgbClr val="0070C0"/>
              </a:solidFill>
              <a:latin typeface="Roboto Condensed"/>
              <a:ea typeface="Roboto Condensed"/>
              <a:cs typeface="Roboto Condensed"/>
              <a:sym typeface="Roboto Condensed"/>
            </a:endParaRPr>
          </a:p>
        </p:txBody>
      </p:sp>
      <p:sp>
        <p:nvSpPr>
          <p:cNvPr id="212" name="Google Shape;212;p38"/>
          <p:cNvSpPr txBox="1"/>
          <p:nvPr/>
        </p:nvSpPr>
        <p:spPr>
          <a:xfrm>
            <a:off x="1464278" y="2382047"/>
            <a:ext cx="17937776" cy="107721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200" u="none" cap="none" strike="noStrike">
                <a:solidFill>
                  <a:schemeClr val="dk1"/>
                </a:solidFill>
                <a:latin typeface="Roboto Condensed"/>
                <a:ea typeface="Roboto Condensed"/>
                <a:cs typeface="Roboto Condensed"/>
                <a:sym typeface="Roboto Condensed"/>
              </a:rPr>
              <a:t>5.1 Setup project auth-service</a:t>
            </a:r>
            <a:endParaRPr b="0" i="0" sz="3200" u="none" cap="none" strike="noStrike">
              <a:solidFill>
                <a:srgbClr val="161616"/>
              </a:solidFill>
              <a:highlight>
                <a:srgbClr val="FFFFFF"/>
              </a:highlight>
              <a:latin typeface="Roboto Condensed"/>
              <a:ea typeface="Roboto Condensed"/>
              <a:cs typeface="Roboto Condensed"/>
              <a:sym typeface="Roboto Condensed"/>
            </a:endParaRPr>
          </a:p>
          <a:p>
            <a:pPr indent="-457200" lvl="0" marL="457200" marR="0" rtl="0" algn="l">
              <a:lnSpc>
                <a:spcPct val="100000"/>
              </a:lnSpc>
              <a:spcBef>
                <a:spcPts val="0"/>
              </a:spcBef>
              <a:spcAft>
                <a:spcPts val="0"/>
              </a:spcAft>
              <a:buClr>
                <a:srgbClr val="000000"/>
              </a:buClr>
              <a:buSzPts val="3200"/>
              <a:buFont typeface="Arial"/>
              <a:buChar char="•"/>
            </a:pPr>
            <a:r>
              <a:rPr b="0" i="0" lang="en-US" sz="3200" u="none" cap="none" strike="noStrike">
                <a:solidFill>
                  <a:srgbClr val="161616"/>
                </a:solidFill>
                <a:highlight>
                  <a:srgbClr val="FFFFFF"/>
                </a:highlight>
                <a:latin typeface="Roboto Condensed"/>
                <a:ea typeface="Roboto Condensed"/>
                <a:cs typeface="Roboto Condensed"/>
                <a:sym typeface="Roboto Condensed"/>
              </a:rPr>
              <a:t>Tạo class </a:t>
            </a:r>
            <a:r>
              <a:rPr b="0" i="0" lang="en-US" sz="3200" u="none" cap="none" strike="noStrike">
                <a:solidFill>
                  <a:srgbClr val="000000"/>
                </a:solidFill>
                <a:highlight>
                  <a:srgbClr val="FFFFFF"/>
                </a:highlight>
                <a:latin typeface="Roboto Condensed"/>
                <a:ea typeface="Roboto Condensed"/>
                <a:cs typeface="Roboto Condensed"/>
                <a:sym typeface="Roboto Condensed"/>
              </a:rPr>
              <a:t>CustomOAuth2UserService </a:t>
            </a:r>
            <a:r>
              <a:rPr b="0" i="0" lang="en-US" sz="3200" u="none" cap="none" strike="noStrike">
                <a:solidFill>
                  <a:srgbClr val="161616"/>
                </a:solidFill>
                <a:highlight>
                  <a:srgbClr val="FFFFFF"/>
                </a:highlight>
                <a:latin typeface="Roboto Condensed"/>
                <a:ea typeface="Roboto Condensed"/>
                <a:cs typeface="Roboto Condensed"/>
                <a:sym typeface="Roboto Condensed"/>
              </a:rPr>
              <a:t>trong package service là con của package</a:t>
            </a:r>
            <a:endParaRPr/>
          </a:p>
        </p:txBody>
      </p:sp>
      <p:pic>
        <p:nvPicPr>
          <p:cNvPr id="213" name="Google Shape;213;p38"/>
          <p:cNvPicPr preferRelativeResize="0"/>
          <p:nvPr/>
        </p:nvPicPr>
        <p:blipFill rotWithShape="1">
          <a:blip r:embed="rId3">
            <a:alphaModFix/>
          </a:blip>
          <a:srcRect b="0" l="0" r="0" t="0"/>
          <a:stretch/>
        </p:blipFill>
        <p:spPr>
          <a:xfrm>
            <a:off x="1657597" y="3925351"/>
            <a:ext cx="17221200" cy="688657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39"/>
          <p:cNvSpPr txBox="1"/>
          <p:nvPr/>
        </p:nvSpPr>
        <p:spPr>
          <a:xfrm>
            <a:off x="1200148" y="571499"/>
            <a:ext cx="15610743" cy="807136"/>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79BF"/>
              </a:buClr>
              <a:buSzPts val="4400"/>
              <a:buFont typeface="Helvetica Neue"/>
              <a:buNone/>
            </a:pPr>
            <a:r>
              <a:rPr b="1" i="0" lang="en-US" sz="6000" u="none" cap="none" strike="noStrike">
                <a:solidFill>
                  <a:srgbClr val="0079BF"/>
                </a:solidFill>
                <a:latin typeface="Roboto Condensed"/>
                <a:ea typeface="Roboto Condensed"/>
                <a:cs typeface="Roboto Condensed"/>
                <a:sym typeface="Roboto Condensed"/>
              </a:rPr>
              <a:t>Fault-Tolerant &amp; OAuth2</a:t>
            </a:r>
            <a:endParaRPr b="1" i="0" sz="6000" u="none" cap="none" strike="noStrike">
              <a:solidFill>
                <a:srgbClr val="4F81BD"/>
              </a:solidFill>
              <a:latin typeface="Roboto Condensed"/>
              <a:ea typeface="Roboto Condensed"/>
              <a:cs typeface="Roboto Condensed"/>
              <a:sym typeface="Roboto Condensed"/>
            </a:endParaRPr>
          </a:p>
        </p:txBody>
      </p:sp>
      <p:sp>
        <p:nvSpPr>
          <p:cNvPr id="219" name="Google Shape;219;p39"/>
          <p:cNvSpPr txBox="1"/>
          <p:nvPr/>
        </p:nvSpPr>
        <p:spPr>
          <a:xfrm>
            <a:off x="1200149" y="1564634"/>
            <a:ext cx="194502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600" u="none" cap="none" strike="noStrike">
                <a:solidFill>
                  <a:srgbClr val="0079BF"/>
                </a:solidFill>
                <a:latin typeface="Roboto Condensed"/>
                <a:ea typeface="Roboto Condensed"/>
                <a:cs typeface="Roboto Condensed"/>
                <a:sym typeface="Roboto Condensed"/>
              </a:rPr>
              <a:t>5</a:t>
            </a:r>
            <a:r>
              <a:rPr b="1" i="0" lang="en-US" sz="3600" u="none" cap="none" strike="noStrike">
                <a:solidFill>
                  <a:srgbClr val="000000"/>
                </a:solidFill>
                <a:latin typeface="Roboto Condensed"/>
                <a:ea typeface="Roboto Condensed"/>
                <a:cs typeface="Roboto Condensed"/>
                <a:sym typeface="Roboto Condensed"/>
              </a:rPr>
              <a:t>. </a:t>
            </a:r>
            <a:r>
              <a:rPr b="1" i="0" lang="en-US" sz="3600" u="none" cap="none" strike="noStrike">
                <a:solidFill>
                  <a:srgbClr val="0070C0"/>
                </a:solidFill>
                <a:latin typeface="Arial"/>
                <a:ea typeface="Arial"/>
                <a:cs typeface="Arial"/>
                <a:sym typeface="Arial"/>
              </a:rPr>
              <a:t>Implement OAuth2 With Springboot Application</a:t>
            </a:r>
            <a:endParaRPr b="1" i="0" sz="3600" u="none" cap="none" strike="noStrike">
              <a:solidFill>
                <a:srgbClr val="0070C0"/>
              </a:solidFill>
              <a:latin typeface="Roboto Condensed"/>
              <a:ea typeface="Roboto Condensed"/>
              <a:cs typeface="Roboto Condensed"/>
              <a:sym typeface="Roboto Condensed"/>
            </a:endParaRPr>
          </a:p>
        </p:txBody>
      </p:sp>
      <p:sp>
        <p:nvSpPr>
          <p:cNvPr id="220" name="Google Shape;220;p39"/>
          <p:cNvSpPr txBox="1"/>
          <p:nvPr/>
        </p:nvSpPr>
        <p:spPr>
          <a:xfrm>
            <a:off x="1464278" y="2382047"/>
            <a:ext cx="17937776" cy="107721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200" u="none" cap="none" strike="noStrike">
                <a:solidFill>
                  <a:schemeClr val="dk1"/>
                </a:solidFill>
                <a:latin typeface="Roboto Condensed"/>
                <a:ea typeface="Roboto Condensed"/>
                <a:cs typeface="Roboto Condensed"/>
                <a:sym typeface="Roboto Condensed"/>
              </a:rPr>
              <a:t>5.1 Setup project auth-service</a:t>
            </a:r>
            <a:endParaRPr b="0" i="0" sz="3200" u="none" cap="none" strike="noStrike">
              <a:solidFill>
                <a:srgbClr val="161616"/>
              </a:solidFill>
              <a:highlight>
                <a:srgbClr val="FFFFFF"/>
              </a:highlight>
              <a:latin typeface="Roboto Condensed"/>
              <a:ea typeface="Roboto Condensed"/>
              <a:cs typeface="Roboto Condensed"/>
              <a:sym typeface="Roboto Condensed"/>
            </a:endParaRPr>
          </a:p>
          <a:p>
            <a:pPr indent="-457200" lvl="0" marL="457200" marR="0" rtl="0" algn="l">
              <a:lnSpc>
                <a:spcPct val="100000"/>
              </a:lnSpc>
              <a:spcBef>
                <a:spcPts val="0"/>
              </a:spcBef>
              <a:spcAft>
                <a:spcPts val="0"/>
              </a:spcAft>
              <a:buClr>
                <a:srgbClr val="000000"/>
              </a:buClr>
              <a:buSzPts val="3200"/>
              <a:buFont typeface="Arial"/>
              <a:buChar char="•"/>
            </a:pPr>
            <a:r>
              <a:rPr b="0" i="0" lang="en-US" sz="3200" u="none" cap="none" strike="noStrike">
                <a:solidFill>
                  <a:srgbClr val="161616"/>
                </a:solidFill>
                <a:highlight>
                  <a:srgbClr val="FFFFFF"/>
                </a:highlight>
                <a:latin typeface="Roboto Condensed"/>
                <a:ea typeface="Roboto Condensed"/>
                <a:cs typeface="Roboto Condensed"/>
                <a:sym typeface="Roboto Condensed"/>
              </a:rPr>
              <a:t>Tạo class </a:t>
            </a:r>
            <a:r>
              <a:rPr b="0" i="0" lang="en-US" sz="3200" u="none" cap="none" strike="noStrike">
                <a:solidFill>
                  <a:srgbClr val="000000"/>
                </a:solidFill>
                <a:highlight>
                  <a:srgbClr val="FFFFFF"/>
                </a:highlight>
                <a:latin typeface="Roboto Condensed"/>
                <a:ea typeface="Roboto Condensed"/>
                <a:cs typeface="Roboto Condensed"/>
                <a:sym typeface="Roboto Condensed"/>
              </a:rPr>
              <a:t>CustomOAuth2UserService </a:t>
            </a:r>
            <a:r>
              <a:rPr b="0" i="0" lang="en-US" sz="3200" u="none" cap="none" strike="noStrike">
                <a:solidFill>
                  <a:srgbClr val="161616"/>
                </a:solidFill>
                <a:highlight>
                  <a:srgbClr val="FFFFFF"/>
                </a:highlight>
                <a:latin typeface="Roboto Condensed"/>
                <a:ea typeface="Roboto Condensed"/>
                <a:cs typeface="Roboto Condensed"/>
                <a:sym typeface="Roboto Condensed"/>
              </a:rPr>
              <a:t>trong package service là con của package</a:t>
            </a:r>
            <a:endParaRPr/>
          </a:p>
        </p:txBody>
      </p:sp>
      <p:pic>
        <p:nvPicPr>
          <p:cNvPr id="221" name="Google Shape;221;p39"/>
          <p:cNvPicPr preferRelativeResize="0"/>
          <p:nvPr/>
        </p:nvPicPr>
        <p:blipFill rotWithShape="1">
          <a:blip r:embed="rId3">
            <a:alphaModFix/>
          </a:blip>
          <a:srcRect b="0" l="0" r="0" t="0"/>
          <a:stretch/>
        </p:blipFill>
        <p:spPr>
          <a:xfrm>
            <a:off x="1583031" y="3630347"/>
            <a:ext cx="17179982" cy="8724341"/>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40"/>
          <p:cNvSpPr txBox="1"/>
          <p:nvPr/>
        </p:nvSpPr>
        <p:spPr>
          <a:xfrm>
            <a:off x="1200148" y="571499"/>
            <a:ext cx="15610743" cy="807136"/>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79BF"/>
              </a:buClr>
              <a:buSzPts val="4400"/>
              <a:buFont typeface="Helvetica Neue"/>
              <a:buNone/>
            </a:pPr>
            <a:r>
              <a:rPr b="1" i="0" lang="en-US" sz="6000" u="none" cap="none" strike="noStrike">
                <a:solidFill>
                  <a:srgbClr val="0079BF"/>
                </a:solidFill>
                <a:latin typeface="Roboto Condensed"/>
                <a:ea typeface="Roboto Condensed"/>
                <a:cs typeface="Roboto Condensed"/>
                <a:sym typeface="Roboto Condensed"/>
              </a:rPr>
              <a:t>Fault-Tolerant &amp; OAuth2</a:t>
            </a:r>
            <a:endParaRPr b="1" i="0" sz="6000" u="none" cap="none" strike="noStrike">
              <a:solidFill>
                <a:srgbClr val="4F81BD"/>
              </a:solidFill>
              <a:latin typeface="Roboto Condensed"/>
              <a:ea typeface="Roboto Condensed"/>
              <a:cs typeface="Roboto Condensed"/>
              <a:sym typeface="Roboto Condensed"/>
            </a:endParaRPr>
          </a:p>
        </p:txBody>
      </p:sp>
      <p:sp>
        <p:nvSpPr>
          <p:cNvPr id="227" name="Google Shape;227;p40"/>
          <p:cNvSpPr txBox="1"/>
          <p:nvPr/>
        </p:nvSpPr>
        <p:spPr>
          <a:xfrm>
            <a:off x="1200149" y="1564634"/>
            <a:ext cx="194502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600" u="none" cap="none" strike="noStrike">
                <a:solidFill>
                  <a:srgbClr val="0079BF"/>
                </a:solidFill>
                <a:latin typeface="Roboto Condensed"/>
                <a:ea typeface="Roboto Condensed"/>
                <a:cs typeface="Roboto Condensed"/>
                <a:sym typeface="Roboto Condensed"/>
              </a:rPr>
              <a:t>5</a:t>
            </a:r>
            <a:r>
              <a:rPr b="1" i="0" lang="en-US" sz="3600" u="none" cap="none" strike="noStrike">
                <a:solidFill>
                  <a:srgbClr val="000000"/>
                </a:solidFill>
                <a:latin typeface="Roboto Condensed"/>
                <a:ea typeface="Roboto Condensed"/>
                <a:cs typeface="Roboto Condensed"/>
                <a:sym typeface="Roboto Condensed"/>
              </a:rPr>
              <a:t>. </a:t>
            </a:r>
            <a:r>
              <a:rPr b="1" i="0" lang="en-US" sz="3600" u="none" cap="none" strike="noStrike">
                <a:solidFill>
                  <a:srgbClr val="0070C0"/>
                </a:solidFill>
                <a:latin typeface="Arial"/>
                <a:ea typeface="Arial"/>
                <a:cs typeface="Arial"/>
                <a:sym typeface="Arial"/>
              </a:rPr>
              <a:t>Implement OAuth2 With Springboot Application</a:t>
            </a:r>
            <a:endParaRPr b="1" i="0" sz="3600" u="none" cap="none" strike="noStrike">
              <a:solidFill>
                <a:srgbClr val="0070C0"/>
              </a:solidFill>
              <a:latin typeface="Roboto Condensed"/>
              <a:ea typeface="Roboto Condensed"/>
              <a:cs typeface="Roboto Condensed"/>
              <a:sym typeface="Roboto Condensed"/>
            </a:endParaRPr>
          </a:p>
        </p:txBody>
      </p:sp>
      <p:sp>
        <p:nvSpPr>
          <p:cNvPr id="228" name="Google Shape;228;p40"/>
          <p:cNvSpPr txBox="1"/>
          <p:nvPr/>
        </p:nvSpPr>
        <p:spPr>
          <a:xfrm>
            <a:off x="1464278" y="2382047"/>
            <a:ext cx="17937776" cy="107721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200" u="none" cap="none" strike="noStrike">
                <a:solidFill>
                  <a:schemeClr val="dk1"/>
                </a:solidFill>
                <a:latin typeface="Roboto Condensed"/>
                <a:ea typeface="Roboto Condensed"/>
                <a:cs typeface="Roboto Condensed"/>
                <a:sym typeface="Roboto Condensed"/>
              </a:rPr>
              <a:t>5.1 Setup project auth-service</a:t>
            </a:r>
            <a:endParaRPr b="0" i="0" sz="3200" u="none" cap="none" strike="noStrike">
              <a:solidFill>
                <a:srgbClr val="161616"/>
              </a:solidFill>
              <a:highlight>
                <a:srgbClr val="FFFFFF"/>
              </a:highlight>
              <a:latin typeface="Roboto Condensed"/>
              <a:ea typeface="Roboto Condensed"/>
              <a:cs typeface="Roboto Condensed"/>
              <a:sym typeface="Roboto Condensed"/>
            </a:endParaRPr>
          </a:p>
          <a:p>
            <a:pPr indent="-457200" lvl="0" marL="457200" marR="0" rtl="0" algn="l">
              <a:lnSpc>
                <a:spcPct val="100000"/>
              </a:lnSpc>
              <a:spcBef>
                <a:spcPts val="0"/>
              </a:spcBef>
              <a:spcAft>
                <a:spcPts val="0"/>
              </a:spcAft>
              <a:buClr>
                <a:srgbClr val="000000"/>
              </a:buClr>
              <a:buSzPts val="3200"/>
              <a:buFont typeface="Arial"/>
              <a:buChar char="•"/>
            </a:pPr>
            <a:r>
              <a:rPr b="0" i="0" lang="en-US" sz="3200" u="none" cap="none" strike="noStrike">
                <a:solidFill>
                  <a:srgbClr val="161616"/>
                </a:solidFill>
                <a:highlight>
                  <a:srgbClr val="FFFFFF"/>
                </a:highlight>
                <a:latin typeface="Roboto Condensed"/>
                <a:ea typeface="Roboto Condensed"/>
                <a:cs typeface="Roboto Condensed"/>
                <a:sym typeface="Roboto Condensed"/>
              </a:rPr>
              <a:t>Tạo class </a:t>
            </a:r>
            <a:r>
              <a:rPr b="0" i="0" lang="en-US" sz="3200" u="none" cap="none" strike="noStrike">
                <a:solidFill>
                  <a:srgbClr val="000000"/>
                </a:solidFill>
                <a:highlight>
                  <a:srgbClr val="FFFFFF"/>
                </a:highlight>
                <a:latin typeface="Roboto Condensed"/>
                <a:ea typeface="Roboto Condensed"/>
                <a:cs typeface="Roboto Condensed"/>
                <a:sym typeface="Roboto Condensed"/>
              </a:rPr>
              <a:t>CustomOAuth2UserService </a:t>
            </a:r>
            <a:r>
              <a:rPr b="0" i="0" lang="en-US" sz="3200" u="none" cap="none" strike="noStrike">
                <a:solidFill>
                  <a:srgbClr val="161616"/>
                </a:solidFill>
                <a:highlight>
                  <a:srgbClr val="FFFFFF"/>
                </a:highlight>
                <a:latin typeface="Roboto Condensed"/>
                <a:ea typeface="Roboto Condensed"/>
                <a:cs typeface="Roboto Condensed"/>
                <a:sym typeface="Roboto Condensed"/>
              </a:rPr>
              <a:t>trong package service là con của package</a:t>
            </a:r>
            <a:endParaRPr/>
          </a:p>
        </p:txBody>
      </p:sp>
      <p:pic>
        <p:nvPicPr>
          <p:cNvPr id="229" name="Google Shape;229;p40"/>
          <p:cNvPicPr preferRelativeResize="0"/>
          <p:nvPr/>
        </p:nvPicPr>
        <p:blipFill rotWithShape="1">
          <a:blip r:embed="rId3">
            <a:alphaModFix/>
          </a:blip>
          <a:srcRect b="0" l="0" r="0" t="0"/>
          <a:stretch/>
        </p:blipFill>
        <p:spPr>
          <a:xfrm>
            <a:off x="1575892" y="4189824"/>
            <a:ext cx="16125825" cy="8067675"/>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41"/>
          <p:cNvSpPr txBox="1"/>
          <p:nvPr/>
        </p:nvSpPr>
        <p:spPr>
          <a:xfrm>
            <a:off x="1200148" y="571499"/>
            <a:ext cx="15610743" cy="807136"/>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79BF"/>
              </a:buClr>
              <a:buSzPts val="4400"/>
              <a:buFont typeface="Helvetica Neue"/>
              <a:buNone/>
            </a:pPr>
            <a:r>
              <a:rPr b="1" i="0" lang="en-US" sz="6000" u="none" cap="none" strike="noStrike">
                <a:solidFill>
                  <a:srgbClr val="0079BF"/>
                </a:solidFill>
                <a:latin typeface="Roboto Condensed"/>
                <a:ea typeface="Roboto Condensed"/>
                <a:cs typeface="Roboto Condensed"/>
                <a:sym typeface="Roboto Condensed"/>
              </a:rPr>
              <a:t>Fault-Tolerant &amp; OAuth2</a:t>
            </a:r>
            <a:endParaRPr b="1" i="0" sz="6000" u="none" cap="none" strike="noStrike">
              <a:solidFill>
                <a:srgbClr val="4F81BD"/>
              </a:solidFill>
              <a:latin typeface="Roboto Condensed"/>
              <a:ea typeface="Roboto Condensed"/>
              <a:cs typeface="Roboto Condensed"/>
              <a:sym typeface="Roboto Condensed"/>
            </a:endParaRPr>
          </a:p>
        </p:txBody>
      </p:sp>
      <p:sp>
        <p:nvSpPr>
          <p:cNvPr id="235" name="Google Shape;235;p41"/>
          <p:cNvSpPr txBox="1"/>
          <p:nvPr/>
        </p:nvSpPr>
        <p:spPr>
          <a:xfrm>
            <a:off x="1200149" y="1564634"/>
            <a:ext cx="194502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600" u="none" cap="none" strike="noStrike">
                <a:solidFill>
                  <a:srgbClr val="0079BF"/>
                </a:solidFill>
                <a:latin typeface="Roboto Condensed"/>
                <a:ea typeface="Roboto Condensed"/>
                <a:cs typeface="Roboto Condensed"/>
                <a:sym typeface="Roboto Condensed"/>
              </a:rPr>
              <a:t>5</a:t>
            </a:r>
            <a:r>
              <a:rPr b="1" i="0" lang="en-US" sz="3600" u="none" cap="none" strike="noStrike">
                <a:solidFill>
                  <a:srgbClr val="000000"/>
                </a:solidFill>
                <a:latin typeface="Roboto Condensed"/>
                <a:ea typeface="Roboto Condensed"/>
                <a:cs typeface="Roboto Condensed"/>
                <a:sym typeface="Roboto Condensed"/>
              </a:rPr>
              <a:t>. </a:t>
            </a:r>
            <a:r>
              <a:rPr b="1" i="0" lang="en-US" sz="3600" u="none" cap="none" strike="noStrike">
                <a:solidFill>
                  <a:srgbClr val="0070C0"/>
                </a:solidFill>
                <a:latin typeface="Arial"/>
                <a:ea typeface="Arial"/>
                <a:cs typeface="Arial"/>
                <a:sym typeface="Arial"/>
              </a:rPr>
              <a:t>Implement OAuth2 With Springboot Application</a:t>
            </a:r>
            <a:endParaRPr b="1" i="0" sz="3600" u="none" cap="none" strike="noStrike">
              <a:solidFill>
                <a:srgbClr val="0070C0"/>
              </a:solidFill>
              <a:latin typeface="Roboto Condensed"/>
              <a:ea typeface="Roboto Condensed"/>
              <a:cs typeface="Roboto Condensed"/>
              <a:sym typeface="Roboto Condensed"/>
            </a:endParaRPr>
          </a:p>
        </p:txBody>
      </p:sp>
      <p:sp>
        <p:nvSpPr>
          <p:cNvPr id="236" name="Google Shape;236;p41"/>
          <p:cNvSpPr txBox="1"/>
          <p:nvPr/>
        </p:nvSpPr>
        <p:spPr>
          <a:xfrm>
            <a:off x="1464278" y="2382047"/>
            <a:ext cx="16370605" cy="107721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200" u="none" cap="none" strike="noStrike">
                <a:solidFill>
                  <a:schemeClr val="dk1"/>
                </a:solidFill>
                <a:latin typeface="Roboto Condensed"/>
                <a:ea typeface="Roboto Condensed"/>
                <a:cs typeface="Roboto Condensed"/>
                <a:sym typeface="Roboto Condensed"/>
              </a:rPr>
              <a:t>5.1 Setup project auth-service</a:t>
            </a:r>
            <a:endParaRPr b="0" i="0" sz="3200" u="none" cap="none" strike="noStrike">
              <a:solidFill>
                <a:srgbClr val="161616"/>
              </a:solidFill>
              <a:highlight>
                <a:srgbClr val="FFFFFF"/>
              </a:highlight>
              <a:latin typeface="Roboto Condensed"/>
              <a:ea typeface="Roboto Condensed"/>
              <a:cs typeface="Roboto Condensed"/>
              <a:sym typeface="Roboto Condensed"/>
            </a:endParaRPr>
          </a:p>
          <a:p>
            <a:pPr indent="-457200" lvl="0" marL="457200" marR="0" rtl="0" algn="l">
              <a:lnSpc>
                <a:spcPct val="100000"/>
              </a:lnSpc>
              <a:spcBef>
                <a:spcPts val="0"/>
              </a:spcBef>
              <a:spcAft>
                <a:spcPts val="0"/>
              </a:spcAft>
              <a:buClr>
                <a:srgbClr val="000000"/>
              </a:buClr>
              <a:buSzPts val="3200"/>
              <a:buFont typeface="Arial"/>
              <a:buChar char="•"/>
            </a:pPr>
            <a:r>
              <a:rPr b="0" i="0" lang="en-US" sz="3200" u="none" cap="none" strike="noStrike">
                <a:solidFill>
                  <a:srgbClr val="161616"/>
                </a:solidFill>
                <a:highlight>
                  <a:srgbClr val="FFFFFF"/>
                </a:highlight>
                <a:latin typeface="Roboto Condensed"/>
                <a:ea typeface="Roboto Condensed"/>
                <a:cs typeface="Roboto Condensed"/>
                <a:sym typeface="Roboto Condensed"/>
              </a:rPr>
              <a:t>Tạo class </a:t>
            </a:r>
            <a:r>
              <a:rPr b="0" i="0" lang="en-US" sz="3200" u="none" cap="none" strike="noStrike">
                <a:solidFill>
                  <a:srgbClr val="000000"/>
                </a:solidFill>
                <a:highlight>
                  <a:srgbClr val="FFFFFF"/>
                </a:highlight>
                <a:latin typeface="Roboto Condensed"/>
                <a:ea typeface="Roboto Condensed"/>
                <a:cs typeface="Roboto Condensed"/>
                <a:sym typeface="Roboto Condensed"/>
              </a:rPr>
              <a:t>enum AuthProvider</a:t>
            </a:r>
            <a:endParaRPr b="0" i="0" sz="3200" u="none" cap="none" strike="noStrike">
              <a:solidFill>
                <a:srgbClr val="161616"/>
              </a:solidFill>
              <a:highlight>
                <a:srgbClr val="FFFFFF"/>
              </a:highlight>
              <a:latin typeface="Roboto Condensed"/>
              <a:ea typeface="Roboto Condensed"/>
              <a:cs typeface="Roboto Condensed"/>
              <a:sym typeface="Roboto Condensed"/>
            </a:endParaRPr>
          </a:p>
        </p:txBody>
      </p:sp>
      <p:pic>
        <p:nvPicPr>
          <p:cNvPr id="237" name="Google Shape;237;p41"/>
          <p:cNvPicPr preferRelativeResize="0"/>
          <p:nvPr/>
        </p:nvPicPr>
        <p:blipFill rotWithShape="1">
          <a:blip r:embed="rId3">
            <a:alphaModFix/>
          </a:blip>
          <a:srcRect b="0" l="0" r="0" t="0"/>
          <a:stretch/>
        </p:blipFill>
        <p:spPr>
          <a:xfrm>
            <a:off x="1585233" y="4107378"/>
            <a:ext cx="16249650" cy="754380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42"/>
          <p:cNvSpPr txBox="1"/>
          <p:nvPr/>
        </p:nvSpPr>
        <p:spPr>
          <a:xfrm>
            <a:off x="1200148" y="571499"/>
            <a:ext cx="15610743" cy="807136"/>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79BF"/>
              </a:buClr>
              <a:buSzPts val="4400"/>
              <a:buFont typeface="Helvetica Neue"/>
              <a:buNone/>
            </a:pPr>
            <a:r>
              <a:rPr b="1" i="0" lang="en-US" sz="6000" u="none" cap="none" strike="noStrike">
                <a:solidFill>
                  <a:srgbClr val="0079BF"/>
                </a:solidFill>
                <a:latin typeface="Roboto Condensed"/>
                <a:ea typeface="Roboto Condensed"/>
                <a:cs typeface="Roboto Condensed"/>
                <a:sym typeface="Roboto Condensed"/>
              </a:rPr>
              <a:t>Fault-Tolerant &amp; OAuth2</a:t>
            </a:r>
            <a:endParaRPr b="1" i="0" sz="6000" u="none" cap="none" strike="noStrike">
              <a:solidFill>
                <a:srgbClr val="4F81BD"/>
              </a:solidFill>
              <a:latin typeface="Roboto Condensed"/>
              <a:ea typeface="Roboto Condensed"/>
              <a:cs typeface="Roboto Condensed"/>
              <a:sym typeface="Roboto Condensed"/>
            </a:endParaRPr>
          </a:p>
        </p:txBody>
      </p:sp>
      <p:sp>
        <p:nvSpPr>
          <p:cNvPr id="243" name="Google Shape;243;p42"/>
          <p:cNvSpPr txBox="1"/>
          <p:nvPr/>
        </p:nvSpPr>
        <p:spPr>
          <a:xfrm>
            <a:off x="1200149" y="1564634"/>
            <a:ext cx="194502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600" u="none" cap="none" strike="noStrike">
                <a:solidFill>
                  <a:srgbClr val="0079BF"/>
                </a:solidFill>
                <a:latin typeface="Roboto Condensed"/>
                <a:ea typeface="Roboto Condensed"/>
                <a:cs typeface="Roboto Condensed"/>
                <a:sym typeface="Roboto Condensed"/>
              </a:rPr>
              <a:t>5</a:t>
            </a:r>
            <a:r>
              <a:rPr b="1" i="0" lang="en-US" sz="3600" u="none" cap="none" strike="noStrike">
                <a:solidFill>
                  <a:srgbClr val="000000"/>
                </a:solidFill>
                <a:latin typeface="Roboto Condensed"/>
                <a:ea typeface="Roboto Condensed"/>
                <a:cs typeface="Roboto Condensed"/>
                <a:sym typeface="Roboto Condensed"/>
              </a:rPr>
              <a:t>. </a:t>
            </a:r>
            <a:r>
              <a:rPr b="1" i="0" lang="en-US" sz="3600" u="none" cap="none" strike="noStrike">
                <a:solidFill>
                  <a:srgbClr val="0070C0"/>
                </a:solidFill>
                <a:latin typeface="Arial"/>
                <a:ea typeface="Arial"/>
                <a:cs typeface="Arial"/>
                <a:sym typeface="Arial"/>
              </a:rPr>
              <a:t>Implement OAuth2 With Springboot Application</a:t>
            </a:r>
            <a:endParaRPr b="1" i="0" sz="3600" u="none" cap="none" strike="noStrike">
              <a:solidFill>
                <a:srgbClr val="0070C0"/>
              </a:solidFill>
              <a:latin typeface="Roboto Condensed"/>
              <a:ea typeface="Roboto Condensed"/>
              <a:cs typeface="Roboto Condensed"/>
              <a:sym typeface="Roboto Condensed"/>
            </a:endParaRPr>
          </a:p>
        </p:txBody>
      </p:sp>
      <p:sp>
        <p:nvSpPr>
          <p:cNvPr id="244" name="Google Shape;244;p42"/>
          <p:cNvSpPr txBox="1"/>
          <p:nvPr/>
        </p:nvSpPr>
        <p:spPr>
          <a:xfrm>
            <a:off x="1428652" y="2382047"/>
            <a:ext cx="22725758" cy="107721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200" u="none" cap="none" strike="noStrike">
                <a:solidFill>
                  <a:schemeClr val="dk1"/>
                </a:solidFill>
                <a:latin typeface="Roboto Condensed"/>
                <a:ea typeface="Roboto Condensed"/>
                <a:cs typeface="Roboto Condensed"/>
                <a:sym typeface="Roboto Condensed"/>
              </a:rPr>
              <a:t>5.1 Setup project auth-service</a:t>
            </a:r>
            <a:endParaRPr b="0" i="0" sz="3200" u="none" cap="none" strike="noStrike">
              <a:solidFill>
                <a:srgbClr val="161616"/>
              </a:solidFill>
              <a:highlight>
                <a:srgbClr val="FFFFFF"/>
              </a:highlight>
              <a:latin typeface="Roboto Condensed"/>
              <a:ea typeface="Roboto Condensed"/>
              <a:cs typeface="Roboto Condensed"/>
              <a:sym typeface="Roboto Condensed"/>
            </a:endParaRPr>
          </a:p>
          <a:p>
            <a:pPr indent="-457200" lvl="0" marL="457200" marR="0" rtl="0" algn="l">
              <a:lnSpc>
                <a:spcPct val="100000"/>
              </a:lnSpc>
              <a:spcBef>
                <a:spcPts val="0"/>
              </a:spcBef>
              <a:spcAft>
                <a:spcPts val="0"/>
              </a:spcAft>
              <a:buClr>
                <a:srgbClr val="000000"/>
              </a:buClr>
              <a:buSzPts val="3200"/>
              <a:buFont typeface="Arial"/>
              <a:buChar char="•"/>
            </a:pPr>
            <a:r>
              <a:rPr lang="en-US" sz="3200">
                <a:solidFill>
                  <a:srgbClr val="161616"/>
                </a:solidFill>
                <a:highlight>
                  <a:srgbClr val="FFFFFF"/>
                </a:highlight>
                <a:latin typeface="Roboto Condensed"/>
                <a:ea typeface="Roboto Condensed"/>
                <a:cs typeface="Roboto Condensed"/>
                <a:sym typeface="Roboto Condensed"/>
              </a:rPr>
              <a:t>Xây</a:t>
            </a:r>
            <a:r>
              <a:rPr b="0" i="0" lang="en-US" sz="3200" u="none" cap="none" strike="noStrike">
                <a:solidFill>
                  <a:srgbClr val="161616"/>
                </a:solidFill>
                <a:highlight>
                  <a:srgbClr val="FFFFFF"/>
                </a:highlight>
                <a:latin typeface="Roboto Condensed"/>
                <a:ea typeface="Roboto Condensed"/>
                <a:cs typeface="Roboto Condensed"/>
                <a:sym typeface="Roboto Condensed"/>
              </a:rPr>
              <a:t> dựng class </a:t>
            </a:r>
            <a:r>
              <a:rPr b="0" i="0" lang="en-US" sz="3200" u="none" cap="none" strike="noStrike">
                <a:solidFill>
                  <a:srgbClr val="000000"/>
                </a:solidFill>
                <a:highlight>
                  <a:srgbClr val="FFFFFF"/>
                </a:highlight>
                <a:latin typeface="Roboto Condensed"/>
                <a:ea typeface="Roboto Condensed"/>
                <a:cs typeface="Roboto Condensed"/>
                <a:sym typeface="Roboto Condensed"/>
              </a:rPr>
              <a:t>HttpCookieOAuth2 lưu lại redirect_uri để quay về trang client đã đăng </a:t>
            </a:r>
            <a:r>
              <a:rPr lang="en-US" sz="3200">
                <a:highlight>
                  <a:srgbClr val="FFFFFF"/>
                </a:highlight>
                <a:latin typeface="Roboto Condensed"/>
                <a:ea typeface="Roboto Condensed"/>
                <a:cs typeface="Roboto Condensed"/>
                <a:sym typeface="Roboto Condensed"/>
              </a:rPr>
              <a:t>ký</a:t>
            </a:r>
            <a:r>
              <a:rPr b="0" i="0" lang="en-US" sz="3200" u="none" cap="none" strike="noStrike">
                <a:solidFill>
                  <a:srgbClr val="000000"/>
                </a:solidFill>
                <a:highlight>
                  <a:srgbClr val="FFFFFF"/>
                </a:highlight>
                <a:latin typeface="Roboto Condensed"/>
                <a:ea typeface="Roboto Condensed"/>
                <a:cs typeface="Roboto Condensed"/>
                <a:sym typeface="Roboto Condensed"/>
              </a:rPr>
              <a:t> sau khi đăng nhập thành công </a:t>
            </a:r>
            <a:endParaRPr/>
          </a:p>
        </p:txBody>
      </p:sp>
      <p:pic>
        <p:nvPicPr>
          <p:cNvPr id="245" name="Google Shape;245;p42"/>
          <p:cNvPicPr preferRelativeResize="0"/>
          <p:nvPr/>
        </p:nvPicPr>
        <p:blipFill rotWithShape="1">
          <a:blip r:embed="rId3">
            <a:alphaModFix/>
          </a:blip>
          <a:srcRect b="0" l="0" r="0" t="0"/>
          <a:stretch/>
        </p:blipFill>
        <p:spPr>
          <a:xfrm>
            <a:off x="1594909" y="3677847"/>
            <a:ext cx="16243960" cy="8754041"/>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43"/>
          <p:cNvSpPr txBox="1"/>
          <p:nvPr/>
        </p:nvSpPr>
        <p:spPr>
          <a:xfrm>
            <a:off x="1200148" y="571499"/>
            <a:ext cx="15610743" cy="807136"/>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79BF"/>
              </a:buClr>
              <a:buSzPts val="4400"/>
              <a:buFont typeface="Helvetica Neue"/>
              <a:buNone/>
            </a:pPr>
            <a:r>
              <a:rPr b="1" i="0" lang="en-US" sz="6000" u="none" cap="none" strike="noStrike">
                <a:solidFill>
                  <a:srgbClr val="0079BF"/>
                </a:solidFill>
                <a:latin typeface="Roboto Condensed"/>
                <a:ea typeface="Roboto Condensed"/>
                <a:cs typeface="Roboto Condensed"/>
                <a:sym typeface="Roboto Condensed"/>
              </a:rPr>
              <a:t>Fault-Tolerant &amp; OAuth2</a:t>
            </a:r>
            <a:endParaRPr b="1" i="0" sz="6000" u="none" cap="none" strike="noStrike">
              <a:solidFill>
                <a:srgbClr val="4F81BD"/>
              </a:solidFill>
              <a:latin typeface="Roboto Condensed"/>
              <a:ea typeface="Roboto Condensed"/>
              <a:cs typeface="Roboto Condensed"/>
              <a:sym typeface="Roboto Condensed"/>
            </a:endParaRPr>
          </a:p>
        </p:txBody>
      </p:sp>
      <p:sp>
        <p:nvSpPr>
          <p:cNvPr id="251" name="Google Shape;251;p43"/>
          <p:cNvSpPr txBox="1"/>
          <p:nvPr/>
        </p:nvSpPr>
        <p:spPr>
          <a:xfrm>
            <a:off x="1200149" y="1564634"/>
            <a:ext cx="194502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600" u="none" cap="none" strike="noStrike">
                <a:solidFill>
                  <a:srgbClr val="0079BF"/>
                </a:solidFill>
                <a:latin typeface="Roboto Condensed"/>
                <a:ea typeface="Roboto Condensed"/>
                <a:cs typeface="Roboto Condensed"/>
                <a:sym typeface="Roboto Condensed"/>
              </a:rPr>
              <a:t>5</a:t>
            </a:r>
            <a:r>
              <a:rPr b="1" i="0" lang="en-US" sz="3600" u="none" cap="none" strike="noStrike">
                <a:solidFill>
                  <a:srgbClr val="000000"/>
                </a:solidFill>
                <a:latin typeface="Roboto Condensed"/>
                <a:ea typeface="Roboto Condensed"/>
                <a:cs typeface="Roboto Condensed"/>
                <a:sym typeface="Roboto Condensed"/>
              </a:rPr>
              <a:t>. </a:t>
            </a:r>
            <a:r>
              <a:rPr b="1" i="0" lang="en-US" sz="3600" u="none" cap="none" strike="noStrike">
                <a:solidFill>
                  <a:srgbClr val="0070C0"/>
                </a:solidFill>
                <a:latin typeface="Arial"/>
                <a:ea typeface="Arial"/>
                <a:cs typeface="Arial"/>
                <a:sym typeface="Arial"/>
              </a:rPr>
              <a:t>Implement OAuth2 With Springboot Application</a:t>
            </a:r>
            <a:endParaRPr b="1" i="0" sz="3600" u="none" cap="none" strike="noStrike">
              <a:solidFill>
                <a:srgbClr val="0070C0"/>
              </a:solidFill>
              <a:latin typeface="Roboto Condensed"/>
              <a:ea typeface="Roboto Condensed"/>
              <a:cs typeface="Roboto Condensed"/>
              <a:sym typeface="Roboto Condensed"/>
            </a:endParaRPr>
          </a:p>
        </p:txBody>
      </p:sp>
      <p:sp>
        <p:nvSpPr>
          <p:cNvPr id="252" name="Google Shape;252;p43"/>
          <p:cNvSpPr txBox="1"/>
          <p:nvPr/>
        </p:nvSpPr>
        <p:spPr>
          <a:xfrm>
            <a:off x="1464278" y="2287047"/>
            <a:ext cx="21098839" cy="107721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200" u="none" cap="none" strike="noStrike">
                <a:solidFill>
                  <a:schemeClr val="dk1"/>
                </a:solidFill>
                <a:latin typeface="Roboto Condensed"/>
                <a:ea typeface="Roboto Condensed"/>
                <a:cs typeface="Roboto Condensed"/>
                <a:sym typeface="Roboto Condensed"/>
              </a:rPr>
              <a:t>5.1 Setup project auth-service</a:t>
            </a:r>
            <a:endParaRPr b="0" i="0" sz="3200" u="none" cap="none" strike="noStrike">
              <a:solidFill>
                <a:srgbClr val="161616"/>
              </a:solidFill>
              <a:highlight>
                <a:srgbClr val="FFFFFF"/>
              </a:highlight>
              <a:latin typeface="Roboto Condensed"/>
              <a:ea typeface="Roboto Condensed"/>
              <a:cs typeface="Roboto Condensed"/>
              <a:sym typeface="Roboto Condensed"/>
            </a:endParaRPr>
          </a:p>
          <a:p>
            <a:pPr indent="-457200" lvl="0" marL="457200" marR="0" rtl="0" algn="l">
              <a:lnSpc>
                <a:spcPct val="100000"/>
              </a:lnSpc>
              <a:spcBef>
                <a:spcPts val="0"/>
              </a:spcBef>
              <a:spcAft>
                <a:spcPts val="0"/>
              </a:spcAft>
              <a:buClr>
                <a:srgbClr val="000000"/>
              </a:buClr>
              <a:buSzPts val="3200"/>
              <a:buFont typeface="Arial"/>
              <a:buChar char="•"/>
            </a:pPr>
            <a:r>
              <a:rPr b="0" i="0" lang="en-US" sz="3200" u="none" cap="none" strike="noStrike">
                <a:solidFill>
                  <a:srgbClr val="161616"/>
                </a:solidFill>
                <a:highlight>
                  <a:srgbClr val="FFFFFF"/>
                </a:highlight>
                <a:latin typeface="Roboto Condensed"/>
                <a:ea typeface="Roboto Condensed"/>
                <a:cs typeface="Roboto Condensed"/>
                <a:sym typeface="Roboto Condensed"/>
              </a:rPr>
              <a:t>Class OAuth2AuthenticationSuccessHandler trong package oauth2 xử lý thông tin đăng nhập thành công</a:t>
            </a:r>
            <a:endParaRPr b="0" i="0" sz="3200" u="none" cap="none" strike="noStrike">
              <a:solidFill>
                <a:srgbClr val="161616"/>
              </a:solidFill>
              <a:highlight>
                <a:srgbClr val="FFFFFF"/>
              </a:highlight>
              <a:latin typeface="Roboto Condensed"/>
              <a:ea typeface="Roboto Condensed"/>
              <a:cs typeface="Roboto Condensed"/>
              <a:sym typeface="Roboto Condensed"/>
            </a:endParaRPr>
          </a:p>
        </p:txBody>
      </p:sp>
      <p:pic>
        <p:nvPicPr>
          <p:cNvPr id="253" name="Google Shape;253;p43"/>
          <p:cNvPicPr preferRelativeResize="0"/>
          <p:nvPr/>
        </p:nvPicPr>
        <p:blipFill rotWithShape="1">
          <a:blip r:embed="rId3">
            <a:alphaModFix/>
          </a:blip>
          <a:srcRect b="0" l="0" r="0" t="0"/>
          <a:stretch/>
        </p:blipFill>
        <p:spPr>
          <a:xfrm>
            <a:off x="1571158" y="3440347"/>
            <a:ext cx="16847473" cy="9105746"/>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44"/>
          <p:cNvSpPr txBox="1"/>
          <p:nvPr/>
        </p:nvSpPr>
        <p:spPr>
          <a:xfrm>
            <a:off x="1200148" y="571499"/>
            <a:ext cx="15610743" cy="807136"/>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79BF"/>
              </a:buClr>
              <a:buSzPts val="4400"/>
              <a:buFont typeface="Helvetica Neue"/>
              <a:buNone/>
            </a:pPr>
            <a:r>
              <a:rPr b="1" i="0" lang="en-US" sz="6000" u="none" cap="none" strike="noStrike">
                <a:solidFill>
                  <a:srgbClr val="0079BF"/>
                </a:solidFill>
                <a:latin typeface="Roboto Condensed"/>
                <a:ea typeface="Roboto Condensed"/>
                <a:cs typeface="Roboto Condensed"/>
                <a:sym typeface="Roboto Condensed"/>
              </a:rPr>
              <a:t>Fault-Tolerant &amp; OAuth2</a:t>
            </a:r>
            <a:endParaRPr b="1" i="0" sz="6000" u="none" cap="none" strike="noStrike">
              <a:solidFill>
                <a:srgbClr val="4F81BD"/>
              </a:solidFill>
              <a:latin typeface="Roboto Condensed"/>
              <a:ea typeface="Roboto Condensed"/>
              <a:cs typeface="Roboto Condensed"/>
              <a:sym typeface="Roboto Condensed"/>
            </a:endParaRPr>
          </a:p>
        </p:txBody>
      </p:sp>
      <p:sp>
        <p:nvSpPr>
          <p:cNvPr id="259" name="Google Shape;259;p44"/>
          <p:cNvSpPr txBox="1"/>
          <p:nvPr/>
        </p:nvSpPr>
        <p:spPr>
          <a:xfrm>
            <a:off x="1200149" y="1564634"/>
            <a:ext cx="194502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600" u="none" cap="none" strike="noStrike">
                <a:solidFill>
                  <a:srgbClr val="0079BF"/>
                </a:solidFill>
                <a:latin typeface="Roboto Condensed"/>
                <a:ea typeface="Roboto Condensed"/>
                <a:cs typeface="Roboto Condensed"/>
                <a:sym typeface="Roboto Condensed"/>
              </a:rPr>
              <a:t>5</a:t>
            </a:r>
            <a:r>
              <a:rPr b="1" i="0" lang="en-US" sz="3600" u="none" cap="none" strike="noStrike">
                <a:solidFill>
                  <a:srgbClr val="000000"/>
                </a:solidFill>
                <a:latin typeface="Roboto Condensed"/>
                <a:ea typeface="Roboto Condensed"/>
                <a:cs typeface="Roboto Condensed"/>
                <a:sym typeface="Roboto Condensed"/>
              </a:rPr>
              <a:t>. </a:t>
            </a:r>
            <a:r>
              <a:rPr b="1" i="0" lang="en-US" sz="3600" u="none" cap="none" strike="noStrike">
                <a:solidFill>
                  <a:srgbClr val="0070C0"/>
                </a:solidFill>
                <a:latin typeface="Arial"/>
                <a:ea typeface="Arial"/>
                <a:cs typeface="Arial"/>
                <a:sym typeface="Arial"/>
              </a:rPr>
              <a:t>Implement OAuth2 With Springboot Application</a:t>
            </a:r>
            <a:endParaRPr b="1" i="0" sz="3600" u="none" cap="none" strike="noStrike">
              <a:solidFill>
                <a:srgbClr val="0070C0"/>
              </a:solidFill>
              <a:latin typeface="Roboto Condensed"/>
              <a:ea typeface="Roboto Condensed"/>
              <a:cs typeface="Roboto Condensed"/>
              <a:sym typeface="Roboto Condensed"/>
            </a:endParaRPr>
          </a:p>
        </p:txBody>
      </p:sp>
      <p:sp>
        <p:nvSpPr>
          <p:cNvPr id="260" name="Google Shape;260;p44"/>
          <p:cNvSpPr txBox="1"/>
          <p:nvPr/>
        </p:nvSpPr>
        <p:spPr>
          <a:xfrm>
            <a:off x="1464278" y="2287047"/>
            <a:ext cx="21098839" cy="107721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200" u="none" cap="none" strike="noStrike">
                <a:solidFill>
                  <a:schemeClr val="dk1"/>
                </a:solidFill>
                <a:latin typeface="Roboto Condensed"/>
                <a:ea typeface="Roboto Condensed"/>
                <a:cs typeface="Roboto Condensed"/>
                <a:sym typeface="Roboto Condensed"/>
              </a:rPr>
              <a:t>5.1 Setup project auth-service</a:t>
            </a:r>
            <a:endParaRPr b="0" i="0" sz="3200" u="none" cap="none" strike="noStrike">
              <a:solidFill>
                <a:srgbClr val="161616"/>
              </a:solidFill>
              <a:highlight>
                <a:srgbClr val="FFFFFF"/>
              </a:highlight>
              <a:latin typeface="Roboto Condensed"/>
              <a:ea typeface="Roboto Condensed"/>
              <a:cs typeface="Roboto Condensed"/>
              <a:sym typeface="Roboto Condensed"/>
            </a:endParaRPr>
          </a:p>
          <a:p>
            <a:pPr indent="-457200" lvl="0" marL="457200" marR="0" rtl="0" algn="l">
              <a:lnSpc>
                <a:spcPct val="100000"/>
              </a:lnSpc>
              <a:spcBef>
                <a:spcPts val="0"/>
              </a:spcBef>
              <a:spcAft>
                <a:spcPts val="0"/>
              </a:spcAft>
              <a:buClr>
                <a:srgbClr val="000000"/>
              </a:buClr>
              <a:buSzPts val="3200"/>
              <a:buFont typeface="Arial"/>
              <a:buChar char="•"/>
            </a:pPr>
            <a:r>
              <a:rPr b="0" i="0" lang="en-US" sz="3200" u="none" cap="none" strike="noStrike">
                <a:solidFill>
                  <a:srgbClr val="161616"/>
                </a:solidFill>
                <a:highlight>
                  <a:srgbClr val="FFFFFF"/>
                </a:highlight>
                <a:latin typeface="Roboto Condensed"/>
                <a:ea typeface="Roboto Condensed"/>
                <a:cs typeface="Roboto Condensed"/>
                <a:sym typeface="Roboto Condensed"/>
              </a:rPr>
              <a:t>Class OAuth2AuthenticationSuccessHandler trong package oauth2 xử lý thông tin đăng nhập thành công</a:t>
            </a:r>
            <a:endParaRPr b="0" i="0" sz="3200" u="none" cap="none" strike="noStrike">
              <a:solidFill>
                <a:srgbClr val="161616"/>
              </a:solidFill>
              <a:highlight>
                <a:srgbClr val="FFFFFF"/>
              </a:highlight>
              <a:latin typeface="Roboto Condensed"/>
              <a:ea typeface="Roboto Condensed"/>
              <a:cs typeface="Roboto Condensed"/>
              <a:sym typeface="Roboto Condensed"/>
            </a:endParaRPr>
          </a:p>
        </p:txBody>
      </p:sp>
      <p:pic>
        <p:nvPicPr>
          <p:cNvPr id="261" name="Google Shape;261;p44"/>
          <p:cNvPicPr preferRelativeResize="0"/>
          <p:nvPr/>
        </p:nvPicPr>
        <p:blipFill rotWithShape="1">
          <a:blip r:embed="rId3">
            <a:alphaModFix/>
          </a:blip>
          <a:srcRect b="0" l="0" r="0" t="0"/>
          <a:stretch/>
        </p:blipFill>
        <p:spPr>
          <a:xfrm>
            <a:off x="1607870" y="3440347"/>
            <a:ext cx="17106900" cy="901065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45"/>
          <p:cNvSpPr txBox="1"/>
          <p:nvPr/>
        </p:nvSpPr>
        <p:spPr>
          <a:xfrm>
            <a:off x="1200148" y="571499"/>
            <a:ext cx="15610743" cy="807136"/>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79BF"/>
              </a:buClr>
              <a:buSzPts val="4400"/>
              <a:buFont typeface="Helvetica Neue"/>
              <a:buNone/>
            </a:pPr>
            <a:r>
              <a:rPr b="1" i="0" lang="en-US" sz="6000" u="none" cap="none" strike="noStrike">
                <a:solidFill>
                  <a:srgbClr val="0079BF"/>
                </a:solidFill>
                <a:latin typeface="Roboto Condensed"/>
                <a:ea typeface="Roboto Condensed"/>
                <a:cs typeface="Roboto Condensed"/>
                <a:sym typeface="Roboto Condensed"/>
              </a:rPr>
              <a:t>Fault-Tolerant &amp; OAuth2</a:t>
            </a:r>
            <a:endParaRPr b="1" i="0" sz="6000" u="none" cap="none" strike="noStrike">
              <a:solidFill>
                <a:srgbClr val="4F81BD"/>
              </a:solidFill>
              <a:latin typeface="Roboto Condensed"/>
              <a:ea typeface="Roboto Condensed"/>
              <a:cs typeface="Roboto Condensed"/>
              <a:sym typeface="Roboto Condensed"/>
            </a:endParaRPr>
          </a:p>
        </p:txBody>
      </p:sp>
      <p:sp>
        <p:nvSpPr>
          <p:cNvPr id="267" name="Google Shape;267;p45"/>
          <p:cNvSpPr txBox="1"/>
          <p:nvPr/>
        </p:nvSpPr>
        <p:spPr>
          <a:xfrm>
            <a:off x="1200149" y="1564634"/>
            <a:ext cx="194502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600" u="none" cap="none" strike="noStrike">
                <a:solidFill>
                  <a:srgbClr val="0079BF"/>
                </a:solidFill>
                <a:latin typeface="Roboto Condensed"/>
                <a:ea typeface="Roboto Condensed"/>
                <a:cs typeface="Roboto Condensed"/>
                <a:sym typeface="Roboto Condensed"/>
              </a:rPr>
              <a:t>5</a:t>
            </a:r>
            <a:r>
              <a:rPr b="1" i="0" lang="en-US" sz="3600" u="none" cap="none" strike="noStrike">
                <a:solidFill>
                  <a:srgbClr val="000000"/>
                </a:solidFill>
                <a:latin typeface="Roboto Condensed"/>
                <a:ea typeface="Roboto Condensed"/>
                <a:cs typeface="Roboto Condensed"/>
                <a:sym typeface="Roboto Condensed"/>
              </a:rPr>
              <a:t>. </a:t>
            </a:r>
            <a:r>
              <a:rPr b="1" i="0" lang="en-US" sz="3600" u="none" cap="none" strike="noStrike">
                <a:solidFill>
                  <a:srgbClr val="0070C0"/>
                </a:solidFill>
                <a:latin typeface="Arial"/>
                <a:ea typeface="Arial"/>
                <a:cs typeface="Arial"/>
                <a:sym typeface="Arial"/>
              </a:rPr>
              <a:t>Implement OAuth2 With Springboot Application</a:t>
            </a:r>
            <a:endParaRPr b="1" i="0" sz="3600" u="none" cap="none" strike="noStrike">
              <a:solidFill>
                <a:srgbClr val="0070C0"/>
              </a:solidFill>
              <a:latin typeface="Roboto Condensed"/>
              <a:ea typeface="Roboto Condensed"/>
              <a:cs typeface="Roboto Condensed"/>
              <a:sym typeface="Roboto Condensed"/>
            </a:endParaRPr>
          </a:p>
        </p:txBody>
      </p:sp>
      <p:sp>
        <p:nvSpPr>
          <p:cNvPr id="268" name="Google Shape;268;p45"/>
          <p:cNvSpPr txBox="1"/>
          <p:nvPr/>
        </p:nvSpPr>
        <p:spPr>
          <a:xfrm>
            <a:off x="1464278" y="2287047"/>
            <a:ext cx="21098839" cy="107721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200" u="none" cap="none" strike="noStrike">
                <a:solidFill>
                  <a:schemeClr val="dk1"/>
                </a:solidFill>
                <a:latin typeface="Roboto Condensed"/>
                <a:ea typeface="Roboto Condensed"/>
                <a:cs typeface="Roboto Condensed"/>
                <a:sym typeface="Roboto Condensed"/>
              </a:rPr>
              <a:t>5.1 Setup project auth-service</a:t>
            </a:r>
            <a:endParaRPr b="0" i="0" sz="3200" u="none" cap="none" strike="noStrike">
              <a:solidFill>
                <a:srgbClr val="161616"/>
              </a:solidFill>
              <a:highlight>
                <a:srgbClr val="FFFFFF"/>
              </a:highlight>
              <a:latin typeface="Roboto Condensed"/>
              <a:ea typeface="Roboto Condensed"/>
              <a:cs typeface="Roboto Condensed"/>
              <a:sym typeface="Roboto Condensed"/>
            </a:endParaRPr>
          </a:p>
          <a:p>
            <a:pPr indent="-457200" lvl="0" marL="457200" marR="0" rtl="0" algn="l">
              <a:lnSpc>
                <a:spcPct val="100000"/>
              </a:lnSpc>
              <a:spcBef>
                <a:spcPts val="0"/>
              </a:spcBef>
              <a:spcAft>
                <a:spcPts val="0"/>
              </a:spcAft>
              <a:buClr>
                <a:srgbClr val="000000"/>
              </a:buClr>
              <a:buSzPts val="3200"/>
              <a:buFont typeface="Arial"/>
              <a:buChar char="•"/>
            </a:pPr>
            <a:r>
              <a:rPr b="0" i="0" lang="en-US" sz="3200" u="none" cap="none" strike="noStrike">
                <a:solidFill>
                  <a:srgbClr val="161616"/>
                </a:solidFill>
                <a:highlight>
                  <a:srgbClr val="FFFFFF"/>
                </a:highlight>
                <a:latin typeface="Roboto Condensed"/>
                <a:ea typeface="Roboto Condensed"/>
                <a:cs typeface="Roboto Condensed"/>
                <a:sym typeface="Roboto Condensed"/>
              </a:rPr>
              <a:t>Class OAuth2AuthenticationFailureHandler trong package oauth2 xử lý thông tin đăng nhập không thành công</a:t>
            </a:r>
            <a:endParaRPr b="0" i="0" sz="3200" u="none" cap="none" strike="noStrike">
              <a:solidFill>
                <a:srgbClr val="161616"/>
              </a:solidFill>
              <a:highlight>
                <a:srgbClr val="FFFFFF"/>
              </a:highlight>
              <a:latin typeface="Roboto Condensed"/>
              <a:ea typeface="Roboto Condensed"/>
              <a:cs typeface="Roboto Condensed"/>
              <a:sym typeface="Roboto Condensed"/>
            </a:endParaRPr>
          </a:p>
        </p:txBody>
      </p:sp>
      <p:pic>
        <p:nvPicPr>
          <p:cNvPr id="269" name="Google Shape;269;p45"/>
          <p:cNvPicPr preferRelativeResize="0"/>
          <p:nvPr/>
        </p:nvPicPr>
        <p:blipFill rotWithShape="1">
          <a:blip r:embed="rId3">
            <a:alphaModFix/>
          </a:blip>
          <a:srcRect b="0" l="0" r="0" t="0"/>
          <a:stretch/>
        </p:blipFill>
        <p:spPr>
          <a:xfrm>
            <a:off x="1566614" y="3743633"/>
            <a:ext cx="17783175" cy="7820025"/>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46"/>
          <p:cNvSpPr txBox="1"/>
          <p:nvPr/>
        </p:nvSpPr>
        <p:spPr>
          <a:xfrm>
            <a:off x="1200148" y="571499"/>
            <a:ext cx="15610743" cy="807136"/>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79BF"/>
              </a:buClr>
              <a:buSzPts val="4400"/>
              <a:buFont typeface="Helvetica Neue"/>
              <a:buNone/>
            </a:pPr>
            <a:r>
              <a:rPr b="1" i="0" lang="en-US" sz="6000" u="none" cap="none" strike="noStrike">
                <a:solidFill>
                  <a:srgbClr val="0079BF"/>
                </a:solidFill>
                <a:latin typeface="Roboto Condensed"/>
                <a:ea typeface="Roboto Condensed"/>
                <a:cs typeface="Roboto Condensed"/>
                <a:sym typeface="Roboto Condensed"/>
              </a:rPr>
              <a:t>Fault-Tolerant &amp; OAuth2</a:t>
            </a:r>
            <a:endParaRPr b="1" i="0" sz="6000" u="none" cap="none" strike="noStrike">
              <a:solidFill>
                <a:srgbClr val="4F81BD"/>
              </a:solidFill>
              <a:latin typeface="Roboto Condensed"/>
              <a:ea typeface="Roboto Condensed"/>
              <a:cs typeface="Roboto Condensed"/>
              <a:sym typeface="Roboto Condensed"/>
            </a:endParaRPr>
          </a:p>
        </p:txBody>
      </p:sp>
      <p:sp>
        <p:nvSpPr>
          <p:cNvPr id="275" name="Google Shape;275;p46"/>
          <p:cNvSpPr txBox="1"/>
          <p:nvPr/>
        </p:nvSpPr>
        <p:spPr>
          <a:xfrm>
            <a:off x="1200149" y="1564634"/>
            <a:ext cx="194502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600" u="none" cap="none" strike="noStrike">
                <a:solidFill>
                  <a:srgbClr val="0079BF"/>
                </a:solidFill>
                <a:latin typeface="Roboto Condensed"/>
                <a:ea typeface="Roboto Condensed"/>
                <a:cs typeface="Roboto Condensed"/>
                <a:sym typeface="Roboto Condensed"/>
              </a:rPr>
              <a:t>5</a:t>
            </a:r>
            <a:r>
              <a:rPr b="1" i="0" lang="en-US" sz="3600" u="none" cap="none" strike="noStrike">
                <a:solidFill>
                  <a:srgbClr val="000000"/>
                </a:solidFill>
                <a:latin typeface="Roboto Condensed"/>
                <a:ea typeface="Roboto Condensed"/>
                <a:cs typeface="Roboto Condensed"/>
                <a:sym typeface="Roboto Condensed"/>
              </a:rPr>
              <a:t>. </a:t>
            </a:r>
            <a:r>
              <a:rPr b="1" i="0" lang="en-US" sz="3600" u="none" cap="none" strike="noStrike">
                <a:solidFill>
                  <a:srgbClr val="0070C0"/>
                </a:solidFill>
                <a:latin typeface="Arial"/>
                <a:ea typeface="Arial"/>
                <a:cs typeface="Arial"/>
                <a:sym typeface="Arial"/>
              </a:rPr>
              <a:t>Implement OAuth2 With Springboot Application</a:t>
            </a:r>
            <a:endParaRPr b="1" i="0" sz="3600" u="none" cap="none" strike="noStrike">
              <a:solidFill>
                <a:srgbClr val="0070C0"/>
              </a:solidFill>
              <a:latin typeface="Roboto Condensed"/>
              <a:ea typeface="Roboto Condensed"/>
              <a:cs typeface="Roboto Condensed"/>
              <a:sym typeface="Roboto Condensed"/>
            </a:endParaRPr>
          </a:p>
        </p:txBody>
      </p:sp>
      <p:sp>
        <p:nvSpPr>
          <p:cNvPr id="276" name="Google Shape;276;p46"/>
          <p:cNvSpPr txBox="1"/>
          <p:nvPr/>
        </p:nvSpPr>
        <p:spPr>
          <a:xfrm>
            <a:off x="1464278" y="2382047"/>
            <a:ext cx="16370605" cy="107721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200" u="none" cap="none" strike="noStrike">
                <a:solidFill>
                  <a:schemeClr val="dk1"/>
                </a:solidFill>
                <a:latin typeface="Roboto Condensed"/>
                <a:ea typeface="Roboto Condensed"/>
                <a:cs typeface="Roboto Condensed"/>
                <a:sym typeface="Roboto Condensed"/>
              </a:rPr>
              <a:t>5.1 Setup project auth-service</a:t>
            </a:r>
            <a:endParaRPr b="0" i="0" sz="3200" u="none" cap="none" strike="noStrike">
              <a:solidFill>
                <a:srgbClr val="161616"/>
              </a:solidFill>
              <a:highlight>
                <a:srgbClr val="FFFFFF"/>
              </a:highlight>
              <a:latin typeface="Roboto Condensed"/>
              <a:ea typeface="Roboto Condensed"/>
              <a:cs typeface="Roboto Condensed"/>
              <a:sym typeface="Roboto Condensed"/>
            </a:endParaRPr>
          </a:p>
          <a:p>
            <a:pPr indent="-457200" lvl="0" marL="457200" marR="0" rtl="0" algn="l">
              <a:lnSpc>
                <a:spcPct val="100000"/>
              </a:lnSpc>
              <a:spcBef>
                <a:spcPts val="0"/>
              </a:spcBef>
              <a:spcAft>
                <a:spcPts val="0"/>
              </a:spcAft>
              <a:buClr>
                <a:srgbClr val="000000"/>
              </a:buClr>
              <a:buSzPts val="3200"/>
              <a:buFont typeface="Arial"/>
              <a:buChar char="•"/>
            </a:pPr>
            <a:r>
              <a:rPr b="0" i="0" lang="en-US" sz="3200" u="none" cap="none" strike="noStrike">
                <a:solidFill>
                  <a:srgbClr val="161616"/>
                </a:solidFill>
                <a:highlight>
                  <a:srgbClr val="FFFFFF"/>
                </a:highlight>
                <a:latin typeface="Roboto Condensed"/>
                <a:ea typeface="Roboto Condensed"/>
                <a:cs typeface="Roboto Condensed"/>
                <a:sym typeface="Roboto Condensed"/>
              </a:rPr>
              <a:t>Thêm các beans vào class SecurityConfiguration</a:t>
            </a:r>
            <a:endParaRPr/>
          </a:p>
        </p:txBody>
      </p:sp>
      <p:pic>
        <p:nvPicPr>
          <p:cNvPr id="277" name="Google Shape;277;p46"/>
          <p:cNvPicPr preferRelativeResize="0"/>
          <p:nvPr/>
        </p:nvPicPr>
        <p:blipFill rotWithShape="1">
          <a:blip r:embed="rId3">
            <a:alphaModFix/>
          </a:blip>
          <a:srcRect b="0" l="0" r="0" t="0"/>
          <a:stretch/>
        </p:blipFill>
        <p:spPr>
          <a:xfrm>
            <a:off x="1577933" y="3778333"/>
            <a:ext cx="16383000" cy="853440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47"/>
          <p:cNvSpPr txBox="1"/>
          <p:nvPr/>
        </p:nvSpPr>
        <p:spPr>
          <a:xfrm>
            <a:off x="1200148" y="571499"/>
            <a:ext cx="15610743" cy="807136"/>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79BF"/>
              </a:buClr>
              <a:buSzPts val="4400"/>
              <a:buFont typeface="Helvetica Neue"/>
              <a:buNone/>
            </a:pPr>
            <a:r>
              <a:rPr b="1" i="0" lang="en-US" sz="6000" u="none" cap="none" strike="noStrike">
                <a:solidFill>
                  <a:srgbClr val="0079BF"/>
                </a:solidFill>
                <a:latin typeface="Roboto Condensed"/>
                <a:ea typeface="Roboto Condensed"/>
                <a:cs typeface="Roboto Condensed"/>
                <a:sym typeface="Roboto Condensed"/>
              </a:rPr>
              <a:t>Fault-Tolerant &amp; OAuth2</a:t>
            </a:r>
            <a:endParaRPr b="1" i="0" sz="6000" u="none" cap="none" strike="noStrike">
              <a:solidFill>
                <a:srgbClr val="4F81BD"/>
              </a:solidFill>
              <a:latin typeface="Roboto Condensed"/>
              <a:ea typeface="Roboto Condensed"/>
              <a:cs typeface="Roboto Condensed"/>
              <a:sym typeface="Roboto Condensed"/>
            </a:endParaRPr>
          </a:p>
        </p:txBody>
      </p:sp>
      <p:sp>
        <p:nvSpPr>
          <p:cNvPr id="283" name="Google Shape;283;p47"/>
          <p:cNvSpPr txBox="1"/>
          <p:nvPr/>
        </p:nvSpPr>
        <p:spPr>
          <a:xfrm>
            <a:off x="1200149" y="1564634"/>
            <a:ext cx="194502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600" u="none" cap="none" strike="noStrike">
                <a:solidFill>
                  <a:srgbClr val="0079BF"/>
                </a:solidFill>
                <a:latin typeface="Roboto Condensed"/>
                <a:ea typeface="Roboto Condensed"/>
                <a:cs typeface="Roboto Condensed"/>
                <a:sym typeface="Roboto Condensed"/>
              </a:rPr>
              <a:t>5</a:t>
            </a:r>
            <a:r>
              <a:rPr b="1" i="0" lang="en-US" sz="3600" u="none" cap="none" strike="noStrike">
                <a:solidFill>
                  <a:srgbClr val="000000"/>
                </a:solidFill>
                <a:latin typeface="Roboto Condensed"/>
                <a:ea typeface="Roboto Condensed"/>
                <a:cs typeface="Roboto Condensed"/>
                <a:sym typeface="Roboto Condensed"/>
              </a:rPr>
              <a:t>. </a:t>
            </a:r>
            <a:r>
              <a:rPr b="1" i="0" lang="en-US" sz="3600" u="none" cap="none" strike="noStrike">
                <a:solidFill>
                  <a:srgbClr val="0070C0"/>
                </a:solidFill>
                <a:latin typeface="Arial"/>
                <a:ea typeface="Arial"/>
                <a:cs typeface="Arial"/>
                <a:sym typeface="Arial"/>
              </a:rPr>
              <a:t>Implement OAuth2 With Springboot Application</a:t>
            </a:r>
            <a:endParaRPr b="1" i="0" sz="3600" u="none" cap="none" strike="noStrike">
              <a:solidFill>
                <a:srgbClr val="0070C0"/>
              </a:solidFill>
              <a:latin typeface="Roboto Condensed"/>
              <a:ea typeface="Roboto Condensed"/>
              <a:cs typeface="Roboto Condensed"/>
              <a:sym typeface="Roboto Condensed"/>
            </a:endParaRPr>
          </a:p>
        </p:txBody>
      </p:sp>
      <p:sp>
        <p:nvSpPr>
          <p:cNvPr id="284" name="Google Shape;284;p47"/>
          <p:cNvSpPr txBox="1"/>
          <p:nvPr/>
        </p:nvSpPr>
        <p:spPr>
          <a:xfrm>
            <a:off x="1464278" y="2382047"/>
            <a:ext cx="16370605" cy="107721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200" u="none" cap="none" strike="noStrike">
                <a:solidFill>
                  <a:schemeClr val="dk1"/>
                </a:solidFill>
                <a:latin typeface="Roboto Condensed"/>
                <a:ea typeface="Roboto Condensed"/>
                <a:cs typeface="Roboto Condensed"/>
                <a:sym typeface="Roboto Condensed"/>
              </a:rPr>
              <a:t>5.1 Setup project auth-service</a:t>
            </a:r>
            <a:endParaRPr b="0" i="0" sz="3200" u="none" cap="none" strike="noStrike">
              <a:solidFill>
                <a:srgbClr val="161616"/>
              </a:solidFill>
              <a:highlight>
                <a:srgbClr val="FFFFFF"/>
              </a:highlight>
              <a:latin typeface="Roboto Condensed"/>
              <a:ea typeface="Roboto Condensed"/>
              <a:cs typeface="Roboto Condensed"/>
              <a:sym typeface="Roboto Condensed"/>
            </a:endParaRPr>
          </a:p>
          <a:p>
            <a:pPr indent="-457200" lvl="0" marL="457200" marR="0" rtl="0" algn="l">
              <a:lnSpc>
                <a:spcPct val="100000"/>
              </a:lnSpc>
              <a:spcBef>
                <a:spcPts val="0"/>
              </a:spcBef>
              <a:spcAft>
                <a:spcPts val="0"/>
              </a:spcAft>
              <a:buClr>
                <a:srgbClr val="000000"/>
              </a:buClr>
              <a:buSzPts val="3200"/>
              <a:buFont typeface="Arial"/>
              <a:buChar char="•"/>
            </a:pPr>
            <a:r>
              <a:rPr b="0" i="0" lang="en-US" sz="3200" u="none" cap="none" strike="noStrike">
                <a:solidFill>
                  <a:srgbClr val="161616"/>
                </a:solidFill>
                <a:highlight>
                  <a:srgbClr val="FFFFFF"/>
                </a:highlight>
                <a:latin typeface="Roboto Condensed"/>
                <a:ea typeface="Roboto Condensed"/>
                <a:cs typeface="Roboto Condensed"/>
                <a:sym typeface="Roboto Condensed"/>
              </a:rPr>
              <a:t>Sửa lại phần filter chain trong class SecurityConfiguration để thêm oauth2</a:t>
            </a:r>
            <a:endParaRPr b="0" i="0" sz="3200" u="none" cap="none" strike="noStrike">
              <a:solidFill>
                <a:srgbClr val="161616"/>
              </a:solidFill>
              <a:highlight>
                <a:srgbClr val="FFFFFF"/>
              </a:highlight>
              <a:latin typeface="Roboto Condensed"/>
              <a:ea typeface="Roboto Condensed"/>
              <a:cs typeface="Roboto Condensed"/>
              <a:sym typeface="Roboto Condensed"/>
            </a:endParaRPr>
          </a:p>
        </p:txBody>
      </p:sp>
      <p:pic>
        <p:nvPicPr>
          <p:cNvPr id="285" name="Google Shape;285;p47"/>
          <p:cNvPicPr preferRelativeResize="0"/>
          <p:nvPr/>
        </p:nvPicPr>
        <p:blipFill rotWithShape="1">
          <a:blip r:embed="rId3">
            <a:alphaModFix/>
          </a:blip>
          <a:srcRect b="0" l="0" r="0" t="0"/>
          <a:stretch/>
        </p:blipFill>
        <p:spPr>
          <a:xfrm>
            <a:off x="1606780" y="3630347"/>
            <a:ext cx="15113675" cy="8973653"/>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48"/>
          <p:cNvSpPr txBox="1"/>
          <p:nvPr/>
        </p:nvSpPr>
        <p:spPr>
          <a:xfrm>
            <a:off x="1200148" y="571499"/>
            <a:ext cx="15610743" cy="807136"/>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79BF"/>
              </a:buClr>
              <a:buSzPts val="4400"/>
              <a:buFont typeface="Helvetica Neue"/>
              <a:buNone/>
            </a:pPr>
            <a:r>
              <a:rPr b="1" i="0" lang="en-US" sz="6000" u="none" cap="none" strike="noStrike">
                <a:solidFill>
                  <a:srgbClr val="0079BF"/>
                </a:solidFill>
                <a:latin typeface="Roboto Condensed"/>
                <a:ea typeface="Roboto Condensed"/>
                <a:cs typeface="Roboto Condensed"/>
                <a:sym typeface="Roboto Condensed"/>
              </a:rPr>
              <a:t>Fault-Tolerant &amp; OAuth2</a:t>
            </a:r>
            <a:endParaRPr b="1" i="0" sz="6000" u="none" cap="none" strike="noStrike">
              <a:solidFill>
                <a:srgbClr val="4F81BD"/>
              </a:solidFill>
              <a:latin typeface="Roboto Condensed"/>
              <a:ea typeface="Roboto Condensed"/>
              <a:cs typeface="Roboto Condensed"/>
              <a:sym typeface="Roboto Condensed"/>
            </a:endParaRPr>
          </a:p>
        </p:txBody>
      </p:sp>
      <p:sp>
        <p:nvSpPr>
          <p:cNvPr id="291" name="Google Shape;291;p48"/>
          <p:cNvSpPr txBox="1"/>
          <p:nvPr/>
        </p:nvSpPr>
        <p:spPr>
          <a:xfrm>
            <a:off x="1200149" y="1564634"/>
            <a:ext cx="194502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600" u="none" cap="none" strike="noStrike">
                <a:solidFill>
                  <a:srgbClr val="0079BF"/>
                </a:solidFill>
                <a:latin typeface="Roboto Condensed"/>
                <a:ea typeface="Roboto Condensed"/>
                <a:cs typeface="Roboto Condensed"/>
                <a:sym typeface="Roboto Condensed"/>
              </a:rPr>
              <a:t>5</a:t>
            </a:r>
            <a:r>
              <a:rPr b="1" i="0" lang="en-US" sz="3600" u="none" cap="none" strike="noStrike">
                <a:solidFill>
                  <a:srgbClr val="000000"/>
                </a:solidFill>
                <a:latin typeface="Roboto Condensed"/>
                <a:ea typeface="Roboto Condensed"/>
                <a:cs typeface="Roboto Condensed"/>
                <a:sym typeface="Roboto Condensed"/>
              </a:rPr>
              <a:t>. </a:t>
            </a:r>
            <a:r>
              <a:rPr b="1" i="0" lang="en-US" sz="3600" u="none" cap="none" strike="noStrike">
                <a:solidFill>
                  <a:srgbClr val="0070C0"/>
                </a:solidFill>
                <a:latin typeface="Arial"/>
                <a:ea typeface="Arial"/>
                <a:cs typeface="Arial"/>
                <a:sym typeface="Arial"/>
              </a:rPr>
              <a:t>Implement OAuth2 With Springboot Application</a:t>
            </a:r>
            <a:endParaRPr b="1" i="0" sz="3600" u="none" cap="none" strike="noStrike">
              <a:solidFill>
                <a:srgbClr val="0070C0"/>
              </a:solidFill>
              <a:latin typeface="Roboto Condensed"/>
              <a:ea typeface="Roboto Condensed"/>
              <a:cs typeface="Roboto Condensed"/>
              <a:sym typeface="Roboto Condensed"/>
            </a:endParaRPr>
          </a:p>
        </p:txBody>
      </p:sp>
      <p:sp>
        <p:nvSpPr>
          <p:cNvPr id="292" name="Google Shape;292;p48"/>
          <p:cNvSpPr txBox="1"/>
          <p:nvPr/>
        </p:nvSpPr>
        <p:spPr>
          <a:xfrm>
            <a:off x="1464278" y="2382047"/>
            <a:ext cx="16370605" cy="107721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200" u="none" cap="none" strike="noStrike">
                <a:solidFill>
                  <a:schemeClr val="dk1"/>
                </a:solidFill>
                <a:latin typeface="Roboto Condensed"/>
                <a:ea typeface="Roboto Condensed"/>
                <a:cs typeface="Roboto Condensed"/>
                <a:sym typeface="Roboto Condensed"/>
              </a:rPr>
              <a:t>5.1 Setup project auth-service</a:t>
            </a:r>
            <a:endParaRPr b="0" i="0" sz="3200" u="none" cap="none" strike="noStrike">
              <a:solidFill>
                <a:srgbClr val="161616"/>
              </a:solidFill>
              <a:highlight>
                <a:srgbClr val="FFFFFF"/>
              </a:highlight>
              <a:latin typeface="Roboto Condensed"/>
              <a:ea typeface="Roboto Condensed"/>
              <a:cs typeface="Roboto Condensed"/>
              <a:sym typeface="Roboto Condensed"/>
            </a:endParaRPr>
          </a:p>
          <a:p>
            <a:pPr indent="-457200" lvl="0" marL="457200" marR="0" rtl="0" algn="l">
              <a:lnSpc>
                <a:spcPct val="100000"/>
              </a:lnSpc>
              <a:spcBef>
                <a:spcPts val="0"/>
              </a:spcBef>
              <a:spcAft>
                <a:spcPts val="0"/>
              </a:spcAft>
              <a:buClr>
                <a:srgbClr val="000000"/>
              </a:buClr>
              <a:buSzPts val="3200"/>
              <a:buFont typeface="Arial"/>
              <a:buChar char="•"/>
            </a:pPr>
            <a:r>
              <a:rPr b="0" i="0" lang="en-US" sz="3200" u="none" cap="none" strike="noStrike">
                <a:solidFill>
                  <a:srgbClr val="161616"/>
                </a:solidFill>
                <a:highlight>
                  <a:srgbClr val="FFFFFF"/>
                </a:highlight>
                <a:latin typeface="Roboto Condensed"/>
                <a:ea typeface="Roboto Condensed"/>
                <a:cs typeface="Roboto Condensed"/>
                <a:sym typeface="Roboto Condensed"/>
              </a:rPr>
              <a:t>Thêm class WebMvnConfig trong thư mục config để cấu hình cors security</a:t>
            </a:r>
            <a:endParaRPr b="0" i="0" sz="3200" u="none" cap="none" strike="noStrike">
              <a:solidFill>
                <a:srgbClr val="161616"/>
              </a:solidFill>
              <a:highlight>
                <a:srgbClr val="FFFFFF"/>
              </a:highlight>
              <a:latin typeface="Roboto Condensed"/>
              <a:ea typeface="Roboto Condensed"/>
              <a:cs typeface="Roboto Condensed"/>
              <a:sym typeface="Roboto Condensed"/>
            </a:endParaRPr>
          </a:p>
        </p:txBody>
      </p:sp>
      <p:pic>
        <p:nvPicPr>
          <p:cNvPr id="293" name="Google Shape;293;p48"/>
          <p:cNvPicPr preferRelativeResize="0"/>
          <p:nvPr/>
        </p:nvPicPr>
        <p:blipFill rotWithShape="1">
          <a:blip r:embed="rId3">
            <a:alphaModFix/>
          </a:blip>
          <a:srcRect b="0" l="0" r="0" t="0"/>
          <a:stretch/>
        </p:blipFill>
        <p:spPr>
          <a:xfrm>
            <a:off x="1611394" y="3928753"/>
            <a:ext cx="14392275" cy="7924800"/>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49"/>
          <p:cNvSpPr txBox="1"/>
          <p:nvPr/>
        </p:nvSpPr>
        <p:spPr>
          <a:xfrm>
            <a:off x="1200148" y="571499"/>
            <a:ext cx="15610743" cy="807136"/>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79BF"/>
              </a:buClr>
              <a:buSzPts val="4400"/>
              <a:buFont typeface="Helvetica Neue"/>
              <a:buNone/>
            </a:pPr>
            <a:r>
              <a:rPr b="1" i="0" lang="en-US" sz="6000" u="none" cap="none" strike="noStrike">
                <a:solidFill>
                  <a:srgbClr val="0079BF"/>
                </a:solidFill>
                <a:latin typeface="Roboto Condensed"/>
                <a:ea typeface="Roboto Condensed"/>
                <a:cs typeface="Roboto Condensed"/>
                <a:sym typeface="Roboto Condensed"/>
              </a:rPr>
              <a:t>Fault-Tolerant &amp; OAuth2</a:t>
            </a:r>
            <a:endParaRPr b="1" i="0" sz="6000" u="none" cap="none" strike="noStrike">
              <a:solidFill>
                <a:srgbClr val="4F81BD"/>
              </a:solidFill>
              <a:latin typeface="Roboto Condensed"/>
              <a:ea typeface="Roboto Condensed"/>
              <a:cs typeface="Roboto Condensed"/>
              <a:sym typeface="Roboto Condensed"/>
            </a:endParaRPr>
          </a:p>
        </p:txBody>
      </p:sp>
      <p:sp>
        <p:nvSpPr>
          <p:cNvPr id="299" name="Google Shape;299;p49"/>
          <p:cNvSpPr txBox="1"/>
          <p:nvPr/>
        </p:nvSpPr>
        <p:spPr>
          <a:xfrm>
            <a:off x="1200149" y="1564634"/>
            <a:ext cx="194502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600" u="none" cap="none" strike="noStrike">
                <a:solidFill>
                  <a:srgbClr val="0079BF"/>
                </a:solidFill>
                <a:latin typeface="Roboto Condensed"/>
                <a:ea typeface="Roboto Condensed"/>
                <a:cs typeface="Roboto Condensed"/>
                <a:sym typeface="Roboto Condensed"/>
              </a:rPr>
              <a:t>5</a:t>
            </a:r>
            <a:r>
              <a:rPr b="1" i="0" lang="en-US" sz="3600" u="none" cap="none" strike="noStrike">
                <a:solidFill>
                  <a:srgbClr val="000000"/>
                </a:solidFill>
                <a:latin typeface="Roboto Condensed"/>
                <a:ea typeface="Roboto Condensed"/>
                <a:cs typeface="Roboto Condensed"/>
                <a:sym typeface="Roboto Condensed"/>
              </a:rPr>
              <a:t>. </a:t>
            </a:r>
            <a:r>
              <a:rPr b="1" i="0" lang="en-US" sz="3600" u="none" cap="none" strike="noStrike">
                <a:solidFill>
                  <a:srgbClr val="0070C0"/>
                </a:solidFill>
                <a:latin typeface="Arial"/>
                <a:ea typeface="Arial"/>
                <a:cs typeface="Arial"/>
                <a:sym typeface="Arial"/>
              </a:rPr>
              <a:t>Implement OAuth2 With Springboot Application</a:t>
            </a:r>
            <a:endParaRPr b="1" i="0" sz="3600" u="none" cap="none" strike="noStrike">
              <a:solidFill>
                <a:srgbClr val="0070C0"/>
              </a:solidFill>
              <a:latin typeface="Roboto Condensed"/>
              <a:ea typeface="Roboto Condensed"/>
              <a:cs typeface="Roboto Condensed"/>
              <a:sym typeface="Roboto Condensed"/>
            </a:endParaRPr>
          </a:p>
        </p:txBody>
      </p:sp>
      <p:sp>
        <p:nvSpPr>
          <p:cNvPr id="300" name="Google Shape;300;p49"/>
          <p:cNvSpPr txBox="1"/>
          <p:nvPr/>
        </p:nvSpPr>
        <p:spPr>
          <a:xfrm>
            <a:off x="1464278" y="2382047"/>
            <a:ext cx="16370605" cy="107721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200" u="none" cap="none" strike="noStrike">
                <a:solidFill>
                  <a:schemeClr val="dk1"/>
                </a:solidFill>
                <a:latin typeface="Roboto Condensed"/>
                <a:ea typeface="Roboto Condensed"/>
                <a:cs typeface="Roboto Condensed"/>
                <a:sym typeface="Roboto Condensed"/>
              </a:rPr>
              <a:t>5.1 Setup project auth-service</a:t>
            </a:r>
            <a:endParaRPr b="0" i="0" sz="3200" u="none" cap="none" strike="noStrike">
              <a:solidFill>
                <a:srgbClr val="161616"/>
              </a:solidFill>
              <a:highlight>
                <a:srgbClr val="FFFFFF"/>
              </a:highlight>
              <a:latin typeface="Roboto Condensed"/>
              <a:ea typeface="Roboto Condensed"/>
              <a:cs typeface="Roboto Condensed"/>
              <a:sym typeface="Roboto Condensed"/>
            </a:endParaRPr>
          </a:p>
          <a:p>
            <a:pPr indent="-457200" lvl="0" marL="457200" marR="0" rtl="0" algn="l">
              <a:lnSpc>
                <a:spcPct val="100000"/>
              </a:lnSpc>
              <a:spcBef>
                <a:spcPts val="0"/>
              </a:spcBef>
              <a:spcAft>
                <a:spcPts val="0"/>
              </a:spcAft>
              <a:buClr>
                <a:srgbClr val="000000"/>
              </a:buClr>
              <a:buSzPts val="3200"/>
              <a:buFont typeface="Arial"/>
              <a:buChar char="•"/>
            </a:pPr>
            <a:r>
              <a:rPr b="0" i="0" lang="en-US" sz="3200" u="none" cap="none" strike="noStrike">
                <a:solidFill>
                  <a:srgbClr val="161616"/>
                </a:solidFill>
                <a:highlight>
                  <a:srgbClr val="FFFFFF"/>
                </a:highlight>
                <a:latin typeface="Roboto Condensed"/>
                <a:ea typeface="Roboto Condensed"/>
                <a:cs typeface="Roboto Condensed"/>
                <a:sym typeface="Roboto Condensed"/>
              </a:rPr>
              <a:t>Thêm nội dung provider vào trong file application.yml</a:t>
            </a:r>
            <a:endParaRPr b="0" i="0" sz="3200" u="none" cap="none" strike="noStrike">
              <a:solidFill>
                <a:srgbClr val="161616"/>
              </a:solidFill>
              <a:highlight>
                <a:srgbClr val="FFFFFF"/>
              </a:highlight>
              <a:latin typeface="Roboto Condensed"/>
              <a:ea typeface="Roboto Condensed"/>
              <a:cs typeface="Roboto Condensed"/>
              <a:sym typeface="Roboto Condensed"/>
            </a:endParaRPr>
          </a:p>
        </p:txBody>
      </p:sp>
      <p:pic>
        <p:nvPicPr>
          <p:cNvPr id="301" name="Google Shape;301;p49"/>
          <p:cNvPicPr preferRelativeResize="0"/>
          <p:nvPr/>
        </p:nvPicPr>
        <p:blipFill rotWithShape="1">
          <a:blip r:embed="rId3">
            <a:alphaModFix/>
          </a:blip>
          <a:srcRect b="0" l="0" r="0" t="0"/>
          <a:stretch/>
        </p:blipFill>
        <p:spPr>
          <a:xfrm>
            <a:off x="1557151" y="3705102"/>
            <a:ext cx="17757053" cy="7970136"/>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50"/>
          <p:cNvSpPr txBox="1"/>
          <p:nvPr/>
        </p:nvSpPr>
        <p:spPr>
          <a:xfrm>
            <a:off x="1200148" y="571499"/>
            <a:ext cx="15610743" cy="807136"/>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79BF"/>
              </a:buClr>
              <a:buSzPts val="4400"/>
              <a:buFont typeface="Helvetica Neue"/>
              <a:buNone/>
            </a:pPr>
            <a:r>
              <a:rPr b="1" i="0" lang="en-US" sz="6000" u="none" cap="none" strike="noStrike">
                <a:solidFill>
                  <a:srgbClr val="0079BF"/>
                </a:solidFill>
                <a:latin typeface="Roboto Condensed"/>
                <a:ea typeface="Roboto Condensed"/>
                <a:cs typeface="Roboto Condensed"/>
                <a:sym typeface="Roboto Condensed"/>
              </a:rPr>
              <a:t>Fault-Tolerant &amp; OAuth2</a:t>
            </a:r>
            <a:endParaRPr b="1" i="0" sz="6000" u="none" cap="none" strike="noStrike">
              <a:solidFill>
                <a:srgbClr val="4F81BD"/>
              </a:solidFill>
              <a:latin typeface="Roboto Condensed"/>
              <a:ea typeface="Roboto Condensed"/>
              <a:cs typeface="Roboto Condensed"/>
              <a:sym typeface="Roboto Condensed"/>
            </a:endParaRPr>
          </a:p>
        </p:txBody>
      </p:sp>
      <p:sp>
        <p:nvSpPr>
          <p:cNvPr id="307" name="Google Shape;307;p50"/>
          <p:cNvSpPr txBox="1"/>
          <p:nvPr/>
        </p:nvSpPr>
        <p:spPr>
          <a:xfrm>
            <a:off x="1200149" y="1564634"/>
            <a:ext cx="194502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600" u="none" cap="none" strike="noStrike">
                <a:solidFill>
                  <a:srgbClr val="0079BF"/>
                </a:solidFill>
                <a:latin typeface="Roboto Condensed"/>
                <a:ea typeface="Roboto Condensed"/>
                <a:cs typeface="Roboto Condensed"/>
                <a:sym typeface="Roboto Condensed"/>
              </a:rPr>
              <a:t>5</a:t>
            </a:r>
            <a:r>
              <a:rPr b="1" i="0" lang="en-US" sz="3600" u="none" cap="none" strike="noStrike">
                <a:solidFill>
                  <a:srgbClr val="000000"/>
                </a:solidFill>
                <a:latin typeface="Roboto Condensed"/>
                <a:ea typeface="Roboto Condensed"/>
                <a:cs typeface="Roboto Condensed"/>
                <a:sym typeface="Roboto Condensed"/>
              </a:rPr>
              <a:t>. </a:t>
            </a:r>
            <a:r>
              <a:rPr b="1" i="0" lang="en-US" sz="3600" u="none" cap="none" strike="noStrike">
                <a:solidFill>
                  <a:srgbClr val="0070C0"/>
                </a:solidFill>
                <a:latin typeface="Arial"/>
                <a:ea typeface="Arial"/>
                <a:cs typeface="Arial"/>
                <a:sym typeface="Arial"/>
              </a:rPr>
              <a:t>Implement OAuth2 With Springboot Application</a:t>
            </a:r>
            <a:endParaRPr b="1" i="0" sz="3600" u="none" cap="none" strike="noStrike">
              <a:solidFill>
                <a:srgbClr val="0070C0"/>
              </a:solidFill>
              <a:latin typeface="Roboto Condensed"/>
              <a:ea typeface="Roboto Condensed"/>
              <a:cs typeface="Roboto Condensed"/>
              <a:sym typeface="Roboto Condensed"/>
            </a:endParaRPr>
          </a:p>
        </p:txBody>
      </p:sp>
      <p:sp>
        <p:nvSpPr>
          <p:cNvPr id="308" name="Google Shape;308;p50"/>
          <p:cNvSpPr txBox="1"/>
          <p:nvPr/>
        </p:nvSpPr>
        <p:spPr>
          <a:xfrm>
            <a:off x="1464278" y="2382047"/>
            <a:ext cx="16370605" cy="107721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200" u="none" cap="none" strike="noStrike">
                <a:solidFill>
                  <a:schemeClr val="dk1"/>
                </a:solidFill>
                <a:latin typeface="Roboto Condensed"/>
                <a:ea typeface="Roboto Condensed"/>
                <a:cs typeface="Roboto Condensed"/>
                <a:sym typeface="Roboto Condensed"/>
              </a:rPr>
              <a:t>5.1 Setup project auth-service</a:t>
            </a:r>
            <a:endParaRPr b="0" i="0" sz="3200" u="none" cap="none" strike="noStrike">
              <a:solidFill>
                <a:srgbClr val="161616"/>
              </a:solidFill>
              <a:highlight>
                <a:srgbClr val="FFFFFF"/>
              </a:highlight>
              <a:latin typeface="Roboto Condensed"/>
              <a:ea typeface="Roboto Condensed"/>
              <a:cs typeface="Roboto Condensed"/>
              <a:sym typeface="Roboto Condensed"/>
            </a:endParaRPr>
          </a:p>
          <a:p>
            <a:pPr indent="-457200" lvl="0" marL="457200" marR="0" rtl="0" algn="l">
              <a:lnSpc>
                <a:spcPct val="100000"/>
              </a:lnSpc>
              <a:spcBef>
                <a:spcPts val="0"/>
              </a:spcBef>
              <a:spcAft>
                <a:spcPts val="0"/>
              </a:spcAft>
              <a:buClr>
                <a:srgbClr val="000000"/>
              </a:buClr>
              <a:buSzPts val="3200"/>
              <a:buFont typeface="Arial"/>
              <a:buChar char="•"/>
            </a:pPr>
            <a:r>
              <a:rPr b="0" i="0" lang="en-US" sz="3200" u="none" cap="none" strike="noStrike">
                <a:solidFill>
                  <a:srgbClr val="161616"/>
                </a:solidFill>
                <a:highlight>
                  <a:srgbClr val="FFFFFF"/>
                </a:highlight>
                <a:latin typeface="Roboto Condensed"/>
                <a:ea typeface="Roboto Condensed"/>
                <a:cs typeface="Roboto Condensed"/>
                <a:sym typeface="Roboto Condensed"/>
              </a:rPr>
              <a:t>Thêm nội dung provider vào trong file application.yml</a:t>
            </a:r>
            <a:endParaRPr b="0" i="0" sz="3200" u="none" cap="none" strike="noStrike">
              <a:solidFill>
                <a:srgbClr val="161616"/>
              </a:solidFill>
              <a:highlight>
                <a:srgbClr val="FFFFFF"/>
              </a:highlight>
              <a:latin typeface="Roboto Condensed"/>
              <a:ea typeface="Roboto Condensed"/>
              <a:cs typeface="Roboto Condensed"/>
              <a:sym typeface="Roboto Condensed"/>
            </a:endParaRPr>
          </a:p>
        </p:txBody>
      </p:sp>
      <p:pic>
        <p:nvPicPr>
          <p:cNvPr id="309" name="Google Shape;309;p50"/>
          <p:cNvPicPr preferRelativeResize="0"/>
          <p:nvPr/>
        </p:nvPicPr>
        <p:blipFill rotWithShape="1">
          <a:blip r:embed="rId3">
            <a:alphaModFix/>
          </a:blip>
          <a:srcRect b="0" l="0" r="0" t="0"/>
          <a:stretch/>
        </p:blipFill>
        <p:spPr>
          <a:xfrm>
            <a:off x="1643742" y="4088266"/>
            <a:ext cx="20252035" cy="6267017"/>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p51"/>
          <p:cNvSpPr txBox="1"/>
          <p:nvPr/>
        </p:nvSpPr>
        <p:spPr>
          <a:xfrm>
            <a:off x="1200148" y="571499"/>
            <a:ext cx="15610743" cy="807136"/>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79BF"/>
              </a:buClr>
              <a:buSzPts val="4400"/>
              <a:buFont typeface="Helvetica Neue"/>
              <a:buNone/>
            </a:pPr>
            <a:r>
              <a:rPr b="1" i="0" lang="en-US" sz="6000" u="none" cap="none" strike="noStrike">
                <a:solidFill>
                  <a:srgbClr val="0079BF"/>
                </a:solidFill>
                <a:latin typeface="Roboto Condensed"/>
                <a:ea typeface="Roboto Condensed"/>
                <a:cs typeface="Roboto Condensed"/>
                <a:sym typeface="Roboto Condensed"/>
              </a:rPr>
              <a:t>Fault-Tolerant &amp; OAuth2</a:t>
            </a:r>
            <a:endParaRPr b="1" i="0" sz="6000" u="none" cap="none" strike="noStrike">
              <a:solidFill>
                <a:srgbClr val="4F81BD"/>
              </a:solidFill>
              <a:latin typeface="Roboto Condensed"/>
              <a:ea typeface="Roboto Condensed"/>
              <a:cs typeface="Roboto Condensed"/>
              <a:sym typeface="Roboto Condensed"/>
            </a:endParaRPr>
          </a:p>
        </p:txBody>
      </p:sp>
      <p:sp>
        <p:nvSpPr>
          <p:cNvPr id="315" name="Google Shape;315;p51"/>
          <p:cNvSpPr txBox="1"/>
          <p:nvPr/>
        </p:nvSpPr>
        <p:spPr>
          <a:xfrm>
            <a:off x="1200149" y="1564634"/>
            <a:ext cx="194502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600" u="none" cap="none" strike="noStrike">
                <a:solidFill>
                  <a:srgbClr val="0079BF"/>
                </a:solidFill>
                <a:latin typeface="Roboto Condensed"/>
                <a:ea typeface="Roboto Condensed"/>
                <a:cs typeface="Roboto Condensed"/>
                <a:sym typeface="Roboto Condensed"/>
              </a:rPr>
              <a:t>5</a:t>
            </a:r>
            <a:r>
              <a:rPr b="1" i="0" lang="en-US" sz="3600" u="none" cap="none" strike="noStrike">
                <a:solidFill>
                  <a:srgbClr val="000000"/>
                </a:solidFill>
                <a:latin typeface="Roboto Condensed"/>
                <a:ea typeface="Roboto Condensed"/>
                <a:cs typeface="Roboto Condensed"/>
                <a:sym typeface="Roboto Condensed"/>
              </a:rPr>
              <a:t>. </a:t>
            </a:r>
            <a:r>
              <a:rPr b="1" i="0" lang="en-US" sz="3600" u="none" cap="none" strike="noStrike">
                <a:solidFill>
                  <a:srgbClr val="0070C0"/>
                </a:solidFill>
                <a:latin typeface="Arial"/>
                <a:ea typeface="Arial"/>
                <a:cs typeface="Arial"/>
                <a:sym typeface="Arial"/>
              </a:rPr>
              <a:t>Implement OAuth2 With Springboot Application</a:t>
            </a:r>
            <a:endParaRPr b="1" i="0" sz="3600" u="none" cap="none" strike="noStrike">
              <a:solidFill>
                <a:srgbClr val="0070C0"/>
              </a:solidFill>
              <a:latin typeface="Roboto Condensed"/>
              <a:ea typeface="Roboto Condensed"/>
              <a:cs typeface="Roboto Condensed"/>
              <a:sym typeface="Roboto Condensed"/>
            </a:endParaRPr>
          </a:p>
        </p:txBody>
      </p:sp>
      <p:sp>
        <p:nvSpPr>
          <p:cNvPr id="316" name="Google Shape;316;p51"/>
          <p:cNvSpPr txBox="1"/>
          <p:nvPr/>
        </p:nvSpPr>
        <p:spPr>
          <a:xfrm>
            <a:off x="1464278" y="2382047"/>
            <a:ext cx="16370700" cy="1569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200" u="none" cap="none" strike="noStrike">
                <a:solidFill>
                  <a:schemeClr val="dk1"/>
                </a:solidFill>
                <a:latin typeface="Roboto Condensed"/>
                <a:ea typeface="Roboto Condensed"/>
                <a:cs typeface="Roboto Condensed"/>
                <a:sym typeface="Roboto Condensed"/>
              </a:rPr>
              <a:t>5.2 Setup tài khoản github để sử dụng đăng nhập </a:t>
            </a:r>
            <a:r>
              <a:rPr b="1" lang="en-US" sz="3200">
                <a:solidFill>
                  <a:schemeClr val="dk1"/>
                </a:solidFill>
                <a:latin typeface="Roboto Condensed"/>
                <a:ea typeface="Roboto Condensed"/>
                <a:cs typeface="Roboto Condensed"/>
                <a:sym typeface="Roboto Condensed"/>
              </a:rPr>
              <a:t>bằng</a:t>
            </a:r>
            <a:r>
              <a:rPr b="1" i="0" lang="en-US" sz="3200" u="none" cap="none" strike="noStrike">
                <a:solidFill>
                  <a:schemeClr val="dk1"/>
                </a:solidFill>
                <a:latin typeface="Roboto Condensed"/>
                <a:ea typeface="Roboto Condensed"/>
                <a:cs typeface="Roboto Condensed"/>
                <a:sym typeface="Roboto Condensed"/>
              </a:rPr>
              <a:t> OAuth2</a:t>
            </a:r>
            <a:endParaRPr b="0" i="0" sz="3200" u="none" cap="none" strike="noStrike">
              <a:solidFill>
                <a:srgbClr val="161616"/>
              </a:solidFill>
              <a:highlight>
                <a:srgbClr val="FFFFFF"/>
              </a:highlight>
              <a:latin typeface="Roboto Condensed"/>
              <a:ea typeface="Roboto Condensed"/>
              <a:cs typeface="Roboto Condensed"/>
              <a:sym typeface="Roboto Condensed"/>
            </a:endParaRPr>
          </a:p>
          <a:p>
            <a:pPr indent="-457200" lvl="0" marL="457200" marR="0" rtl="0" algn="l">
              <a:lnSpc>
                <a:spcPct val="100000"/>
              </a:lnSpc>
              <a:spcBef>
                <a:spcPts val="0"/>
              </a:spcBef>
              <a:spcAft>
                <a:spcPts val="0"/>
              </a:spcAft>
              <a:buClr>
                <a:srgbClr val="000000"/>
              </a:buClr>
              <a:buSzPts val="3200"/>
              <a:buFont typeface="Arial"/>
              <a:buChar char="•"/>
            </a:pPr>
            <a:r>
              <a:rPr b="0" i="0" lang="en-US" sz="3200" u="none" cap="none" strike="noStrike">
                <a:solidFill>
                  <a:srgbClr val="161616"/>
                </a:solidFill>
                <a:highlight>
                  <a:srgbClr val="FFFFFF"/>
                </a:highlight>
                <a:latin typeface="Roboto Condensed"/>
                <a:ea typeface="Roboto Condensed"/>
                <a:cs typeface="Roboto Condensed"/>
                <a:sym typeface="Roboto Condensed"/>
              </a:rPr>
              <a:t>Vào account settings (click avatar góc trên bên phải) rồi vào development settings chọn Oauth Apps click New Github App</a:t>
            </a:r>
            <a:endParaRPr b="0" i="0" sz="3200" u="none" cap="none" strike="noStrike">
              <a:solidFill>
                <a:srgbClr val="161616"/>
              </a:solidFill>
              <a:highlight>
                <a:srgbClr val="FFFFFF"/>
              </a:highlight>
              <a:latin typeface="Roboto Condensed"/>
              <a:ea typeface="Roboto Condensed"/>
              <a:cs typeface="Roboto Condensed"/>
              <a:sym typeface="Roboto Condensed"/>
            </a:endParaRPr>
          </a:p>
        </p:txBody>
      </p:sp>
      <p:pic>
        <p:nvPicPr>
          <p:cNvPr id="317" name="Google Shape;317;p51"/>
          <p:cNvPicPr preferRelativeResize="0"/>
          <p:nvPr/>
        </p:nvPicPr>
        <p:blipFill rotWithShape="1">
          <a:blip r:embed="rId3">
            <a:alphaModFix/>
          </a:blip>
          <a:srcRect b="0" l="0" r="0" t="0"/>
          <a:stretch/>
        </p:blipFill>
        <p:spPr>
          <a:xfrm>
            <a:off x="1559280" y="4127355"/>
            <a:ext cx="19785551" cy="5717289"/>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p52"/>
          <p:cNvSpPr txBox="1"/>
          <p:nvPr/>
        </p:nvSpPr>
        <p:spPr>
          <a:xfrm>
            <a:off x="1200148" y="571499"/>
            <a:ext cx="15610743" cy="807136"/>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79BF"/>
              </a:buClr>
              <a:buSzPts val="4400"/>
              <a:buFont typeface="Helvetica Neue"/>
              <a:buNone/>
            </a:pPr>
            <a:r>
              <a:rPr b="1" i="0" lang="en-US" sz="6000" u="none" cap="none" strike="noStrike">
                <a:solidFill>
                  <a:srgbClr val="0079BF"/>
                </a:solidFill>
                <a:latin typeface="Roboto Condensed"/>
                <a:ea typeface="Roboto Condensed"/>
                <a:cs typeface="Roboto Condensed"/>
                <a:sym typeface="Roboto Condensed"/>
              </a:rPr>
              <a:t>Fault-Tolerant &amp; OAuth2</a:t>
            </a:r>
            <a:endParaRPr b="1" i="0" sz="6000" u="none" cap="none" strike="noStrike">
              <a:solidFill>
                <a:srgbClr val="4F81BD"/>
              </a:solidFill>
              <a:latin typeface="Roboto Condensed"/>
              <a:ea typeface="Roboto Condensed"/>
              <a:cs typeface="Roboto Condensed"/>
              <a:sym typeface="Roboto Condensed"/>
            </a:endParaRPr>
          </a:p>
        </p:txBody>
      </p:sp>
      <p:sp>
        <p:nvSpPr>
          <p:cNvPr id="323" name="Google Shape;323;p52"/>
          <p:cNvSpPr txBox="1"/>
          <p:nvPr/>
        </p:nvSpPr>
        <p:spPr>
          <a:xfrm>
            <a:off x="1200149" y="1564634"/>
            <a:ext cx="194502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600" u="none" cap="none" strike="noStrike">
                <a:solidFill>
                  <a:srgbClr val="0079BF"/>
                </a:solidFill>
                <a:latin typeface="Roboto Condensed"/>
                <a:ea typeface="Roboto Condensed"/>
                <a:cs typeface="Roboto Condensed"/>
                <a:sym typeface="Roboto Condensed"/>
              </a:rPr>
              <a:t>5</a:t>
            </a:r>
            <a:r>
              <a:rPr b="1" i="0" lang="en-US" sz="3600" u="none" cap="none" strike="noStrike">
                <a:solidFill>
                  <a:srgbClr val="000000"/>
                </a:solidFill>
                <a:latin typeface="Roboto Condensed"/>
                <a:ea typeface="Roboto Condensed"/>
                <a:cs typeface="Roboto Condensed"/>
                <a:sym typeface="Roboto Condensed"/>
              </a:rPr>
              <a:t>. </a:t>
            </a:r>
            <a:r>
              <a:rPr b="1" i="0" lang="en-US" sz="3600" u="none" cap="none" strike="noStrike">
                <a:solidFill>
                  <a:srgbClr val="0070C0"/>
                </a:solidFill>
                <a:latin typeface="Arial"/>
                <a:ea typeface="Arial"/>
                <a:cs typeface="Arial"/>
                <a:sym typeface="Arial"/>
              </a:rPr>
              <a:t>Implement OAuth2 With Springboot Application</a:t>
            </a:r>
            <a:endParaRPr b="1" i="0" sz="3600" u="none" cap="none" strike="noStrike">
              <a:solidFill>
                <a:srgbClr val="0070C0"/>
              </a:solidFill>
              <a:latin typeface="Roboto Condensed"/>
              <a:ea typeface="Roboto Condensed"/>
              <a:cs typeface="Roboto Condensed"/>
              <a:sym typeface="Roboto Condensed"/>
            </a:endParaRPr>
          </a:p>
        </p:txBody>
      </p:sp>
      <p:sp>
        <p:nvSpPr>
          <p:cNvPr id="324" name="Google Shape;324;p52"/>
          <p:cNvSpPr txBox="1"/>
          <p:nvPr/>
        </p:nvSpPr>
        <p:spPr>
          <a:xfrm>
            <a:off x="1464278" y="2382047"/>
            <a:ext cx="16370605" cy="107721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200" u="none" cap="none" strike="noStrike">
                <a:solidFill>
                  <a:schemeClr val="dk1"/>
                </a:solidFill>
                <a:latin typeface="Roboto Condensed"/>
                <a:ea typeface="Roboto Condensed"/>
                <a:cs typeface="Roboto Condensed"/>
                <a:sym typeface="Roboto Condensed"/>
              </a:rPr>
              <a:t>5.2 Setup tài khoản github để sử dụng đăng nhập </a:t>
            </a:r>
            <a:r>
              <a:rPr b="1" lang="en-US" sz="3200">
                <a:solidFill>
                  <a:schemeClr val="dk1"/>
                </a:solidFill>
                <a:latin typeface="Roboto Condensed"/>
                <a:ea typeface="Roboto Condensed"/>
                <a:cs typeface="Roboto Condensed"/>
                <a:sym typeface="Roboto Condensed"/>
              </a:rPr>
              <a:t>bằng</a:t>
            </a:r>
            <a:r>
              <a:rPr b="1" i="0" lang="en-US" sz="3200" u="none" cap="none" strike="noStrike">
                <a:solidFill>
                  <a:schemeClr val="dk1"/>
                </a:solidFill>
                <a:latin typeface="Roboto Condensed"/>
                <a:ea typeface="Roboto Condensed"/>
                <a:cs typeface="Roboto Condensed"/>
                <a:sym typeface="Roboto Condensed"/>
              </a:rPr>
              <a:t> OAuth2</a:t>
            </a:r>
            <a:endParaRPr b="0" i="0" sz="3200" u="none" cap="none" strike="noStrike">
              <a:solidFill>
                <a:srgbClr val="161616"/>
              </a:solidFill>
              <a:highlight>
                <a:srgbClr val="FFFFFF"/>
              </a:highlight>
              <a:latin typeface="Roboto Condensed"/>
              <a:ea typeface="Roboto Condensed"/>
              <a:cs typeface="Roboto Condensed"/>
              <a:sym typeface="Roboto Condensed"/>
            </a:endParaRPr>
          </a:p>
          <a:p>
            <a:pPr indent="-457200" lvl="0" marL="457200" marR="0" rtl="0" algn="l">
              <a:lnSpc>
                <a:spcPct val="100000"/>
              </a:lnSpc>
              <a:spcBef>
                <a:spcPts val="0"/>
              </a:spcBef>
              <a:spcAft>
                <a:spcPts val="0"/>
              </a:spcAft>
              <a:buClr>
                <a:srgbClr val="000000"/>
              </a:buClr>
              <a:buSzPts val="3200"/>
              <a:buFont typeface="Arial"/>
              <a:buChar char="•"/>
            </a:pPr>
            <a:r>
              <a:rPr b="0" i="0" lang="en-US" sz="3200" u="none" cap="none" strike="noStrike">
                <a:solidFill>
                  <a:srgbClr val="161616"/>
                </a:solidFill>
                <a:highlight>
                  <a:srgbClr val="FFFFFF"/>
                </a:highlight>
                <a:latin typeface="Roboto Condensed"/>
                <a:ea typeface="Roboto Condensed"/>
                <a:cs typeface="Roboto Condensed"/>
                <a:sym typeface="Roboto Condensed"/>
              </a:rPr>
              <a:t>Điền các thông tin để tạo tài khoản sau đó bấm Register application</a:t>
            </a:r>
            <a:endParaRPr b="0" i="0" sz="3200" u="none" cap="none" strike="noStrike">
              <a:solidFill>
                <a:srgbClr val="161616"/>
              </a:solidFill>
              <a:highlight>
                <a:srgbClr val="FFFFFF"/>
              </a:highlight>
              <a:latin typeface="Roboto Condensed"/>
              <a:ea typeface="Roboto Condensed"/>
              <a:cs typeface="Roboto Condensed"/>
              <a:sym typeface="Roboto Condensed"/>
            </a:endParaRPr>
          </a:p>
        </p:txBody>
      </p:sp>
      <p:pic>
        <p:nvPicPr>
          <p:cNvPr id="325" name="Google Shape;325;p52"/>
          <p:cNvPicPr preferRelativeResize="0"/>
          <p:nvPr/>
        </p:nvPicPr>
        <p:blipFill rotWithShape="1">
          <a:blip r:embed="rId3">
            <a:alphaModFix/>
          </a:blip>
          <a:srcRect b="0" l="0" r="0" t="0"/>
          <a:stretch/>
        </p:blipFill>
        <p:spPr>
          <a:xfrm>
            <a:off x="5517693" y="3788226"/>
            <a:ext cx="8030202" cy="8260904"/>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sp>
        <p:nvSpPr>
          <p:cNvPr id="330" name="Google Shape;330;p53"/>
          <p:cNvSpPr txBox="1"/>
          <p:nvPr/>
        </p:nvSpPr>
        <p:spPr>
          <a:xfrm>
            <a:off x="1200148" y="571499"/>
            <a:ext cx="15610743" cy="807136"/>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79BF"/>
              </a:buClr>
              <a:buSzPts val="4400"/>
              <a:buFont typeface="Helvetica Neue"/>
              <a:buNone/>
            </a:pPr>
            <a:r>
              <a:rPr b="1" i="0" lang="en-US" sz="6000" u="none" cap="none" strike="noStrike">
                <a:solidFill>
                  <a:srgbClr val="0079BF"/>
                </a:solidFill>
                <a:latin typeface="Roboto Condensed"/>
                <a:ea typeface="Roboto Condensed"/>
                <a:cs typeface="Roboto Condensed"/>
                <a:sym typeface="Roboto Condensed"/>
              </a:rPr>
              <a:t>Fault-Tolerant &amp; OAuth2</a:t>
            </a:r>
            <a:endParaRPr b="1" i="0" sz="6000" u="none" cap="none" strike="noStrike">
              <a:solidFill>
                <a:srgbClr val="4F81BD"/>
              </a:solidFill>
              <a:latin typeface="Roboto Condensed"/>
              <a:ea typeface="Roboto Condensed"/>
              <a:cs typeface="Roboto Condensed"/>
              <a:sym typeface="Roboto Condensed"/>
            </a:endParaRPr>
          </a:p>
        </p:txBody>
      </p:sp>
      <p:sp>
        <p:nvSpPr>
          <p:cNvPr id="331" name="Google Shape;331;p53"/>
          <p:cNvSpPr txBox="1"/>
          <p:nvPr/>
        </p:nvSpPr>
        <p:spPr>
          <a:xfrm>
            <a:off x="1200149" y="1564634"/>
            <a:ext cx="194502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600" u="none" cap="none" strike="noStrike">
                <a:solidFill>
                  <a:srgbClr val="0079BF"/>
                </a:solidFill>
                <a:latin typeface="Roboto Condensed"/>
                <a:ea typeface="Roboto Condensed"/>
                <a:cs typeface="Roboto Condensed"/>
                <a:sym typeface="Roboto Condensed"/>
              </a:rPr>
              <a:t>5</a:t>
            </a:r>
            <a:r>
              <a:rPr b="1" i="0" lang="en-US" sz="3600" u="none" cap="none" strike="noStrike">
                <a:solidFill>
                  <a:srgbClr val="000000"/>
                </a:solidFill>
                <a:latin typeface="Roboto Condensed"/>
                <a:ea typeface="Roboto Condensed"/>
                <a:cs typeface="Roboto Condensed"/>
                <a:sym typeface="Roboto Condensed"/>
              </a:rPr>
              <a:t>. </a:t>
            </a:r>
            <a:r>
              <a:rPr b="1" i="0" lang="en-US" sz="3600" u="none" cap="none" strike="noStrike">
                <a:solidFill>
                  <a:srgbClr val="0070C0"/>
                </a:solidFill>
                <a:latin typeface="Arial"/>
                <a:ea typeface="Arial"/>
                <a:cs typeface="Arial"/>
                <a:sym typeface="Arial"/>
              </a:rPr>
              <a:t>Implement OAuth2 With Springboot Application</a:t>
            </a:r>
            <a:endParaRPr b="1" i="0" sz="3600" u="none" cap="none" strike="noStrike">
              <a:solidFill>
                <a:srgbClr val="0070C0"/>
              </a:solidFill>
              <a:latin typeface="Roboto Condensed"/>
              <a:ea typeface="Roboto Condensed"/>
              <a:cs typeface="Roboto Condensed"/>
              <a:sym typeface="Roboto Condensed"/>
            </a:endParaRPr>
          </a:p>
        </p:txBody>
      </p:sp>
      <p:sp>
        <p:nvSpPr>
          <p:cNvPr id="332" name="Google Shape;332;p53"/>
          <p:cNvSpPr txBox="1"/>
          <p:nvPr/>
        </p:nvSpPr>
        <p:spPr>
          <a:xfrm>
            <a:off x="1464278" y="2382047"/>
            <a:ext cx="16370605" cy="107721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200" u="none" cap="none" strike="noStrike">
                <a:solidFill>
                  <a:schemeClr val="dk1"/>
                </a:solidFill>
                <a:latin typeface="Roboto Condensed"/>
                <a:ea typeface="Roboto Condensed"/>
                <a:cs typeface="Roboto Condensed"/>
                <a:sym typeface="Roboto Condensed"/>
              </a:rPr>
              <a:t>5.3 Setup Frontend Project với reactjs</a:t>
            </a:r>
            <a:endParaRPr b="0" i="0" sz="3200" u="none" cap="none" strike="noStrike">
              <a:solidFill>
                <a:srgbClr val="161616"/>
              </a:solidFill>
              <a:highlight>
                <a:srgbClr val="FFFFFF"/>
              </a:highlight>
              <a:latin typeface="Roboto Condensed"/>
              <a:ea typeface="Roboto Condensed"/>
              <a:cs typeface="Roboto Condensed"/>
              <a:sym typeface="Roboto Condensed"/>
            </a:endParaRPr>
          </a:p>
          <a:p>
            <a:pPr indent="-457200" lvl="0" marL="457200" marR="0" rtl="0" algn="l">
              <a:lnSpc>
                <a:spcPct val="100000"/>
              </a:lnSpc>
              <a:spcBef>
                <a:spcPts val="0"/>
              </a:spcBef>
              <a:spcAft>
                <a:spcPts val="0"/>
              </a:spcAft>
              <a:buClr>
                <a:srgbClr val="000000"/>
              </a:buClr>
              <a:buSzPts val="3200"/>
              <a:buFont typeface="Arial"/>
              <a:buChar char="•"/>
            </a:pPr>
            <a:r>
              <a:rPr b="0" i="0" lang="en-US" sz="3200" u="none" cap="none" strike="noStrike">
                <a:solidFill>
                  <a:srgbClr val="161616"/>
                </a:solidFill>
                <a:highlight>
                  <a:srgbClr val="FFFFFF"/>
                </a:highlight>
                <a:latin typeface="Roboto Condensed"/>
                <a:ea typeface="Roboto Condensed"/>
                <a:cs typeface="Roboto Condensed"/>
                <a:sym typeface="Roboto Condensed"/>
              </a:rPr>
              <a:t>Kiểm tra giá trị các hằng số trong file index.js của thử mục constants</a:t>
            </a:r>
            <a:endParaRPr b="0" i="0" sz="3200" u="none" cap="none" strike="noStrike">
              <a:solidFill>
                <a:srgbClr val="161616"/>
              </a:solidFill>
              <a:highlight>
                <a:srgbClr val="FFFFFF"/>
              </a:highlight>
              <a:latin typeface="Roboto Condensed"/>
              <a:ea typeface="Roboto Condensed"/>
              <a:cs typeface="Roboto Condensed"/>
              <a:sym typeface="Roboto Condensed"/>
            </a:endParaRPr>
          </a:p>
        </p:txBody>
      </p:sp>
      <p:pic>
        <p:nvPicPr>
          <p:cNvPr id="333" name="Google Shape;333;p53"/>
          <p:cNvPicPr preferRelativeResize="0"/>
          <p:nvPr/>
        </p:nvPicPr>
        <p:blipFill rotWithShape="1">
          <a:blip r:embed="rId3">
            <a:alphaModFix/>
          </a:blip>
          <a:srcRect b="0" l="0" r="0" t="0"/>
          <a:stretch/>
        </p:blipFill>
        <p:spPr>
          <a:xfrm>
            <a:off x="1588572" y="4298929"/>
            <a:ext cx="19164300" cy="6353175"/>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54"/>
          <p:cNvSpPr txBox="1"/>
          <p:nvPr/>
        </p:nvSpPr>
        <p:spPr>
          <a:xfrm>
            <a:off x="1200148" y="571499"/>
            <a:ext cx="15610743" cy="807136"/>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79BF"/>
              </a:buClr>
              <a:buSzPts val="4400"/>
              <a:buFont typeface="Helvetica Neue"/>
              <a:buNone/>
            </a:pPr>
            <a:r>
              <a:rPr b="1" i="0" lang="en-US" sz="6000" u="none" cap="none" strike="noStrike">
                <a:solidFill>
                  <a:srgbClr val="0079BF"/>
                </a:solidFill>
                <a:latin typeface="Roboto Condensed"/>
                <a:ea typeface="Roboto Condensed"/>
                <a:cs typeface="Roboto Condensed"/>
                <a:sym typeface="Roboto Condensed"/>
              </a:rPr>
              <a:t>Fault-Tolerant &amp; OAuth2</a:t>
            </a:r>
            <a:endParaRPr b="1" i="0" sz="6000" u="none" cap="none" strike="noStrike">
              <a:solidFill>
                <a:srgbClr val="4F81BD"/>
              </a:solidFill>
              <a:latin typeface="Roboto Condensed"/>
              <a:ea typeface="Roboto Condensed"/>
              <a:cs typeface="Roboto Condensed"/>
              <a:sym typeface="Roboto Condensed"/>
            </a:endParaRPr>
          </a:p>
        </p:txBody>
      </p:sp>
      <p:sp>
        <p:nvSpPr>
          <p:cNvPr id="339" name="Google Shape;339;p54"/>
          <p:cNvSpPr txBox="1"/>
          <p:nvPr/>
        </p:nvSpPr>
        <p:spPr>
          <a:xfrm>
            <a:off x="1200149" y="1564634"/>
            <a:ext cx="194502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600" u="none" cap="none" strike="noStrike">
                <a:solidFill>
                  <a:srgbClr val="0079BF"/>
                </a:solidFill>
                <a:latin typeface="Roboto Condensed"/>
                <a:ea typeface="Roboto Condensed"/>
                <a:cs typeface="Roboto Condensed"/>
                <a:sym typeface="Roboto Condensed"/>
              </a:rPr>
              <a:t>5</a:t>
            </a:r>
            <a:r>
              <a:rPr b="1" i="0" lang="en-US" sz="3600" u="none" cap="none" strike="noStrike">
                <a:solidFill>
                  <a:srgbClr val="000000"/>
                </a:solidFill>
                <a:latin typeface="Roboto Condensed"/>
                <a:ea typeface="Roboto Condensed"/>
                <a:cs typeface="Roboto Condensed"/>
                <a:sym typeface="Roboto Condensed"/>
              </a:rPr>
              <a:t>. </a:t>
            </a:r>
            <a:r>
              <a:rPr b="1" i="0" lang="en-US" sz="3600" u="none" cap="none" strike="noStrike">
                <a:solidFill>
                  <a:srgbClr val="0070C0"/>
                </a:solidFill>
                <a:latin typeface="Arial"/>
                <a:ea typeface="Arial"/>
                <a:cs typeface="Arial"/>
                <a:sym typeface="Arial"/>
              </a:rPr>
              <a:t>Implement OAuth2 With Springboot Application</a:t>
            </a:r>
            <a:endParaRPr b="1" i="0" sz="3600" u="none" cap="none" strike="noStrike">
              <a:solidFill>
                <a:srgbClr val="0070C0"/>
              </a:solidFill>
              <a:latin typeface="Roboto Condensed"/>
              <a:ea typeface="Roboto Condensed"/>
              <a:cs typeface="Roboto Condensed"/>
              <a:sym typeface="Roboto Condensed"/>
            </a:endParaRPr>
          </a:p>
        </p:txBody>
      </p:sp>
      <p:sp>
        <p:nvSpPr>
          <p:cNvPr id="340" name="Google Shape;340;p54"/>
          <p:cNvSpPr txBox="1"/>
          <p:nvPr/>
        </p:nvSpPr>
        <p:spPr>
          <a:xfrm>
            <a:off x="1464278" y="2382047"/>
            <a:ext cx="16370605" cy="15696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200" u="none" cap="none" strike="noStrike">
                <a:solidFill>
                  <a:schemeClr val="dk1"/>
                </a:solidFill>
                <a:latin typeface="Roboto Condensed"/>
                <a:ea typeface="Roboto Condensed"/>
                <a:cs typeface="Roboto Condensed"/>
                <a:sym typeface="Roboto Condensed"/>
              </a:rPr>
              <a:t>5.3 Setup Frontend Project với reactjs</a:t>
            </a:r>
            <a:endParaRPr b="0" i="0" sz="3200" u="none" cap="none" strike="noStrike">
              <a:solidFill>
                <a:srgbClr val="161616"/>
              </a:solidFill>
              <a:highlight>
                <a:srgbClr val="FFFFFF"/>
              </a:highlight>
              <a:latin typeface="Roboto Condensed"/>
              <a:ea typeface="Roboto Condensed"/>
              <a:cs typeface="Roboto Condensed"/>
              <a:sym typeface="Roboto Condensed"/>
            </a:endParaRPr>
          </a:p>
          <a:p>
            <a:pPr indent="-457200" lvl="0" marL="457200" marR="0" rtl="0" algn="l">
              <a:lnSpc>
                <a:spcPct val="100000"/>
              </a:lnSpc>
              <a:spcBef>
                <a:spcPts val="0"/>
              </a:spcBef>
              <a:spcAft>
                <a:spcPts val="0"/>
              </a:spcAft>
              <a:buClr>
                <a:srgbClr val="000000"/>
              </a:buClr>
              <a:buSzPts val="3200"/>
              <a:buFont typeface="Arial"/>
              <a:buChar char="•"/>
            </a:pPr>
            <a:r>
              <a:rPr b="0" i="0" lang="en-US" sz="3200" u="none" cap="none" strike="noStrike">
                <a:solidFill>
                  <a:srgbClr val="161616"/>
                </a:solidFill>
                <a:highlight>
                  <a:srgbClr val="FFFFFF"/>
                </a:highlight>
                <a:latin typeface="Roboto Condensed"/>
                <a:ea typeface="Roboto Condensed"/>
                <a:cs typeface="Roboto Condensed"/>
                <a:sym typeface="Roboto Condensed"/>
              </a:rPr>
              <a:t>Run project lên và bấm vào log in with Github nhập các thông tin ở các bước tiếp theo do github cung cấp</a:t>
            </a:r>
            <a:endParaRPr b="0" i="0" sz="3200" u="none" cap="none" strike="noStrike">
              <a:solidFill>
                <a:srgbClr val="161616"/>
              </a:solidFill>
              <a:highlight>
                <a:srgbClr val="FFFFFF"/>
              </a:highlight>
              <a:latin typeface="Roboto Condensed"/>
              <a:ea typeface="Roboto Condensed"/>
              <a:cs typeface="Roboto Condensed"/>
              <a:sym typeface="Roboto Condensed"/>
            </a:endParaRPr>
          </a:p>
        </p:txBody>
      </p:sp>
      <p:pic>
        <p:nvPicPr>
          <p:cNvPr id="341" name="Google Shape;341;p54"/>
          <p:cNvPicPr preferRelativeResize="0"/>
          <p:nvPr/>
        </p:nvPicPr>
        <p:blipFill rotWithShape="1">
          <a:blip r:embed="rId3">
            <a:alphaModFix/>
          </a:blip>
          <a:srcRect b="0" l="0" r="0" t="0"/>
          <a:stretch/>
        </p:blipFill>
        <p:spPr>
          <a:xfrm>
            <a:off x="1625125" y="4378655"/>
            <a:ext cx="12963525" cy="7143750"/>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sp>
        <p:nvSpPr>
          <p:cNvPr id="346" name="Google Shape;346;p55"/>
          <p:cNvSpPr txBox="1"/>
          <p:nvPr/>
        </p:nvSpPr>
        <p:spPr>
          <a:xfrm>
            <a:off x="1200148" y="571499"/>
            <a:ext cx="15610743" cy="807136"/>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79BF"/>
              </a:buClr>
              <a:buSzPts val="4400"/>
              <a:buFont typeface="Helvetica Neue"/>
              <a:buNone/>
            </a:pPr>
            <a:r>
              <a:rPr b="1" i="0" lang="en-US" sz="6000" u="none" cap="none" strike="noStrike">
                <a:solidFill>
                  <a:srgbClr val="0079BF"/>
                </a:solidFill>
                <a:latin typeface="Roboto Condensed"/>
                <a:ea typeface="Roboto Condensed"/>
                <a:cs typeface="Roboto Condensed"/>
                <a:sym typeface="Roboto Condensed"/>
              </a:rPr>
              <a:t>Fault-Tolerant &amp; OAuth2</a:t>
            </a:r>
            <a:endParaRPr b="1" i="0" sz="6000" u="none" cap="none" strike="noStrike">
              <a:solidFill>
                <a:srgbClr val="4F81BD"/>
              </a:solidFill>
              <a:latin typeface="Roboto Condensed"/>
              <a:ea typeface="Roboto Condensed"/>
              <a:cs typeface="Roboto Condensed"/>
              <a:sym typeface="Roboto Condensed"/>
            </a:endParaRPr>
          </a:p>
        </p:txBody>
      </p:sp>
      <p:sp>
        <p:nvSpPr>
          <p:cNvPr id="347" name="Google Shape;347;p55"/>
          <p:cNvSpPr txBox="1"/>
          <p:nvPr/>
        </p:nvSpPr>
        <p:spPr>
          <a:xfrm>
            <a:off x="1200149" y="1564634"/>
            <a:ext cx="194502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600" u="none" cap="none" strike="noStrike">
                <a:solidFill>
                  <a:srgbClr val="0079BF"/>
                </a:solidFill>
                <a:latin typeface="Roboto Condensed"/>
                <a:ea typeface="Roboto Condensed"/>
                <a:cs typeface="Roboto Condensed"/>
                <a:sym typeface="Roboto Condensed"/>
              </a:rPr>
              <a:t>5</a:t>
            </a:r>
            <a:r>
              <a:rPr b="1" i="0" lang="en-US" sz="3600" u="none" cap="none" strike="noStrike">
                <a:solidFill>
                  <a:srgbClr val="000000"/>
                </a:solidFill>
                <a:latin typeface="Roboto Condensed"/>
                <a:ea typeface="Roboto Condensed"/>
                <a:cs typeface="Roboto Condensed"/>
                <a:sym typeface="Roboto Condensed"/>
              </a:rPr>
              <a:t>. </a:t>
            </a:r>
            <a:r>
              <a:rPr b="1" i="0" lang="en-US" sz="3600" u="none" cap="none" strike="noStrike">
                <a:solidFill>
                  <a:srgbClr val="0070C0"/>
                </a:solidFill>
                <a:latin typeface="Arial"/>
                <a:ea typeface="Arial"/>
                <a:cs typeface="Arial"/>
                <a:sym typeface="Arial"/>
              </a:rPr>
              <a:t>Implement OAuth2 With Springboot Application</a:t>
            </a:r>
            <a:endParaRPr b="1" i="0" sz="3600" u="none" cap="none" strike="noStrike">
              <a:solidFill>
                <a:srgbClr val="0070C0"/>
              </a:solidFill>
              <a:latin typeface="Roboto Condensed"/>
              <a:ea typeface="Roboto Condensed"/>
              <a:cs typeface="Roboto Condensed"/>
              <a:sym typeface="Roboto Condensed"/>
            </a:endParaRPr>
          </a:p>
        </p:txBody>
      </p:sp>
      <p:sp>
        <p:nvSpPr>
          <p:cNvPr id="348" name="Google Shape;348;p55"/>
          <p:cNvSpPr txBox="1"/>
          <p:nvPr/>
        </p:nvSpPr>
        <p:spPr>
          <a:xfrm>
            <a:off x="1464278" y="2382047"/>
            <a:ext cx="16370605" cy="107721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200" u="none" cap="none" strike="noStrike">
                <a:solidFill>
                  <a:schemeClr val="dk1"/>
                </a:solidFill>
                <a:latin typeface="Roboto Condensed"/>
                <a:ea typeface="Roboto Condensed"/>
                <a:cs typeface="Roboto Condensed"/>
                <a:sym typeface="Roboto Condensed"/>
              </a:rPr>
              <a:t>5.3 Setup Frontend Project với reactjs</a:t>
            </a:r>
            <a:endParaRPr b="0" i="0" sz="3200" u="none" cap="none" strike="noStrike">
              <a:solidFill>
                <a:srgbClr val="161616"/>
              </a:solidFill>
              <a:highlight>
                <a:srgbClr val="FFFFFF"/>
              </a:highlight>
              <a:latin typeface="Roboto Condensed"/>
              <a:ea typeface="Roboto Condensed"/>
              <a:cs typeface="Roboto Condensed"/>
              <a:sym typeface="Roboto Condensed"/>
            </a:endParaRPr>
          </a:p>
          <a:p>
            <a:pPr indent="-457200" lvl="0" marL="457200" marR="0" rtl="0" algn="l">
              <a:lnSpc>
                <a:spcPct val="100000"/>
              </a:lnSpc>
              <a:spcBef>
                <a:spcPts val="0"/>
              </a:spcBef>
              <a:spcAft>
                <a:spcPts val="0"/>
              </a:spcAft>
              <a:buClr>
                <a:srgbClr val="000000"/>
              </a:buClr>
              <a:buSzPts val="3200"/>
              <a:buFont typeface="Arial"/>
              <a:buChar char="•"/>
            </a:pPr>
            <a:r>
              <a:rPr b="0" i="0" lang="en-US" sz="3200" u="none" cap="none" strike="noStrike">
                <a:solidFill>
                  <a:srgbClr val="161616"/>
                </a:solidFill>
                <a:highlight>
                  <a:srgbClr val="FFFFFF"/>
                </a:highlight>
                <a:latin typeface="Roboto Condensed"/>
                <a:ea typeface="Roboto Condensed"/>
                <a:cs typeface="Roboto Condensed"/>
                <a:sym typeface="Roboto Condensed"/>
              </a:rPr>
              <a:t>Đăng nhập thành công sẽ dẫn về màn hình </a:t>
            </a:r>
            <a:r>
              <a:rPr b="0" i="0" lang="en-US" sz="3200" u="none" cap="none" strike="noStrike">
                <a:solidFill>
                  <a:srgbClr val="161616"/>
                </a:solidFill>
                <a:highlight>
                  <a:srgbClr val="FFFFFF"/>
                </a:highlight>
                <a:latin typeface="Roboto Condensed"/>
                <a:ea typeface="Roboto Condensed"/>
                <a:cs typeface="Roboto Condensed"/>
                <a:sym typeface="Roboto Condensed"/>
              </a:rPr>
              <a:t>hôm</a:t>
            </a:r>
            <a:r>
              <a:rPr b="0" i="0" lang="en-US" sz="3200" u="none" cap="none" strike="noStrike">
                <a:solidFill>
                  <a:srgbClr val="161616"/>
                </a:solidFill>
                <a:highlight>
                  <a:srgbClr val="FFFFFF"/>
                </a:highlight>
                <a:latin typeface="Roboto Condensed"/>
                <a:ea typeface="Roboto Condensed"/>
                <a:cs typeface="Roboto Condensed"/>
                <a:sym typeface="Roboto Condensed"/>
              </a:rPr>
              <a:t> của app frontend</a:t>
            </a:r>
            <a:endParaRPr b="0" i="0" sz="3200" u="none" cap="none" strike="noStrike">
              <a:solidFill>
                <a:srgbClr val="161616"/>
              </a:solidFill>
              <a:highlight>
                <a:srgbClr val="FFFFFF"/>
              </a:highlight>
              <a:latin typeface="Roboto Condensed"/>
              <a:ea typeface="Roboto Condensed"/>
              <a:cs typeface="Roboto Condensed"/>
              <a:sym typeface="Roboto Condensed"/>
            </a:endParaRPr>
          </a:p>
        </p:txBody>
      </p:sp>
      <p:pic>
        <p:nvPicPr>
          <p:cNvPr id="349" name="Google Shape;349;p55"/>
          <p:cNvPicPr preferRelativeResize="0"/>
          <p:nvPr/>
        </p:nvPicPr>
        <p:blipFill rotWithShape="1">
          <a:blip r:embed="rId3">
            <a:alphaModFix/>
          </a:blip>
          <a:srcRect b="0" l="0" r="0" t="0"/>
          <a:stretch/>
        </p:blipFill>
        <p:spPr>
          <a:xfrm>
            <a:off x="2099894" y="4299115"/>
            <a:ext cx="14630504" cy="6578682"/>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White">
  <a:themeElements>
    <a:clrScheme name="White">
      <a:dk1>
        <a:srgbClr val="000000"/>
      </a:dk1>
      <a:lt1>
        <a:srgbClr val="FFFFFF"/>
      </a:lt1>
      <a:dk2>
        <a:srgbClr val="5E5E5E"/>
      </a:dk2>
      <a:lt2>
        <a:srgbClr val="D6D5D5"/>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White">
  <a:themeElements>
    <a:clrScheme name="White">
      <a:dk1>
        <a:srgbClr val="000000"/>
      </a:dk1>
      <a:lt1>
        <a:srgbClr val="FFFFFF"/>
      </a:lt1>
      <a:dk2>
        <a:srgbClr val="5E5E5E"/>
      </a:dk2>
      <a:lt2>
        <a:srgbClr val="D6D5D5"/>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Nguyen Anh Quan (VTI.GA)</dc:creator>
</cp:coreProperties>
</file>