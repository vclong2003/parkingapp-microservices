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13716000" cx="24384000"/>
  <p:notesSz cx="6797675" cy="9929800"/>
  <p:embeddedFontLst>
    <p:embeddedFont>
      <p:font typeface="Roboto Condensed"/>
      <p:regular r:id="rId41"/>
      <p:bold r:id="rId42"/>
      <p:italic r:id="rId43"/>
      <p:boldItalic r:id="rId44"/>
    </p:embeddedFont>
    <p:embeddedFont>
      <p:font typeface="Helvetica Neue"/>
      <p:regular r:id="rId45"/>
      <p:bold r:id="rId46"/>
      <p:italic r:id="rId47"/>
      <p:boldItalic r:id="rId48"/>
    </p:embeddedFont>
    <p:embeddedFont>
      <p:font typeface="Helvetica Neue Ligh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53" roundtripDataSignature="AMtx7mjrsj8q6ELEfm1O257haVBfqXq4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Condensed-bold.fntdata"/><Relationship Id="rId41" Type="http://schemas.openxmlformats.org/officeDocument/2006/relationships/font" Target="fonts/RobotoCondensed-regular.fntdata"/><Relationship Id="rId44" Type="http://schemas.openxmlformats.org/officeDocument/2006/relationships/font" Target="fonts/RobotoCondensed-boldItalic.fntdata"/><Relationship Id="rId43" Type="http://schemas.openxmlformats.org/officeDocument/2006/relationships/font" Target="fonts/RobotoCondensed-italic.fntdata"/><Relationship Id="rId46" Type="http://schemas.openxmlformats.org/officeDocument/2006/relationships/font" Target="fonts/HelveticaNeue-bold.fntdata"/><Relationship Id="rId45" Type="http://schemas.openxmlformats.org/officeDocument/2006/relationships/font" Target="fonts/HelveticaNeu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HelveticaNeue-boldItalic.fntdata"/><Relationship Id="rId47" Type="http://schemas.openxmlformats.org/officeDocument/2006/relationships/font" Target="fonts/HelveticaNeue-italic.fntdata"/><Relationship Id="rId49" Type="http://schemas.openxmlformats.org/officeDocument/2006/relationships/font" Target="fonts/HelveticaNeueLigh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Light-italic.fntdata"/><Relationship Id="rId50" Type="http://schemas.openxmlformats.org/officeDocument/2006/relationships/font" Target="fonts/HelveticaNeueLight-bold.fntdata"/><Relationship Id="rId53" Type="http://customschemas.google.com/relationships/presentationmetadata" Target="metadata"/><Relationship Id="rId52" Type="http://schemas.openxmlformats.org/officeDocument/2006/relationships/font" Target="fonts/HelveticaNeue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8" name="Google Shape;48;p1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6" name="Google Shape;56;p1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4" name="Google Shape;64;p2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2" name="Google Shape;72;p2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0" name="Google Shape;80;p2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8" name="Google Shape;88;p2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6" name="Google Shape;96;p2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4" name="Google Shape;104;p2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2" name="Google Shape;112;p2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0" name="Google Shape;120;p2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8" name="Google Shape;128;p2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6" name="Google Shape;136;p2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4" name="Google Shape;144;p3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2" name="Google Shape;152;p3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0" name="Google Shape;160;p3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8" name="Google Shape;168;p3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6" name="Google Shape;176;p3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4" name="Google Shape;184;p3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3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2" name="Google Shape;192;p3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3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00" name="Google Shape;200;p3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3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08" name="Google Shape;208;p3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3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16" name="Google Shape;216;p3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4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24" name="Google Shape;224;p4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4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32" name="Google Shape;232;p4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4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40" name="Google Shape;240;p4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4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48" name="Google Shape;248;p4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56" name="Google Shape;256;p4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4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64" name="Google Shape;264;p4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4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72" name="Google Shape;272;p4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4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80" name="Google Shape;280;p4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88" name="Google Shape;288;p4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96" name="Google Shape;296;p4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5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04" name="Google Shape;304;p5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 picture containing drawing&#10;&#10;Description automatically generated" id="35" name="Google Shape;35;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37" name="Google Shape;37;p1"/>
          <p:cNvSpPr txBox="1"/>
          <p:nvPr/>
        </p:nvSpPr>
        <p:spPr>
          <a:xfrm>
            <a:off x="1959429" y="3853744"/>
            <a:ext cx="20876821" cy="418255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9600" u="none" cap="none" strike="noStrike">
                <a:solidFill>
                  <a:srgbClr val="0079BF"/>
                </a:solidFill>
                <a:latin typeface="Roboto Condensed"/>
                <a:ea typeface="Roboto Condensed"/>
                <a:cs typeface="Roboto Condensed"/>
                <a:sym typeface="Roboto Condensed"/>
              </a:rPr>
              <a:t>Communication &amp; Monitor </a:t>
            </a:r>
            <a:r>
              <a:rPr lang="en-US" sz="9600">
                <a:solidFill>
                  <a:srgbClr val="0079BF"/>
                </a:solidFill>
                <a:latin typeface="Roboto Condensed"/>
                <a:ea typeface="Roboto Condensed"/>
                <a:cs typeface="Roboto Condensed"/>
                <a:sym typeface="Roboto Condensed"/>
              </a:rPr>
              <a:t>S</a:t>
            </a:r>
            <a:r>
              <a:rPr lang="en-US" sz="9600">
                <a:solidFill>
                  <a:srgbClr val="0079BF"/>
                </a:solidFill>
                <a:latin typeface="Roboto Condensed"/>
                <a:ea typeface="Roboto Condensed"/>
                <a:cs typeface="Roboto Condensed"/>
                <a:sym typeface="Roboto Condensed"/>
              </a:rPr>
              <a:t>ervice</a:t>
            </a:r>
            <a:endParaRPr b="0" i="0" sz="9600" u="none" cap="none" strike="noStrike">
              <a:solidFill>
                <a:srgbClr val="0079BF"/>
              </a:solidFill>
              <a:latin typeface="Roboto Condensed"/>
              <a:ea typeface="Roboto Condensed"/>
              <a:cs typeface="Roboto Condensed"/>
              <a:sym typeface="Roboto Condensed"/>
            </a:endParaRPr>
          </a:p>
        </p:txBody>
      </p:sp>
      <p:sp>
        <p:nvSpPr>
          <p:cNvPr id="38" name="Google Shape;38;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VTI ACADEMY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Author: </a:t>
            </a:r>
            <a:r>
              <a:rPr b="1" i="0" lang="en-US" sz="5000" u="sng" cap="none" strike="noStrike">
                <a:solidFill>
                  <a:srgbClr val="0079BF"/>
                </a:solidFill>
                <a:latin typeface="Arial"/>
                <a:ea typeface="Arial"/>
                <a:cs typeface="Arial"/>
                <a:sym typeface="Arial"/>
              </a:rPr>
              <a:t>namviet0710@gmail.com</a:t>
            </a:r>
            <a:endParaRPr b="1" i="0" sz="5000" u="none" cap="none" strike="noStrike">
              <a:solidFill>
                <a:srgbClr val="0079BF"/>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February 2024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1845217" y="2402496"/>
            <a:ext cx="21401314" cy="93290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Why should communicating and monitoring be used when implement microservices?</a:t>
            </a:r>
            <a:endParaRPr b="0" i="0" sz="6600" u="none" cap="none" strike="noStrike">
              <a:solidFill>
                <a:srgbClr val="000000"/>
              </a:solidFill>
              <a:latin typeface="Arial"/>
              <a:ea typeface="Arial"/>
              <a:cs typeface="Arial"/>
              <a:sym typeface="Arial"/>
            </a:endParaRPr>
          </a:p>
          <a:p>
            <a:pPr indent="-342900" lvl="1"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Introduction Restemplate &amp; FeignClient</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Implement Restemplate</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What Is Load Balancing? </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Implement Load Balancing With Netflix Ribbon</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Monitor Service With Grafana And Prometheus</a:t>
            </a:r>
            <a:endParaRPr b="0" i="0" sz="6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ervice</a:t>
            </a:r>
            <a:endParaRPr b="1" i="0" sz="6000" u="none" cap="none" strike="noStrike">
              <a:solidFill>
                <a:srgbClr val="4F81BD"/>
              </a:solidFill>
              <a:latin typeface="Roboto Condensed"/>
              <a:ea typeface="Roboto Condensed"/>
              <a:cs typeface="Roboto Condensed"/>
              <a:sym typeface="Roboto Condensed"/>
            </a:endParaRPr>
          </a:p>
        </p:txBody>
      </p:sp>
      <p:sp>
        <p:nvSpPr>
          <p:cNvPr id="51" name="Google Shape;51;p18"/>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Why should communicating and monitoring be used when implement microservices?</a:t>
            </a:r>
            <a:endParaRPr b="1" i="0" sz="3600" u="none" cap="none" strike="noStrike">
              <a:solidFill>
                <a:srgbClr val="0070C0"/>
              </a:solidFill>
              <a:latin typeface="Roboto Condensed"/>
              <a:ea typeface="Roboto Condensed"/>
              <a:cs typeface="Roboto Condensed"/>
              <a:sym typeface="Roboto Condensed"/>
            </a:endParaRPr>
          </a:p>
        </p:txBody>
      </p:sp>
      <p:sp>
        <p:nvSpPr>
          <p:cNvPr id="52" name="Google Shape;52;p18"/>
          <p:cNvSpPr txBox="1"/>
          <p:nvPr/>
        </p:nvSpPr>
        <p:spPr>
          <a:xfrm>
            <a:off x="1464277" y="2534447"/>
            <a:ext cx="11248423" cy="64940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1.1 Communicating microservices</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Mỗi service trong kiến trúc Microservices đều giải quyết các vấn đề business riêng của nó, tuy nhiên có một vài service logic quá phức tạp và khó có thể đứng độc lập.</a:t>
            </a:r>
            <a:endParaRPr b="0" i="0" sz="3200" u="none" cap="none" strike="noStrike">
              <a:solidFill>
                <a:srgbClr val="212529"/>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Một trong những vấn đề khó khăn nhất là việc phân chia các nghiệp vụ lớn thành nhiều nghiệp vụ nhỏ nằm trong từng service. Nghiệp vụ chia quá lớn thì không đảm bảo tính độc lập, chia quá nhỏ thì thành ra nano-service, khó có thể maintain và trao đổi dữ liệu nghiệp vụ khó khăn. Nhưng dù có chia service như nào đi chăng nữa thì việc chúng có những thời điểm, có những nghiệp vụ phải giao tiếp với nhau.</a:t>
            </a:r>
            <a:endParaRPr b="0" i="0" sz="3200" u="none" cap="none" strike="noStrike">
              <a:solidFill>
                <a:schemeClr val="dk1"/>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53" name="Google Shape;53;p18"/>
          <p:cNvPicPr preferRelativeResize="0"/>
          <p:nvPr/>
        </p:nvPicPr>
        <p:blipFill rotWithShape="1">
          <a:blip r:embed="rId3">
            <a:alphaModFix/>
          </a:blip>
          <a:srcRect b="0" l="0" r="0" t="0"/>
          <a:stretch/>
        </p:blipFill>
        <p:spPr>
          <a:xfrm>
            <a:off x="12928600" y="2396964"/>
            <a:ext cx="9037100" cy="89664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59" name="Google Shape;59;p19"/>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Why should communicating and monitoring be used when implement microservices?</a:t>
            </a:r>
            <a:endParaRPr b="1" i="0" sz="3600" u="none" cap="none" strike="noStrike">
              <a:solidFill>
                <a:srgbClr val="0070C0"/>
              </a:solidFill>
              <a:latin typeface="Roboto Condensed"/>
              <a:ea typeface="Roboto Condensed"/>
              <a:cs typeface="Roboto Condensed"/>
              <a:sym typeface="Roboto Condensed"/>
            </a:endParaRPr>
          </a:p>
        </p:txBody>
      </p:sp>
      <p:sp>
        <p:nvSpPr>
          <p:cNvPr id="60" name="Google Shape;60;p19"/>
          <p:cNvSpPr txBox="1"/>
          <p:nvPr/>
        </p:nvSpPr>
        <p:spPr>
          <a:xfrm>
            <a:off x="1464277" y="2534447"/>
            <a:ext cx="10905523" cy="5509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1.1 Communicating microservices</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Ví dụ về về sự cần thiết giao tiếp giữa các service:</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Service Order và Payment exposed các API để client hoặc các service khác gọi đến nó. Khi client call REST API request để thực hiện một Order. </a:t>
            </a:r>
            <a:endParaRPr b="0" i="0" sz="3200" u="none" cap="none" strike="noStrike">
              <a:solidFill>
                <a:srgbClr val="1B1B1B"/>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Order service nhận request xử lý business logic rồi gọi tới Payment Service qua API để thực hiện Payment. </a:t>
            </a:r>
            <a:endParaRPr b="0" i="0" sz="3200" u="none" cap="none" strike="noStrike">
              <a:solidFill>
                <a:srgbClr val="1B1B1B"/>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Mô hình trên là loại mô hình kết nối Point-To-Point, các service kết nối trực tiếp với nhau thông qua API end-point.</a:t>
            </a:r>
            <a:endParaRPr b="0" i="0" sz="3200" u="none" cap="none" strike="noStrike">
              <a:solidFill>
                <a:schemeClr val="dk1"/>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61" name="Google Shape;61;p19"/>
          <p:cNvPicPr preferRelativeResize="0"/>
          <p:nvPr/>
        </p:nvPicPr>
        <p:blipFill rotWithShape="1">
          <a:blip r:embed="rId3">
            <a:alphaModFix/>
          </a:blip>
          <a:srcRect b="0" l="0" r="0" t="0"/>
          <a:stretch/>
        </p:blipFill>
        <p:spPr>
          <a:xfrm>
            <a:off x="12563475" y="2986087"/>
            <a:ext cx="11249486" cy="57896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67" name="Google Shape;67;p20"/>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Why should communicating and monitoring be used when implement microservices?</a:t>
            </a:r>
            <a:endParaRPr b="1" i="0" sz="3600" u="none" cap="none" strike="noStrike">
              <a:solidFill>
                <a:srgbClr val="0070C0"/>
              </a:solidFill>
              <a:latin typeface="Roboto Condensed"/>
              <a:ea typeface="Roboto Condensed"/>
              <a:cs typeface="Roboto Condensed"/>
              <a:sym typeface="Roboto Condensed"/>
            </a:endParaRPr>
          </a:p>
        </p:txBody>
      </p:sp>
      <p:sp>
        <p:nvSpPr>
          <p:cNvPr id="68" name="Google Shape;68;p20"/>
          <p:cNvSpPr txBox="1"/>
          <p:nvPr/>
        </p:nvSpPr>
        <p:spPr>
          <a:xfrm>
            <a:off x="1464277" y="2534447"/>
            <a:ext cx="11248500" cy="846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1.2 Monitoring microservices</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Monitoring là tính năng cho phép quản trị viên và nhà phát triển có thể theo dõi sức khỏe của hệ thống realtime hoặc tổng hợp lại theo các khoảng thời gian(giờ, ngày, tháng, năm) từ đó có thể tìm ra các vấn đề của hệ thống như bị tấn công, các function chưa tối ưu, thiếu tài nguyên(CPU/Ram/Storage/Bandwith).</a:t>
            </a:r>
            <a:endParaRPr b="0" i="0" sz="3200" u="none" cap="none" strike="noStrike">
              <a:solidFill>
                <a:srgbClr val="212529"/>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chemeClr val="dk1"/>
                </a:solidFill>
                <a:highlight>
                  <a:srgbClr val="FFFFFF"/>
                </a:highlight>
                <a:latin typeface="Roboto Condensed"/>
                <a:ea typeface="Roboto Condensed"/>
                <a:cs typeface="Roboto Condensed"/>
                <a:sym typeface="Roboto Condensed"/>
              </a:rPr>
              <a:t>Alert là một phần trong monitoring. Nó cho phép người dùng cài đặt các mức cảnh báo hoặc các cài đặt về healthcheck sau đó gửi cảnh báo đến người dung(Email, Slack, Discord,…) cho phép người dùng nhận biết sớm được các vấn đề hệ thống đang gặp phải, từ đó đưa ra các quyết định phù hợp để giữ hệ thống hoạt động ổn định.</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chemeClr val="dk1"/>
                </a:solidFill>
                <a:highlight>
                  <a:srgbClr val="FFFFFF"/>
                </a:highlight>
                <a:latin typeface="Roboto Condensed"/>
                <a:ea typeface="Roboto Condensed"/>
                <a:cs typeface="Roboto Condensed"/>
                <a:sym typeface="Roboto Condensed"/>
              </a:rPr>
              <a:t>Monitoring giúp chúng ta tránh gặp phải các tình trạng như hệ thống bị treo do hết ram/cpu/storage hoặc quá nhiều người truy cập dẫn đến bottle neck hay database vượt quá số connection…khiến hệ thống bị lỗi.</a:t>
            </a:r>
            <a:endParaRPr b="0" i="0" sz="3200" u="none" cap="none" strike="noStrike">
              <a:solidFill>
                <a:schemeClr val="dk1"/>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69" name="Google Shape;69;p20"/>
          <p:cNvPicPr preferRelativeResize="0"/>
          <p:nvPr/>
        </p:nvPicPr>
        <p:blipFill rotWithShape="1">
          <a:blip r:embed="rId3">
            <a:alphaModFix/>
          </a:blip>
          <a:srcRect b="0" l="0" r="0" t="0"/>
          <a:stretch/>
        </p:blipFill>
        <p:spPr>
          <a:xfrm>
            <a:off x="13148252" y="3437731"/>
            <a:ext cx="10816648" cy="68405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75" name="Google Shape;75;p21"/>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Introduction Restemplate &amp; FeignClient</a:t>
            </a:r>
            <a:endParaRPr/>
          </a:p>
        </p:txBody>
      </p:sp>
      <p:sp>
        <p:nvSpPr>
          <p:cNvPr id="76" name="Google Shape;76;p21"/>
          <p:cNvSpPr txBox="1"/>
          <p:nvPr/>
        </p:nvSpPr>
        <p:spPr>
          <a:xfrm>
            <a:off x="1464277" y="2534447"/>
            <a:ext cx="11248500" cy="354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2.1 Restemplate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RestTemplate là một đối tượng trong Spring Framework cung cấp khả năng gửi các yêu cầu HTTP đến các dịch vụ REST API khác. Nó hỗ trợ nhiều phương thức HTTP như GET, POST, PUT, DELETE, PATCH, ... để gửi các yêu cầu đến các địa chỉ URL khác nhau và xử lý các phản hồi trả về từ các dịch vụ đó.</a:t>
            </a:r>
            <a:endParaRPr b="0" i="0" sz="3200" u="none" cap="none" strike="noStrike">
              <a:solidFill>
                <a:schemeClr val="dk1"/>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77" name="Google Shape;77;p21"/>
          <p:cNvPicPr preferRelativeResize="0"/>
          <p:nvPr/>
        </p:nvPicPr>
        <p:blipFill rotWithShape="1">
          <a:blip r:embed="rId3">
            <a:alphaModFix/>
          </a:blip>
          <a:srcRect b="0" l="0" r="0" t="0"/>
          <a:stretch/>
        </p:blipFill>
        <p:spPr>
          <a:xfrm>
            <a:off x="12712700" y="2534447"/>
            <a:ext cx="10989577" cy="7178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83" name="Google Shape;83;p22"/>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Introduction Restemplate &amp; FeignClient</a:t>
            </a:r>
            <a:endParaRPr/>
          </a:p>
        </p:txBody>
      </p:sp>
      <p:sp>
        <p:nvSpPr>
          <p:cNvPr id="84" name="Google Shape;84;p22"/>
          <p:cNvSpPr txBox="1"/>
          <p:nvPr/>
        </p:nvSpPr>
        <p:spPr>
          <a:xfrm>
            <a:off x="1464277" y="2534447"/>
            <a:ext cx="11248423" cy="50167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2.2 FeignClient</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FeignClient là một annotation trong Spring Cloud, được sử dụng để tạo ra một client đại diện cho một RESTful service. Thay vì sử dụng RestTemplate, FeignClient sử dụng cấu hình interface và annotation để định nghĩa các method và URL endpoint cho các request. FeignClient cũng cung cấp khả năng load balancing và fault tolerance cho các service.</a:t>
            </a:r>
            <a:endParaRPr/>
          </a:p>
          <a:p>
            <a:pPr indent="-254000" lvl="0"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85" name="Google Shape;85;p22"/>
          <p:cNvPicPr preferRelativeResize="0"/>
          <p:nvPr/>
        </p:nvPicPr>
        <p:blipFill rotWithShape="1">
          <a:blip r:embed="rId3">
            <a:alphaModFix/>
          </a:blip>
          <a:srcRect b="0" l="0" r="0" t="0"/>
          <a:stretch/>
        </p:blipFill>
        <p:spPr>
          <a:xfrm>
            <a:off x="12927012" y="2870200"/>
            <a:ext cx="10374826" cy="6540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91" name="Google Shape;91;p23"/>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 Restemplate</a:t>
            </a:r>
            <a:endParaRPr/>
          </a:p>
        </p:txBody>
      </p:sp>
      <p:sp>
        <p:nvSpPr>
          <p:cNvPr id="92" name="Google Shape;92;p23"/>
          <p:cNvSpPr txBox="1"/>
          <p:nvPr/>
        </p:nvSpPr>
        <p:spPr>
          <a:xfrm>
            <a:off x="1464277" y="2534447"/>
            <a:ext cx="8950383"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3.1 Setup department 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Tạo function findById trong department repository</a:t>
            </a:r>
            <a:endParaRPr b="0" i="0" sz="3200" u="none" cap="none" strike="noStrike">
              <a:solidFill>
                <a:srgbClr val="1B1B1B"/>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93" name="Google Shape;93;p23"/>
          <p:cNvPicPr preferRelativeResize="0"/>
          <p:nvPr/>
        </p:nvPicPr>
        <p:blipFill rotWithShape="1">
          <a:blip r:embed="rId3">
            <a:alphaModFix/>
          </a:blip>
          <a:srcRect b="0" l="0" r="0" t="0"/>
          <a:stretch/>
        </p:blipFill>
        <p:spPr>
          <a:xfrm>
            <a:off x="10568785" y="2534447"/>
            <a:ext cx="12484212" cy="78245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99" name="Google Shape;99;p24"/>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 Restemplate</a:t>
            </a:r>
            <a:endParaRPr/>
          </a:p>
        </p:txBody>
      </p:sp>
      <p:sp>
        <p:nvSpPr>
          <p:cNvPr id="100" name="Google Shape;100;p24"/>
          <p:cNvSpPr txBox="1"/>
          <p:nvPr/>
        </p:nvSpPr>
        <p:spPr>
          <a:xfrm>
            <a:off x="1464277" y="2534447"/>
            <a:ext cx="67179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3.1 Setup department 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Tạo phương thức getDepartmentByid(int id)</a:t>
            </a:r>
            <a:endParaRPr b="0" i="0" sz="3200" u="none" cap="none" strike="noStrike">
              <a:solidFill>
                <a:srgbClr val="1B1B1B"/>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101" name="Google Shape;101;p24"/>
          <p:cNvPicPr preferRelativeResize="0"/>
          <p:nvPr/>
        </p:nvPicPr>
        <p:blipFill rotWithShape="1">
          <a:blip r:embed="rId3">
            <a:alphaModFix/>
          </a:blip>
          <a:srcRect b="0" l="0" r="0" t="0"/>
          <a:stretch/>
        </p:blipFill>
        <p:spPr>
          <a:xfrm>
            <a:off x="8409956" y="2080336"/>
            <a:ext cx="13525500" cy="9772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07" name="Google Shape;107;p25"/>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 Restemplate</a:t>
            </a:r>
            <a:endParaRPr/>
          </a:p>
        </p:txBody>
      </p:sp>
      <p:sp>
        <p:nvSpPr>
          <p:cNvPr id="108" name="Google Shape;108;p25"/>
          <p:cNvSpPr txBox="1"/>
          <p:nvPr/>
        </p:nvSpPr>
        <p:spPr>
          <a:xfrm>
            <a:off x="1464277" y="2534447"/>
            <a:ext cx="5886600" cy="304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3.1 Setup department 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Khai báo phương thức getDepartmentByid(int id) trong department controller</a:t>
            </a:r>
            <a:endParaRPr b="0" i="0" sz="3200" u="none" cap="none" strike="noStrike">
              <a:solidFill>
                <a:srgbClr val="1B1B1B"/>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109" name="Google Shape;109;p25"/>
          <p:cNvPicPr preferRelativeResize="0"/>
          <p:nvPr/>
        </p:nvPicPr>
        <p:blipFill rotWithShape="1">
          <a:blip r:embed="rId3">
            <a:alphaModFix/>
          </a:blip>
          <a:srcRect b="0" l="0" r="0" t="0"/>
          <a:stretch/>
        </p:blipFill>
        <p:spPr>
          <a:xfrm>
            <a:off x="7613048" y="2745355"/>
            <a:ext cx="15306675" cy="9505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15" name="Google Shape;115;p26"/>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 Restemplate</a:t>
            </a:r>
            <a:endParaRPr/>
          </a:p>
        </p:txBody>
      </p:sp>
      <p:sp>
        <p:nvSpPr>
          <p:cNvPr id="116" name="Google Shape;116;p26"/>
          <p:cNvSpPr txBox="1"/>
          <p:nvPr/>
        </p:nvSpPr>
        <p:spPr>
          <a:xfrm>
            <a:off x="1464277" y="2534447"/>
            <a:ext cx="8012232"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3.1 Setup department 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Viết Dockerfile và docker-compose.yml</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Run ứng dụng với docker compose up</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117" name="Google Shape;117;p26"/>
          <p:cNvPicPr preferRelativeResize="0"/>
          <p:nvPr/>
        </p:nvPicPr>
        <p:blipFill rotWithShape="1">
          <a:blip r:embed="rId3">
            <a:alphaModFix/>
          </a:blip>
          <a:srcRect b="0" l="0" r="0" t="0"/>
          <a:stretch/>
        </p:blipFill>
        <p:spPr>
          <a:xfrm>
            <a:off x="1547404" y="4282232"/>
            <a:ext cx="17907000" cy="7524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7"/>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23" name="Google Shape;123;p27"/>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 Restemplate</a:t>
            </a:r>
            <a:endParaRPr/>
          </a:p>
        </p:txBody>
      </p:sp>
      <p:sp>
        <p:nvSpPr>
          <p:cNvPr id="124" name="Google Shape;124;p27"/>
          <p:cNvSpPr txBox="1"/>
          <p:nvPr/>
        </p:nvSpPr>
        <p:spPr>
          <a:xfrm>
            <a:off x="1464277" y="2534447"/>
            <a:ext cx="895038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3.2 Setup account 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Thêm 2 dependencies dưới vào file pom.xml</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125" name="Google Shape;125;p27"/>
          <p:cNvPicPr preferRelativeResize="0"/>
          <p:nvPr/>
        </p:nvPicPr>
        <p:blipFill rotWithShape="1">
          <a:blip r:embed="rId3">
            <a:alphaModFix/>
          </a:blip>
          <a:srcRect b="0" l="0" r="0" t="0"/>
          <a:stretch/>
        </p:blipFill>
        <p:spPr>
          <a:xfrm>
            <a:off x="1600694" y="4370119"/>
            <a:ext cx="15313349" cy="753582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31" name="Google Shape;131;p28"/>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 Restemplate</a:t>
            </a:r>
            <a:endParaRPr/>
          </a:p>
        </p:txBody>
      </p:sp>
      <p:sp>
        <p:nvSpPr>
          <p:cNvPr id="132" name="Google Shape;132;p28"/>
          <p:cNvSpPr txBox="1"/>
          <p:nvPr/>
        </p:nvSpPr>
        <p:spPr>
          <a:xfrm>
            <a:off x="1464277" y="2534447"/>
            <a:ext cx="2118196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3.2 Setup account 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Demo đơn giản sử dụng restTemplate gọi api sang department service( thông thường sẽ gọi từ tầng service)</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133" name="Google Shape;133;p28"/>
          <p:cNvPicPr preferRelativeResize="0"/>
          <p:nvPr/>
        </p:nvPicPr>
        <p:blipFill rotWithShape="1">
          <a:blip r:embed="rId3">
            <a:alphaModFix/>
          </a:blip>
          <a:srcRect b="0" l="0" r="0" t="0"/>
          <a:stretch/>
        </p:blipFill>
        <p:spPr>
          <a:xfrm>
            <a:off x="1599643" y="3811663"/>
            <a:ext cx="16795235" cy="833970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39" name="Google Shape;139;p29"/>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 Restemplate</a:t>
            </a:r>
            <a:endParaRPr/>
          </a:p>
        </p:txBody>
      </p:sp>
      <p:sp>
        <p:nvSpPr>
          <p:cNvPr id="140" name="Google Shape;140;p29"/>
          <p:cNvSpPr txBox="1"/>
          <p:nvPr/>
        </p:nvSpPr>
        <p:spPr>
          <a:xfrm>
            <a:off x="1464278" y="2534447"/>
            <a:ext cx="7477842"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3.2 Setup account 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Tạo RestTemplate như hình đóng khung bên dưới</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141" name="Google Shape;141;p29"/>
          <p:cNvPicPr preferRelativeResize="0"/>
          <p:nvPr/>
        </p:nvPicPr>
        <p:blipFill rotWithShape="1">
          <a:blip r:embed="rId3">
            <a:alphaModFix/>
          </a:blip>
          <a:srcRect b="0" l="0" r="0" t="0"/>
          <a:stretch/>
        </p:blipFill>
        <p:spPr>
          <a:xfrm>
            <a:off x="9281618" y="2632427"/>
            <a:ext cx="13515975" cy="9020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47" name="Google Shape;147;p30"/>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 Restemplate</a:t>
            </a:r>
            <a:endParaRPr/>
          </a:p>
        </p:txBody>
      </p:sp>
      <p:pic>
        <p:nvPicPr>
          <p:cNvPr id="148" name="Google Shape;148;p30"/>
          <p:cNvPicPr preferRelativeResize="0"/>
          <p:nvPr/>
        </p:nvPicPr>
        <p:blipFill rotWithShape="1">
          <a:blip r:embed="rId3">
            <a:alphaModFix/>
          </a:blip>
          <a:srcRect b="0" l="0" r="0" t="0"/>
          <a:stretch/>
        </p:blipFill>
        <p:spPr>
          <a:xfrm>
            <a:off x="1554308" y="4049486"/>
            <a:ext cx="21365415" cy="8386886"/>
          </a:xfrm>
          <a:prstGeom prst="rect">
            <a:avLst/>
          </a:prstGeom>
          <a:noFill/>
          <a:ln>
            <a:noFill/>
          </a:ln>
        </p:spPr>
      </p:pic>
      <p:sp>
        <p:nvSpPr>
          <p:cNvPr id="149" name="Google Shape;149;p30"/>
          <p:cNvSpPr txBox="1"/>
          <p:nvPr/>
        </p:nvSpPr>
        <p:spPr>
          <a:xfrm>
            <a:off x="1464278" y="2534447"/>
            <a:ext cx="12037966"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3.2 Setup account service</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Build lại account service và chạy docker compose run</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55" name="Google Shape;155;p31"/>
          <p:cNvSpPr txBox="1"/>
          <p:nvPr/>
        </p:nvSpPr>
        <p:spPr>
          <a:xfrm>
            <a:off x="1200150" y="1564634"/>
            <a:ext cx="12349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Dynamic Routing và Loadbalancer với Netflix Ribbon</a:t>
            </a:r>
            <a:endParaRPr b="1" i="0" sz="3600" u="none" cap="none" strike="noStrike">
              <a:solidFill>
                <a:srgbClr val="0070C0"/>
              </a:solidFill>
              <a:latin typeface="Roboto Condensed"/>
              <a:ea typeface="Roboto Condensed"/>
              <a:cs typeface="Roboto Condensed"/>
              <a:sym typeface="Roboto Condensed"/>
            </a:endParaRPr>
          </a:p>
        </p:txBody>
      </p:sp>
      <p:sp>
        <p:nvSpPr>
          <p:cNvPr id="156" name="Google Shape;156;p31"/>
          <p:cNvSpPr txBox="1"/>
          <p:nvPr/>
        </p:nvSpPr>
        <p:spPr>
          <a:xfrm>
            <a:off x="1464277" y="2534447"/>
            <a:ext cx="16170580"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4.1 Chạy nhiều instance của department service trên các port khác nhau.</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Copy project </a:t>
            </a:r>
            <a:r>
              <a:rPr lang="en-US" sz="3200">
                <a:solidFill>
                  <a:srgbClr val="1B1B1B"/>
                </a:solidFill>
                <a:highlight>
                  <a:srgbClr val="FFFFFF"/>
                </a:highlight>
                <a:latin typeface="Roboto Condensed"/>
                <a:ea typeface="Roboto Condensed"/>
                <a:cs typeface="Roboto Condensed"/>
                <a:sym typeface="Roboto Condensed"/>
              </a:rPr>
              <a:t>department</a:t>
            </a:r>
            <a:r>
              <a:rPr b="0" i="0" lang="en-US" sz="3200" u="none" cap="none" strike="noStrike">
                <a:solidFill>
                  <a:srgbClr val="1B1B1B"/>
                </a:solidFill>
                <a:highlight>
                  <a:srgbClr val="FFFFFF"/>
                </a:highlight>
                <a:latin typeface="Roboto Condensed"/>
                <a:ea typeface="Roboto Condensed"/>
                <a:cs typeface="Roboto Condensed"/>
                <a:sym typeface="Roboto Condensed"/>
              </a:rPr>
              <a:t> service ra một thư mục mới đặt tên là department-service-2</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157" name="Google Shape;157;p31"/>
          <p:cNvPicPr preferRelativeResize="0"/>
          <p:nvPr/>
        </p:nvPicPr>
        <p:blipFill rotWithShape="1">
          <a:blip r:embed="rId3">
            <a:alphaModFix/>
          </a:blip>
          <a:srcRect b="0" l="0" r="0" t="0"/>
          <a:stretch/>
        </p:blipFill>
        <p:spPr>
          <a:xfrm>
            <a:off x="4768226" y="4270934"/>
            <a:ext cx="12229813" cy="58334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63" name="Google Shape;163;p32"/>
          <p:cNvSpPr txBox="1"/>
          <p:nvPr/>
        </p:nvSpPr>
        <p:spPr>
          <a:xfrm>
            <a:off x="1200150" y="1564634"/>
            <a:ext cx="12349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Dynamic Routing và Loadbalancer với Netflix Ribbon</a:t>
            </a:r>
            <a:endParaRPr b="1" i="0" sz="3600" u="none" cap="none" strike="noStrike">
              <a:solidFill>
                <a:srgbClr val="0070C0"/>
              </a:solidFill>
              <a:latin typeface="Roboto Condensed"/>
              <a:ea typeface="Roboto Condensed"/>
              <a:cs typeface="Roboto Condensed"/>
              <a:sym typeface="Roboto Condensed"/>
            </a:endParaRPr>
          </a:p>
        </p:txBody>
      </p:sp>
      <p:sp>
        <p:nvSpPr>
          <p:cNvPr id="164" name="Google Shape;164;p32"/>
          <p:cNvSpPr txBox="1"/>
          <p:nvPr/>
        </p:nvSpPr>
        <p:spPr>
          <a:xfrm>
            <a:off x="1464277" y="2534447"/>
            <a:ext cx="16170580"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4.1 Chạy nhiều instance của department service trên các port khác nhau.</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Instance 1 có service name là department-service và chạy trên cổng 8083</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165" name="Google Shape;165;p32"/>
          <p:cNvPicPr preferRelativeResize="0"/>
          <p:nvPr/>
        </p:nvPicPr>
        <p:blipFill rotWithShape="1">
          <a:blip r:embed="rId3">
            <a:alphaModFix/>
          </a:blip>
          <a:srcRect b="0" l="0" r="0" t="0"/>
          <a:stretch/>
        </p:blipFill>
        <p:spPr>
          <a:xfrm>
            <a:off x="1795091" y="4254582"/>
            <a:ext cx="17421225" cy="7581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71" name="Google Shape;171;p33"/>
          <p:cNvSpPr txBox="1"/>
          <p:nvPr/>
        </p:nvSpPr>
        <p:spPr>
          <a:xfrm>
            <a:off x="1200150" y="1564634"/>
            <a:ext cx="12349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Dynamic Routing và Loadbalancer với Netflix Ribbon</a:t>
            </a:r>
            <a:endParaRPr b="1" i="0" sz="3600" u="none" cap="none" strike="noStrike">
              <a:solidFill>
                <a:srgbClr val="0070C0"/>
              </a:solidFill>
              <a:latin typeface="Roboto Condensed"/>
              <a:ea typeface="Roboto Condensed"/>
              <a:cs typeface="Roboto Condensed"/>
              <a:sym typeface="Roboto Condensed"/>
            </a:endParaRPr>
          </a:p>
        </p:txBody>
      </p:sp>
      <p:sp>
        <p:nvSpPr>
          <p:cNvPr id="172" name="Google Shape;172;p33"/>
          <p:cNvSpPr txBox="1"/>
          <p:nvPr/>
        </p:nvSpPr>
        <p:spPr>
          <a:xfrm>
            <a:off x="1464277" y="2534447"/>
            <a:ext cx="16170580"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4.1 Chạy nhiều instance của department service trên các port khác nhau.</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Instance 2 có service name là department-service và chạy trên cổng 8084</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Chú ý là tên container và tên image để khác nhau, tên service phải giống nhau</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173" name="Google Shape;173;p33"/>
          <p:cNvPicPr preferRelativeResize="0"/>
          <p:nvPr/>
        </p:nvPicPr>
        <p:blipFill rotWithShape="1">
          <a:blip r:embed="rId3">
            <a:alphaModFix/>
          </a:blip>
          <a:srcRect b="0" l="0" r="0" t="0"/>
          <a:stretch/>
        </p:blipFill>
        <p:spPr>
          <a:xfrm>
            <a:off x="1560554" y="4427589"/>
            <a:ext cx="19696278" cy="789658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79" name="Google Shape;179;p34"/>
          <p:cNvSpPr txBox="1"/>
          <p:nvPr/>
        </p:nvSpPr>
        <p:spPr>
          <a:xfrm>
            <a:off x="1200150" y="1564634"/>
            <a:ext cx="12349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Dynamic Routing và Loadbalancer với Netflix Ribbon</a:t>
            </a:r>
            <a:endParaRPr b="1" i="0" sz="3600" u="none" cap="none" strike="noStrike">
              <a:solidFill>
                <a:srgbClr val="0070C0"/>
              </a:solidFill>
              <a:latin typeface="Roboto Condensed"/>
              <a:ea typeface="Roboto Condensed"/>
              <a:cs typeface="Roboto Condensed"/>
              <a:sym typeface="Roboto Condensed"/>
            </a:endParaRPr>
          </a:p>
        </p:txBody>
      </p:sp>
      <p:sp>
        <p:nvSpPr>
          <p:cNvPr id="180" name="Google Shape;180;p34"/>
          <p:cNvSpPr txBox="1"/>
          <p:nvPr/>
        </p:nvSpPr>
        <p:spPr>
          <a:xfrm>
            <a:off x="1464276" y="2534447"/>
            <a:ext cx="199233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4.2 Implement Netflix Ribbon trên Account Service, gọi API sang department service bằng FeignClient</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Tạo interface DepartmentFeignClient</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Khai báo RibbonClient annotation với tên là department-service</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181" name="Google Shape;181;p34"/>
          <p:cNvPicPr preferRelativeResize="0"/>
          <p:nvPr/>
        </p:nvPicPr>
        <p:blipFill rotWithShape="1">
          <a:blip r:embed="rId3">
            <a:alphaModFix/>
          </a:blip>
          <a:srcRect b="0" l="0" r="0" t="0"/>
          <a:stretch/>
        </p:blipFill>
        <p:spPr>
          <a:xfrm>
            <a:off x="1648504" y="4664716"/>
            <a:ext cx="16906875" cy="7486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87" name="Google Shape;187;p35"/>
          <p:cNvSpPr txBox="1"/>
          <p:nvPr/>
        </p:nvSpPr>
        <p:spPr>
          <a:xfrm>
            <a:off x="1200150" y="1564634"/>
            <a:ext cx="12349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Dynamic Routing và Loadbalancer với Netflix Ribbon</a:t>
            </a:r>
            <a:endParaRPr b="1" i="0" sz="3600" u="none" cap="none" strike="noStrike">
              <a:solidFill>
                <a:srgbClr val="0070C0"/>
              </a:solidFill>
              <a:latin typeface="Roboto Condensed"/>
              <a:ea typeface="Roboto Condensed"/>
              <a:cs typeface="Roboto Condensed"/>
              <a:sym typeface="Roboto Condensed"/>
            </a:endParaRPr>
          </a:p>
        </p:txBody>
      </p:sp>
      <p:sp>
        <p:nvSpPr>
          <p:cNvPr id="188" name="Google Shape;188;p35"/>
          <p:cNvSpPr txBox="1"/>
          <p:nvPr/>
        </p:nvSpPr>
        <p:spPr>
          <a:xfrm>
            <a:off x="1464277" y="2534447"/>
            <a:ext cx="20528824"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4.2 Implement Netflix Ribbon trên Account Service, gọi API sang department service bằng FeignClient</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Khai báo và sử dụng FeignClient trong account controller</a:t>
            </a:r>
            <a:endParaRPr/>
          </a:p>
        </p:txBody>
      </p:sp>
      <p:pic>
        <p:nvPicPr>
          <p:cNvPr id="189" name="Google Shape;189;p35"/>
          <p:cNvPicPr preferRelativeResize="0"/>
          <p:nvPr/>
        </p:nvPicPr>
        <p:blipFill rotWithShape="1">
          <a:blip r:embed="rId3">
            <a:alphaModFix/>
          </a:blip>
          <a:srcRect b="0" l="0" r="0" t="0"/>
          <a:stretch/>
        </p:blipFill>
        <p:spPr>
          <a:xfrm>
            <a:off x="1572243" y="4280065"/>
            <a:ext cx="17106900" cy="8077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195" name="Google Shape;195;p36"/>
          <p:cNvSpPr txBox="1"/>
          <p:nvPr/>
        </p:nvSpPr>
        <p:spPr>
          <a:xfrm>
            <a:off x="1200150" y="1564634"/>
            <a:ext cx="12349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Dynamic Routing và Loadbalancer với Netflix Ribbon</a:t>
            </a:r>
            <a:endParaRPr b="1" i="0" sz="3600" u="none" cap="none" strike="noStrike">
              <a:solidFill>
                <a:srgbClr val="0070C0"/>
              </a:solidFill>
              <a:latin typeface="Roboto Condensed"/>
              <a:ea typeface="Roboto Condensed"/>
              <a:cs typeface="Roboto Condensed"/>
              <a:sym typeface="Roboto Condensed"/>
            </a:endParaRPr>
          </a:p>
        </p:txBody>
      </p:sp>
      <p:sp>
        <p:nvSpPr>
          <p:cNvPr id="196" name="Google Shape;196;p36"/>
          <p:cNvSpPr txBox="1"/>
          <p:nvPr/>
        </p:nvSpPr>
        <p:spPr>
          <a:xfrm>
            <a:off x="1464277" y="2534447"/>
            <a:ext cx="19400668"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4.2 Implement Netflix Ribbon trên Account Service, gọi API từ department service bằng FeignClient</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Instance 2 có service name là department-service và chạy trên cổng 8084</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Chú ý là tên container và tên image để khác nhau, tên service phải giống nhau</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197" name="Google Shape;197;p36"/>
          <p:cNvPicPr preferRelativeResize="0"/>
          <p:nvPr/>
        </p:nvPicPr>
        <p:blipFill rotWithShape="1">
          <a:blip r:embed="rId3">
            <a:alphaModFix/>
          </a:blip>
          <a:srcRect b="0" l="0" r="0" t="0"/>
          <a:stretch/>
        </p:blipFill>
        <p:spPr>
          <a:xfrm>
            <a:off x="1572243" y="4280065"/>
            <a:ext cx="17106900" cy="8077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03" name="Google Shape;203;p37"/>
          <p:cNvSpPr txBox="1"/>
          <p:nvPr/>
        </p:nvSpPr>
        <p:spPr>
          <a:xfrm>
            <a:off x="1200150" y="1564634"/>
            <a:ext cx="12349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Dynamic Routing và Loadbalancer với Netflix Ribbon</a:t>
            </a:r>
            <a:endParaRPr b="1" i="0" sz="3600" u="none" cap="none" strike="noStrike">
              <a:solidFill>
                <a:srgbClr val="0070C0"/>
              </a:solidFill>
              <a:latin typeface="Roboto Condensed"/>
              <a:ea typeface="Roboto Condensed"/>
              <a:cs typeface="Roboto Condensed"/>
              <a:sym typeface="Roboto Condensed"/>
            </a:endParaRPr>
          </a:p>
        </p:txBody>
      </p:sp>
      <p:sp>
        <p:nvSpPr>
          <p:cNvPr id="204" name="Google Shape;204;p37"/>
          <p:cNvSpPr txBox="1"/>
          <p:nvPr/>
        </p:nvSpPr>
        <p:spPr>
          <a:xfrm>
            <a:off x="1464276" y="2534447"/>
            <a:ext cx="19222539"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4.2 Implement Netflix Ribbon trên Account Service, gọi API từ department service với FeignClient</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Khai báo các department service instance để sử dụng cho mục đích load balancing</a:t>
            </a:r>
            <a:endParaRPr/>
          </a:p>
        </p:txBody>
      </p:sp>
      <p:pic>
        <p:nvPicPr>
          <p:cNvPr id="205" name="Google Shape;205;p37"/>
          <p:cNvPicPr preferRelativeResize="0"/>
          <p:nvPr/>
        </p:nvPicPr>
        <p:blipFill rotWithShape="1">
          <a:blip r:embed="rId3">
            <a:alphaModFix/>
          </a:blip>
          <a:srcRect b="0" l="0" r="0" t="0"/>
          <a:stretch/>
        </p:blipFill>
        <p:spPr>
          <a:xfrm>
            <a:off x="1562285" y="4528148"/>
            <a:ext cx="16124938" cy="747780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11" name="Google Shape;211;p38"/>
          <p:cNvSpPr txBox="1"/>
          <p:nvPr/>
        </p:nvSpPr>
        <p:spPr>
          <a:xfrm>
            <a:off x="1200150" y="1564634"/>
            <a:ext cx="12349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Dynamic Routing và Loadbalancer với Netflix Ribbon</a:t>
            </a:r>
            <a:endParaRPr b="1" i="0" sz="3600" u="none" cap="none" strike="noStrike">
              <a:solidFill>
                <a:srgbClr val="0070C0"/>
              </a:solidFill>
              <a:latin typeface="Roboto Condensed"/>
              <a:ea typeface="Roboto Condensed"/>
              <a:cs typeface="Roboto Condensed"/>
              <a:sym typeface="Roboto Condensed"/>
            </a:endParaRPr>
          </a:p>
        </p:txBody>
      </p:sp>
      <p:sp>
        <p:nvSpPr>
          <p:cNvPr id="212" name="Google Shape;212;p38"/>
          <p:cNvSpPr txBox="1"/>
          <p:nvPr/>
        </p:nvSpPr>
        <p:spPr>
          <a:xfrm>
            <a:off x="1464276" y="2534447"/>
            <a:ext cx="1963817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4.2 Implement Netflix Ribbon trên Account Service, gọi API từ department service bằng FeignClient</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Build lại project và chạy lệnh docker compose</a:t>
            </a:r>
            <a:endParaRPr/>
          </a:p>
        </p:txBody>
      </p:sp>
      <p:pic>
        <p:nvPicPr>
          <p:cNvPr id="213" name="Google Shape;213;p38"/>
          <p:cNvPicPr preferRelativeResize="0"/>
          <p:nvPr/>
        </p:nvPicPr>
        <p:blipFill rotWithShape="1">
          <a:blip r:embed="rId3">
            <a:alphaModFix/>
          </a:blip>
          <a:srcRect b="0" l="0" r="0" t="0"/>
          <a:stretch/>
        </p:blipFill>
        <p:spPr>
          <a:xfrm>
            <a:off x="1547405" y="3935147"/>
            <a:ext cx="22059900" cy="82962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19" name="Google Shape;219;p39"/>
          <p:cNvSpPr txBox="1"/>
          <p:nvPr/>
        </p:nvSpPr>
        <p:spPr>
          <a:xfrm>
            <a:off x="1200150" y="1564634"/>
            <a:ext cx="12349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Dynamic Routing và Loadbalancer với Netflix Ribbon</a:t>
            </a:r>
            <a:endParaRPr b="1" i="0" sz="3600" u="none" cap="none" strike="noStrike">
              <a:solidFill>
                <a:srgbClr val="0070C0"/>
              </a:solidFill>
              <a:latin typeface="Roboto Condensed"/>
              <a:ea typeface="Roboto Condensed"/>
              <a:cs typeface="Roboto Condensed"/>
              <a:sym typeface="Roboto Condensed"/>
            </a:endParaRPr>
          </a:p>
        </p:txBody>
      </p:sp>
      <p:sp>
        <p:nvSpPr>
          <p:cNvPr id="220" name="Google Shape;220;p39"/>
          <p:cNvSpPr txBox="1"/>
          <p:nvPr/>
        </p:nvSpPr>
        <p:spPr>
          <a:xfrm>
            <a:off x="1464276" y="2534447"/>
            <a:ext cx="1963817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4.2 Implement Netflix Ribbon trên Account Service, gọi API từ department service bằng FeignClient</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Sử dụng hai ứng dụng khác nhau cùng gọi tới account service. Account service đóng vai trò như một load balancing điều tiết request đến 2 department service với thuật toán default là round robin.</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21" name="Google Shape;221;p39"/>
          <p:cNvPicPr preferRelativeResize="0"/>
          <p:nvPr/>
        </p:nvPicPr>
        <p:blipFill rotWithShape="1">
          <a:blip r:embed="rId3">
            <a:alphaModFix/>
          </a:blip>
          <a:srcRect b="0" l="0" r="0" t="0"/>
          <a:stretch/>
        </p:blipFill>
        <p:spPr>
          <a:xfrm>
            <a:off x="1710046" y="4560124"/>
            <a:ext cx="17436749" cy="774383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27" name="Google Shape;227;p40"/>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228" name="Google Shape;228;p40"/>
          <p:cNvSpPr txBox="1"/>
          <p:nvPr/>
        </p:nvSpPr>
        <p:spPr>
          <a:xfrm>
            <a:off x="1464276" y="2534447"/>
            <a:ext cx="1963817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Giới thiệu Prometheus và Grafana</a:t>
            </a:r>
            <a:endParaRPr b="1" i="0" sz="3200" u="none" cap="none" strike="noStrike">
              <a:solidFill>
                <a:schemeClr val="dk1"/>
              </a:solidFill>
              <a:latin typeface="Arial"/>
              <a:ea typeface="Arial"/>
              <a:cs typeface="Arial"/>
              <a:sym typeface="Arial"/>
            </a:endParaRPr>
          </a:p>
          <a:p>
            <a:pPr indent="-254000" lvl="0"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29" name="Google Shape;229;p40"/>
          <p:cNvPicPr preferRelativeResize="0"/>
          <p:nvPr/>
        </p:nvPicPr>
        <p:blipFill rotWithShape="1">
          <a:blip r:embed="rId3">
            <a:alphaModFix/>
          </a:blip>
          <a:srcRect b="0" l="0" r="0" t="0"/>
          <a:stretch/>
        </p:blipFill>
        <p:spPr>
          <a:xfrm>
            <a:off x="1663765" y="5309648"/>
            <a:ext cx="18738042" cy="407661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35" name="Google Shape;235;p41"/>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236" name="Google Shape;236;p41"/>
          <p:cNvSpPr txBox="1"/>
          <p:nvPr/>
        </p:nvSpPr>
        <p:spPr>
          <a:xfrm>
            <a:off x="1464276" y="2534447"/>
            <a:ext cx="1963817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Tích hợp Prometheus vào account-service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Thêm hai dependency vào file pom.xml</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37" name="Google Shape;237;p41"/>
          <p:cNvPicPr preferRelativeResize="0"/>
          <p:nvPr/>
        </p:nvPicPr>
        <p:blipFill rotWithShape="1">
          <a:blip r:embed="rId3">
            <a:alphaModFix/>
          </a:blip>
          <a:srcRect b="0" l="0" r="0" t="0"/>
          <a:stretch/>
        </p:blipFill>
        <p:spPr>
          <a:xfrm>
            <a:off x="1663765" y="5309648"/>
            <a:ext cx="18738042" cy="407661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43" name="Google Shape;243;p42"/>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244" name="Google Shape;244;p42"/>
          <p:cNvSpPr txBox="1"/>
          <p:nvPr/>
        </p:nvSpPr>
        <p:spPr>
          <a:xfrm>
            <a:off x="1464276" y="2534447"/>
            <a:ext cx="1963817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5.2 Tích hợp Prometheus vào account-service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Thêm file application.yml để khai báo tích hợp Prometheus</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Build lại service và chạy với docker-compose file</a:t>
            </a:r>
            <a:endParaRPr/>
          </a:p>
        </p:txBody>
      </p:sp>
      <p:pic>
        <p:nvPicPr>
          <p:cNvPr id="245" name="Google Shape;245;p42"/>
          <p:cNvPicPr preferRelativeResize="0"/>
          <p:nvPr/>
        </p:nvPicPr>
        <p:blipFill rotWithShape="1">
          <a:blip r:embed="rId3">
            <a:alphaModFix/>
          </a:blip>
          <a:srcRect b="0" l="0" r="0" t="0"/>
          <a:stretch/>
        </p:blipFill>
        <p:spPr>
          <a:xfrm>
            <a:off x="1571563" y="4329912"/>
            <a:ext cx="15801975" cy="8096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51" name="Google Shape;251;p43"/>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252" name="Google Shape;252;p43"/>
          <p:cNvSpPr txBox="1"/>
          <p:nvPr/>
        </p:nvSpPr>
        <p:spPr>
          <a:xfrm>
            <a:off x="1464276" y="2534447"/>
            <a:ext cx="88554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Build docker </a:t>
            </a:r>
            <a:r>
              <a:rPr b="1" lang="en-US" sz="3200">
                <a:solidFill>
                  <a:schemeClr val="dk1"/>
                </a:solidFill>
                <a:latin typeface="Roboto Condensed"/>
                <a:ea typeface="Roboto Condensed"/>
                <a:cs typeface="Roboto Condensed"/>
                <a:sym typeface="Roboto Condensed"/>
              </a:rPr>
              <a:t>container</a:t>
            </a:r>
            <a:r>
              <a:rPr b="1" i="0" lang="en-US" sz="3200" u="none" cap="none" strike="noStrike">
                <a:solidFill>
                  <a:schemeClr val="dk1"/>
                </a:solidFill>
                <a:latin typeface="Roboto Condensed"/>
                <a:ea typeface="Roboto Condensed"/>
                <a:cs typeface="Roboto Condensed"/>
                <a:sym typeface="Roboto Condensed"/>
              </a:rPr>
              <a:t> chạy 2 service Prometheus và Grafana</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Tạo một thư mục monitoring cùng cấp với các thư mục microservice(vd: account-service)</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Thêm các thư mục và các file như trong hình</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53" name="Google Shape;253;p43"/>
          <p:cNvPicPr preferRelativeResize="0"/>
          <p:nvPr/>
        </p:nvPicPr>
        <p:blipFill rotWithShape="1">
          <a:blip r:embed="rId3">
            <a:alphaModFix/>
          </a:blip>
          <a:srcRect b="0" l="0" r="0" t="0"/>
          <a:stretch/>
        </p:blipFill>
        <p:spPr>
          <a:xfrm>
            <a:off x="11599100" y="2752346"/>
            <a:ext cx="10664339" cy="40886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59" name="Google Shape;259;p44"/>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260" name="Google Shape;260;p44"/>
          <p:cNvSpPr txBox="1"/>
          <p:nvPr/>
        </p:nvSpPr>
        <p:spPr>
          <a:xfrm>
            <a:off x="1464276" y="2534447"/>
            <a:ext cx="13997400" cy="206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Build docker </a:t>
            </a:r>
            <a:r>
              <a:rPr b="1" lang="en-US" sz="3200">
                <a:solidFill>
                  <a:schemeClr val="dk1"/>
                </a:solidFill>
                <a:latin typeface="Roboto Condensed"/>
                <a:ea typeface="Roboto Condensed"/>
                <a:cs typeface="Roboto Condensed"/>
                <a:sym typeface="Roboto Condensed"/>
              </a:rPr>
              <a:t>container</a:t>
            </a:r>
            <a:r>
              <a:rPr b="1" i="0" lang="en-US" sz="3200" u="none" cap="none" strike="noStrike">
                <a:solidFill>
                  <a:schemeClr val="dk1"/>
                </a:solidFill>
                <a:latin typeface="Roboto Condensed"/>
                <a:ea typeface="Roboto Condensed"/>
                <a:cs typeface="Roboto Condensed"/>
                <a:sym typeface="Roboto Condensed"/>
              </a:rPr>
              <a:t> chạy 2 service Prometheus và Grafana</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Thêm nội dung cho 2 file datasources.yml và prometheus.yml</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Phần targets của file prometheus.yml sẽ khai báo những service và port tương ứng cần monitor</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61" name="Google Shape;261;p44"/>
          <p:cNvPicPr preferRelativeResize="0"/>
          <p:nvPr/>
        </p:nvPicPr>
        <p:blipFill rotWithShape="1">
          <a:blip r:embed="rId3">
            <a:alphaModFix/>
          </a:blip>
          <a:srcRect b="0" l="0" r="0" t="0"/>
          <a:stretch/>
        </p:blipFill>
        <p:spPr>
          <a:xfrm>
            <a:off x="1604594" y="4846536"/>
            <a:ext cx="14801850" cy="5257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67" name="Google Shape;267;p45"/>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268" name="Google Shape;268;p45"/>
          <p:cNvSpPr txBox="1"/>
          <p:nvPr/>
        </p:nvSpPr>
        <p:spPr>
          <a:xfrm>
            <a:off x="1464276" y="2534447"/>
            <a:ext cx="1399739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Build docker </a:t>
            </a:r>
            <a:r>
              <a:rPr b="1" lang="en-US" sz="3200">
                <a:solidFill>
                  <a:schemeClr val="dk1"/>
                </a:solidFill>
                <a:latin typeface="Roboto Condensed"/>
                <a:ea typeface="Roboto Condensed"/>
                <a:cs typeface="Roboto Condensed"/>
                <a:sym typeface="Roboto Condensed"/>
              </a:rPr>
              <a:t>container</a:t>
            </a:r>
            <a:r>
              <a:rPr b="1" i="0" lang="en-US" sz="3200" u="none" cap="none" strike="noStrike">
                <a:solidFill>
                  <a:schemeClr val="dk1"/>
                </a:solidFill>
                <a:latin typeface="Roboto Condensed"/>
                <a:ea typeface="Roboto Condensed"/>
                <a:cs typeface="Roboto Condensed"/>
                <a:sym typeface="Roboto Condensed"/>
              </a:rPr>
              <a:t> chạy 2 service Prometheus và Grafana</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Thêm nội dung vào file docker-</a:t>
            </a:r>
            <a:r>
              <a:rPr lang="en-US" sz="3200">
                <a:solidFill>
                  <a:srgbClr val="1B1B1B"/>
                </a:solidFill>
                <a:highlight>
                  <a:srgbClr val="FFFFFF"/>
                </a:highlight>
                <a:latin typeface="Roboto Condensed"/>
                <a:ea typeface="Roboto Condensed"/>
                <a:cs typeface="Roboto Condensed"/>
                <a:sym typeface="Roboto Condensed"/>
              </a:rPr>
              <a:t>compose</a:t>
            </a:r>
            <a:r>
              <a:rPr b="0" i="0" lang="en-US" sz="3200" u="none" cap="none" strike="noStrike">
                <a:solidFill>
                  <a:srgbClr val="1B1B1B"/>
                </a:solidFill>
                <a:highlight>
                  <a:srgbClr val="FFFFFF"/>
                </a:highlight>
                <a:latin typeface="Roboto Condensed"/>
                <a:ea typeface="Roboto Condensed"/>
                <a:cs typeface="Roboto Condensed"/>
                <a:sym typeface="Roboto Condensed"/>
              </a:rPr>
              <a:t>.yml</a:t>
            </a:r>
            <a:endParaRPr/>
          </a:p>
        </p:txBody>
      </p:sp>
      <p:pic>
        <p:nvPicPr>
          <p:cNvPr id="269" name="Google Shape;269;p45"/>
          <p:cNvPicPr preferRelativeResize="0"/>
          <p:nvPr/>
        </p:nvPicPr>
        <p:blipFill rotWithShape="1">
          <a:blip r:embed="rId3">
            <a:alphaModFix/>
          </a:blip>
          <a:srcRect b="0" l="0" r="0" t="0"/>
          <a:stretch/>
        </p:blipFill>
        <p:spPr>
          <a:xfrm>
            <a:off x="1601560" y="3935147"/>
            <a:ext cx="13860113" cy="860624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75" name="Google Shape;275;p46"/>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276" name="Google Shape;276;p46"/>
          <p:cNvSpPr txBox="1"/>
          <p:nvPr/>
        </p:nvSpPr>
        <p:spPr>
          <a:xfrm>
            <a:off x="1464276" y="2534447"/>
            <a:ext cx="1399739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Build docker </a:t>
            </a:r>
            <a:r>
              <a:rPr b="1" lang="en-US" sz="3200">
                <a:solidFill>
                  <a:schemeClr val="dk1"/>
                </a:solidFill>
                <a:latin typeface="Roboto Condensed"/>
                <a:ea typeface="Roboto Condensed"/>
                <a:cs typeface="Roboto Condensed"/>
                <a:sym typeface="Roboto Condensed"/>
              </a:rPr>
              <a:t>container</a:t>
            </a:r>
            <a:r>
              <a:rPr b="1" i="0" lang="en-US" sz="3200" u="none" cap="none" strike="noStrike">
                <a:solidFill>
                  <a:schemeClr val="dk1"/>
                </a:solidFill>
                <a:latin typeface="Roboto Condensed"/>
                <a:ea typeface="Roboto Condensed"/>
                <a:cs typeface="Roboto Condensed"/>
                <a:sym typeface="Roboto Condensed"/>
              </a:rPr>
              <a:t> chạy 2 service Prometheus và Grafana</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Chạy docker compose up và truy cập vào hai host kiểm tra kết quả</a:t>
            </a:r>
            <a:endParaRPr/>
          </a:p>
        </p:txBody>
      </p:sp>
      <p:pic>
        <p:nvPicPr>
          <p:cNvPr id="277" name="Google Shape;277;p46"/>
          <p:cNvPicPr preferRelativeResize="0"/>
          <p:nvPr/>
        </p:nvPicPr>
        <p:blipFill rotWithShape="1">
          <a:blip r:embed="rId3">
            <a:alphaModFix/>
          </a:blip>
          <a:srcRect b="0" l="0" r="0" t="0"/>
          <a:stretch/>
        </p:blipFill>
        <p:spPr>
          <a:xfrm>
            <a:off x="1559279" y="3771219"/>
            <a:ext cx="19592925" cy="85248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7"/>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83" name="Google Shape;283;p47"/>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284" name="Google Shape;284;p47"/>
          <p:cNvSpPr txBox="1"/>
          <p:nvPr/>
        </p:nvSpPr>
        <p:spPr>
          <a:xfrm>
            <a:off x="1464276" y="2534447"/>
            <a:ext cx="1399739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Build docker </a:t>
            </a:r>
            <a:r>
              <a:rPr b="1" lang="en-US" sz="3200">
                <a:solidFill>
                  <a:schemeClr val="dk1"/>
                </a:solidFill>
                <a:latin typeface="Roboto Condensed"/>
                <a:ea typeface="Roboto Condensed"/>
                <a:cs typeface="Roboto Condensed"/>
                <a:sym typeface="Roboto Condensed"/>
              </a:rPr>
              <a:t>container</a:t>
            </a:r>
            <a:r>
              <a:rPr b="1" i="0" lang="en-US" sz="3200" u="none" cap="none" strike="noStrike">
                <a:solidFill>
                  <a:schemeClr val="dk1"/>
                </a:solidFill>
                <a:latin typeface="Roboto Condensed"/>
                <a:ea typeface="Roboto Condensed"/>
                <a:cs typeface="Roboto Condensed"/>
                <a:sym typeface="Roboto Condensed"/>
              </a:rPr>
              <a:t> chạy 2 service Prometheus và Grafana</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Đăng nhập vào Grafana với tài khoản admin;admin</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85" name="Google Shape;285;p47"/>
          <p:cNvPicPr preferRelativeResize="0"/>
          <p:nvPr/>
        </p:nvPicPr>
        <p:blipFill rotWithShape="1">
          <a:blip r:embed="rId3">
            <a:alphaModFix/>
          </a:blip>
          <a:srcRect b="0" l="0" r="0" t="0"/>
          <a:stretch/>
        </p:blipFill>
        <p:spPr>
          <a:xfrm>
            <a:off x="1464276" y="3935147"/>
            <a:ext cx="15468600" cy="84867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91" name="Google Shape;291;p48"/>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292" name="Google Shape;292;p48"/>
          <p:cNvSpPr txBox="1"/>
          <p:nvPr/>
        </p:nvSpPr>
        <p:spPr>
          <a:xfrm>
            <a:off x="1464276" y="2534447"/>
            <a:ext cx="1399739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Build docker </a:t>
            </a:r>
            <a:r>
              <a:rPr b="1" lang="en-US" sz="3200">
                <a:solidFill>
                  <a:schemeClr val="dk1"/>
                </a:solidFill>
                <a:latin typeface="Roboto Condensed"/>
                <a:ea typeface="Roboto Condensed"/>
                <a:cs typeface="Roboto Condensed"/>
                <a:sym typeface="Roboto Condensed"/>
              </a:rPr>
              <a:t>container</a:t>
            </a:r>
            <a:r>
              <a:rPr b="1" i="0" lang="en-US" sz="3200" u="none" cap="none" strike="noStrike">
                <a:solidFill>
                  <a:schemeClr val="dk1"/>
                </a:solidFill>
                <a:latin typeface="Roboto Condensed"/>
                <a:ea typeface="Roboto Condensed"/>
                <a:cs typeface="Roboto Condensed"/>
                <a:sym typeface="Roboto Condensed"/>
              </a:rPr>
              <a:t> chạy 2 service Prometheus và Grafana</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Import dashboard template</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93" name="Google Shape;293;p48"/>
          <p:cNvPicPr preferRelativeResize="0"/>
          <p:nvPr/>
        </p:nvPicPr>
        <p:blipFill rotWithShape="1">
          <a:blip r:embed="rId3">
            <a:alphaModFix/>
          </a:blip>
          <a:srcRect b="0" l="0" r="0" t="0"/>
          <a:stretch/>
        </p:blipFill>
        <p:spPr>
          <a:xfrm>
            <a:off x="1519694" y="4104100"/>
            <a:ext cx="14058900" cy="82391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299" name="Google Shape;299;p49"/>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300" name="Google Shape;300;p49"/>
          <p:cNvSpPr txBox="1"/>
          <p:nvPr/>
        </p:nvSpPr>
        <p:spPr>
          <a:xfrm>
            <a:off x="1464276" y="2534447"/>
            <a:ext cx="1399739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Build docker </a:t>
            </a:r>
            <a:r>
              <a:rPr b="1" lang="en-US" sz="3200">
                <a:solidFill>
                  <a:schemeClr val="dk1"/>
                </a:solidFill>
                <a:latin typeface="Roboto Condensed"/>
                <a:ea typeface="Roboto Condensed"/>
                <a:cs typeface="Roboto Condensed"/>
                <a:sym typeface="Roboto Condensed"/>
              </a:rPr>
              <a:t>container</a:t>
            </a:r>
            <a:r>
              <a:rPr b="1" i="0" lang="en-US" sz="3200" u="none" cap="none" strike="noStrike">
                <a:solidFill>
                  <a:schemeClr val="dk1"/>
                </a:solidFill>
                <a:latin typeface="Roboto Condensed"/>
                <a:ea typeface="Roboto Condensed"/>
                <a:cs typeface="Roboto Condensed"/>
                <a:sym typeface="Roboto Condensed"/>
              </a:rPr>
              <a:t> chạy 2 service Prometheus và Grafana</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Vào phần dashboard grafana port 3000 pate ID và bấm load</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301" name="Google Shape;301;p49"/>
          <p:cNvPicPr preferRelativeResize="0"/>
          <p:nvPr/>
        </p:nvPicPr>
        <p:blipFill rotWithShape="1">
          <a:blip r:embed="rId3">
            <a:alphaModFix/>
          </a:blip>
          <a:srcRect b="0" l="0" r="0" t="0"/>
          <a:stretch/>
        </p:blipFill>
        <p:spPr>
          <a:xfrm>
            <a:off x="1464276" y="4046683"/>
            <a:ext cx="13332379" cy="810468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Communication &amp; Monitor </a:t>
            </a:r>
            <a:r>
              <a:rPr b="1" lang="en-US" sz="6000">
                <a:solidFill>
                  <a:srgbClr val="0079BF"/>
                </a:solidFill>
                <a:latin typeface="Roboto Condensed"/>
                <a:ea typeface="Roboto Condensed"/>
                <a:cs typeface="Roboto Condensed"/>
                <a:sym typeface="Roboto Condensed"/>
              </a:rPr>
              <a:t>service</a:t>
            </a:r>
            <a:endParaRPr b="1" i="0" sz="6000" u="none" cap="none" strike="noStrike">
              <a:solidFill>
                <a:srgbClr val="4F81BD"/>
              </a:solidFill>
              <a:latin typeface="Roboto Condensed"/>
              <a:ea typeface="Roboto Condensed"/>
              <a:cs typeface="Roboto Condensed"/>
              <a:sym typeface="Roboto Condensed"/>
            </a:endParaRPr>
          </a:p>
        </p:txBody>
      </p:sp>
      <p:sp>
        <p:nvSpPr>
          <p:cNvPr id="307" name="Google Shape;307;p50"/>
          <p:cNvSpPr txBox="1"/>
          <p:nvPr/>
        </p:nvSpPr>
        <p:spPr>
          <a:xfrm>
            <a:off x="1200150" y="1564634"/>
            <a:ext cx="21719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Monitoring với </a:t>
            </a:r>
            <a:r>
              <a:rPr b="1" lang="en-US" sz="3600">
                <a:solidFill>
                  <a:srgbClr val="0070C0"/>
                </a:solidFill>
                <a:latin typeface="Roboto Condensed"/>
                <a:ea typeface="Roboto Condensed"/>
                <a:cs typeface="Roboto Condensed"/>
                <a:sym typeface="Roboto Condensed"/>
              </a:rPr>
              <a:t>Grafana</a:t>
            </a:r>
            <a:r>
              <a:rPr b="1" i="0" lang="en-US" sz="3600" u="none" cap="none" strike="noStrike">
                <a:solidFill>
                  <a:srgbClr val="0070C0"/>
                </a:solidFill>
                <a:latin typeface="Roboto Condensed"/>
                <a:ea typeface="Roboto Condensed"/>
                <a:cs typeface="Roboto Condensed"/>
                <a:sym typeface="Roboto Condensed"/>
              </a:rPr>
              <a:t> dashboard &amp; Prometheus (SpringBoot 3 không hỗ trợ Hystrix Dashboard)</a:t>
            </a:r>
            <a:endParaRPr b="1" i="0" sz="3600" u="none" cap="none" strike="noStrike">
              <a:solidFill>
                <a:srgbClr val="0070C0"/>
              </a:solidFill>
              <a:latin typeface="Roboto Condensed"/>
              <a:ea typeface="Roboto Condensed"/>
              <a:cs typeface="Roboto Condensed"/>
              <a:sym typeface="Roboto Condensed"/>
            </a:endParaRPr>
          </a:p>
        </p:txBody>
      </p:sp>
      <p:sp>
        <p:nvSpPr>
          <p:cNvPr id="308" name="Google Shape;308;p50"/>
          <p:cNvSpPr txBox="1"/>
          <p:nvPr/>
        </p:nvSpPr>
        <p:spPr>
          <a:xfrm>
            <a:off x="1464276" y="2534447"/>
            <a:ext cx="1399739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Build docker </a:t>
            </a:r>
            <a:r>
              <a:rPr b="1" lang="en-US" sz="3200">
                <a:solidFill>
                  <a:schemeClr val="dk1"/>
                </a:solidFill>
                <a:latin typeface="Roboto Condensed"/>
                <a:ea typeface="Roboto Condensed"/>
                <a:cs typeface="Roboto Condensed"/>
                <a:sym typeface="Roboto Condensed"/>
              </a:rPr>
              <a:t>container</a:t>
            </a:r>
            <a:r>
              <a:rPr b="1" i="0" lang="en-US" sz="3200" u="none" cap="none" strike="noStrike">
                <a:solidFill>
                  <a:schemeClr val="dk1"/>
                </a:solidFill>
                <a:latin typeface="Roboto Condensed"/>
                <a:ea typeface="Roboto Condensed"/>
                <a:cs typeface="Roboto Condensed"/>
                <a:sym typeface="Roboto Condensed"/>
              </a:rPr>
              <a:t> chạy 2 service Prometheus và Grafana</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Kiểm tra màn hình dashboard monitor account service như trong hình.</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309" name="Google Shape;309;p50"/>
          <p:cNvPicPr preferRelativeResize="0"/>
          <p:nvPr/>
        </p:nvPicPr>
        <p:blipFill rotWithShape="1">
          <a:blip r:embed="rId3">
            <a:alphaModFix/>
          </a:blip>
          <a:srcRect b="0" l="0" r="0" t="0"/>
          <a:stretch/>
        </p:blipFill>
        <p:spPr>
          <a:xfrm>
            <a:off x="1547403" y="3935147"/>
            <a:ext cx="14092399" cy="858842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