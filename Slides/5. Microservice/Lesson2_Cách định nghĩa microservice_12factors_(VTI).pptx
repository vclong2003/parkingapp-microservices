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13716000" cx="24384000"/>
  <p:notesSz cx="6797675" cy="9929800"/>
  <p:embeddedFontLst>
    <p:embeddedFont>
      <p:font typeface="Helvetica Neue"/>
      <p:regular r:id="rId29"/>
      <p:bold r:id="rId30"/>
      <p:italic r:id="rId31"/>
      <p:boldItalic r:id="rId32"/>
    </p:embeddedFont>
    <p:embeddedFont>
      <p:font typeface="Helvetica Neue Light"/>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A4A3A4"/>
          </p15:clr>
        </p15:guide>
        <p15:guide id="2" pos="7680">
          <p15:clr>
            <a:srgbClr val="A4A3A4"/>
          </p15:clr>
        </p15:guide>
      </p15:sldGuideLst>
    </p:ext>
    <p:ext uri="GoogleSlidesCustomDataVersion2">
      <go:slidesCustomData xmlns:go="http://customooxmlschemas.google.com/" r:id="rId37" roundtripDataSignature="AMtx7midwMnyAB/vJ9cFJKYjRIOc3weM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italic.fntdata"/><Relationship Id="rId30" Type="http://schemas.openxmlformats.org/officeDocument/2006/relationships/font" Target="fonts/HelveticaNeue-bold.fntdata"/><Relationship Id="rId11" Type="http://schemas.openxmlformats.org/officeDocument/2006/relationships/slide" Target="slides/slide6.xml"/><Relationship Id="rId33" Type="http://schemas.openxmlformats.org/officeDocument/2006/relationships/font" Target="fonts/HelveticaNeueLight-regular.fntdata"/><Relationship Id="rId10" Type="http://schemas.openxmlformats.org/officeDocument/2006/relationships/slide" Target="slides/slide5.xml"/><Relationship Id="rId32" Type="http://schemas.openxmlformats.org/officeDocument/2006/relationships/font" Target="fonts/HelveticaNeue-boldItalic.fntdata"/><Relationship Id="rId13" Type="http://schemas.openxmlformats.org/officeDocument/2006/relationships/slide" Target="slides/slide8.xml"/><Relationship Id="rId35" Type="http://schemas.openxmlformats.org/officeDocument/2006/relationships/font" Target="fonts/HelveticaNeueLight-italic.fntdata"/><Relationship Id="rId12" Type="http://schemas.openxmlformats.org/officeDocument/2006/relationships/slide" Target="slides/slide7.xml"/><Relationship Id="rId34" Type="http://schemas.openxmlformats.org/officeDocument/2006/relationships/font" Target="fonts/HelveticaNeueLight-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HelveticaNeueLight-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1pPr>
            <a:lvl2pPr indent="-228600" lvl="1" marL="914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2pPr>
            <a:lvl3pPr indent="-228600" lvl="2" marL="1371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3pPr>
            <a:lvl4pPr indent="-228600" lvl="3" marL="1828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4pPr>
            <a:lvl5pPr indent="-228600" lvl="4" marL="22860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5pPr>
            <a:lvl6pPr indent="-228600" lvl="5" marL="2743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6pPr>
            <a:lvl7pPr indent="-228600" lvl="6" marL="3200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7pPr>
            <a:lvl8pPr indent="-228600" lvl="7" marL="3657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8pPr>
            <a:lvl9pPr indent="-228600" lvl="8" marL="4114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8" name="Google Shape;48;p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2df96e7d35_0_3: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4" name="Google Shape;54;g32df96e7d35_0_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2df96e7d35_0_8: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0" name="Google Shape;60;g32df96e7d35_0_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2df96e7d35_0_24: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6" name="Google Shape;66;g32df96e7d35_0_24: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2df96e7d35_0_32: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5" name="Google Shape;75;g32df96e7d35_0_3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2df96e7d35_0_45: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1" name="Google Shape;81;g32df96e7d35_0_45: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2df96e7d35_0_52: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9" name="Google Shape;89;g32df96e7d35_0_5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2df96e7d35_0_60: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6" name="Google Shape;96;g32df96e7d35_0_6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2e53d89950_0_0: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2" name="Google Shape;102;g32e53d89950_0_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2e53d89950_0_6: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9" name="Google Shape;109;g32e53d89950_0_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2e53d89950_0_17: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5" name="Google Shape;115;g32e53d89950_0_17: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2e53d89950_0_44: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2" name="Google Shape;122;g32e53d89950_0_44: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2e53d89950_0_28: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9" name="Google Shape;129;g32e53d89950_0_2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2e53d89950_0_35: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36" name="Google Shape;136;g32e53d89950_0_35: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2e53d89950_0_51: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43" name="Google Shape;143;g32e53d89950_0_5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e53d89950_0_58: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0" name="Google Shape;150;g32e53d89950_0_5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2e53d89950_0_66: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7" name="Google Shape;157;g32e53d89950_0_6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2e53d89950_0_72: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3" name="Google Shape;163;g32e53d89950_0_7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2e53d89950_0_84: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9" name="Google Shape;169;g32e53d89950_0_84: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2e53d89950_0_89:notes"/>
          <p:cNvSpPr txBox="1"/>
          <p:nvPr>
            <p:ph idx="1" type="body"/>
          </p:nvPr>
        </p:nvSpPr>
        <p:spPr>
          <a:xfrm>
            <a:off x="906357" y="4716661"/>
            <a:ext cx="4985100" cy="44685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75" name="Google Shape;175;g32e53d89950_0_89: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2e53d89950_0_79: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2e53d89950_0_79:notes"/>
          <p:cNvSpPr txBox="1"/>
          <p:nvPr>
            <p:ph idx="1" type="body"/>
          </p:nvPr>
        </p:nvSpPr>
        <p:spPr>
          <a:xfrm>
            <a:off x="906357" y="4716661"/>
            <a:ext cx="4985100" cy="4468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9" name="Shape 9"/>
        <p:cNvGrpSpPr/>
        <p:nvPr/>
      </p:nvGrpSpPr>
      <p:grpSpPr>
        <a:xfrm>
          <a:off x="0" y="0"/>
          <a:ext cx="0" cy="0"/>
          <a:chOff x="0" y="0"/>
          <a:chExt cx="0" cy="0"/>
        </a:xfrm>
      </p:grpSpPr>
      <p:pic>
        <p:nvPicPr>
          <p:cNvPr id="10" name="Google Shape;10;p13"/>
          <p:cNvPicPr preferRelativeResize="0"/>
          <p:nvPr/>
        </p:nvPicPr>
        <p:blipFill rotWithShape="1">
          <a:blip r:embed="rId2">
            <a:alphaModFix/>
          </a:blip>
          <a:srcRect b="0" l="0" r="0" t="0"/>
          <a:stretch/>
        </p:blipFill>
        <p:spPr>
          <a:xfrm>
            <a:off x="21017131" y="859479"/>
            <a:ext cx="2950192" cy="1131834"/>
          </a:xfrm>
          <a:prstGeom prst="rect">
            <a:avLst/>
          </a:prstGeom>
          <a:noFill/>
          <a:ln>
            <a:noFill/>
          </a:ln>
        </p:spPr>
      </p:pic>
      <p:pic>
        <p:nvPicPr>
          <p:cNvPr id="11" name="Google Shape;11;p13"/>
          <p:cNvPicPr preferRelativeResize="0"/>
          <p:nvPr/>
        </p:nvPicPr>
        <p:blipFill rotWithShape="1">
          <a:blip r:embed="rId3">
            <a:alphaModFix/>
          </a:blip>
          <a:srcRect b="0" l="0" r="0" t="0"/>
          <a:stretch/>
        </p:blipFill>
        <p:spPr>
          <a:xfrm>
            <a:off x="0" y="0"/>
            <a:ext cx="24384000" cy="13716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 name="Shape 12"/>
        <p:cNvGrpSpPr/>
        <p:nvPr/>
      </p:nvGrpSpPr>
      <p:grpSpPr>
        <a:xfrm>
          <a:off x="0" y="0"/>
          <a:ext cx="0" cy="0"/>
          <a:chOff x="0" y="0"/>
          <a:chExt cx="0" cy="0"/>
        </a:xfrm>
      </p:grpSpPr>
      <p:pic>
        <p:nvPicPr>
          <p:cNvPr descr="A screenshot of a cell phone&#10;&#10;Description automatically generated" id="13" name="Google Shape;13;p14"/>
          <p:cNvPicPr preferRelativeResize="0"/>
          <p:nvPr/>
        </p:nvPicPr>
        <p:blipFill rotWithShape="1">
          <a:blip r:embed="rId2">
            <a:alphaModFix/>
          </a:blip>
          <a:srcRect b="0" l="0" r="0" t="0"/>
          <a:stretch/>
        </p:blipFill>
        <p:spPr>
          <a:xfrm>
            <a:off x="0" y="0"/>
            <a:ext cx="24384000" cy="13716000"/>
          </a:xfrm>
          <a:prstGeom prst="rect">
            <a:avLst/>
          </a:prstGeom>
          <a:noFill/>
          <a:ln>
            <a:noFill/>
          </a:ln>
        </p:spPr>
      </p:pic>
      <p:sp>
        <p:nvSpPr>
          <p:cNvPr id="14" name="Google Shape;14;p14"/>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 name="Google Shape;15;p14"/>
          <p:cNvSpPr txBox="1"/>
          <p:nvPr>
            <p:ph idx="12" type="sldNum"/>
          </p:nvPr>
        </p:nvSpPr>
        <p:spPr>
          <a:xfrm>
            <a:off x="8820083" y="13156977"/>
            <a:ext cx="6743833"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1pPr>
            <a:lvl2pPr indent="0" lvl="1"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2pPr>
            <a:lvl3pPr indent="0" lvl="2"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3pPr>
            <a:lvl4pPr indent="0" lvl="3"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4pPr>
            <a:lvl5pPr indent="0" lvl="4"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5pPr>
            <a:lvl6pPr indent="0" lvl="5"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6pPr>
            <a:lvl7pPr indent="0" lvl="6"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7pPr>
            <a:lvl8pPr indent="0" lvl="7"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8pPr>
            <a:lvl9pPr indent="0" lvl="8"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9pPr>
          </a:lstStyle>
          <a:p>
            <a:pPr indent="0" lvl="0" marL="0" rtl="0" algn="ctr">
              <a:spcBef>
                <a:spcPts val="0"/>
              </a:spcBef>
              <a:spcAft>
                <a:spcPts val="0"/>
              </a:spcAft>
              <a:buNone/>
            </a:pPr>
            <a:r>
              <a:rPr lang="en-US"/>
              <a:t>Copyright </a:t>
            </a:r>
            <a:r>
              <a:rPr i="1" lang="en-US"/>
              <a:t>© </a:t>
            </a:r>
            <a:r>
              <a:rPr lang="en-US"/>
              <a:t>VTI Academy All Right Reserved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6" name="Shape 16"/>
        <p:cNvGrpSpPr/>
        <p:nvPr/>
      </p:nvGrpSpPr>
      <p:grpSpPr>
        <a:xfrm>
          <a:off x="0" y="0"/>
          <a:ext cx="0" cy="0"/>
          <a:chOff x="0" y="0"/>
          <a:chExt cx="0" cy="0"/>
        </a:xfrm>
      </p:grpSpPr>
      <p:cxnSp>
        <p:nvCxnSpPr>
          <p:cNvPr id="17" name="Google Shape;17;p15"/>
          <p:cNvCxnSpPr/>
          <p:nvPr/>
        </p:nvCxnSpPr>
        <p:spPr>
          <a:xfrm>
            <a:off x="482600" y="1412390"/>
            <a:ext cx="21521992" cy="0"/>
          </a:xfrm>
          <a:prstGeom prst="straightConnector1">
            <a:avLst/>
          </a:prstGeom>
          <a:noFill/>
          <a:ln cap="flat" cmpd="sng" w="19050">
            <a:solidFill>
              <a:srgbClr val="3C5A99"/>
            </a:solidFill>
            <a:prstDash val="solid"/>
            <a:miter lim="800000"/>
            <a:headEnd len="sm" w="sm" type="none"/>
            <a:tailEnd len="sm" w="sm" type="none"/>
          </a:ln>
        </p:spPr>
      </p:cxnSp>
      <p:sp>
        <p:nvSpPr>
          <p:cNvPr id="18" name="Google Shape;18;p15"/>
          <p:cNvSpPr/>
          <p:nvPr/>
        </p:nvSpPr>
        <p:spPr>
          <a:xfrm>
            <a:off x="0" y="12670972"/>
            <a:ext cx="24384001" cy="1045028"/>
          </a:xfrm>
          <a:prstGeom prst="rect">
            <a:avLst/>
          </a:prstGeom>
          <a:solidFill>
            <a:srgbClr val="3C5A99"/>
          </a:solidFill>
          <a:ln>
            <a:noFill/>
          </a:ln>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3600"/>
              <a:buFont typeface="Helvetica Neue"/>
              <a:buNone/>
            </a:pPr>
            <a:r>
              <a:t/>
            </a:r>
            <a:endParaRPr b="1" i="0" sz="3600" u="none" cap="none" strike="noStrike">
              <a:solidFill>
                <a:schemeClr val="lt1"/>
              </a:solidFill>
              <a:latin typeface="Calibri"/>
              <a:ea typeface="Calibri"/>
              <a:cs typeface="Calibri"/>
              <a:sym typeface="Calibri"/>
            </a:endParaRPr>
          </a:p>
        </p:txBody>
      </p:sp>
      <p:sp>
        <p:nvSpPr>
          <p:cNvPr id="19" name="Google Shape;19;p15"/>
          <p:cNvSpPr/>
          <p:nvPr/>
        </p:nvSpPr>
        <p:spPr>
          <a:xfrm>
            <a:off x="6781639" y="12854932"/>
            <a:ext cx="10458958" cy="677108"/>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chemeClr val="lt1"/>
              </a:buClr>
              <a:buSzPts val="3200"/>
              <a:buFont typeface="Helvetica Neue"/>
              <a:buNone/>
            </a:pPr>
            <a:r>
              <a:rPr b="1" i="0" lang="en-US" sz="3200" u="none" cap="none" strike="noStrike">
                <a:solidFill>
                  <a:schemeClr val="lt1"/>
                </a:solidFill>
                <a:latin typeface="Helvetica Neue"/>
                <a:ea typeface="Helvetica Neue"/>
                <a:cs typeface="Helvetica Neue"/>
                <a:sym typeface="Helvetica Neue"/>
              </a:rPr>
              <a:t>Copyright </a:t>
            </a:r>
            <a:r>
              <a:rPr b="1" i="1" lang="en-US" sz="3200" u="none" cap="none" strike="noStrike">
                <a:solidFill>
                  <a:schemeClr val="lt1"/>
                </a:solidFill>
                <a:latin typeface="Helvetica Neue"/>
                <a:ea typeface="Helvetica Neue"/>
                <a:cs typeface="Helvetica Neue"/>
                <a:sym typeface="Helvetica Neue"/>
              </a:rPr>
              <a:t>© </a:t>
            </a:r>
            <a:r>
              <a:rPr b="1" i="0" lang="en-US" sz="3200" u="none" cap="none" strike="noStrike">
                <a:solidFill>
                  <a:schemeClr val="lt1"/>
                </a:solidFill>
                <a:latin typeface="Helvetica Neue"/>
                <a:ea typeface="Helvetica Neue"/>
                <a:cs typeface="Helvetica Neue"/>
                <a:sym typeface="Helvetica Neue"/>
              </a:rPr>
              <a:t>VTI Academy All Right Reserved </a:t>
            </a:r>
            <a:endParaRPr b="1" i="0" sz="3200" u="none" cap="none" strike="noStrike">
              <a:solidFill>
                <a:schemeClr val="lt1"/>
              </a:solidFill>
              <a:latin typeface="Helvetica Neue"/>
              <a:ea typeface="Helvetica Neue"/>
              <a:cs typeface="Helvetica Neue"/>
              <a:sym typeface="Helvetica Neue"/>
            </a:endParaRPr>
          </a:p>
        </p:txBody>
      </p:sp>
      <p:cxnSp>
        <p:nvCxnSpPr>
          <p:cNvPr id="20" name="Google Shape;20;p15"/>
          <p:cNvCxnSpPr/>
          <p:nvPr/>
        </p:nvCxnSpPr>
        <p:spPr>
          <a:xfrm>
            <a:off x="14610736" y="1412390"/>
            <a:ext cx="7393856" cy="0"/>
          </a:xfrm>
          <a:prstGeom prst="straightConnector1">
            <a:avLst/>
          </a:prstGeom>
          <a:noFill/>
          <a:ln cap="flat" cmpd="sng" w="19050">
            <a:solidFill>
              <a:srgbClr val="FFC000"/>
            </a:solidFill>
            <a:prstDash val="solid"/>
            <a:miter lim="800000"/>
            <a:headEnd len="sm" w="sm" type="none"/>
            <a:tailEnd len="sm" w="sm" type="none"/>
          </a:ln>
        </p:spPr>
      </p:cxnSp>
      <p:cxnSp>
        <p:nvCxnSpPr>
          <p:cNvPr id="21" name="Google Shape;21;p15"/>
          <p:cNvCxnSpPr/>
          <p:nvPr/>
        </p:nvCxnSpPr>
        <p:spPr>
          <a:xfrm>
            <a:off x="0" y="12670972"/>
            <a:ext cx="24384001" cy="0"/>
          </a:xfrm>
          <a:prstGeom prst="straightConnector1">
            <a:avLst/>
          </a:prstGeom>
          <a:noFill/>
          <a:ln cap="flat" cmpd="sng" w="19050">
            <a:solidFill>
              <a:srgbClr val="FFC000"/>
            </a:solidFill>
            <a:prstDash val="solid"/>
            <a:miter lim="800000"/>
            <a:headEnd len="sm" w="sm" type="none"/>
            <a:tailEnd len="sm" w="sm" type="none"/>
          </a:ln>
        </p:spPr>
      </p:cxnSp>
      <p:pic>
        <p:nvPicPr>
          <p:cNvPr descr="A picture containing drawing&#10;&#10;Description automatically generated" id="22" name="Google Shape;22;p15"/>
          <p:cNvPicPr preferRelativeResize="0"/>
          <p:nvPr/>
        </p:nvPicPr>
        <p:blipFill rotWithShape="1">
          <a:blip r:embed="rId2">
            <a:alphaModFix/>
          </a:blip>
          <a:srcRect b="0" l="0" r="0" t="0"/>
          <a:stretch/>
        </p:blipFill>
        <p:spPr>
          <a:xfrm>
            <a:off x="19252277" y="-25180"/>
            <a:ext cx="5131724" cy="143757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23" name="Shape 23"/>
        <p:cNvGrpSpPr/>
        <p:nvPr/>
      </p:nvGrpSpPr>
      <p:grpSpPr>
        <a:xfrm>
          <a:off x="0" y="0"/>
          <a:ext cx="0" cy="0"/>
          <a:chOff x="0" y="0"/>
          <a:chExt cx="0" cy="0"/>
        </a:xfrm>
      </p:grpSpPr>
      <p:sp>
        <p:nvSpPr>
          <p:cNvPr id="24" name="Google Shape;24;p16"/>
          <p:cNvSpPr txBox="1"/>
          <p:nvPr>
            <p:ph type="title"/>
          </p:nvPr>
        </p:nvSpPr>
        <p:spPr>
          <a:xfrm>
            <a:off x="1845217" y="357188"/>
            <a:ext cx="18701657"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5" name="Google Shape;25;p16"/>
          <p:cNvSpPr txBox="1"/>
          <p:nvPr>
            <p:ph idx="10" type="dt"/>
          </p:nvPr>
        </p:nvSpPr>
        <p:spPr>
          <a:xfrm>
            <a:off x="1676400" y="12712701"/>
            <a:ext cx="54864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6" name="Google Shape;26;p16"/>
          <p:cNvSpPr txBox="1"/>
          <p:nvPr>
            <p:ph idx="11" type="ftr"/>
          </p:nvPr>
        </p:nvSpPr>
        <p:spPr>
          <a:xfrm>
            <a:off x="8077200" y="12712701"/>
            <a:ext cx="82296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7" name="Google Shape;27;p16"/>
          <p:cNvSpPr txBox="1"/>
          <p:nvPr>
            <p:ph idx="12" type="sldNum"/>
          </p:nvPr>
        </p:nvSpPr>
        <p:spPr>
          <a:xfrm>
            <a:off x="11962817" y="13073062"/>
            <a:ext cx="448840"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cxnSp>
        <p:nvCxnSpPr>
          <p:cNvPr id="28" name="Google Shape;28;p16"/>
          <p:cNvCxnSpPr/>
          <p:nvPr/>
        </p:nvCxnSpPr>
        <p:spPr>
          <a:xfrm>
            <a:off x="1845217" y="1893677"/>
            <a:ext cx="18701657" cy="0"/>
          </a:xfrm>
          <a:prstGeom prst="straightConnector1">
            <a:avLst/>
          </a:prstGeom>
          <a:noFill/>
          <a:ln cap="rnd" cmpd="sng" w="38100">
            <a:solidFill>
              <a:srgbClr val="057BBA">
                <a:alpha val="80000"/>
              </a:srgbClr>
            </a:solidFill>
            <a:prstDash val="solid"/>
            <a:round/>
            <a:headEnd len="sm" w="sm" type="none"/>
            <a:tailEnd len="sm" w="sm" type="none"/>
          </a:ln>
        </p:spPr>
      </p:cxnSp>
      <p:pic>
        <p:nvPicPr>
          <p:cNvPr descr="A close up of a sign&#10;&#10;Description automatically generated" id="29" name="Google Shape;29;p16"/>
          <p:cNvPicPr preferRelativeResize="0"/>
          <p:nvPr/>
        </p:nvPicPr>
        <p:blipFill rotWithShape="1">
          <a:blip r:embed="rId2">
            <a:alphaModFix/>
          </a:blip>
          <a:srcRect b="0" l="0" r="0" t="0"/>
          <a:stretch/>
        </p:blipFill>
        <p:spPr>
          <a:xfrm>
            <a:off x="20812883" y="427995"/>
            <a:ext cx="2645634" cy="163951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30"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387453" y="357187"/>
            <a:ext cx="15609095" cy="3036095"/>
          </a:xfrm>
          <a:prstGeom prst="rect">
            <a:avLst/>
          </a:prstGeom>
          <a:noFill/>
          <a:ln>
            <a:noFill/>
          </a:ln>
        </p:spPr>
        <p:txBody>
          <a:bodyPr anchorCtr="0" anchor="ctr" bIns="71425" lIns="71425" spcFirstLastPara="1" rIns="71425" wrap="square" tIns="71425">
            <a:normAutofit/>
          </a:bodyPr>
          <a:lstStyle>
            <a:lvl1pPr lvl="0"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9pPr>
          </a:lstStyle>
          <a:p/>
        </p:txBody>
      </p:sp>
      <p:sp>
        <p:nvSpPr>
          <p:cNvPr id="7" name="Google Shape;7;p12"/>
          <p:cNvSpPr txBox="1"/>
          <p:nvPr>
            <p:ph idx="1" type="body"/>
          </p:nvPr>
        </p:nvSpPr>
        <p:spPr>
          <a:xfrm>
            <a:off x="4387453" y="3643312"/>
            <a:ext cx="15609095" cy="8840392"/>
          </a:xfrm>
          <a:prstGeom prst="rect">
            <a:avLst/>
          </a:prstGeom>
          <a:noFill/>
          <a:ln>
            <a:noFill/>
          </a:ln>
        </p:spPr>
        <p:txBody>
          <a:bodyPr anchorCtr="0" anchor="ctr" bIns="71425" lIns="71425" spcFirstLastPara="1" rIns="71425" wrap="square" tIns="71425">
            <a:normAutofit/>
          </a:bodyPr>
          <a:lstStyle>
            <a:lvl1pPr indent="-633730" lvl="0" marL="457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1pPr>
            <a:lvl2pPr indent="-633730" lvl="1" marL="914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2pPr>
            <a:lvl3pPr indent="-633730" lvl="2" marL="1371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3pPr>
            <a:lvl4pPr indent="-633730" lvl="3" marL="1828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4pPr>
            <a:lvl5pPr indent="-633729" lvl="4" marL="22860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5pPr>
            <a:lvl6pPr indent="-633729" lvl="5" marL="2743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6pPr>
            <a:lvl7pPr indent="-633729" lvl="6" marL="3200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7pPr>
            <a:lvl8pPr indent="-633729" lvl="7" marL="3657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8pPr>
            <a:lvl9pPr indent="-633729" lvl="8" marL="4114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9pPr>
          </a:lstStyle>
          <a:p/>
        </p:txBody>
      </p:sp>
      <p:sp>
        <p:nvSpPr>
          <p:cNvPr id="8" name="Google Shape;8;p12"/>
          <p:cNvSpPr txBox="1"/>
          <p:nvPr>
            <p:ph idx="12" type="sldNum"/>
          </p:nvPr>
        </p:nvSpPr>
        <p:spPr>
          <a:xfrm>
            <a:off x="11954103" y="13073062"/>
            <a:ext cx="466269" cy="477671"/>
          </a:xfrm>
          <a:prstGeom prst="rect">
            <a:avLst/>
          </a:prstGeom>
          <a:noFill/>
          <a:ln>
            <a:noFill/>
          </a:ln>
        </p:spPr>
        <p:txBody>
          <a:bodyPr anchorCtr="0" anchor="t" bIns="71425" lIns="71425" spcFirstLastPara="1" rIns="71425" wrap="square" tIns="71425">
            <a:spAutoFit/>
          </a:bodyPr>
          <a:lstStyle>
            <a:lvl1pPr indent="0" lvl="0"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pic>
        <p:nvPicPr>
          <p:cNvPr descr="A picture containing drawing&#10;&#10;Description automatically generated" id="35" name="Google Shape;35;p1"/>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36" name="Google Shape;36;p1"/>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Helvetica Neue"/>
              <a:buNone/>
            </a:pPr>
            <a:r>
              <a:rPr b="1" i="0" lang="en-US" sz="3100" u="none" cap="none" strike="noStrike">
                <a:solidFill>
                  <a:srgbClr val="0079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37" name="Google Shape;37;p1"/>
          <p:cNvSpPr txBox="1"/>
          <p:nvPr/>
        </p:nvSpPr>
        <p:spPr>
          <a:xfrm>
            <a:off x="1215678" y="4549070"/>
            <a:ext cx="22486370" cy="131775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Helvetica Neue"/>
              <a:buNone/>
            </a:pPr>
            <a:r>
              <a:rPr b="0" i="0" lang="en-US" sz="10000" u="none" cap="none" strike="noStrike">
                <a:solidFill>
                  <a:srgbClr val="0079BF"/>
                </a:solidFill>
                <a:latin typeface="Helvetica Neue"/>
                <a:ea typeface="Helvetica Neue"/>
                <a:cs typeface="Helvetica Neue"/>
                <a:sym typeface="Helvetica Neue"/>
              </a:rPr>
              <a:t>Microservices</a:t>
            </a:r>
            <a:endParaRPr b="0" i="0" sz="10000" u="none" cap="none" strike="noStrike">
              <a:solidFill>
                <a:srgbClr val="0079BF"/>
              </a:solidFill>
              <a:latin typeface="Helvetica Neue"/>
              <a:ea typeface="Helvetica Neue"/>
              <a:cs typeface="Helvetica Neue"/>
              <a:sym typeface="Helvetica Neue"/>
            </a:endParaRPr>
          </a:p>
        </p:txBody>
      </p:sp>
      <p:sp>
        <p:nvSpPr>
          <p:cNvPr id="38" name="Google Shape;38;p1"/>
          <p:cNvSpPr txBox="1"/>
          <p:nvPr/>
        </p:nvSpPr>
        <p:spPr>
          <a:xfrm>
            <a:off x="1795790" y="8295495"/>
            <a:ext cx="11871552" cy="28416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9BF"/>
              </a:buClr>
              <a:buSzPts val="30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2"/>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p>
            <a:pPr indent="0" lvl="0" marL="0" rtl="0" algn="l">
              <a:lnSpc>
                <a:spcPct val="100000"/>
              </a:lnSpc>
              <a:spcBef>
                <a:spcPts val="0"/>
              </a:spcBef>
              <a:spcAft>
                <a:spcPts val="0"/>
              </a:spcAft>
              <a:buClr>
                <a:srgbClr val="0079BF"/>
              </a:buClr>
              <a:buSzPts val="8200"/>
              <a:buFont typeface="Calibri"/>
              <a:buNone/>
            </a:pPr>
            <a:r>
              <a:rPr lang="en-US">
                <a:solidFill>
                  <a:srgbClr val="0079BF"/>
                </a:solidFill>
                <a:latin typeface="Calibri"/>
                <a:ea typeface="Calibri"/>
                <a:cs typeface="Calibri"/>
                <a:sym typeface="Calibri"/>
              </a:rPr>
              <a:t>Agenda</a:t>
            </a:r>
            <a:endParaRPr/>
          </a:p>
        </p:txBody>
      </p:sp>
      <p:sp>
        <p:nvSpPr>
          <p:cNvPr id="44" name="Google Shape;44;p2"/>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200"/>
              <a:buFont typeface="Meiryo"/>
              <a:buNone/>
            </a:pPr>
            <a:r>
              <a:rPr b="0" i="0" lang="en-US" sz="2200" u="none" cap="none" strike="noStrike">
                <a:solidFill>
                  <a:schemeClr val="lt1"/>
                </a:solidFill>
                <a:latin typeface="Meiryo"/>
                <a:ea typeface="Meiryo"/>
                <a:cs typeface="Meiryo"/>
                <a:sym typeface="Meiryo"/>
              </a:rPr>
              <a:t>Copyright </a:t>
            </a:r>
            <a:r>
              <a:rPr b="0" i="1" lang="en-US" sz="2200" u="none" cap="none" strike="noStrike">
                <a:solidFill>
                  <a:schemeClr val="lt1"/>
                </a:solidFill>
                <a:latin typeface="Meiryo"/>
                <a:ea typeface="Meiryo"/>
                <a:cs typeface="Meiryo"/>
                <a:sym typeface="Meiryo"/>
              </a:rPr>
              <a:t>© </a:t>
            </a:r>
            <a:r>
              <a:rPr b="0" i="0" lang="en-US" sz="2200" u="none" cap="none" strike="noStrike">
                <a:solidFill>
                  <a:schemeClr val="lt1"/>
                </a:solidFill>
                <a:latin typeface="Meiryo"/>
                <a:ea typeface="Meiryo"/>
                <a:cs typeface="Meiryo"/>
                <a:sym typeface="Meiryo"/>
              </a:rPr>
              <a:t>VTI Academy All Rights Reserved </a:t>
            </a:r>
            <a:endParaRPr b="0" i="0" sz="1400" u="none" cap="none" strike="noStrike">
              <a:solidFill>
                <a:srgbClr val="000000"/>
              </a:solidFill>
              <a:latin typeface="Arial"/>
              <a:ea typeface="Arial"/>
              <a:cs typeface="Arial"/>
              <a:sym typeface="Arial"/>
            </a:endParaRPr>
          </a:p>
        </p:txBody>
      </p:sp>
      <p:sp>
        <p:nvSpPr>
          <p:cNvPr id="45" name="Google Shape;45;p2"/>
          <p:cNvSpPr txBox="1"/>
          <p:nvPr/>
        </p:nvSpPr>
        <p:spPr>
          <a:xfrm>
            <a:off x="1845217" y="3116480"/>
            <a:ext cx="21401314" cy="9329058"/>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3960"/>
              <a:buFont typeface="Noto Sans Symbols"/>
              <a:buChar char="❑"/>
            </a:pPr>
            <a:r>
              <a:rPr lang="en-US" sz="6600"/>
              <a:t> What are microservices?</a:t>
            </a:r>
            <a:endParaRPr b="0" i="0" sz="6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3960"/>
              <a:buFont typeface="Noto Sans Symbols"/>
              <a:buChar char="❑"/>
            </a:pPr>
            <a:r>
              <a:rPr lang="en-US" sz="6600"/>
              <a:t> What makes a good service?</a:t>
            </a:r>
            <a:endParaRPr b="0" i="0" sz="6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a:t>
            </a:r>
            <a:r>
              <a:rPr lang="en-US" sz="6600"/>
              <a:t>The Bounded Context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a:t>
            </a:r>
            <a:r>
              <a:rPr lang="en-US" sz="6600"/>
              <a:t>The twelve factors app</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66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4"/>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What Are Microservices?</a:t>
            </a:r>
            <a:endParaRPr b="1" i="0" sz="6000" u="none" cap="none" strike="noStrike">
              <a:solidFill>
                <a:srgbClr val="4F81BD"/>
              </a:solidFill>
              <a:latin typeface="Arial"/>
              <a:ea typeface="Arial"/>
              <a:cs typeface="Arial"/>
              <a:sym typeface="Arial"/>
            </a:endParaRPr>
          </a:p>
        </p:txBody>
      </p:sp>
      <p:sp>
        <p:nvSpPr>
          <p:cNvPr id="51" name="Google Shape;51;p4"/>
          <p:cNvSpPr txBox="1"/>
          <p:nvPr/>
        </p:nvSpPr>
        <p:spPr>
          <a:xfrm>
            <a:off x="1491350" y="2101875"/>
            <a:ext cx="217974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4600"/>
              <a:t>Nhỏ và chỉ làm tốt 1 việc duy nhất:</a:t>
            </a:r>
            <a:endParaRPr sz="4600"/>
          </a:p>
          <a:p>
            <a:pPr indent="-514350" lvl="0" marL="457200" marR="0" rtl="0" algn="l">
              <a:lnSpc>
                <a:spcPct val="100000"/>
              </a:lnSpc>
              <a:spcBef>
                <a:spcPts val="0"/>
              </a:spcBef>
              <a:spcAft>
                <a:spcPts val="0"/>
              </a:spcAft>
              <a:buSzPts val="4500"/>
              <a:buChar char="●"/>
            </a:pPr>
            <a:r>
              <a:rPr b="1" i="1" lang="en-US" sz="4500"/>
              <a:t>Nhỏ: </a:t>
            </a:r>
            <a:endParaRPr b="1" i="1" sz="4500"/>
          </a:p>
          <a:p>
            <a:pPr indent="-514350" lvl="1" marL="914400" marR="0" rtl="0" algn="l">
              <a:lnSpc>
                <a:spcPct val="100000"/>
              </a:lnSpc>
              <a:spcBef>
                <a:spcPts val="0"/>
              </a:spcBef>
              <a:spcAft>
                <a:spcPts val="0"/>
              </a:spcAft>
              <a:buSzPts val="4500"/>
              <a:buChar char="○"/>
            </a:pPr>
            <a:r>
              <a:rPr lang="en-US" sz="4500"/>
              <a:t>Có thể định nghĩa theo khả năng viết lại code: Ví dụ 1 service được gọi là microservice nếu service có thể viết lại bởi 1 dev trong vòng 2 tuần hoặc 1 tháng</a:t>
            </a:r>
            <a:endParaRPr sz="4500"/>
          </a:p>
          <a:p>
            <a:pPr indent="-514350" lvl="1" marL="914400" marR="0" rtl="0" algn="l">
              <a:lnSpc>
                <a:spcPct val="100000"/>
              </a:lnSpc>
              <a:spcBef>
                <a:spcPts val="0"/>
              </a:spcBef>
              <a:spcAft>
                <a:spcPts val="0"/>
              </a:spcAft>
              <a:buSzPts val="4500"/>
              <a:buChar char="○"/>
            </a:pPr>
            <a:r>
              <a:rPr lang="en-US" sz="4500"/>
              <a:t>Hoặc theo khả năng có thể chia nhỏ thêm nữa không</a:t>
            </a:r>
            <a:endParaRPr sz="4500"/>
          </a:p>
          <a:p>
            <a:pPr indent="-514350" lvl="1" marL="914400" marR="0" rtl="0" algn="l">
              <a:lnSpc>
                <a:spcPct val="100000"/>
              </a:lnSpc>
              <a:spcBef>
                <a:spcPts val="0"/>
              </a:spcBef>
              <a:spcAft>
                <a:spcPts val="0"/>
              </a:spcAft>
              <a:buSzPts val="4500"/>
              <a:buChar char="○"/>
            </a:pPr>
            <a:r>
              <a:rPr lang="en-US" sz="4500"/>
              <a:t>Hoặc theo khả năng maintain của team nhỏ: Một microservice nên có thể được maintain bởi 1 team nhỏ (2-3 người)   </a:t>
            </a:r>
            <a:endParaRPr sz="4500"/>
          </a:p>
          <a:p>
            <a:pPr indent="-514350" lvl="0" marL="457200" marR="0" rtl="0" algn="l">
              <a:lnSpc>
                <a:spcPct val="100000"/>
              </a:lnSpc>
              <a:spcBef>
                <a:spcPts val="0"/>
              </a:spcBef>
              <a:spcAft>
                <a:spcPts val="0"/>
              </a:spcAft>
              <a:buSzPts val="4500"/>
              <a:buChar char="●"/>
            </a:pPr>
            <a:r>
              <a:rPr b="1" i="1" lang="en-US" sz="4500"/>
              <a:t>Làm tốt 1 việc duy nhất</a:t>
            </a:r>
            <a:endParaRPr b="1" i="1" sz="4500"/>
          </a:p>
          <a:p>
            <a:pPr indent="-514350" lvl="1" marL="914400" rtl="0" algn="l">
              <a:spcBef>
                <a:spcPts val="0"/>
              </a:spcBef>
              <a:spcAft>
                <a:spcPts val="0"/>
              </a:spcAft>
              <a:buClr>
                <a:schemeClr val="dk1"/>
              </a:buClr>
              <a:buSzPts val="4500"/>
              <a:buChar char="○"/>
            </a:pPr>
            <a:r>
              <a:rPr lang="en-US" sz="4500">
                <a:solidFill>
                  <a:schemeClr val="dk1"/>
                </a:solidFill>
              </a:rPr>
              <a:t>Tránh việc thêm quá nhiều tính năng =&gt; làm tăng codebase =&gt; Khó maintain và vận hành.</a:t>
            </a:r>
            <a:endParaRPr sz="4500">
              <a:solidFill>
                <a:schemeClr val="dk1"/>
              </a:solidFill>
            </a:endParaRPr>
          </a:p>
          <a:p>
            <a:pPr indent="0" lvl="0" marL="0" marR="0" rtl="0" algn="l">
              <a:lnSpc>
                <a:spcPct val="100000"/>
              </a:lnSpc>
              <a:spcBef>
                <a:spcPts val="0"/>
              </a:spcBef>
              <a:spcAft>
                <a:spcPts val="0"/>
              </a:spcAft>
              <a:buNone/>
            </a:pPr>
            <a:r>
              <a:t/>
            </a:r>
            <a:endParaRPr sz="4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g32df96e7d35_0_3"/>
          <p:cNvSpPr txBox="1"/>
          <p:nvPr/>
        </p:nvSpPr>
        <p:spPr>
          <a:xfrm>
            <a:off x="1491350" y="2101875"/>
            <a:ext cx="217974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1" lang="en-US" sz="4600"/>
              <a:t>Tự chủ</a:t>
            </a:r>
            <a:r>
              <a:rPr b="1" i="1" lang="en-US" sz="4600"/>
              <a:t>:</a:t>
            </a:r>
            <a:endParaRPr b="1" i="1" sz="4600"/>
          </a:p>
          <a:p>
            <a:pPr indent="-514350" lvl="0" marL="457200" marR="0" rtl="0" algn="l">
              <a:lnSpc>
                <a:spcPct val="100000"/>
              </a:lnSpc>
              <a:spcBef>
                <a:spcPts val="0"/>
              </a:spcBef>
              <a:spcAft>
                <a:spcPts val="0"/>
              </a:spcAft>
              <a:buSzPts val="4500"/>
              <a:buChar char="●"/>
            </a:pPr>
            <a:r>
              <a:rPr lang="en-US" sz="4500"/>
              <a:t>Có thể triển khai độc lập, triển khai trên các máy chủ khác nhau, tránh đóng gói nhiều service trong cùng 1 machine (HĐH, container, …)</a:t>
            </a:r>
            <a:endParaRPr sz="4500"/>
          </a:p>
          <a:p>
            <a:pPr indent="-514350" lvl="0" marL="457200" marR="0" rtl="0" algn="l">
              <a:lnSpc>
                <a:spcPct val="100000"/>
              </a:lnSpc>
              <a:spcBef>
                <a:spcPts val="0"/>
              </a:spcBef>
              <a:spcAft>
                <a:spcPts val="0"/>
              </a:spcAft>
              <a:buSzPts val="4500"/>
              <a:buChar char="●"/>
            </a:pPr>
            <a:r>
              <a:rPr lang="en-US" sz="4500"/>
              <a:t>Tất cả các kết nối giữa các microservice phải được thực hiện thông qua network</a:t>
            </a:r>
            <a:endParaRPr sz="4500"/>
          </a:p>
          <a:p>
            <a:pPr indent="-514350" lvl="0" marL="457200" marR="0" rtl="0" algn="l">
              <a:lnSpc>
                <a:spcPct val="100000"/>
              </a:lnSpc>
              <a:spcBef>
                <a:spcPts val="0"/>
              </a:spcBef>
              <a:spcAft>
                <a:spcPts val="0"/>
              </a:spcAft>
              <a:buSzPts val="4500"/>
              <a:buChar char="●"/>
            </a:pPr>
            <a:r>
              <a:rPr lang="en-US" sz="4500"/>
              <a:t>Có thể thay đổi độc lập lẫn nhau, 1 microservice thay đổi không yêu cầu các microservice thay đổi theo</a:t>
            </a:r>
            <a:endParaRPr sz="4500"/>
          </a:p>
          <a:p>
            <a:pPr indent="0" lvl="0" marL="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None/>
            </a:pPr>
            <a:r>
              <a:rPr lang="en-US" sz="4500"/>
              <a:t>=&gt; Cần chú trọng trong việc thiết kế:</a:t>
            </a:r>
            <a:endParaRPr sz="4500"/>
          </a:p>
          <a:p>
            <a:pPr indent="-514350" lvl="0" marL="457200" marR="0" rtl="0" algn="l">
              <a:lnSpc>
                <a:spcPct val="100000"/>
              </a:lnSpc>
              <a:spcBef>
                <a:spcPts val="0"/>
              </a:spcBef>
              <a:spcAft>
                <a:spcPts val="0"/>
              </a:spcAft>
              <a:buSzPts val="4500"/>
              <a:buChar char="●"/>
            </a:pPr>
            <a:r>
              <a:rPr lang="en-US" sz="4500"/>
              <a:t>Mỗi service sẽ expose các dịch vụ gì, logic/thông tin gì sẽ được xử lý nội bộ trong 1 microservice mà các service khác không cần biết</a:t>
            </a:r>
            <a:endParaRPr sz="4500"/>
          </a:p>
          <a:p>
            <a:pPr indent="0" lvl="0" marL="0" marR="0" rtl="0" algn="l">
              <a:lnSpc>
                <a:spcPct val="100000"/>
              </a:lnSpc>
              <a:spcBef>
                <a:spcPts val="0"/>
              </a:spcBef>
              <a:spcAft>
                <a:spcPts val="0"/>
              </a:spcAft>
              <a:buNone/>
            </a:pPr>
            <a:r>
              <a:t/>
            </a:r>
            <a:endParaRPr sz="4500"/>
          </a:p>
          <a:p>
            <a:pPr indent="0" lvl="0" marL="457200" marR="0" rtl="0" algn="l">
              <a:lnSpc>
                <a:spcPct val="100000"/>
              </a:lnSpc>
              <a:spcBef>
                <a:spcPts val="0"/>
              </a:spcBef>
              <a:spcAft>
                <a:spcPts val="0"/>
              </a:spcAft>
              <a:buNone/>
            </a:pPr>
            <a:r>
              <a:t/>
            </a:r>
            <a:endParaRPr sz="4500"/>
          </a:p>
        </p:txBody>
      </p:sp>
      <p:sp>
        <p:nvSpPr>
          <p:cNvPr id="57" name="Google Shape;57;g32df96e7d35_0_3"/>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What Are Microservices?</a:t>
            </a:r>
            <a:endParaRPr b="1" i="0" sz="6000" u="none" cap="none" strike="noStrike">
              <a:solidFill>
                <a:srgbClr val="4F81BD"/>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g32df96e7d35_0_8"/>
          <p:cNvSpPr txBox="1"/>
          <p:nvPr/>
        </p:nvSpPr>
        <p:spPr>
          <a:xfrm>
            <a:off x="1491350" y="2101875"/>
            <a:ext cx="217974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1" lang="en-US" sz="4600"/>
              <a:t>Loose Coupling (liên quan yếu)</a:t>
            </a:r>
            <a:r>
              <a:rPr b="1" i="1" lang="en-US" sz="4600"/>
              <a:t>:</a:t>
            </a:r>
            <a:endParaRPr b="1" i="1" sz="4600"/>
          </a:p>
          <a:p>
            <a:pPr indent="-514350" lvl="0" marL="457200" marR="0" rtl="0" algn="l">
              <a:lnSpc>
                <a:spcPct val="100000"/>
              </a:lnSpc>
              <a:spcBef>
                <a:spcPts val="0"/>
              </a:spcBef>
              <a:spcAft>
                <a:spcPts val="0"/>
              </a:spcAft>
              <a:buSzPts val="4500"/>
              <a:buChar char="●"/>
            </a:pPr>
            <a:r>
              <a:rPr lang="en-US" sz="4500"/>
              <a:t>Thay đổi ở 1 service sẽ không yêu cầu thay đổi ở các service khác, đảm bảo tính độc lập khi triển khai và phát triển</a:t>
            </a:r>
            <a:endParaRPr sz="4500"/>
          </a:p>
          <a:p>
            <a:pPr indent="-514350" lvl="0" marL="457200" rtl="0" algn="l">
              <a:spcBef>
                <a:spcPts val="0"/>
              </a:spcBef>
              <a:spcAft>
                <a:spcPts val="0"/>
              </a:spcAft>
              <a:buSzPts val="4500"/>
              <a:buChar char="●"/>
            </a:pPr>
            <a:r>
              <a:rPr lang="en-US" sz="4500"/>
              <a:t>Mỗi dịch vụ chỉ nên biết những thông tin cần thiết tối thiểu về các dịch vụ mà nó tương tác để giảm mức độ phụ thuộc.</a:t>
            </a:r>
            <a:endParaRPr sz="4500"/>
          </a:p>
          <a:p>
            <a:pPr indent="-514350" lvl="0" marL="457200" rtl="0" algn="l">
              <a:spcBef>
                <a:spcPts val="0"/>
              </a:spcBef>
              <a:spcAft>
                <a:spcPts val="0"/>
              </a:spcAft>
              <a:buSzPts val="4500"/>
              <a:buChar char="●"/>
            </a:pPr>
            <a:r>
              <a:rPr lang="en-US" sz="4500"/>
              <a:t>Hạn chế giao tiếp giữa các dịch vụ: Giảm số lượng và loại hình các cuộc gọi giữa các dịch vụ để tránh các vấn đề về hiệu suất và ngăn ngừa ghép nối chặt chẽ.</a:t>
            </a:r>
            <a:endParaRPr sz="4500"/>
          </a:p>
          <a:p>
            <a:pPr indent="0" lvl="0" marL="0" rtl="0" algn="l">
              <a:spcBef>
                <a:spcPts val="0"/>
              </a:spcBef>
              <a:spcAft>
                <a:spcPts val="0"/>
              </a:spcAft>
              <a:buNone/>
            </a:pPr>
            <a:r>
              <a:t/>
            </a:r>
            <a:endParaRPr sz="4500"/>
          </a:p>
          <a:p>
            <a:pPr indent="-514350" lvl="0" marL="457200" marR="0" rtl="0" algn="l">
              <a:lnSpc>
                <a:spcPct val="100000"/>
              </a:lnSpc>
              <a:spcBef>
                <a:spcPts val="0"/>
              </a:spcBef>
              <a:spcAft>
                <a:spcPts val="0"/>
              </a:spcAft>
              <a:buSzPts val="4500"/>
              <a:buChar char="●"/>
            </a:pPr>
            <a:r>
              <a:rPr b="1" i="1" lang="en-US" sz="4500"/>
              <a:t>Cần tránh</a:t>
            </a:r>
            <a:r>
              <a:rPr lang="en-US" sz="4500"/>
              <a:t>: tight coupling (liên quan chặt chẽ): Thay đổi ở 1 dịch vụ kéo theo những thành phần gọi API đến dịch vụ đó cũng thay đổi</a:t>
            </a:r>
            <a:endParaRPr sz="4500"/>
          </a:p>
          <a:p>
            <a:pPr indent="0" lvl="0" marL="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None/>
            </a:pPr>
            <a:r>
              <a:t/>
            </a:r>
            <a:endParaRPr sz="4500"/>
          </a:p>
          <a:p>
            <a:pPr indent="0" lvl="0" marL="457200" marR="0" rtl="0" algn="l">
              <a:lnSpc>
                <a:spcPct val="100000"/>
              </a:lnSpc>
              <a:spcBef>
                <a:spcPts val="0"/>
              </a:spcBef>
              <a:spcAft>
                <a:spcPts val="0"/>
              </a:spcAft>
              <a:buNone/>
            </a:pPr>
            <a:r>
              <a:t/>
            </a:r>
            <a:endParaRPr sz="4500"/>
          </a:p>
        </p:txBody>
      </p:sp>
      <p:sp>
        <p:nvSpPr>
          <p:cNvPr id="63" name="Google Shape;63;g32df96e7d35_0_8"/>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What Makes a good serivce?</a:t>
            </a:r>
            <a:endParaRPr b="1" i="0" sz="6000" u="none" cap="none" strike="noStrike">
              <a:solidFill>
                <a:srgbClr val="4F81BD"/>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g32df96e7d35_0_24"/>
          <p:cNvSpPr txBox="1"/>
          <p:nvPr/>
        </p:nvSpPr>
        <p:spPr>
          <a:xfrm>
            <a:off x="1491350" y="2101875"/>
            <a:ext cx="132822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1" lang="en-US" sz="4600"/>
              <a:t>Ví dụ Tight</a:t>
            </a:r>
            <a:r>
              <a:rPr b="1" i="1" lang="en-US" sz="4600"/>
              <a:t> Coupling (liên quan </a:t>
            </a:r>
            <a:r>
              <a:rPr b="1" i="1" lang="en-US" sz="4600"/>
              <a:t>chặt chẽ</a:t>
            </a:r>
            <a:r>
              <a:rPr b="1" i="1" lang="en-US" sz="4600"/>
              <a:t>):</a:t>
            </a:r>
            <a:endParaRPr b="1" i="1" sz="4600"/>
          </a:p>
          <a:p>
            <a:pPr indent="-514350" lvl="0" marL="457200" marR="0" rtl="0" algn="l">
              <a:lnSpc>
                <a:spcPct val="100000"/>
              </a:lnSpc>
              <a:spcBef>
                <a:spcPts val="0"/>
              </a:spcBef>
              <a:spcAft>
                <a:spcPts val="0"/>
              </a:spcAft>
              <a:buSzPts val="4500"/>
              <a:buChar char="●"/>
            </a:pPr>
            <a:r>
              <a:rPr lang="en-US" sz="4500"/>
              <a:t>Ví dụ 1 service quản lý người dùng trả về thông tin truy vấn của người dùng</a:t>
            </a:r>
            <a:endParaRPr sz="4500"/>
          </a:p>
          <a:p>
            <a:pPr indent="-514350" lvl="0" marL="457200" marR="0" rtl="0" algn="l">
              <a:lnSpc>
                <a:spcPct val="100000"/>
              </a:lnSpc>
              <a:spcBef>
                <a:spcPts val="0"/>
              </a:spcBef>
              <a:spcAft>
                <a:spcPts val="0"/>
              </a:spcAft>
              <a:buSzPts val="4500"/>
              <a:buChar char="●"/>
            </a:pPr>
            <a:r>
              <a:rPr lang="en-US" sz="4500"/>
              <a:t>Ở 1 service quản lý phòng ban khi truy vấn và trích xuất thông tin từ service người dùng</a:t>
            </a:r>
            <a:endParaRPr sz="4500"/>
          </a:p>
          <a:p>
            <a:pPr indent="-514350" lvl="0" marL="457200" marR="0" rtl="0" algn="l">
              <a:lnSpc>
                <a:spcPct val="100000"/>
              </a:lnSpc>
              <a:spcBef>
                <a:spcPts val="0"/>
              </a:spcBef>
              <a:spcAft>
                <a:spcPts val="0"/>
              </a:spcAft>
              <a:buSzPts val="4500"/>
              <a:buChar char="●"/>
            </a:pPr>
            <a:r>
              <a:rPr lang="en-US" sz="4500"/>
              <a:t>Sau đó developer nhận ra “age” không cần thiết và bỏ ra khỏi output của user service =&gt; service department sẽ bị lỗi vì emailaddress không còn là user[3] nữa =&gt; Lỗi</a:t>
            </a:r>
            <a:endParaRPr sz="4500"/>
          </a:p>
          <a:p>
            <a:pPr indent="-514350" lvl="0" marL="457200" marR="0" rtl="0" algn="l">
              <a:lnSpc>
                <a:spcPct val="100000"/>
              </a:lnSpc>
              <a:spcBef>
                <a:spcPts val="0"/>
              </a:spcBef>
              <a:spcAft>
                <a:spcPts val="0"/>
              </a:spcAft>
              <a:buSzPts val="4500"/>
              <a:buChar char="●"/>
            </a:pPr>
            <a:r>
              <a:rPr lang="en-US" sz="4500"/>
              <a:t>=&gt; Sửa user service sẽ kéo theo sửa department service</a:t>
            </a:r>
            <a:endParaRPr sz="4500"/>
          </a:p>
          <a:p>
            <a:pPr indent="0" lvl="0" marL="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None/>
            </a:pPr>
            <a:r>
              <a:t/>
            </a:r>
            <a:endParaRPr sz="4500"/>
          </a:p>
          <a:p>
            <a:pPr indent="0" lvl="0" marL="457200" marR="0" rtl="0" algn="l">
              <a:lnSpc>
                <a:spcPct val="100000"/>
              </a:lnSpc>
              <a:spcBef>
                <a:spcPts val="0"/>
              </a:spcBef>
              <a:spcAft>
                <a:spcPts val="0"/>
              </a:spcAft>
              <a:buNone/>
            </a:pPr>
            <a:r>
              <a:t/>
            </a:r>
            <a:endParaRPr sz="4500"/>
          </a:p>
        </p:txBody>
      </p:sp>
      <p:sp>
        <p:nvSpPr>
          <p:cNvPr id="69" name="Google Shape;69;g32df96e7d35_0_24"/>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What Makes a good serivce?</a:t>
            </a:r>
            <a:endParaRPr b="1" i="0" sz="6000" u="none" cap="none" strike="noStrike">
              <a:solidFill>
                <a:srgbClr val="4F81BD"/>
              </a:solidFill>
              <a:latin typeface="Arial"/>
              <a:ea typeface="Arial"/>
              <a:cs typeface="Arial"/>
              <a:sym typeface="Arial"/>
            </a:endParaRPr>
          </a:p>
        </p:txBody>
      </p:sp>
      <p:pic>
        <p:nvPicPr>
          <p:cNvPr id="70" name="Google Shape;70;g32df96e7d35_0_24"/>
          <p:cNvPicPr preferRelativeResize="0"/>
          <p:nvPr/>
        </p:nvPicPr>
        <p:blipFill>
          <a:blip r:embed="rId3">
            <a:alphaModFix/>
          </a:blip>
          <a:stretch>
            <a:fillRect/>
          </a:stretch>
        </p:blipFill>
        <p:spPr>
          <a:xfrm>
            <a:off x="15366650" y="1863775"/>
            <a:ext cx="4954375" cy="2025625"/>
          </a:xfrm>
          <a:prstGeom prst="rect">
            <a:avLst/>
          </a:prstGeom>
          <a:noFill/>
          <a:ln>
            <a:noFill/>
          </a:ln>
        </p:spPr>
      </p:pic>
      <p:pic>
        <p:nvPicPr>
          <p:cNvPr id="71" name="Google Shape;71;g32df96e7d35_0_24"/>
          <p:cNvPicPr preferRelativeResize="0"/>
          <p:nvPr/>
        </p:nvPicPr>
        <p:blipFill>
          <a:blip r:embed="rId4">
            <a:alphaModFix/>
          </a:blip>
          <a:stretch>
            <a:fillRect/>
          </a:stretch>
        </p:blipFill>
        <p:spPr>
          <a:xfrm>
            <a:off x="15366650" y="4274500"/>
            <a:ext cx="7387573" cy="2025625"/>
          </a:xfrm>
          <a:prstGeom prst="rect">
            <a:avLst/>
          </a:prstGeom>
          <a:noFill/>
          <a:ln>
            <a:noFill/>
          </a:ln>
        </p:spPr>
      </p:pic>
      <p:pic>
        <p:nvPicPr>
          <p:cNvPr id="72" name="Google Shape;72;g32df96e7d35_0_24"/>
          <p:cNvPicPr preferRelativeResize="0"/>
          <p:nvPr/>
        </p:nvPicPr>
        <p:blipFill>
          <a:blip r:embed="rId5">
            <a:alphaModFix/>
          </a:blip>
          <a:stretch>
            <a:fillRect/>
          </a:stretch>
        </p:blipFill>
        <p:spPr>
          <a:xfrm>
            <a:off x="15551025" y="6858000"/>
            <a:ext cx="11627088" cy="2025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32df96e7d35_0_32"/>
          <p:cNvSpPr txBox="1"/>
          <p:nvPr/>
        </p:nvSpPr>
        <p:spPr>
          <a:xfrm>
            <a:off x="1491350" y="2101875"/>
            <a:ext cx="217974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1" lang="en-US" sz="4600"/>
              <a:t>High Cohesion</a:t>
            </a:r>
            <a:r>
              <a:rPr b="1" i="1" lang="en-US" sz="4600"/>
              <a:t> (</a:t>
            </a:r>
            <a:r>
              <a:rPr b="1" i="1" lang="en-US" sz="4600"/>
              <a:t>kết hợp chặt chẽ</a:t>
            </a:r>
            <a:r>
              <a:rPr b="1" i="1" lang="en-US" sz="4600"/>
              <a:t>):</a:t>
            </a:r>
            <a:endParaRPr b="1" i="1" sz="4600"/>
          </a:p>
          <a:p>
            <a:pPr indent="-514350" lvl="0" marL="457200" marR="0" rtl="0" algn="l">
              <a:lnSpc>
                <a:spcPct val="100000"/>
              </a:lnSpc>
              <a:spcBef>
                <a:spcPts val="0"/>
              </a:spcBef>
              <a:spcAft>
                <a:spcPts val="0"/>
              </a:spcAft>
              <a:buSzPts val="4500"/>
              <a:buChar char="●"/>
            </a:pPr>
            <a:r>
              <a:rPr lang="en-US" sz="4500"/>
              <a:t>Gom các hàng vi có liên quan lại với nhau thành 1 service, và các hành vi không liên quan ở service khác.</a:t>
            </a:r>
            <a:endParaRPr sz="4500"/>
          </a:p>
          <a:p>
            <a:pPr indent="-514350" lvl="0" marL="457200" marR="0" rtl="0" algn="l">
              <a:lnSpc>
                <a:spcPct val="100000"/>
              </a:lnSpc>
              <a:spcBef>
                <a:spcPts val="0"/>
              </a:spcBef>
              <a:spcAft>
                <a:spcPts val="0"/>
              </a:spcAft>
              <a:buSzPts val="4500"/>
              <a:buChar char="●"/>
            </a:pPr>
            <a:r>
              <a:rPr lang="en-US" sz="4500"/>
              <a:t>=&gt; </a:t>
            </a:r>
            <a:r>
              <a:rPr lang="en-US" sz="4500"/>
              <a:t>Nếu muốn thay đổi hành vi nào đó =&gt; chỉ cần thay đổi ở 1 nơi duy nhất</a:t>
            </a:r>
            <a:endParaRPr sz="4500"/>
          </a:p>
          <a:p>
            <a:pPr indent="0" lvl="0" marL="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None/>
            </a:pPr>
            <a:r>
              <a:t/>
            </a:r>
            <a:endParaRPr sz="4500"/>
          </a:p>
          <a:p>
            <a:pPr indent="0" lvl="0" marL="457200" marR="0" rtl="0" algn="l">
              <a:lnSpc>
                <a:spcPct val="100000"/>
              </a:lnSpc>
              <a:spcBef>
                <a:spcPts val="0"/>
              </a:spcBef>
              <a:spcAft>
                <a:spcPts val="0"/>
              </a:spcAft>
              <a:buNone/>
            </a:pPr>
            <a:r>
              <a:t/>
            </a:r>
            <a:endParaRPr sz="4500"/>
          </a:p>
        </p:txBody>
      </p:sp>
      <p:sp>
        <p:nvSpPr>
          <p:cNvPr id="78" name="Google Shape;78;g32df96e7d35_0_32"/>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What Makes a good serivce?</a:t>
            </a:r>
            <a:endParaRPr b="1" i="0" sz="6000" u="none" cap="none" strike="noStrike">
              <a:solidFill>
                <a:srgbClr val="4F81BD"/>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g32df96e7d35_0_45"/>
          <p:cNvSpPr txBox="1"/>
          <p:nvPr/>
        </p:nvSpPr>
        <p:spPr>
          <a:xfrm>
            <a:off x="1491350" y="2101875"/>
            <a:ext cx="217974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1" lang="en-US" sz="4600"/>
              <a:t>Ví dụ Low</a:t>
            </a:r>
            <a:r>
              <a:rPr b="1" i="1" lang="en-US" sz="4600"/>
              <a:t> Cohesion (kết hợp </a:t>
            </a:r>
            <a:r>
              <a:rPr b="1" i="1" lang="en-US" sz="4600"/>
              <a:t>yếu</a:t>
            </a:r>
            <a:r>
              <a:rPr b="1" i="1" lang="en-US" sz="4600"/>
              <a:t>):</a:t>
            </a:r>
            <a:endParaRPr b="1" i="1" sz="4600"/>
          </a:p>
          <a:p>
            <a:pPr indent="-514350" lvl="0" marL="457200" marR="0" rtl="0" algn="l">
              <a:lnSpc>
                <a:spcPct val="100000"/>
              </a:lnSpc>
              <a:spcBef>
                <a:spcPts val="0"/>
              </a:spcBef>
              <a:spcAft>
                <a:spcPts val="0"/>
              </a:spcAft>
              <a:buSzPts val="4500"/>
              <a:buChar char="●"/>
            </a:pPr>
            <a:r>
              <a:rPr lang="en-US" sz="4500"/>
              <a:t>Cả UserService &amp; DepartmentService đều xử lý thông tin người dùng, nếu muốn bỏ trường age của người dùng =&gt; phải </a:t>
            </a:r>
            <a:r>
              <a:rPr lang="en-US" sz="4500"/>
              <a:t>update</a:t>
            </a:r>
            <a:r>
              <a:rPr lang="en-US" sz="4500"/>
              <a:t> cả 2 services</a:t>
            </a:r>
            <a:endParaRPr sz="4500"/>
          </a:p>
          <a:p>
            <a:pPr indent="0" lvl="0" marL="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None/>
            </a:pPr>
            <a:r>
              <a:t/>
            </a:r>
            <a:endParaRPr sz="4500"/>
          </a:p>
          <a:p>
            <a:pPr indent="0" lvl="0" marL="457200" marR="0" rtl="0" algn="l">
              <a:lnSpc>
                <a:spcPct val="100000"/>
              </a:lnSpc>
              <a:spcBef>
                <a:spcPts val="0"/>
              </a:spcBef>
              <a:spcAft>
                <a:spcPts val="0"/>
              </a:spcAft>
              <a:buNone/>
            </a:pPr>
            <a:r>
              <a:t/>
            </a:r>
            <a:endParaRPr sz="4500"/>
          </a:p>
        </p:txBody>
      </p:sp>
      <p:sp>
        <p:nvSpPr>
          <p:cNvPr id="84" name="Google Shape;84;g32df96e7d35_0_45"/>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What Makes a good serivce?</a:t>
            </a:r>
            <a:endParaRPr b="1" i="0" sz="6000" u="none" cap="none" strike="noStrike">
              <a:solidFill>
                <a:srgbClr val="4F81BD"/>
              </a:solidFill>
              <a:latin typeface="Arial"/>
              <a:ea typeface="Arial"/>
              <a:cs typeface="Arial"/>
              <a:sym typeface="Arial"/>
            </a:endParaRPr>
          </a:p>
        </p:txBody>
      </p:sp>
      <p:pic>
        <p:nvPicPr>
          <p:cNvPr id="85" name="Google Shape;85;g32df96e7d35_0_45"/>
          <p:cNvPicPr preferRelativeResize="0"/>
          <p:nvPr/>
        </p:nvPicPr>
        <p:blipFill>
          <a:blip r:embed="rId3">
            <a:alphaModFix/>
          </a:blip>
          <a:stretch>
            <a:fillRect/>
          </a:stretch>
        </p:blipFill>
        <p:spPr>
          <a:xfrm>
            <a:off x="2771775" y="4581050"/>
            <a:ext cx="6544874" cy="6849924"/>
          </a:xfrm>
          <a:prstGeom prst="rect">
            <a:avLst/>
          </a:prstGeom>
          <a:noFill/>
          <a:ln>
            <a:noFill/>
          </a:ln>
        </p:spPr>
      </p:pic>
      <p:pic>
        <p:nvPicPr>
          <p:cNvPr id="86" name="Google Shape;86;g32df96e7d35_0_45"/>
          <p:cNvPicPr preferRelativeResize="0"/>
          <p:nvPr/>
        </p:nvPicPr>
        <p:blipFill>
          <a:blip r:embed="rId4">
            <a:alphaModFix/>
          </a:blip>
          <a:stretch>
            <a:fillRect/>
          </a:stretch>
        </p:blipFill>
        <p:spPr>
          <a:xfrm>
            <a:off x="14201775" y="4581025"/>
            <a:ext cx="6544874" cy="68499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2df96e7d35_0_52"/>
          <p:cNvSpPr txBox="1"/>
          <p:nvPr/>
        </p:nvSpPr>
        <p:spPr>
          <a:xfrm>
            <a:off x="1491350" y="2101875"/>
            <a:ext cx="208725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4600"/>
              <a:t>Shared database = </a:t>
            </a:r>
            <a:r>
              <a:rPr b="1" i="1" lang="en-US" sz="4600"/>
              <a:t> </a:t>
            </a:r>
            <a:r>
              <a:rPr b="1" i="1" lang="en-US" sz="4600">
                <a:solidFill>
                  <a:schemeClr val="dk1"/>
                </a:solidFill>
              </a:rPr>
              <a:t>Tight Coupling + </a:t>
            </a:r>
            <a:r>
              <a:rPr b="1" i="1" lang="en-US" sz="4600"/>
              <a:t>Low Cohesion :</a:t>
            </a:r>
            <a:endParaRPr b="1" i="1" sz="4600"/>
          </a:p>
          <a:p>
            <a:pPr indent="-514350" lvl="0" marL="457200" marR="0" rtl="0" algn="l">
              <a:lnSpc>
                <a:spcPct val="100000"/>
              </a:lnSpc>
              <a:spcBef>
                <a:spcPts val="0"/>
              </a:spcBef>
              <a:spcAft>
                <a:spcPts val="0"/>
              </a:spcAft>
              <a:buSzPts val="4500"/>
              <a:buChar char="●"/>
            </a:pPr>
            <a:r>
              <a:rPr lang="en-US" sz="4500"/>
              <a:t>Người dùng tạo tài khoản qua “Registration service".</a:t>
            </a:r>
            <a:endParaRPr sz="4500"/>
          </a:p>
          <a:p>
            <a:pPr indent="-514350" lvl="0" marL="457200" marR="0" rtl="0" algn="l">
              <a:lnSpc>
                <a:spcPct val="100000"/>
              </a:lnSpc>
              <a:spcBef>
                <a:spcPts val="0"/>
              </a:spcBef>
              <a:spcAft>
                <a:spcPts val="0"/>
              </a:spcAft>
              <a:buSzPts val="4500"/>
              <a:buChar char="●"/>
            </a:pPr>
            <a:r>
              <a:rPr lang="en-US" sz="4500"/>
              <a:t>Chăm sóc khách hàng edit người dùng thông qua “Helpdesk service"</a:t>
            </a:r>
            <a:endParaRPr sz="4500"/>
          </a:p>
          <a:p>
            <a:pPr indent="-514350" lvl="0" marL="457200" marR="0" rtl="0" algn="l">
              <a:lnSpc>
                <a:spcPct val="100000"/>
              </a:lnSpc>
              <a:spcBef>
                <a:spcPts val="0"/>
              </a:spcBef>
              <a:spcAft>
                <a:spcPts val="0"/>
              </a:spcAft>
              <a:buSzPts val="4500"/>
              <a:buChar char="●"/>
            </a:pPr>
            <a:r>
              <a:rPr lang="en-US" sz="4500"/>
              <a:t>Bộ phận quản lý kho cũng cập nhật người dùng thông qua “Warehouse service"</a:t>
            </a:r>
            <a:endParaRPr sz="4500"/>
          </a:p>
          <a:p>
            <a:pPr indent="-514350" lvl="0" marL="457200" marR="0" rtl="0" algn="l">
              <a:lnSpc>
                <a:spcPct val="100000"/>
              </a:lnSpc>
              <a:spcBef>
                <a:spcPts val="0"/>
              </a:spcBef>
              <a:spcAft>
                <a:spcPts val="0"/>
              </a:spcAft>
              <a:buSzPts val="4500"/>
              <a:buChar char="●"/>
            </a:pPr>
            <a:r>
              <a:rPr lang="en-US" sz="4500"/>
              <a:t>Nếu service đăng ký người dùng thêm 1 trường, ví dụ: age =&gt; tất cả các service khác phải thay đổi theo</a:t>
            </a:r>
            <a:endParaRPr sz="4500"/>
          </a:p>
          <a:p>
            <a:pPr indent="0" lvl="0" marL="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None/>
            </a:pPr>
            <a:r>
              <a:t/>
            </a:r>
            <a:endParaRPr sz="4500"/>
          </a:p>
          <a:p>
            <a:pPr indent="0" lvl="0" marL="457200" marR="0" rtl="0" algn="l">
              <a:lnSpc>
                <a:spcPct val="100000"/>
              </a:lnSpc>
              <a:spcBef>
                <a:spcPts val="0"/>
              </a:spcBef>
              <a:spcAft>
                <a:spcPts val="0"/>
              </a:spcAft>
              <a:buNone/>
            </a:pPr>
            <a:r>
              <a:t/>
            </a:r>
            <a:endParaRPr sz="4500"/>
          </a:p>
        </p:txBody>
      </p:sp>
      <p:sp>
        <p:nvSpPr>
          <p:cNvPr id="92" name="Google Shape;92;g32df96e7d35_0_52"/>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What Makes a </a:t>
            </a:r>
            <a:r>
              <a:rPr b="1" lang="en-US" sz="6000">
                <a:solidFill>
                  <a:srgbClr val="4F81BD"/>
                </a:solidFill>
              </a:rPr>
              <a:t>bad</a:t>
            </a:r>
            <a:r>
              <a:rPr b="1" lang="en-US" sz="6000">
                <a:solidFill>
                  <a:srgbClr val="4F81BD"/>
                </a:solidFill>
              </a:rPr>
              <a:t> serivce?</a:t>
            </a:r>
            <a:endParaRPr b="1" i="0" sz="6000" u="none" cap="none" strike="noStrike">
              <a:solidFill>
                <a:srgbClr val="4F81BD"/>
              </a:solidFill>
              <a:latin typeface="Arial"/>
              <a:ea typeface="Arial"/>
              <a:cs typeface="Arial"/>
              <a:sym typeface="Arial"/>
            </a:endParaRPr>
          </a:p>
        </p:txBody>
      </p:sp>
      <p:pic>
        <p:nvPicPr>
          <p:cNvPr id="93" name="Google Shape;93;g32df96e7d35_0_52"/>
          <p:cNvPicPr preferRelativeResize="0"/>
          <p:nvPr/>
        </p:nvPicPr>
        <p:blipFill>
          <a:blip r:embed="rId3">
            <a:alphaModFix/>
          </a:blip>
          <a:stretch>
            <a:fillRect/>
          </a:stretch>
        </p:blipFill>
        <p:spPr>
          <a:xfrm>
            <a:off x="5024260" y="6619875"/>
            <a:ext cx="15771225" cy="4621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2df96e7d35_0_60"/>
          <p:cNvSpPr txBox="1"/>
          <p:nvPr/>
        </p:nvSpPr>
        <p:spPr>
          <a:xfrm>
            <a:off x="1491350" y="2101875"/>
            <a:ext cx="208725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4600"/>
              <a:t>Domain</a:t>
            </a:r>
            <a:endParaRPr b="1" i="1" sz="4600"/>
          </a:p>
          <a:p>
            <a:pPr indent="-514350" lvl="0" marL="457200" marR="0" rtl="0" algn="l">
              <a:lnSpc>
                <a:spcPct val="100000"/>
              </a:lnSpc>
              <a:spcBef>
                <a:spcPts val="0"/>
              </a:spcBef>
              <a:spcAft>
                <a:spcPts val="0"/>
              </a:spcAft>
              <a:buSzPts val="4500"/>
              <a:buChar char="●"/>
            </a:pPr>
            <a:r>
              <a:rPr lang="en-US" sz="4500"/>
              <a:t>Domain (Miền nghiệp vụ): là các không gian mà phần mềm hoạt động và giải quyết vấn đề. Ví dụ đối với 1 công ty thương mại điện tử, có thể có các domain như sau:</a:t>
            </a:r>
            <a:endParaRPr sz="4500"/>
          </a:p>
          <a:p>
            <a:pPr indent="-514350" lvl="1" marL="914400" marR="0" rtl="0" algn="l">
              <a:lnSpc>
                <a:spcPct val="100000"/>
              </a:lnSpc>
              <a:spcBef>
                <a:spcPts val="0"/>
              </a:spcBef>
              <a:spcAft>
                <a:spcPts val="0"/>
              </a:spcAft>
              <a:buSzPts val="4500"/>
              <a:buChar char="○"/>
            </a:pPr>
            <a:r>
              <a:rPr lang="en-US" sz="4500"/>
              <a:t>Quản lý nhân viên, phòng ban</a:t>
            </a:r>
            <a:endParaRPr sz="4500"/>
          </a:p>
          <a:p>
            <a:pPr indent="-514350" lvl="1" marL="914400" marR="0" rtl="0" algn="l">
              <a:lnSpc>
                <a:spcPct val="100000"/>
              </a:lnSpc>
              <a:spcBef>
                <a:spcPts val="0"/>
              </a:spcBef>
              <a:spcAft>
                <a:spcPts val="0"/>
              </a:spcAft>
              <a:buSzPts val="4500"/>
              <a:buChar char="○"/>
            </a:pPr>
            <a:r>
              <a:rPr lang="en-US" sz="4500"/>
              <a:t>Quản lý đơn hàng</a:t>
            </a:r>
            <a:endParaRPr sz="4500"/>
          </a:p>
          <a:p>
            <a:pPr indent="-514350" lvl="1" marL="914400" marR="0" rtl="0" algn="l">
              <a:lnSpc>
                <a:spcPct val="100000"/>
              </a:lnSpc>
              <a:spcBef>
                <a:spcPts val="0"/>
              </a:spcBef>
              <a:spcAft>
                <a:spcPts val="0"/>
              </a:spcAft>
              <a:buSzPts val="4500"/>
              <a:buChar char="○"/>
            </a:pPr>
            <a:r>
              <a:rPr lang="en-US" sz="4500"/>
              <a:t>Quản lý kho hàng</a:t>
            </a:r>
            <a:endParaRPr sz="4500"/>
          </a:p>
          <a:p>
            <a:pPr indent="-514350" lvl="1" marL="914400" marR="0" rtl="0" algn="l">
              <a:lnSpc>
                <a:spcPct val="100000"/>
              </a:lnSpc>
              <a:spcBef>
                <a:spcPts val="0"/>
              </a:spcBef>
              <a:spcAft>
                <a:spcPts val="0"/>
              </a:spcAft>
              <a:buSzPts val="4500"/>
              <a:buChar char="○"/>
            </a:pPr>
            <a:r>
              <a:rPr lang="en-US" sz="4500"/>
              <a:t>Quản lý khách hàng</a:t>
            </a:r>
            <a:endParaRPr sz="4500"/>
          </a:p>
          <a:p>
            <a:pPr indent="-514350" lvl="1" marL="914400" marR="0" rtl="0" algn="l">
              <a:lnSpc>
                <a:spcPct val="100000"/>
              </a:lnSpc>
              <a:spcBef>
                <a:spcPts val="0"/>
              </a:spcBef>
              <a:spcAft>
                <a:spcPts val="0"/>
              </a:spcAft>
              <a:buSzPts val="4500"/>
              <a:buChar char="○"/>
            </a:pPr>
            <a:r>
              <a:rPr lang="en-US" sz="4500"/>
              <a:t>….</a:t>
            </a:r>
            <a:endParaRPr sz="4500"/>
          </a:p>
          <a:p>
            <a:pPr indent="0" lvl="0" marL="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None/>
            </a:pPr>
            <a:r>
              <a:t/>
            </a:r>
            <a:endParaRPr sz="4500"/>
          </a:p>
          <a:p>
            <a:pPr indent="0" lvl="0" marL="457200" marR="0" rtl="0" algn="l">
              <a:lnSpc>
                <a:spcPct val="100000"/>
              </a:lnSpc>
              <a:spcBef>
                <a:spcPts val="0"/>
              </a:spcBef>
              <a:spcAft>
                <a:spcPts val="0"/>
              </a:spcAft>
              <a:buNone/>
            </a:pPr>
            <a:r>
              <a:t/>
            </a:r>
            <a:endParaRPr sz="4500"/>
          </a:p>
        </p:txBody>
      </p:sp>
      <p:sp>
        <p:nvSpPr>
          <p:cNvPr id="99" name="Google Shape;99;g32df96e7d35_0_60"/>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The Bounded Context</a:t>
            </a:r>
            <a:endParaRPr b="1" i="0" sz="6000" u="none" cap="none" strike="noStrike">
              <a:solidFill>
                <a:srgbClr val="4F81BD"/>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2e53d89950_0_0"/>
          <p:cNvSpPr txBox="1"/>
          <p:nvPr/>
        </p:nvSpPr>
        <p:spPr>
          <a:xfrm>
            <a:off x="1491350" y="2101875"/>
            <a:ext cx="208725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4600"/>
              <a:t>Bounded Context</a:t>
            </a:r>
            <a:endParaRPr b="1" i="1" sz="4600"/>
          </a:p>
          <a:p>
            <a:pPr indent="-514350" lvl="0" marL="457200" marR="0" rtl="0" algn="l">
              <a:lnSpc>
                <a:spcPct val="100000"/>
              </a:lnSpc>
              <a:spcBef>
                <a:spcPts val="0"/>
              </a:spcBef>
              <a:spcAft>
                <a:spcPts val="0"/>
              </a:spcAft>
              <a:buSzPts val="4500"/>
              <a:buChar char="●"/>
            </a:pPr>
            <a:r>
              <a:rPr lang="en-US" sz="4500"/>
              <a:t>Trong 1 domain có nhiều Bounded Context, trong mỗi Bounded Context là:</a:t>
            </a:r>
            <a:endParaRPr sz="4500"/>
          </a:p>
          <a:p>
            <a:pPr indent="-514350" lvl="1" marL="914400" marR="0" rtl="0" algn="l">
              <a:lnSpc>
                <a:spcPct val="100000"/>
              </a:lnSpc>
              <a:spcBef>
                <a:spcPts val="0"/>
              </a:spcBef>
              <a:spcAft>
                <a:spcPts val="0"/>
              </a:spcAft>
              <a:buSzPts val="4500"/>
              <a:buChar char="○"/>
            </a:pPr>
            <a:r>
              <a:rPr lang="en-US" sz="4500"/>
              <a:t>Gồm những thành phần mà không cần kết nối bên ngoài</a:t>
            </a:r>
            <a:endParaRPr sz="4500"/>
          </a:p>
          <a:p>
            <a:pPr indent="-514350" lvl="1" marL="914400" marR="0" rtl="0" algn="l">
              <a:lnSpc>
                <a:spcPct val="100000"/>
              </a:lnSpc>
              <a:spcBef>
                <a:spcPts val="0"/>
              </a:spcBef>
              <a:spcAft>
                <a:spcPts val="0"/>
              </a:spcAft>
              <a:buSzPts val="4500"/>
              <a:buChar char="○"/>
            </a:pPr>
            <a:r>
              <a:rPr lang="en-US" sz="4500"/>
              <a:t>Và những thành phần cần kết nối ra ngoài với các Bounded Context khác</a:t>
            </a:r>
            <a:endParaRPr sz="4500"/>
          </a:p>
          <a:p>
            <a:pPr indent="-514350" lvl="0" marL="457200" marR="0" rtl="0" algn="l">
              <a:lnSpc>
                <a:spcPct val="100000"/>
              </a:lnSpc>
              <a:spcBef>
                <a:spcPts val="0"/>
              </a:spcBef>
              <a:spcAft>
                <a:spcPts val="0"/>
              </a:spcAft>
              <a:buSzPts val="4500"/>
              <a:buChar char="●"/>
            </a:pPr>
            <a:r>
              <a:rPr lang="en-US" sz="4500"/>
              <a:t>Bounded</a:t>
            </a:r>
            <a:r>
              <a:rPr lang="en-US" sz="4500"/>
              <a:t> Context:</a:t>
            </a:r>
            <a:r>
              <a:rPr lang="en-US" sz="4500"/>
              <a:t> </a:t>
            </a:r>
            <a:r>
              <a:rPr lang="en-US" sz="4500"/>
              <a:t>là 1 nhiệm vụ cụ thể được thực hiện với ranh giới rõ ràng</a:t>
            </a:r>
            <a:endParaRPr sz="4500"/>
          </a:p>
          <a:p>
            <a:pPr indent="0" lvl="0" marL="91440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None/>
            </a:pPr>
            <a:r>
              <a:t/>
            </a:r>
            <a:endParaRPr sz="4500"/>
          </a:p>
          <a:p>
            <a:pPr indent="0" lvl="0" marL="457200" marR="0" rtl="0" algn="l">
              <a:lnSpc>
                <a:spcPct val="100000"/>
              </a:lnSpc>
              <a:spcBef>
                <a:spcPts val="0"/>
              </a:spcBef>
              <a:spcAft>
                <a:spcPts val="0"/>
              </a:spcAft>
              <a:buNone/>
            </a:pPr>
            <a:r>
              <a:t/>
            </a:r>
            <a:endParaRPr sz="4500"/>
          </a:p>
        </p:txBody>
      </p:sp>
      <p:sp>
        <p:nvSpPr>
          <p:cNvPr id="105" name="Google Shape;105;g32e53d89950_0_0"/>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The Bounded Context</a:t>
            </a:r>
            <a:endParaRPr b="1" i="0" sz="6000" u="none" cap="none" strike="noStrike">
              <a:solidFill>
                <a:srgbClr val="4F81BD"/>
              </a:solidFill>
              <a:latin typeface="Arial"/>
              <a:ea typeface="Arial"/>
              <a:cs typeface="Arial"/>
              <a:sym typeface="Arial"/>
            </a:endParaRPr>
          </a:p>
        </p:txBody>
      </p:sp>
      <p:pic>
        <p:nvPicPr>
          <p:cNvPr id="106" name="Google Shape;106;g32e53d89950_0_0"/>
          <p:cNvPicPr preferRelativeResize="0"/>
          <p:nvPr/>
        </p:nvPicPr>
        <p:blipFill>
          <a:blip r:embed="rId3">
            <a:alphaModFix/>
          </a:blip>
          <a:stretch>
            <a:fillRect/>
          </a:stretch>
        </p:blipFill>
        <p:spPr>
          <a:xfrm>
            <a:off x="3235525" y="5743025"/>
            <a:ext cx="15135601" cy="5090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2e53d89950_0_6"/>
          <p:cNvSpPr txBox="1"/>
          <p:nvPr/>
        </p:nvSpPr>
        <p:spPr>
          <a:xfrm>
            <a:off x="1491350" y="2101875"/>
            <a:ext cx="208725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4600"/>
              <a:t>Ví dụ </a:t>
            </a:r>
            <a:r>
              <a:rPr b="1" lang="en-US" sz="4600"/>
              <a:t>Bounded Context</a:t>
            </a:r>
            <a:endParaRPr b="1" i="1" sz="4600"/>
          </a:p>
          <a:p>
            <a:pPr indent="-514350" lvl="0" marL="457200" marR="0" rtl="0" algn="l">
              <a:lnSpc>
                <a:spcPct val="100000"/>
              </a:lnSpc>
              <a:spcBef>
                <a:spcPts val="0"/>
              </a:spcBef>
              <a:spcAft>
                <a:spcPts val="0"/>
              </a:spcAft>
              <a:buSzPts val="4500"/>
              <a:buChar char="●"/>
            </a:pPr>
            <a:r>
              <a:rPr lang="en-US" sz="4500"/>
              <a:t>Employee Management Context: cover tất cả những vấn đề liên quan đến quản lý nhân viên như thông tin cá nhân, skill, kinh nghiệm làm việc nhưng </a:t>
            </a:r>
            <a:r>
              <a:rPr b="1" lang="en-US" sz="4500"/>
              <a:t>không cover</a:t>
            </a:r>
            <a:r>
              <a:rPr lang="en-US" sz="4500"/>
              <a:t> đến quản lý giờ làm việc, lương, đào tạo …</a:t>
            </a:r>
            <a:endParaRPr sz="4500"/>
          </a:p>
          <a:p>
            <a:pPr indent="-514350" lvl="0" marL="457200" marR="0" rtl="0" algn="l">
              <a:lnSpc>
                <a:spcPct val="100000"/>
              </a:lnSpc>
              <a:spcBef>
                <a:spcPts val="0"/>
              </a:spcBef>
              <a:spcAft>
                <a:spcPts val="0"/>
              </a:spcAft>
              <a:buSzPts val="4500"/>
              <a:buChar char="●"/>
            </a:pPr>
            <a:r>
              <a:rPr lang="en-US" sz="4500"/>
              <a:t>Salary Accounting Context: Cover tất cả những vấn đề liên quan đến lương như tính giờ làm việc, lưu thông tin lương hàng tháng, … nhưng </a:t>
            </a:r>
            <a:r>
              <a:rPr b="1" lang="en-US" sz="4500"/>
              <a:t>không cover</a:t>
            </a:r>
            <a:r>
              <a:rPr lang="en-US" sz="4500"/>
              <a:t> các vấn đề như thông tin cá nhân, thông tin tuyển dụng, …</a:t>
            </a:r>
            <a:endParaRPr sz="4500"/>
          </a:p>
          <a:p>
            <a:pPr indent="-514350" lvl="0" marL="457200" marR="0" rtl="0" algn="l">
              <a:lnSpc>
                <a:spcPct val="100000"/>
              </a:lnSpc>
              <a:spcBef>
                <a:spcPts val="0"/>
              </a:spcBef>
              <a:spcAft>
                <a:spcPts val="0"/>
              </a:spcAft>
              <a:buSzPts val="4500"/>
              <a:buChar char="●"/>
            </a:pPr>
            <a:r>
              <a:rPr lang="en-US" sz="4500"/>
              <a:t>…</a:t>
            </a:r>
            <a:endParaRPr sz="4500"/>
          </a:p>
          <a:p>
            <a:pPr indent="0" lvl="0" marL="0" marR="0" rtl="0" algn="l">
              <a:lnSpc>
                <a:spcPct val="100000"/>
              </a:lnSpc>
              <a:spcBef>
                <a:spcPts val="0"/>
              </a:spcBef>
              <a:spcAft>
                <a:spcPts val="0"/>
              </a:spcAft>
              <a:buNone/>
            </a:pPr>
            <a:r>
              <a:t/>
            </a:r>
            <a:endParaRPr sz="4500"/>
          </a:p>
          <a:p>
            <a:pPr indent="0" lvl="0" marL="0" marR="0" rtl="0" algn="l">
              <a:lnSpc>
                <a:spcPct val="100000"/>
              </a:lnSpc>
              <a:spcBef>
                <a:spcPts val="0"/>
              </a:spcBef>
              <a:spcAft>
                <a:spcPts val="0"/>
              </a:spcAft>
              <a:buNone/>
            </a:pPr>
            <a:r>
              <a:t/>
            </a:r>
            <a:endParaRPr sz="4500"/>
          </a:p>
          <a:p>
            <a:pPr indent="0" lvl="0" marL="457200" marR="0" rtl="0" algn="l">
              <a:lnSpc>
                <a:spcPct val="100000"/>
              </a:lnSpc>
              <a:spcBef>
                <a:spcPts val="0"/>
              </a:spcBef>
              <a:spcAft>
                <a:spcPts val="0"/>
              </a:spcAft>
              <a:buNone/>
            </a:pPr>
            <a:r>
              <a:t/>
            </a:r>
            <a:endParaRPr sz="4500"/>
          </a:p>
        </p:txBody>
      </p:sp>
      <p:sp>
        <p:nvSpPr>
          <p:cNvPr id="112" name="Google Shape;112;g32e53d89950_0_6"/>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The Bounded Context</a:t>
            </a:r>
            <a:endParaRPr b="1" i="0" sz="6000" u="none" cap="none" strike="noStrike">
              <a:solidFill>
                <a:srgbClr val="4F81BD"/>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2e53d89950_0_17"/>
          <p:cNvSpPr txBox="1"/>
          <p:nvPr/>
        </p:nvSpPr>
        <p:spPr>
          <a:xfrm>
            <a:off x="1491350" y="2101875"/>
            <a:ext cx="208725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4600"/>
              <a:t>Cách định nghĩa microservice:</a:t>
            </a:r>
            <a:endParaRPr b="1" sz="4600"/>
          </a:p>
          <a:p>
            <a:pPr indent="-520700" lvl="0" marL="457200" marR="0" rtl="0" algn="l">
              <a:lnSpc>
                <a:spcPct val="100000"/>
              </a:lnSpc>
              <a:spcBef>
                <a:spcPts val="0"/>
              </a:spcBef>
              <a:spcAft>
                <a:spcPts val="0"/>
              </a:spcAft>
              <a:buSzPts val="4600"/>
              <a:buChar char="●"/>
            </a:pPr>
            <a:r>
              <a:rPr lang="en-US" sz="4600"/>
              <a:t>Analyze Domain: hiểu rõ miền nghiệp vụ mà hệ thống sẽ giải quyết</a:t>
            </a:r>
            <a:endParaRPr sz="4600"/>
          </a:p>
          <a:p>
            <a:pPr indent="-520700" lvl="0" marL="457200" marR="0" rtl="0" algn="l">
              <a:lnSpc>
                <a:spcPct val="100000"/>
              </a:lnSpc>
              <a:spcBef>
                <a:spcPts val="0"/>
              </a:spcBef>
              <a:spcAft>
                <a:spcPts val="0"/>
              </a:spcAft>
              <a:buSzPts val="4600"/>
              <a:buChar char="●"/>
            </a:pPr>
            <a:r>
              <a:rPr lang="en-US" sz="4600"/>
              <a:t>Xác định Bounded Context: Xác định ranh giới rõ ràng bên trong miền nghiệp vụ, định nghĩa thông tin và cách tương tác với nhau giữa các bounded contexts</a:t>
            </a:r>
            <a:endParaRPr sz="4600"/>
          </a:p>
          <a:p>
            <a:pPr indent="-520700" lvl="0" marL="457200" marR="0" rtl="0" algn="l">
              <a:lnSpc>
                <a:spcPct val="100000"/>
              </a:lnSpc>
              <a:spcBef>
                <a:spcPts val="0"/>
              </a:spcBef>
              <a:spcAft>
                <a:spcPts val="0"/>
              </a:spcAft>
              <a:buSzPts val="4600"/>
              <a:buChar char="●"/>
            </a:pPr>
            <a:r>
              <a:rPr lang="en-US" sz="4600"/>
              <a:t>Định nghĩa Microservice: Phân chia cá bounded context thành các microservice (</a:t>
            </a:r>
            <a:r>
              <a:rPr lang="en-US" sz="4600"/>
              <a:t>thông</a:t>
            </a:r>
            <a:r>
              <a:rPr lang="en-US" sz="4600"/>
              <a:t> thường 1 bounded context ~ 1 microservice). Xác định ranh giới cho microservice:</a:t>
            </a:r>
            <a:endParaRPr sz="4600"/>
          </a:p>
          <a:p>
            <a:pPr indent="-520700" lvl="1" marL="914400" marR="0" rtl="0" algn="l">
              <a:lnSpc>
                <a:spcPct val="100000"/>
              </a:lnSpc>
              <a:spcBef>
                <a:spcPts val="0"/>
              </a:spcBef>
              <a:spcAft>
                <a:spcPts val="0"/>
              </a:spcAft>
              <a:buSzPts val="4600"/>
              <a:buChar char="○"/>
            </a:pPr>
            <a:r>
              <a:rPr lang="en-US" sz="4600"/>
              <a:t>Database riêng</a:t>
            </a:r>
            <a:endParaRPr sz="4600"/>
          </a:p>
          <a:p>
            <a:pPr indent="-520700" lvl="1" marL="914400" marR="0" rtl="0" algn="l">
              <a:lnSpc>
                <a:spcPct val="100000"/>
              </a:lnSpc>
              <a:spcBef>
                <a:spcPts val="0"/>
              </a:spcBef>
              <a:spcAft>
                <a:spcPts val="0"/>
              </a:spcAft>
              <a:buSzPts val="4600"/>
              <a:buChar char="○"/>
            </a:pPr>
            <a:r>
              <a:rPr lang="en-US" sz="4600"/>
              <a:t>Logic nghiệp vụ riêng</a:t>
            </a:r>
            <a:endParaRPr sz="4600"/>
          </a:p>
          <a:p>
            <a:pPr indent="-520700" lvl="1" marL="914400" marR="0" rtl="0" algn="l">
              <a:lnSpc>
                <a:spcPct val="100000"/>
              </a:lnSpc>
              <a:spcBef>
                <a:spcPts val="0"/>
              </a:spcBef>
              <a:spcAft>
                <a:spcPts val="0"/>
              </a:spcAft>
              <a:buSzPts val="4600"/>
              <a:buChar char="○"/>
            </a:pPr>
            <a:r>
              <a:rPr lang="en-US" sz="4600"/>
              <a:t>Giao tiếp qua API/event </a:t>
            </a:r>
            <a:endParaRPr sz="4600"/>
          </a:p>
          <a:p>
            <a:pPr indent="-520700" lvl="1" marL="914400" marR="0" rtl="0" algn="l">
              <a:lnSpc>
                <a:spcPct val="100000"/>
              </a:lnSpc>
              <a:spcBef>
                <a:spcPts val="0"/>
              </a:spcBef>
              <a:spcAft>
                <a:spcPts val="0"/>
              </a:spcAft>
              <a:buSzPts val="4600"/>
              <a:buChar char="○"/>
            </a:pPr>
            <a:r>
              <a:t/>
            </a:r>
            <a:endParaRPr sz="4600"/>
          </a:p>
          <a:p>
            <a:pPr indent="0" lvl="0" marL="0" marR="0" rtl="0" algn="l">
              <a:lnSpc>
                <a:spcPct val="100000"/>
              </a:lnSpc>
              <a:spcBef>
                <a:spcPts val="0"/>
              </a:spcBef>
              <a:spcAft>
                <a:spcPts val="0"/>
              </a:spcAft>
              <a:buNone/>
            </a:pPr>
            <a:r>
              <a:t/>
            </a:r>
            <a:endParaRPr sz="4500"/>
          </a:p>
        </p:txBody>
      </p:sp>
      <p:sp>
        <p:nvSpPr>
          <p:cNvPr id="118" name="Google Shape;118;g32e53d89950_0_17"/>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The Bounded Context</a:t>
            </a:r>
            <a:endParaRPr b="1" i="0" sz="6000" u="none" cap="none" strike="noStrike">
              <a:solidFill>
                <a:srgbClr val="4F81BD"/>
              </a:solidFill>
              <a:latin typeface="Arial"/>
              <a:ea typeface="Arial"/>
              <a:cs typeface="Arial"/>
              <a:sym typeface="Arial"/>
            </a:endParaRPr>
          </a:p>
        </p:txBody>
      </p:sp>
      <p:pic>
        <p:nvPicPr>
          <p:cNvPr id="119" name="Google Shape;119;g32e53d89950_0_17"/>
          <p:cNvPicPr preferRelativeResize="0"/>
          <p:nvPr/>
        </p:nvPicPr>
        <p:blipFill>
          <a:blip r:embed="rId3">
            <a:alphaModFix/>
          </a:blip>
          <a:stretch>
            <a:fillRect/>
          </a:stretch>
        </p:blipFill>
        <p:spPr>
          <a:xfrm>
            <a:off x="8587675" y="7861500"/>
            <a:ext cx="13475399" cy="2691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2e53d89950_0_44"/>
          <p:cNvSpPr txBox="1"/>
          <p:nvPr/>
        </p:nvSpPr>
        <p:spPr>
          <a:xfrm>
            <a:off x="1491350" y="2101875"/>
            <a:ext cx="100551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4600"/>
              <a:t>12 factor app:</a:t>
            </a:r>
            <a:endParaRPr b="1" sz="4600"/>
          </a:p>
          <a:p>
            <a:pPr indent="-520700" lvl="0" marL="457200" marR="0" rtl="0" algn="l">
              <a:lnSpc>
                <a:spcPct val="100000"/>
              </a:lnSpc>
              <a:spcBef>
                <a:spcPts val="0"/>
              </a:spcBef>
              <a:spcAft>
                <a:spcPts val="0"/>
              </a:spcAft>
              <a:buSzPts val="4600"/>
              <a:buChar char="-"/>
            </a:pPr>
            <a:r>
              <a:rPr lang="en-US" sz="4600"/>
              <a:t>Là tập hợp các nguyên tắc và phương pháp phát triển phần mềm giúp ứng dụng tương thích với các yêu cầu về cloud-native và microservices.</a:t>
            </a:r>
            <a:endParaRPr sz="4600"/>
          </a:p>
          <a:p>
            <a:pPr indent="0" lvl="0" marL="0" marR="0" rtl="0" algn="l">
              <a:lnSpc>
                <a:spcPct val="100000"/>
              </a:lnSpc>
              <a:spcBef>
                <a:spcPts val="0"/>
              </a:spcBef>
              <a:spcAft>
                <a:spcPts val="0"/>
              </a:spcAft>
              <a:buNone/>
            </a:pPr>
            <a:r>
              <a:t/>
            </a:r>
            <a:endParaRPr sz="4600"/>
          </a:p>
          <a:p>
            <a:pPr indent="0" lvl="0" marL="0" marR="0" rtl="0" algn="l">
              <a:lnSpc>
                <a:spcPct val="100000"/>
              </a:lnSpc>
              <a:spcBef>
                <a:spcPts val="0"/>
              </a:spcBef>
              <a:spcAft>
                <a:spcPts val="0"/>
              </a:spcAft>
              <a:buNone/>
            </a:pPr>
            <a:r>
              <a:rPr b="1" i="1" lang="en-US" sz="4600"/>
              <a:t>Mục tiêu:</a:t>
            </a:r>
            <a:endParaRPr b="1" i="1" sz="4600"/>
          </a:p>
          <a:p>
            <a:pPr indent="-520700" lvl="0" marL="457200" marR="0" rtl="0" algn="l">
              <a:lnSpc>
                <a:spcPct val="100000"/>
              </a:lnSpc>
              <a:spcBef>
                <a:spcPts val="0"/>
              </a:spcBef>
              <a:spcAft>
                <a:spcPts val="0"/>
              </a:spcAft>
              <a:buSzPts val="4600"/>
              <a:buChar char="-"/>
            </a:pPr>
            <a:r>
              <a:rPr lang="en-US" sz="4600"/>
              <a:t>Dễ triển khai ứng dụng trên mội trường khác nhau</a:t>
            </a:r>
            <a:endParaRPr sz="4600"/>
          </a:p>
          <a:p>
            <a:pPr indent="-520700" lvl="0" marL="457200" marR="0" rtl="0" algn="l">
              <a:lnSpc>
                <a:spcPct val="100000"/>
              </a:lnSpc>
              <a:spcBef>
                <a:spcPts val="0"/>
              </a:spcBef>
              <a:spcAft>
                <a:spcPts val="0"/>
              </a:spcAft>
              <a:buSzPts val="4600"/>
              <a:buChar char="-"/>
            </a:pPr>
            <a:r>
              <a:rPr lang="en-US" sz="4600"/>
              <a:t>Dễ mở rộng</a:t>
            </a:r>
            <a:endParaRPr sz="4600"/>
          </a:p>
          <a:p>
            <a:pPr indent="-520700" lvl="0" marL="457200" marR="0" rtl="0" algn="l">
              <a:lnSpc>
                <a:spcPct val="100000"/>
              </a:lnSpc>
              <a:spcBef>
                <a:spcPts val="0"/>
              </a:spcBef>
              <a:spcAft>
                <a:spcPts val="0"/>
              </a:spcAft>
              <a:buSzPts val="4600"/>
              <a:buChar char="-"/>
            </a:pPr>
            <a:r>
              <a:rPr lang="en-US" sz="4600"/>
              <a:t>Dễ bảo trì</a:t>
            </a:r>
            <a:endParaRPr sz="4600"/>
          </a:p>
        </p:txBody>
      </p:sp>
      <p:sp>
        <p:nvSpPr>
          <p:cNvPr id="125" name="Google Shape;125;g32e53d89950_0_44"/>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12 factor app</a:t>
            </a:r>
            <a:endParaRPr b="1" i="0" sz="6000" u="none" cap="none" strike="noStrike">
              <a:solidFill>
                <a:srgbClr val="4F81BD"/>
              </a:solidFill>
              <a:latin typeface="Arial"/>
              <a:ea typeface="Arial"/>
              <a:cs typeface="Arial"/>
              <a:sym typeface="Arial"/>
            </a:endParaRPr>
          </a:p>
        </p:txBody>
      </p:sp>
      <p:pic>
        <p:nvPicPr>
          <p:cNvPr id="126" name="Google Shape;126;g32e53d89950_0_44"/>
          <p:cNvPicPr preferRelativeResize="0"/>
          <p:nvPr/>
        </p:nvPicPr>
        <p:blipFill>
          <a:blip r:embed="rId3">
            <a:alphaModFix/>
          </a:blip>
          <a:stretch>
            <a:fillRect/>
          </a:stretch>
        </p:blipFill>
        <p:spPr>
          <a:xfrm>
            <a:off x="12442650" y="2964825"/>
            <a:ext cx="9499750" cy="733818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2e53d89950_0_28"/>
          <p:cNvSpPr txBox="1"/>
          <p:nvPr/>
        </p:nvSpPr>
        <p:spPr>
          <a:xfrm>
            <a:off x="1491350" y="2101875"/>
            <a:ext cx="14065800" cy="9329100"/>
          </a:xfrm>
          <a:prstGeom prst="rect">
            <a:avLst/>
          </a:prstGeom>
          <a:noFill/>
          <a:ln>
            <a:noFill/>
          </a:ln>
        </p:spPr>
        <p:txBody>
          <a:bodyPr anchorCtr="0" anchor="t" bIns="45700" lIns="91425" spcFirstLastPara="1" rIns="91425" wrap="square" tIns="45700">
            <a:noAutofit/>
          </a:bodyPr>
          <a:lstStyle/>
          <a:p>
            <a:pPr indent="0" lvl="0" marL="457200" marR="0" rtl="0" algn="l">
              <a:lnSpc>
                <a:spcPct val="100000"/>
              </a:lnSpc>
              <a:spcBef>
                <a:spcPts val="0"/>
              </a:spcBef>
              <a:spcAft>
                <a:spcPts val="0"/>
              </a:spcAft>
              <a:buNone/>
            </a:pPr>
            <a:r>
              <a:rPr b="1" lang="en-US" sz="4600"/>
              <a:t>1. </a:t>
            </a:r>
            <a:r>
              <a:rPr b="1" lang="en-US" sz="4600"/>
              <a:t>Codebase</a:t>
            </a:r>
            <a:endParaRPr b="1" sz="4600"/>
          </a:p>
          <a:p>
            <a:pPr indent="-520700" lvl="0" marL="457200" marR="0" rtl="0" algn="l">
              <a:lnSpc>
                <a:spcPct val="100000"/>
              </a:lnSpc>
              <a:spcBef>
                <a:spcPts val="0"/>
              </a:spcBef>
              <a:spcAft>
                <a:spcPts val="0"/>
              </a:spcAft>
              <a:buSzPts val="4600"/>
              <a:buChar char="●"/>
            </a:pPr>
            <a:r>
              <a:rPr lang="en-US" sz="4600"/>
              <a:t>1 codebase, 1 app - nhiều môi trường</a:t>
            </a:r>
            <a:r>
              <a:rPr lang="en-US" sz="4600"/>
              <a:t> </a:t>
            </a:r>
            <a:endParaRPr sz="4600"/>
          </a:p>
          <a:p>
            <a:pPr indent="-520700" lvl="1" marL="914400" marR="0" rtl="0" algn="l">
              <a:lnSpc>
                <a:spcPct val="100000"/>
              </a:lnSpc>
              <a:spcBef>
                <a:spcPts val="0"/>
              </a:spcBef>
              <a:spcAft>
                <a:spcPts val="0"/>
              </a:spcAft>
              <a:buSzPts val="4600"/>
              <a:buChar char="○"/>
            </a:pPr>
            <a:r>
              <a:rPr lang="en-US" sz="4600"/>
              <a:t>1 microservice nên có 1 code base được track trên các hệ thống quản lý version (git, svn, …)</a:t>
            </a:r>
            <a:endParaRPr sz="4600"/>
          </a:p>
          <a:p>
            <a:pPr indent="-520700" lvl="1" marL="914400" marR="0" rtl="0" algn="l">
              <a:lnSpc>
                <a:spcPct val="100000"/>
              </a:lnSpc>
              <a:spcBef>
                <a:spcPts val="0"/>
              </a:spcBef>
              <a:spcAft>
                <a:spcPts val="0"/>
              </a:spcAft>
              <a:buSzPts val="4600"/>
              <a:buChar char="○"/>
            </a:pPr>
            <a:r>
              <a:rPr lang="en-US" sz="4600"/>
              <a:t>Mỗi 1 microservice tương ứng 1 repository</a:t>
            </a:r>
            <a:endParaRPr sz="4600"/>
          </a:p>
          <a:p>
            <a:pPr indent="-520700" lvl="1" marL="914400" marR="0" rtl="0" algn="l">
              <a:lnSpc>
                <a:spcPct val="100000"/>
              </a:lnSpc>
              <a:spcBef>
                <a:spcPts val="0"/>
              </a:spcBef>
              <a:spcAft>
                <a:spcPts val="0"/>
              </a:spcAft>
              <a:buSzPts val="4600"/>
              <a:buChar char="○"/>
            </a:pPr>
            <a:r>
              <a:rPr lang="en-US" sz="4600"/>
              <a:t>Tất cả môi trường (dev, stag, prod) for microservice đó chỉ dùng chung 1 codebase)</a:t>
            </a:r>
            <a:endParaRPr sz="4600"/>
          </a:p>
          <a:p>
            <a:pPr indent="-520700" lvl="0" marL="457200" marR="0" rtl="0" algn="l">
              <a:lnSpc>
                <a:spcPct val="100000"/>
              </a:lnSpc>
              <a:spcBef>
                <a:spcPts val="0"/>
              </a:spcBef>
              <a:spcAft>
                <a:spcPts val="0"/>
              </a:spcAft>
              <a:buSzPts val="4600"/>
              <a:buChar char="●"/>
            </a:pPr>
            <a:r>
              <a:rPr lang="en-US" sz="4600"/>
              <a:t>Nên tránh:</a:t>
            </a:r>
            <a:endParaRPr sz="4600"/>
          </a:p>
          <a:p>
            <a:pPr indent="-520700" lvl="1" marL="914400" marR="0" rtl="0" algn="l">
              <a:lnSpc>
                <a:spcPct val="100000"/>
              </a:lnSpc>
              <a:spcBef>
                <a:spcPts val="0"/>
              </a:spcBef>
              <a:spcAft>
                <a:spcPts val="0"/>
              </a:spcAft>
              <a:buSzPts val="4600"/>
              <a:buChar char="○"/>
            </a:pPr>
            <a:r>
              <a:rPr lang="en-US" sz="4600"/>
              <a:t>Cho nhiều microservice vào 1 repository hoặc 1 microservice chia thành nhiều repository</a:t>
            </a:r>
            <a:endParaRPr sz="4600"/>
          </a:p>
          <a:p>
            <a:pPr indent="-520700" lvl="1" marL="914400" marR="0" rtl="0" algn="l">
              <a:lnSpc>
                <a:spcPct val="100000"/>
              </a:lnSpc>
              <a:spcBef>
                <a:spcPts val="0"/>
              </a:spcBef>
              <a:spcAft>
                <a:spcPts val="0"/>
              </a:spcAft>
              <a:buSzPts val="4600"/>
              <a:buChar char="○"/>
            </a:pPr>
            <a:r>
              <a:rPr lang="en-US" sz="4600"/>
              <a:t>Mỗi 1 môi trường (dev, stag, prod) lại có 1 repository riêng</a:t>
            </a:r>
            <a:endParaRPr sz="4600"/>
          </a:p>
          <a:p>
            <a:pPr indent="0" lvl="0" marL="0" marR="0" rtl="0" algn="l">
              <a:lnSpc>
                <a:spcPct val="100000"/>
              </a:lnSpc>
              <a:spcBef>
                <a:spcPts val="0"/>
              </a:spcBef>
              <a:spcAft>
                <a:spcPts val="0"/>
              </a:spcAft>
              <a:buNone/>
            </a:pPr>
            <a:r>
              <a:t/>
            </a:r>
            <a:endParaRPr sz="4500"/>
          </a:p>
        </p:txBody>
      </p:sp>
      <p:sp>
        <p:nvSpPr>
          <p:cNvPr id="132" name="Google Shape;132;g32e53d89950_0_28"/>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12 factor app</a:t>
            </a:r>
            <a:endParaRPr b="1" i="0" sz="6000" u="none" cap="none" strike="noStrike">
              <a:solidFill>
                <a:srgbClr val="4F81BD"/>
              </a:solidFill>
              <a:latin typeface="Arial"/>
              <a:ea typeface="Arial"/>
              <a:cs typeface="Arial"/>
              <a:sym typeface="Arial"/>
            </a:endParaRPr>
          </a:p>
        </p:txBody>
      </p:sp>
      <p:pic>
        <p:nvPicPr>
          <p:cNvPr id="133" name="Google Shape;133;g32e53d89950_0_28"/>
          <p:cNvPicPr preferRelativeResize="0"/>
          <p:nvPr/>
        </p:nvPicPr>
        <p:blipFill>
          <a:blip r:embed="rId3">
            <a:alphaModFix/>
          </a:blip>
          <a:stretch>
            <a:fillRect/>
          </a:stretch>
        </p:blipFill>
        <p:spPr>
          <a:xfrm>
            <a:off x="15557150" y="3686675"/>
            <a:ext cx="6260350" cy="5216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2e53d89950_0_35"/>
          <p:cNvSpPr txBox="1"/>
          <p:nvPr/>
        </p:nvSpPr>
        <p:spPr>
          <a:xfrm>
            <a:off x="1491350" y="2101875"/>
            <a:ext cx="14065800" cy="10035300"/>
          </a:xfrm>
          <a:prstGeom prst="rect">
            <a:avLst/>
          </a:prstGeom>
          <a:noFill/>
          <a:ln>
            <a:noFill/>
          </a:ln>
        </p:spPr>
        <p:txBody>
          <a:bodyPr anchorCtr="0" anchor="t" bIns="45700" lIns="91425" spcFirstLastPara="1" rIns="91425" wrap="square" tIns="45700">
            <a:noAutofit/>
          </a:bodyPr>
          <a:lstStyle/>
          <a:p>
            <a:pPr indent="0" lvl="0" marL="457200" marR="0" rtl="0" algn="l">
              <a:lnSpc>
                <a:spcPct val="100000"/>
              </a:lnSpc>
              <a:spcBef>
                <a:spcPts val="0"/>
              </a:spcBef>
              <a:spcAft>
                <a:spcPts val="0"/>
              </a:spcAft>
              <a:buNone/>
            </a:pPr>
            <a:r>
              <a:rPr b="1" lang="en-US" sz="4200"/>
              <a:t>2. Dependencies</a:t>
            </a:r>
            <a:endParaRPr b="1" sz="4200"/>
          </a:p>
          <a:p>
            <a:pPr indent="-495300" lvl="0" marL="457200" marR="0" rtl="0" algn="l">
              <a:lnSpc>
                <a:spcPct val="100000"/>
              </a:lnSpc>
              <a:spcBef>
                <a:spcPts val="0"/>
              </a:spcBef>
              <a:spcAft>
                <a:spcPts val="0"/>
              </a:spcAft>
              <a:buSzPts val="4200"/>
              <a:buChar char="●"/>
            </a:pPr>
            <a:r>
              <a:rPr lang="en-US" sz="4200"/>
              <a:t>Khai báo rõ ràng các phụ thuộc</a:t>
            </a:r>
            <a:r>
              <a:rPr lang="en-US" sz="4200"/>
              <a:t> </a:t>
            </a:r>
            <a:endParaRPr sz="4200"/>
          </a:p>
          <a:p>
            <a:pPr indent="-495300" lvl="1" marL="914400" marR="0" rtl="0" algn="l">
              <a:lnSpc>
                <a:spcPct val="100000"/>
              </a:lnSpc>
              <a:spcBef>
                <a:spcPts val="0"/>
              </a:spcBef>
              <a:spcAft>
                <a:spcPts val="0"/>
              </a:spcAft>
              <a:buSzPts val="4200"/>
              <a:buChar char="○"/>
            </a:pPr>
            <a:r>
              <a:rPr lang="en-US" sz="4200"/>
              <a:t>1 microservice cần được khai báo rõ ràng các phụ thuộc bên ngoài (ví dụ qua pom.xml)</a:t>
            </a:r>
            <a:endParaRPr sz="4200"/>
          </a:p>
          <a:p>
            <a:pPr indent="-495300" lvl="1" marL="914400" marR="0" rtl="0" algn="l">
              <a:lnSpc>
                <a:spcPct val="100000"/>
              </a:lnSpc>
              <a:spcBef>
                <a:spcPts val="0"/>
              </a:spcBef>
              <a:spcAft>
                <a:spcPts val="0"/>
              </a:spcAft>
              <a:buSzPts val="4200"/>
              <a:buChar char="○"/>
            </a:pPr>
            <a:r>
              <a:rPr lang="en-US" sz="4200"/>
              <a:t>Mỗi microservice nên chạy trong 1 môi trường độc lập chỉ chứa các phụ thuộc cần (ví dụ trong container).</a:t>
            </a:r>
            <a:endParaRPr sz="4200"/>
          </a:p>
          <a:p>
            <a:pPr indent="-495300" lvl="1" marL="914400" marR="0" rtl="0" algn="l">
              <a:lnSpc>
                <a:spcPct val="100000"/>
              </a:lnSpc>
              <a:spcBef>
                <a:spcPts val="0"/>
              </a:spcBef>
              <a:spcAft>
                <a:spcPts val="0"/>
              </a:spcAft>
              <a:buSzPts val="4200"/>
              <a:buChar char="○"/>
            </a:pPr>
            <a:r>
              <a:rPr lang="en-US" sz="4200"/>
              <a:t>Không dựa vào hệ thống: như hệ điều hành, thư viện mặc định, global, …</a:t>
            </a:r>
            <a:endParaRPr sz="4200"/>
          </a:p>
          <a:p>
            <a:pPr indent="-495300" lvl="0" marL="457200" marR="0" rtl="0" algn="l">
              <a:lnSpc>
                <a:spcPct val="100000"/>
              </a:lnSpc>
              <a:spcBef>
                <a:spcPts val="0"/>
              </a:spcBef>
              <a:spcAft>
                <a:spcPts val="0"/>
              </a:spcAft>
              <a:buSzPts val="4200"/>
              <a:buChar char="●"/>
            </a:pPr>
            <a:r>
              <a:rPr lang="en-US" sz="4200"/>
              <a:t>Nên tránh:</a:t>
            </a:r>
            <a:endParaRPr sz="4200"/>
          </a:p>
          <a:p>
            <a:pPr indent="-495300" lvl="1" marL="914400" marR="0" rtl="0" algn="l">
              <a:lnSpc>
                <a:spcPct val="100000"/>
              </a:lnSpc>
              <a:spcBef>
                <a:spcPts val="0"/>
              </a:spcBef>
              <a:spcAft>
                <a:spcPts val="0"/>
              </a:spcAft>
              <a:buSzPts val="4200"/>
              <a:buChar char="○"/>
            </a:pPr>
            <a:r>
              <a:rPr lang="en-US" sz="4200"/>
              <a:t>Không khai báo phụ thuộc hoặc khai báo không cụ thể version</a:t>
            </a:r>
            <a:endParaRPr sz="4200"/>
          </a:p>
          <a:p>
            <a:pPr indent="-495300" lvl="1" marL="914400" marR="0" rtl="0" algn="l">
              <a:lnSpc>
                <a:spcPct val="100000"/>
              </a:lnSpc>
              <a:spcBef>
                <a:spcPts val="0"/>
              </a:spcBef>
              <a:spcAft>
                <a:spcPts val="0"/>
              </a:spcAft>
              <a:buSzPts val="4200"/>
              <a:buChar char="○"/>
            </a:pPr>
            <a:r>
              <a:rPr lang="en-US" sz="4200"/>
              <a:t>Hoặc cài đặt thư viện bằng tay, không thông qua trình quản lý gói</a:t>
            </a:r>
            <a:endParaRPr sz="4200"/>
          </a:p>
          <a:p>
            <a:pPr indent="-495300" lvl="1" marL="914400" marR="0" rtl="0" algn="l">
              <a:lnSpc>
                <a:spcPct val="100000"/>
              </a:lnSpc>
              <a:spcBef>
                <a:spcPts val="0"/>
              </a:spcBef>
              <a:spcAft>
                <a:spcPts val="0"/>
              </a:spcAft>
              <a:buSzPts val="4200"/>
              <a:buChar char="○"/>
            </a:pPr>
            <a:r>
              <a:rPr lang="en-US" sz="4200"/>
              <a:t>Chạy chung nhiều microservice trong cùng 1 môi trường</a:t>
            </a:r>
            <a:endParaRPr sz="4200"/>
          </a:p>
          <a:p>
            <a:pPr indent="0" lvl="0" marL="0" marR="0" rtl="0" algn="l">
              <a:lnSpc>
                <a:spcPct val="100000"/>
              </a:lnSpc>
              <a:spcBef>
                <a:spcPts val="0"/>
              </a:spcBef>
              <a:spcAft>
                <a:spcPts val="0"/>
              </a:spcAft>
              <a:buNone/>
            </a:pPr>
            <a:r>
              <a:t/>
            </a:r>
            <a:endParaRPr sz="4100"/>
          </a:p>
        </p:txBody>
      </p:sp>
      <p:sp>
        <p:nvSpPr>
          <p:cNvPr id="139" name="Google Shape;139;g32e53d89950_0_35"/>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12 factor app</a:t>
            </a:r>
            <a:endParaRPr b="1" i="0" sz="6000" u="none" cap="none" strike="noStrike">
              <a:solidFill>
                <a:srgbClr val="4F81BD"/>
              </a:solidFill>
              <a:latin typeface="Arial"/>
              <a:ea typeface="Arial"/>
              <a:cs typeface="Arial"/>
              <a:sym typeface="Arial"/>
            </a:endParaRPr>
          </a:p>
        </p:txBody>
      </p:sp>
      <p:pic>
        <p:nvPicPr>
          <p:cNvPr id="140" name="Google Shape;140;g32e53d89950_0_35"/>
          <p:cNvPicPr preferRelativeResize="0"/>
          <p:nvPr/>
        </p:nvPicPr>
        <p:blipFill>
          <a:blip r:embed="rId3">
            <a:alphaModFix/>
          </a:blip>
          <a:stretch>
            <a:fillRect/>
          </a:stretch>
        </p:blipFill>
        <p:spPr>
          <a:xfrm>
            <a:off x="16133675" y="3060025"/>
            <a:ext cx="5505702" cy="3948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2e53d89950_0_51"/>
          <p:cNvSpPr txBox="1"/>
          <p:nvPr/>
        </p:nvSpPr>
        <p:spPr>
          <a:xfrm>
            <a:off x="1491350" y="2101875"/>
            <a:ext cx="19053900" cy="10035300"/>
          </a:xfrm>
          <a:prstGeom prst="rect">
            <a:avLst/>
          </a:prstGeom>
          <a:noFill/>
          <a:ln>
            <a:noFill/>
          </a:ln>
        </p:spPr>
        <p:txBody>
          <a:bodyPr anchorCtr="0" anchor="t" bIns="45700" lIns="91425" spcFirstLastPara="1" rIns="91425" wrap="square" tIns="45700">
            <a:noAutofit/>
          </a:bodyPr>
          <a:lstStyle/>
          <a:p>
            <a:pPr indent="0" lvl="0" marL="457200" marR="0" rtl="0" algn="l">
              <a:lnSpc>
                <a:spcPct val="100000"/>
              </a:lnSpc>
              <a:spcBef>
                <a:spcPts val="0"/>
              </a:spcBef>
              <a:spcAft>
                <a:spcPts val="0"/>
              </a:spcAft>
              <a:buNone/>
            </a:pPr>
            <a:r>
              <a:rPr b="1" lang="en-US" sz="4200"/>
              <a:t>3</a:t>
            </a:r>
            <a:r>
              <a:rPr b="1" lang="en-US" sz="4200"/>
              <a:t>. </a:t>
            </a:r>
            <a:r>
              <a:rPr b="1" lang="en-US" sz="4200"/>
              <a:t>Cấu hình - lưu trong biến môi trường</a:t>
            </a:r>
            <a:endParaRPr b="1" sz="4200"/>
          </a:p>
          <a:p>
            <a:pPr indent="-495300" lvl="0" marL="457200" marR="0" rtl="0" algn="l">
              <a:lnSpc>
                <a:spcPct val="100000"/>
              </a:lnSpc>
              <a:spcBef>
                <a:spcPts val="0"/>
              </a:spcBef>
              <a:spcAft>
                <a:spcPts val="0"/>
              </a:spcAft>
              <a:buSzPts val="4200"/>
              <a:buChar char="●"/>
            </a:pPr>
            <a:r>
              <a:rPr lang="en-US" sz="4200"/>
              <a:t>Cấu hình là các thiết lập bên ngoài giúp ứng dụng hoạt động trên nhiều môi trường khác nhau, ví dụ DB_URL, DB_USERNAME, DB_PASSWORD, …</a:t>
            </a:r>
            <a:endParaRPr sz="4200"/>
          </a:p>
          <a:p>
            <a:pPr indent="-495300" lvl="0" marL="457200" marR="0" rtl="0" algn="l">
              <a:lnSpc>
                <a:spcPct val="100000"/>
              </a:lnSpc>
              <a:spcBef>
                <a:spcPts val="0"/>
              </a:spcBef>
              <a:spcAft>
                <a:spcPts val="0"/>
              </a:spcAft>
              <a:buSzPts val="4200"/>
              <a:buChar char="●"/>
            </a:pPr>
            <a:r>
              <a:rPr lang="en-US" sz="4200"/>
              <a:t>Nên lưu cấu hình trong biến môi trường (Environment Variables) để dễ thay đổi, dùng cho nhiều môi trường</a:t>
            </a:r>
            <a:endParaRPr sz="4200"/>
          </a:p>
          <a:p>
            <a:pPr indent="-495300" lvl="0" marL="457200" marR="0" rtl="0" algn="l">
              <a:lnSpc>
                <a:spcPct val="100000"/>
              </a:lnSpc>
              <a:spcBef>
                <a:spcPts val="0"/>
              </a:spcBef>
              <a:spcAft>
                <a:spcPts val="0"/>
              </a:spcAft>
              <a:buSzPts val="4200"/>
              <a:buChar char="●"/>
            </a:pPr>
            <a:r>
              <a:rPr lang="en-US" sz="4200"/>
              <a:t>Nên tránh:</a:t>
            </a:r>
            <a:endParaRPr sz="4200"/>
          </a:p>
          <a:p>
            <a:pPr indent="-495300" lvl="1" marL="914400" marR="0" rtl="0" algn="l">
              <a:lnSpc>
                <a:spcPct val="100000"/>
              </a:lnSpc>
              <a:spcBef>
                <a:spcPts val="0"/>
              </a:spcBef>
              <a:spcAft>
                <a:spcPts val="0"/>
              </a:spcAft>
              <a:buSzPts val="4200"/>
              <a:buChar char="○"/>
            </a:pPr>
            <a:r>
              <a:rPr lang="en-US" sz="4200"/>
              <a:t>Lưu cấu hình trong các file config hoặc mã nguồn của ứng dụng</a:t>
            </a:r>
            <a:endParaRPr sz="4200"/>
          </a:p>
          <a:p>
            <a:pPr indent="0" lvl="0" marL="0" marR="0" rtl="0" algn="l">
              <a:lnSpc>
                <a:spcPct val="100000"/>
              </a:lnSpc>
              <a:spcBef>
                <a:spcPts val="0"/>
              </a:spcBef>
              <a:spcAft>
                <a:spcPts val="0"/>
              </a:spcAft>
              <a:buNone/>
            </a:pPr>
            <a:r>
              <a:t/>
            </a:r>
            <a:endParaRPr sz="4100"/>
          </a:p>
        </p:txBody>
      </p:sp>
      <p:sp>
        <p:nvSpPr>
          <p:cNvPr id="146" name="Google Shape;146;g32e53d89950_0_51"/>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12 factor app</a:t>
            </a:r>
            <a:endParaRPr b="1" i="0" sz="6000" u="none" cap="none" strike="noStrike">
              <a:solidFill>
                <a:srgbClr val="4F81BD"/>
              </a:solidFill>
              <a:latin typeface="Arial"/>
              <a:ea typeface="Arial"/>
              <a:cs typeface="Arial"/>
              <a:sym typeface="Arial"/>
            </a:endParaRPr>
          </a:p>
        </p:txBody>
      </p:sp>
      <p:pic>
        <p:nvPicPr>
          <p:cNvPr id="147" name="Google Shape;147;g32e53d89950_0_51"/>
          <p:cNvPicPr preferRelativeResize="0"/>
          <p:nvPr/>
        </p:nvPicPr>
        <p:blipFill>
          <a:blip r:embed="rId3">
            <a:alphaModFix/>
          </a:blip>
          <a:stretch>
            <a:fillRect/>
          </a:stretch>
        </p:blipFill>
        <p:spPr>
          <a:xfrm>
            <a:off x="4329675" y="7176875"/>
            <a:ext cx="12631051" cy="4169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2e53d89950_0_58"/>
          <p:cNvSpPr txBox="1"/>
          <p:nvPr/>
        </p:nvSpPr>
        <p:spPr>
          <a:xfrm>
            <a:off x="1491350" y="2101875"/>
            <a:ext cx="19053900" cy="10035300"/>
          </a:xfrm>
          <a:prstGeom prst="rect">
            <a:avLst/>
          </a:prstGeom>
          <a:noFill/>
          <a:ln>
            <a:noFill/>
          </a:ln>
        </p:spPr>
        <p:txBody>
          <a:bodyPr anchorCtr="0" anchor="t" bIns="45700" lIns="91425" spcFirstLastPara="1" rIns="91425" wrap="square" tIns="45700">
            <a:noAutofit/>
          </a:bodyPr>
          <a:lstStyle/>
          <a:p>
            <a:pPr indent="0" lvl="0" marL="457200" marR="0" rtl="0" algn="l">
              <a:lnSpc>
                <a:spcPct val="100000"/>
              </a:lnSpc>
              <a:spcBef>
                <a:spcPts val="0"/>
              </a:spcBef>
              <a:spcAft>
                <a:spcPts val="0"/>
              </a:spcAft>
              <a:buNone/>
            </a:pPr>
            <a:r>
              <a:rPr b="1" lang="en-US" sz="4200"/>
              <a:t>4</a:t>
            </a:r>
            <a:r>
              <a:rPr b="1" lang="en-US" sz="4200"/>
              <a:t>. </a:t>
            </a:r>
            <a:r>
              <a:rPr b="1" lang="en-US" sz="4200"/>
              <a:t>Backing services - Đối xử như 1 phần bên ngoài ứng dụng</a:t>
            </a:r>
            <a:endParaRPr b="1" sz="4200"/>
          </a:p>
          <a:p>
            <a:pPr indent="-495300" lvl="0" marL="457200" marR="0" rtl="0" algn="l">
              <a:lnSpc>
                <a:spcPct val="100000"/>
              </a:lnSpc>
              <a:spcBef>
                <a:spcPts val="0"/>
              </a:spcBef>
              <a:spcAft>
                <a:spcPts val="0"/>
              </a:spcAft>
              <a:buSzPts val="4200"/>
              <a:buChar char="●"/>
            </a:pPr>
            <a:r>
              <a:rPr lang="en-US" sz="4200"/>
              <a:t>Backing services: là các dịch vụ phụ trợ cho ứng dụng như Database, Cache, Storage bên ngoài, …</a:t>
            </a:r>
            <a:endParaRPr sz="4200"/>
          </a:p>
          <a:p>
            <a:pPr indent="-495300" lvl="0" marL="457200" marR="0" rtl="0" algn="l">
              <a:lnSpc>
                <a:spcPct val="100000"/>
              </a:lnSpc>
              <a:spcBef>
                <a:spcPts val="0"/>
              </a:spcBef>
              <a:spcAft>
                <a:spcPts val="0"/>
              </a:spcAft>
              <a:buSzPts val="4200"/>
              <a:buChar char="●"/>
            </a:pPr>
            <a:r>
              <a:rPr lang="en-US" sz="4200"/>
              <a:t>Các backing services này nên coi là bên ngoài ứng dụng, ứng dụng không nên phụ thuộc vào đại chỉ có định hoặc loại cố định, việc thay thế dịch vụ phụ trợ phải dễ dàng mà không cần thay đổi mã nguồn.</a:t>
            </a:r>
            <a:endParaRPr sz="4200"/>
          </a:p>
          <a:p>
            <a:pPr indent="-495300" lvl="0" marL="457200" marR="0" rtl="0" algn="l">
              <a:lnSpc>
                <a:spcPct val="100000"/>
              </a:lnSpc>
              <a:spcBef>
                <a:spcPts val="0"/>
              </a:spcBef>
              <a:spcAft>
                <a:spcPts val="0"/>
              </a:spcAft>
              <a:buSzPts val="4200"/>
              <a:buChar char="●"/>
            </a:pPr>
            <a:r>
              <a:rPr lang="en-US" sz="4200"/>
              <a:t>Nên tránh:</a:t>
            </a:r>
            <a:endParaRPr sz="4200"/>
          </a:p>
          <a:p>
            <a:pPr indent="-495300" lvl="1" marL="914400" marR="0" rtl="0" algn="l">
              <a:lnSpc>
                <a:spcPct val="100000"/>
              </a:lnSpc>
              <a:spcBef>
                <a:spcPts val="0"/>
              </a:spcBef>
              <a:spcAft>
                <a:spcPts val="0"/>
              </a:spcAft>
              <a:buSzPts val="4200"/>
              <a:buChar char="○"/>
            </a:pPr>
            <a:r>
              <a:rPr lang="en-US" sz="4200"/>
              <a:t>Gắn chặt với 1 dịch vụ cụ thể như IP cố định hoặc version cố định</a:t>
            </a:r>
            <a:endParaRPr sz="4200"/>
          </a:p>
          <a:p>
            <a:pPr indent="0" lvl="0" marL="0" marR="0" rtl="0" algn="l">
              <a:lnSpc>
                <a:spcPct val="100000"/>
              </a:lnSpc>
              <a:spcBef>
                <a:spcPts val="0"/>
              </a:spcBef>
              <a:spcAft>
                <a:spcPts val="0"/>
              </a:spcAft>
              <a:buNone/>
            </a:pPr>
            <a:r>
              <a:t/>
            </a:r>
            <a:endParaRPr sz="4100"/>
          </a:p>
        </p:txBody>
      </p:sp>
      <p:sp>
        <p:nvSpPr>
          <p:cNvPr id="153" name="Google Shape;153;g32e53d89950_0_58"/>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12 factor app</a:t>
            </a:r>
            <a:endParaRPr b="1" i="0" sz="6000" u="none" cap="none" strike="noStrike">
              <a:solidFill>
                <a:srgbClr val="4F81BD"/>
              </a:solidFill>
              <a:latin typeface="Arial"/>
              <a:ea typeface="Arial"/>
              <a:cs typeface="Arial"/>
              <a:sym typeface="Arial"/>
            </a:endParaRPr>
          </a:p>
        </p:txBody>
      </p:sp>
      <p:pic>
        <p:nvPicPr>
          <p:cNvPr id="154" name="Google Shape;154;g32e53d89950_0_58"/>
          <p:cNvPicPr preferRelativeResize="0"/>
          <p:nvPr/>
        </p:nvPicPr>
        <p:blipFill>
          <a:blip r:embed="rId3">
            <a:alphaModFix/>
          </a:blip>
          <a:stretch>
            <a:fillRect/>
          </a:stretch>
        </p:blipFill>
        <p:spPr>
          <a:xfrm>
            <a:off x="6662100" y="7145750"/>
            <a:ext cx="8712400" cy="4364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2e53d89950_0_66"/>
          <p:cNvSpPr txBox="1"/>
          <p:nvPr/>
        </p:nvSpPr>
        <p:spPr>
          <a:xfrm>
            <a:off x="1491350" y="2101875"/>
            <a:ext cx="19053900" cy="10035300"/>
          </a:xfrm>
          <a:prstGeom prst="rect">
            <a:avLst/>
          </a:prstGeom>
          <a:noFill/>
          <a:ln>
            <a:noFill/>
          </a:ln>
        </p:spPr>
        <p:txBody>
          <a:bodyPr anchorCtr="0" anchor="t" bIns="45700" lIns="91425" spcFirstLastPara="1" rIns="91425" wrap="square" tIns="45700">
            <a:noAutofit/>
          </a:bodyPr>
          <a:lstStyle/>
          <a:p>
            <a:pPr indent="0" lvl="0" marL="457200" marR="0" rtl="0" algn="l">
              <a:lnSpc>
                <a:spcPct val="100000"/>
              </a:lnSpc>
              <a:spcBef>
                <a:spcPts val="0"/>
              </a:spcBef>
              <a:spcAft>
                <a:spcPts val="0"/>
              </a:spcAft>
              <a:buNone/>
            </a:pPr>
            <a:r>
              <a:rPr b="1" lang="en-US" sz="4100"/>
              <a:t>5</a:t>
            </a:r>
            <a:r>
              <a:rPr b="1" lang="en-US" sz="4100"/>
              <a:t>. </a:t>
            </a:r>
            <a:r>
              <a:rPr b="1" lang="en-US" sz="4100"/>
              <a:t>Tách biệt build, release, run</a:t>
            </a:r>
            <a:endParaRPr b="1" sz="4100"/>
          </a:p>
          <a:p>
            <a:pPr indent="-488950" lvl="0" marL="457200" marR="0" rtl="0" algn="l">
              <a:lnSpc>
                <a:spcPct val="100000"/>
              </a:lnSpc>
              <a:spcBef>
                <a:spcPts val="0"/>
              </a:spcBef>
              <a:spcAft>
                <a:spcPts val="0"/>
              </a:spcAft>
              <a:buSzPts val="4100"/>
              <a:buChar char="●"/>
            </a:pPr>
            <a:r>
              <a:rPr lang="en-US" sz="4100"/>
              <a:t>Tác biệt các giai đoạn build (mã nguồn -&gt; file thực thi hoặc image), release (kết hợp build + config dựa vào từng môi trường), run (chạy app trên môi trường cụ thể)</a:t>
            </a:r>
            <a:endParaRPr sz="4100"/>
          </a:p>
          <a:p>
            <a:pPr indent="-488950" lvl="0" marL="457200" marR="0" rtl="0" algn="l">
              <a:lnSpc>
                <a:spcPct val="100000"/>
              </a:lnSpc>
              <a:spcBef>
                <a:spcPts val="0"/>
              </a:spcBef>
              <a:spcAft>
                <a:spcPts val="0"/>
              </a:spcAft>
              <a:buSzPts val="4100"/>
              <a:buChar char="●"/>
            </a:pPr>
            <a:r>
              <a:rPr lang="en-US" sz="4100"/>
              <a:t>Nên tránh:</a:t>
            </a:r>
            <a:endParaRPr sz="4100"/>
          </a:p>
          <a:p>
            <a:pPr indent="-488950" lvl="1" marL="914400" marR="0" rtl="0" algn="l">
              <a:lnSpc>
                <a:spcPct val="100000"/>
              </a:lnSpc>
              <a:spcBef>
                <a:spcPts val="0"/>
              </a:spcBef>
              <a:spcAft>
                <a:spcPts val="0"/>
              </a:spcAft>
              <a:buSzPts val="4100"/>
              <a:buChar char="○"/>
            </a:pPr>
            <a:r>
              <a:rPr lang="en-US" sz="4100"/>
              <a:t>Chạy ứng dụng trực tiếp từ mã nguồn, với file cấu hình </a:t>
            </a:r>
            <a:endParaRPr sz="4100"/>
          </a:p>
          <a:p>
            <a:pPr indent="0" lvl="0" marL="0" marR="0" rtl="0" algn="l">
              <a:lnSpc>
                <a:spcPct val="100000"/>
              </a:lnSpc>
              <a:spcBef>
                <a:spcPts val="0"/>
              </a:spcBef>
              <a:spcAft>
                <a:spcPts val="0"/>
              </a:spcAft>
              <a:buNone/>
            </a:pPr>
            <a:r>
              <a:t/>
            </a:r>
            <a:endParaRPr sz="4100"/>
          </a:p>
          <a:p>
            <a:pPr indent="0" lvl="0" marL="457200" rtl="0" algn="l">
              <a:spcBef>
                <a:spcPts val="0"/>
              </a:spcBef>
              <a:spcAft>
                <a:spcPts val="0"/>
              </a:spcAft>
              <a:buNone/>
            </a:pPr>
            <a:r>
              <a:rPr b="1" lang="en-US" sz="4100">
                <a:solidFill>
                  <a:schemeClr val="dk1"/>
                </a:solidFill>
              </a:rPr>
              <a:t>6</a:t>
            </a:r>
            <a:r>
              <a:rPr b="1" lang="en-US" sz="4100">
                <a:solidFill>
                  <a:schemeClr val="dk1"/>
                </a:solidFill>
              </a:rPr>
              <a:t>. Processes: chạy app trong 1 hoặc nhiều stateless processes</a:t>
            </a:r>
            <a:endParaRPr b="1" sz="4100">
              <a:solidFill>
                <a:schemeClr val="dk1"/>
              </a:solidFill>
            </a:endParaRPr>
          </a:p>
          <a:p>
            <a:pPr indent="-488950" lvl="0" marL="457200" rtl="0" algn="l">
              <a:spcBef>
                <a:spcPts val="0"/>
              </a:spcBef>
              <a:spcAft>
                <a:spcPts val="0"/>
              </a:spcAft>
              <a:buClr>
                <a:schemeClr val="dk1"/>
              </a:buClr>
              <a:buSzPts val="4100"/>
              <a:buChar char="●"/>
            </a:pPr>
            <a:r>
              <a:rPr lang="en-US" sz="4100">
                <a:solidFill>
                  <a:schemeClr val="dk1"/>
                </a:solidFill>
              </a:rPr>
              <a:t>Mỗi 1 microservice chạy bằng 1 câu lệnh riêng biệt</a:t>
            </a:r>
            <a:endParaRPr sz="4100">
              <a:solidFill>
                <a:schemeClr val="dk1"/>
              </a:solidFill>
            </a:endParaRPr>
          </a:p>
          <a:p>
            <a:pPr indent="-488950" lvl="0" marL="457200" rtl="0" algn="l">
              <a:spcBef>
                <a:spcPts val="0"/>
              </a:spcBef>
              <a:spcAft>
                <a:spcPts val="0"/>
              </a:spcAft>
              <a:buClr>
                <a:schemeClr val="dk1"/>
              </a:buClr>
              <a:buSzPts val="4100"/>
              <a:buChar char="●"/>
            </a:pPr>
            <a:r>
              <a:rPr lang="en-US" sz="4100">
                <a:solidFill>
                  <a:schemeClr val="dk1"/>
                </a:solidFill>
              </a:rPr>
              <a:t>Stateless process: mỗi tiến trình lưu thông tin ra môi trường bên ngoài (database, cache), việc phục vụ 1 request không phụ thuộc request trước đấy, tiến trình có thể bật/tắt dễ dàng</a:t>
            </a:r>
            <a:endParaRPr sz="4100">
              <a:solidFill>
                <a:schemeClr val="dk1"/>
              </a:solidFill>
            </a:endParaRPr>
          </a:p>
          <a:p>
            <a:pPr indent="-488950" lvl="0" marL="457200" rtl="0" algn="l">
              <a:spcBef>
                <a:spcPts val="0"/>
              </a:spcBef>
              <a:spcAft>
                <a:spcPts val="0"/>
              </a:spcAft>
              <a:buClr>
                <a:schemeClr val="dk1"/>
              </a:buClr>
              <a:buSzPts val="4100"/>
              <a:buChar char="●"/>
            </a:pPr>
            <a:r>
              <a:rPr lang="en-US" sz="4100">
                <a:solidFill>
                  <a:schemeClr val="dk1"/>
                </a:solidFill>
              </a:rPr>
              <a:t>Nên tránh:</a:t>
            </a:r>
            <a:endParaRPr sz="4100">
              <a:solidFill>
                <a:schemeClr val="dk1"/>
              </a:solidFill>
            </a:endParaRPr>
          </a:p>
          <a:p>
            <a:pPr indent="-488950" lvl="1" marL="914400" rtl="0" algn="l">
              <a:spcBef>
                <a:spcPts val="0"/>
              </a:spcBef>
              <a:spcAft>
                <a:spcPts val="0"/>
              </a:spcAft>
              <a:buClr>
                <a:schemeClr val="dk1"/>
              </a:buClr>
              <a:buSzPts val="4100"/>
              <a:buChar char="○"/>
            </a:pPr>
            <a:r>
              <a:rPr lang="en-US" sz="4100">
                <a:solidFill>
                  <a:schemeClr val="dk1"/>
                </a:solidFill>
              </a:rPr>
              <a:t>Gom chung các microservice vào 1 tiến trình</a:t>
            </a:r>
            <a:endParaRPr sz="4100">
              <a:solidFill>
                <a:schemeClr val="dk1"/>
              </a:solidFill>
            </a:endParaRPr>
          </a:p>
          <a:p>
            <a:pPr indent="-488950" lvl="1" marL="914400" rtl="0" algn="l">
              <a:spcBef>
                <a:spcPts val="0"/>
              </a:spcBef>
              <a:spcAft>
                <a:spcPts val="0"/>
              </a:spcAft>
              <a:buClr>
                <a:schemeClr val="dk1"/>
              </a:buClr>
              <a:buSzPts val="4100"/>
              <a:buChar char="○"/>
            </a:pPr>
            <a:r>
              <a:rPr lang="en-US" sz="4100">
                <a:solidFill>
                  <a:schemeClr val="dk1"/>
                </a:solidFill>
              </a:rPr>
              <a:t>Tiến trình lưu quá nhiều thông tin trong bộ nhớ của mình</a:t>
            </a:r>
            <a:endParaRPr sz="4100">
              <a:solidFill>
                <a:schemeClr val="dk1"/>
              </a:solidFill>
            </a:endParaRPr>
          </a:p>
          <a:p>
            <a:pPr indent="-488950" lvl="1" marL="914400" rtl="0" algn="l">
              <a:spcBef>
                <a:spcPts val="0"/>
              </a:spcBef>
              <a:spcAft>
                <a:spcPts val="0"/>
              </a:spcAft>
              <a:buClr>
                <a:schemeClr val="dk1"/>
              </a:buClr>
              <a:buSzPts val="4100"/>
              <a:buChar char="○"/>
            </a:pPr>
            <a:r>
              <a:rPr lang="en-US" sz="4100">
                <a:solidFill>
                  <a:schemeClr val="dk1"/>
                </a:solidFill>
              </a:rPr>
              <a:t>Các tiến trình phụ thuộc vào nhau, không bật/tắt độc lập được</a:t>
            </a:r>
            <a:endParaRPr sz="4100">
              <a:solidFill>
                <a:schemeClr val="dk1"/>
              </a:solidFill>
            </a:endParaRPr>
          </a:p>
          <a:p>
            <a:pPr indent="0" lvl="0" marL="0" rtl="0" algn="l">
              <a:spcBef>
                <a:spcPts val="0"/>
              </a:spcBef>
              <a:spcAft>
                <a:spcPts val="0"/>
              </a:spcAft>
              <a:buNone/>
            </a:pPr>
            <a:r>
              <a:t/>
            </a:r>
            <a:endParaRPr b="1" sz="4100">
              <a:solidFill>
                <a:schemeClr val="dk1"/>
              </a:solidFill>
            </a:endParaRPr>
          </a:p>
          <a:p>
            <a:pPr indent="0" lvl="0" marL="0" marR="0" rtl="0" algn="l">
              <a:lnSpc>
                <a:spcPct val="100000"/>
              </a:lnSpc>
              <a:spcBef>
                <a:spcPts val="0"/>
              </a:spcBef>
              <a:spcAft>
                <a:spcPts val="0"/>
              </a:spcAft>
              <a:buNone/>
            </a:pPr>
            <a:r>
              <a:t/>
            </a:r>
            <a:endParaRPr sz="4000"/>
          </a:p>
        </p:txBody>
      </p:sp>
      <p:sp>
        <p:nvSpPr>
          <p:cNvPr id="160" name="Google Shape;160;g32e53d89950_0_66"/>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12 factor app</a:t>
            </a:r>
            <a:endParaRPr b="1" i="0" sz="6000" u="none" cap="none" strike="noStrike">
              <a:solidFill>
                <a:srgbClr val="4F81BD"/>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2e53d89950_0_72"/>
          <p:cNvSpPr txBox="1"/>
          <p:nvPr/>
        </p:nvSpPr>
        <p:spPr>
          <a:xfrm>
            <a:off x="1491350" y="2101875"/>
            <a:ext cx="19053900" cy="10035300"/>
          </a:xfrm>
          <a:prstGeom prst="rect">
            <a:avLst/>
          </a:prstGeom>
          <a:noFill/>
          <a:ln>
            <a:noFill/>
          </a:ln>
        </p:spPr>
        <p:txBody>
          <a:bodyPr anchorCtr="0" anchor="t" bIns="45700" lIns="91425" spcFirstLastPara="1" rIns="91425" wrap="square" tIns="45700">
            <a:noAutofit/>
          </a:bodyPr>
          <a:lstStyle/>
          <a:p>
            <a:pPr indent="0" lvl="0" marL="457200" marR="0" rtl="0" algn="l">
              <a:lnSpc>
                <a:spcPct val="100000"/>
              </a:lnSpc>
              <a:spcBef>
                <a:spcPts val="0"/>
              </a:spcBef>
              <a:spcAft>
                <a:spcPts val="0"/>
              </a:spcAft>
              <a:buNone/>
            </a:pPr>
            <a:r>
              <a:rPr b="1" lang="en-US" sz="4100"/>
              <a:t>7</a:t>
            </a:r>
            <a:r>
              <a:rPr b="1" lang="en-US" sz="4100"/>
              <a:t>. </a:t>
            </a:r>
            <a:r>
              <a:rPr b="1" lang="en-US" sz="4100"/>
              <a:t>Port Binding </a:t>
            </a:r>
            <a:endParaRPr b="1" sz="4100"/>
          </a:p>
          <a:p>
            <a:pPr indent="-488950" lvl="0" marL="457200" marR="0" rtl="0" algn="l">
              <a:lnSpc>
                <a:spcPct val="100000"/>
              </a:lnSpc>
              <a:spcBef>
                <a:spcPts val="0"/>
              </a:spcBef>
              <a:spcAft>
                <a:spcPts val="0"/>
              </a:spcAft>
              <a:buSzPts val="4100"/>
              <a:buChar char="●"/>
            </a:pPr>
            <a:r>
              <a:rPr lang="en-US" sz="4100"/>
              <a:t>Ứng dụng nên tự lắng nghe port ra bên ngoài chứ không nên phụ thuộc vào các máy chủ web như apache hoặc nginx</a:t>
            </a:r>
            <a:r>
              <a:rPr lang="en-US" sz="4100"/>
              <a:t>. </a:t>
            </a:r>
            <a:endParaRPr sz="4100"/>
          </a:p>
          <a:p>
            <a:pPr indent="-488950" lvl="0" marL="457200" marR="0" rtl="0" algn="l">
              <a:lnSpc>
                <a:spcPct val="100000"/>
              </a:lnSpc>
              <a:spcBef>
                <a:spcPts val="0"/>
              </a:spcBef>
              <a:spcAft>
                <a:spcPts val="0"/>
              </a:spcAft>
              <a:buSzPts val="4100"/>
              <a:buChar char="●"/>
            </a:pPr>
            <a:r>
              <a:rPr lang="en-US" sz="4100"/>
              <a:t>Việc sử dụng port nào nên được cấu hình qua các thông số biến môi trường.</a:t>
            </a:r>
            <a:endParaRPr sz="4100"/>
          </a:p>
          <a:p>
            <a:pPr indent="-488950" lvl="0" marL="457200" marR="0" rtl="0" algn="l">
              <a:lnSpc>
                <a:spcPct val="100000"/>
              </a:lnSpc>
              <a:spcBef>
                <a:spcPts val="0"/>
              </a:spcBef>
              <a:spcAft>
                <a:spcPts val="0"/>
              </a:spcAft>
              <a:buSzPts val="4100"/>
              <a:buChar char="●"/>
            </a:pPr>
            <a:r>
              <a:rPr lang="en-US" sz="4100"/>
              <a:t>Nên tránh:</a:t>
            </a:r>
            <a:endParaRPr sz="4100"/>
          </a:p>
          <a:p>
            <a:pPr indent="-488950" lvl="1" marL="914400" marR="0" rtl="0" algn="l">
              <a:lnSpc>
                <a:spcPct val="100000"/>
              </a:lnSpc>
              <a:spcBef>
                <a:spcPts val="0"/>
              </a:spcBef>
              <a:spcAft>
                <a:spcPts val="0"/>
              </a:spcAft>
              <a:buSzPts val="4100"/>
              <a:buChar char="○"/>
            </a:pPr>
            <a:r>
              <a:rPr lang="en-US" sz="4100"/>
              <a:t>Phụ thuộc chặt chẽ vào thành phần khác để publish dịch vụ ra ngoài như apache hoặc nginx hoặc tomcat</a:t>
            </a:r>
            <a:r>
              <a:rPr lang="en-US" sz="4100"/>
              <a:t> </a:t>
            </a:r>
            <a:endParaRPr sz="4100"/>
          </a:p>
          <a:p>
            <a:pPr indent="0" lvl="0" marL="0" marR="0" rtl="0" algn="l">
              <a:lnSpc>
                <a:spcPct val="100000"/>
              </a:lnSpc>
              <a:spcBef>
                <a:spcPts val="0"/>
              </a:spcBef>
              <a:spcAft>
                <a:spcPts val="0"/>
              </a:spcAft>
              <a:buNone/>
            </a:pPr>
            <a:r>
              <a:t/>
            </a:r>
            <a:endParaRPr sz="4100"/>
          </a:p>
          <a:p>
            <a:pPr indent="0" lvl="0" marL="457200" rtl="0" algn="l">
              <a:spcBef>
                <a:spcPts val="0"/>
              </a:spcBef>
              <a:spcAft>
                <a:spcPts val="0"/>
              </a:spcAft>
              <a:buNone/>
            </a:pPr>
            <a:r>
              <a:rPr b="1" lang="en-US" sz="4100">
                <a:solidFill>
                  <a:schemeClr val="dk1"/>
                </a:solidFill>
              </a:rPr>
              <a:t>8</a:t>
            </a:r>
            <a:r>
              <a:rPr b="1" lang="en-US" sz="4100">
                <a:solidFill>
                  <a:schemeClr val="dk1"/>
                </a:solidFill>
              </a:rPr>
              <a:t>. </a:t>
            </a:r>
            <a:r>
              <a:rPr b="1" lang="en-US" sz="4100">
                <a:solidFill>
                  <a:schemeClr val="dk1"/>
                </a:solidFill>
              </a:rPr>
              <a:t>Concurrency</a:t>
            </a:r>
            <a:r>
              <a:rPr b="1" lang="en-US" sz="4100">
                <a:solidFill>
                  <a:schemeClr val="dk1"/>
                </a:solidFill>
              </a:rPr>
              <a:t>: chạy </a:t>
            </a:r>
            <a:r>
              <a:rPr b="1" lang="en-US" sz="4100">
                <a:solidFill>
                  <a:schemeClr val="dk1"/>
                </a:solidFill>
              </a:rPr>
              <a:t>các</a:t>
            </a:r>
            <a:r>
              <a:rPr b="1" lang="en-US" sz="4100">
                <a:solidFill>
                  <a:schemeClr val="dk1"/>
                </a:solidFill>
              </a:rPr>
              <a:t> process kh</a:t>
            </a:r>
            <a:r>
              <a:rPr b="1" lang="en-US" sz="4100">
                <a:solidFill>
                  <a:schemeClr val="dk1"/>
                </a:solidFill>
              </a:rPr>
              <a:t>ác nhau cho các thành phần khác nhau</a:t>
            </a:r>
            <a:endParaRPr b="1" sz="4100">
              <a:solidFill>
                <a:schemeClr val="dk1"/>
              </a:solidFill>
            </a:endParaRPr>
          </a:p>
          <a:p>
            <a:pPr indent="-488950" lvl="0" marL="457200" rtl="0" algn="l">
              <a:spcBef>
                <a:spcPts val="0"/>
              </a:spcBef>
              <a:spcAft>
                <a:spcPts val="0"/>
              </a:spcAft>
              <a:buClr>
                <a:schemeClr val="dk1"/>
              </a:buClr>
              <a:buSzPts val="4100"/>
              <a:buChar char="●"/>
            </a:pPr>
            <a:r>
              <a:rPr lang="en-US" sz="4100">
                <a:solidFill>
                  <a:schemeClr val="dk1"/>
                </a:solidFill>
              </a:rPr>
              <a:t>Mỗi một công việc trong ứng dụng được thực hiện bởi các process cụ thể, ví dụ web process xử lý HTTP, worker process xử lý tác vụ nền. Từ đó có thể scale các process độc lập nhau.</a:t>
            </a:r>
            <a:endParaRPr sz="4100">
              <a:solidFill>
                <a:schemeClr val="dk1"/>
              </a:solidFill>
            </a:endParaRPr>
          </a:p>
          <a:p>
            <a:pPr indent="-488950" lvl="0" marL="457200" rtl="0" algn="l">
              <a:spcBef>
                <a:spcPts val="0"/>
              </a:spcBef>
              <a:spcAft>
                <a:spcPts val="0"/>
              </a:spcAft>
              <a:buClr>
                <a:schemeClr val="dk1"/>
              </a:buClr>
              <a:buSzPts val="4100"/>
              <a:buChar char="●"/>
            </a:pPr>
            <a:r>
              <a:rPr lang="en-US" sz="4100">
                <a:solidFill>
                  <a:schemeClr val="dk1"/>
                </a:solidFill>
              </a:rPr>
              <a:t>Nên tránh:</a:t>
            </a:r>
            <a:endParaRPr sz="4100">
              <a:solidFill>
                <a:schemeClr val="dk1"/>
              </a:solidFill>
            </a:endParaRPr>
          </a:p>
          <a:p>
            <a:pPr indent="-488950" lvl="1" marL="914400" rtl="0" algn="l">
              <a:spcBef>
                <a:spcPts val="0"/>
              </a:spcBef>
              <a:spcAft>
                <a:spcPts val="0"/>
              </a:spcAft>
              <a:buClr>
                <a:schemeClr val="dk1"/>
              </a:buClr>
              <a:buSzPts val="4100"/>
              <a:buChar char="○"/>
            </a:pPr>
            <a:r>
              <a:rPr lang="en-US" sz="4100">
                <a:solidFill>
                  <a:schemeClr val="dk1"/>
                </a:solidFill>
              </a:rPr>
              <a:t>Gom chung nhiều loại công việc </a:t>
            </a:r>
            <a:r>
              <a:rPr lang="en-US" sz="4100">
                <a:solidFill>
                  <a:schemeClr val="dk1"/>
                </a:solidFill>
              </a:rPr>
              <a:t>trong 1 process =&gt; khó mở rộng</a:t>
            </a:r>
            <a:endParaRPr sz="4100">
              <a:solidFill>
                <a:schemeClr val="dk1"/>
              </a:solidFill>
            </a:endParaRPr>
          </a:p>
          <a:p>
            <a:pPr indent="0" lvl="0" marL="0" rtl="0" algn="l">
              <a:spcBef>
                <a:spcPts val="0"/>
              </a:spcBef>
              <a:spcAft>
                <a:spcPts val="0"/>
              </a:spcAft>
              <a:buNone/>
            </a:pPr>
            <a:r>
              <a:t/>
            </a:r>
            <a:endParaRPr b="1" sz="4100">
              <a:solidFill>
                <a:schemeClr val="dk1"/>
              </a:solidFill>
            </a:endParaRPr>
          </a:p>
          <a:p>
            <a:pPr indent="0" lvl="0" marL="0" marR="0" rtl="0" algn="l">
              <a:lnSpc>
                <a:spcPct val="100000"/>
              </a:lnSpc>
              <a:spcBef>
                <a:spcPts val="0"/>
              </a:spcBef>
              <a:spcAft>
                <a:spcPts val="0"/>
              </a:spcAft>
              <a:buNone/>
            </a:pPr>
            <a:r>
              <a:t/>
            </a:r>
            <a:endParaRPr sz="4000"/>
          </a:p>
        </p:txBody>
      </p:sp>
      <p:sp>
        <p:nvSpPr>
          <p:cNvPr id="166" name="Google Shape;166;g32e53d89950_0_72"/>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12 factor app</a:t>
            </a:r>
            <a:endParaRPr b="1" i="0" sz="6000" u="none" cap="none" strike="noStrike">
              <a:solidFill>
                <a:srgbClr val="4F81BD"/>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2e53d89950_0_84"/>
          <p:cNvSpPr txBox="1"/>
          <p:nvPr/>
        </p:nvSpPr>
        <p:spPr>
          <a:xfrm>
            <a:off x="1491350" y="2101875"/>
            <a:ext cx="19053900" cy="10035300"/>
          </a:xfrm>
          <a:prstGeom prst="rect">
            <a:avLst/>
          </a:prstGeom>
          <a:noFill/>
          <a:ln>
            <a:noFill/>
          </a:ln>
        </p:spPr>
        <p:txBody>
          <a:bodyPr anchorCtr="0" anchor="t" bIns="45700" lIns="91425" spcFirstLastPara="1" rIns="91425" wrap="square" tIns="45700">
            <a:noAutofit/>
          </a:bodyPr>
          <a:lstStyle/>
          <a:p>
            <a:pPr indent="0" lvl="0" marL="457200" rtl="0" algn="l">
              <a:spcBef>
                <a:spcPts val="0"/>
              </a:spcBef>
              <a:spcAft>
                <a:spcPts val="0"/>
              </a:spcAft>
              <a:buClr>
                <a:schemeClr val="dk1"/>
              </a:buClr>
              <a:buSzPts val="1100"/>
              <a:buFont typeface="Arial"/>
              <a:buNone/>
            </a:pPr>
            <a:r>
              <a:rPr b="1" lang="en-US" sz="4000">
                <a:solidFill>
                  <a:schemeClr val="dk1"/>
                </a:solidFill>
              </a:rPr>
              <a:t>9. Disposability: Khởi động nhanh và tắt an toàn</a:t>
            </a:r>
            <a:endParaRPr b="1" sz="4000">
              <a:solidFill>
                <a:schemeClr val="dk1"/>
              </a:solidFill>
            </a:endParaRPr>
          </a:p>
          <a:p>
            <a:pPr indent="-482600" lvl="0" marL="457200" rtl="0" algn="l">
              <a:spcBef>
                <a:spcPts val="0"/>
              </a:spcBef>
              <a:spcAft>
                <a:spcPts val="0"/>
              </a:spcAft>
              <a:buClr>
                <a:schemeClr val="dk1"/>
              </a:buClr>
              <a:buSzPts val="4000"/>
              <a:buChar char="●"/>
            </a:pPr>
            <a:r>
              <a:rPr lang="en-US" sz="4000">
                <a:solidFill>
                  <a:schemeClr val="dk1"/>
                </a:solidFill>
              </a:rPr>
              <a:t>Ứng dụng nên được thiết kế có thời gian khởi động nhanh (tính bằng s) để giảm thời gian downtime, dễ dàng scale. </a:t>
            </a:r>
            <a:endParaRPr sz="4000">
              <a:solidFill>
                <a:schemeClr val="dk1"/>
              </a:solidFill>
            </a:endParaRPr>
          </a:p>
          <a:p>
            <a:pPr indent="-482600" lvl="0" marL="457200" rtl="0" algn="l">
              <a:spcBef>
                <a:spcPts val="0"/>
              </a:spcBef>
              <a:spcAft>
                <a:spcPts val="0"/>
              </a:spcAft>
              <a:buClr>
                <a:schemeClr val="dk1"/>
              </a:buClr>
              <a:buSzPts val="4000"/>
              <a:buChar char="●"/>
            </a:pPr>
            <a:r>
              <a:rPr lang="en-US" sz="4000">
                <a:solidFill>
                  <a:schemeClr val="dk1"/>
                </a:solidFill>
              </a:rPr>
              <a:t>Ứng dụng nên xử lý tín hiệu tắt 1 cách an toàn, để có thể hoàn thành công việc đang xử lý, giải phóng tài nguyên tránh việc làm lỗi dữ liệu.</a:t>
            </a:r>
            <a:endParaRPr sz="4000">
              <a:solidFill>
                <a:schemeClr val="dk1"/>
              </a:solidFill>
            </a:endParaRPr>
          </a:p>
          <a:p>
            <a:pPr indent="-482600" lvl="0" marL="457200" rtl="0" algn="l">
              <a:spcBef>
                <a:spcPts val="0"/>
              </a:spcBef>
              <a:spcAft>
                <a:spcPts val="0"/>
              </a:spcAft>
              <a:buClr>
                <a:schemeClr val="dk1"/>
              </a:buClr>
              <a:buSzPts val="4000"/>
              <a:buChar char="●"/>
            </a:pPr>
            <a:r>
              <a:rPr lang="en-US" sz="4000">
                <a:solidFill>
                  <a:schemeClr val="dk1"/>
                </a:solidFill>
              </a:rPr>
              <a:t>Nên tránh:</a:t>
            </a:r>
            <a:endParaRPr sz="4000">
              <a:solidFill>
                <a:schemeClr val="dk1"/>
              </a:solidFill>
            </a:endParaRPr>
          </a:p>
          <a:p>
            <a:pPr indent="-482600" lvl="1" marL="914400" rtl="0" algn="l">
              <a:spcBef>
                <a:spcPts val="0"/>
              </a:spcBef>
              <a:spcAft>
                <a:spcPts val="0"/>
              </a:spcAft>
              <a:buClr>
                <a:schemeClr val="dk1"/>
              </a:buClr>
              <a:buSzPts val="4000"/>
              <a:buChar char="○"/>
            </a:pPr>
            <a:r>
              <a:rPr lang="en-US" sz="4000">
                <a:solidFill>
                  <a:schemeClr val="dk1"/>
                </a:solidFill>
              </a:rPr>
              <a:t>Đóng gói ứng dụng cồng kềnh làm khởi động lâu. Không xử lý tín hiệu tắt làm lỗi dữ liệu </a:t>
            </a:r>
            <a:endParaRPr sz="4000">
              <a:solidFill>
                <a:schemeClr val="dk1"/>
              </a:solidFill>
            </a:endParaRPr>
          </a:p>
          <a:p>
            <a:pPr indent="0" lvl="0" marL="0" rtl="0" algn="l">
              <a:spcBef>
                <a:spcPts val="0"/>
              </a:spcBef>
              <a:spcAft>
                <a:spcPts val="0"/>
              </a:spcAft>
              <a:buClr>
                <a:schemeClr val="dk1"/>
              </a:buClr>
              <a:buSzPts val="1100"/>
              <a:buFont typeface="Arial"/>
              <a:buNone/>
            </a:pPr>
            <a:r>
              <a:t/>
            </a:r>
            <a:endParaRPr sz="4000">
              <a:solidFill>
                <a:schemeClr val="dk1"/>
              </a:solidFill>
            </a:endParaRPr>
          </a:p>
          <a:p>
            <a:pPr indent="0" lvl="0" marL="457200" rtl="0" algn="l">
              <a:spcBef>
                <a:spcPts val="0"/>
              </a:spcBef>
              <a:spcAft>
                <a:spcPts val="0"/>
              </a:spcAft>
              <a:buNone/>
            </a:pPr>
            <a:r>
              <a:rPr b="1" lang="en-US" sz="4000">
                <a:solidFill>
                  <a:schemeClr val="dk1"/>
                </a:solidFill>
              </a:rPr>
              <a:t>10. Dev/Prod tương tự</a:t>
            </a:r>
            <a:endParaRPr b="1" sz="4000">
              <a:solidFill>
                <a:schemeClr val="dk1"/>
              </a:solidFill>
            </a:endParaRPr>
          </a:p>
          <a:p>
            <a:pPr indent="-482600" lvl="0" marL="457200" rtl="0" algn="l">
              <a:spcBef>
                <a:spcPts val="0"/>
              </a:spcBef>
              <a:spcAft>
                <a:spcPts val="0"/>
              </a:spcAft>
              <a:buClr>
                <a:schemeClr val="dk1"/>
              </a:buClr>
              <a:buSzPts val="4000"/>
              <a:buChar char="●"/>
            </a:pPr>
            <a:r>
              <a:rPr lang="en-US" sz="4000">
                <a:solidFill>
                  <a:schemeClr val="dk1"/>
                </a:solidFill>
              </a:rPr>
              <a:t>Giữ cho các môi trường dev/stag/prod càng giống nhau càng tốt về cách triển khai, công cụ và công nghệ, cấu hình môi trường để dễ triển khai cũng như vận hành.</a:t>
            </a:r>
            <a:endParaRPr sz="4000">
              <a:solidFill>
                <a:schemeClr val="dk1"/>
              </a:solidFill>
            </a:endParaRPr>
          </a:p>
          <a:p>
            <a:pPr indent="-482600" lvl="0" marL="457200" rtl="0" algn="l">
              <a:spcBef>
                <a:spcPts val="0"/>
              </a:spcBef>
              <a:spcAft>
                <a:spcPts val="0"/>
              </a:spcAft>
              <a:buClr>
                <a:schemeClr val="dk1"/>
              </a:buClr>
              <a:buSzPts val="4000"/>
              <a:buChar char="●"/>
            </a:pPr>
            <a:r>
              <a:rPr lang="en-US" sz="4000">
                <a:solidFill>
                  <a:schemeClr val="dk1"/>
                </a:solidFill>
              </a:rPr>
              <a:t>Nên tránh:</a:t>
            </a:r>
            <a:endParaRPr sz="4000">
              <a:solidFill>
                <a:schemeClr val="dk1"/>
              </a:solidFill>
            </a:endParaRPr>
          </a:p>
          <a:p>
            <a:pPr indent="-482600" lvl="1" marL="914400" rtl="0" algn="l">
              <a:spcBef>
                <a:spcPts val="0"/>
              </a:spcBef>
              <a:spcAft>
                <a:spcPts val="0"/>
              </a:spcAft>
              <a:buClr>
                <a:schemeClr val="dk1"/>
              </a:buClr>
              <a:buSzPts val="4000"/>
              <a:buChar char="○"/>
            </a:pPr>
            <a:r>
              <a:rPr lang="en-US" sz="4000">
                <a:solidFill>
                  <a:schemeClr val="dk1"/>
                </a:solidFill>
              </a:rPr>
              <a:t>Các môi trường sử dụng công nghệ khác nhau (ví dụ dev dùng mysql standalone, prod dùng mysql cluster), dev dùng sql lite, prod dùng Postgre sql, …</a:t>
            </a:r>
            <a:endParaRPr sz="4000">
              <a:solidFill>
                <a:schemeClr val="dk1"/>
              </a:solidFill>
            </a:endParaRPr>
          </a:p>
          <a:p>
            <a:pPr indent="0" lvl="0" marL="0" rtl="0" algn="l">
              <a:spcBef>
                <a:spcPts val="0"/>
              </a:spcBef>
              <a:spcAft>
                <a:spcPts val="0"/>
              </a:spcAft>
              <a:buClr>
                <a:schemeClr val="dk1"/>
              </a:buClr>
              <a:buSzPts val="1100"/>
              <a:buFont typeface="Arial"/>
              <a:buNone/>
            </a:pPr>
            <a:r>
              <a:t/>
            </a:r>
            <a:endParaRPr b="1" sz="4000">
              <a:solidFill>
                <a:schemeClr val="dk1"/>
              </a:solidFill>
            </a:endParaRPr>
          </a:p>
          <a:p>
            <a:pPr indent="0" lvl="0" marL="0" rtl="0" algn="l">
              <a:spcBef>
                <a:spcPts val="0"/>
              </a:spcBef>
              <a:spcAft>
                <a:spcPts val="0"/>
              </a:spcAft>
              <a:buClr>
                <a:schemeClr val="dk1"/>
              </a:buClr>
              <a:buSzPts val="1100"/>
              <a:buFont typeface="Arial"/>
              <a:buNone/>
            </a:pPr>
            <a:r>
              <a:t/>
            </a:r>
            <a:endParaRPr sz="3900">
              <a:solidFill>
                <a:schemeClr val="dk1"/>
              </a:solidFill>
            </a:endParaRPr>
          </a:p>
          <a:p>
            <a:pPr indent="0" lvl="0" marL="0" marR="0" rtl="0" algn="l">
              <a:lnSpc>
                <a:spcPct val="100000"/>
              </a:lnSpc>
              <a:spcBef>
                <a:spcPts val="0"/>
              </a:spcBef>
              <a:spcAft>
                <a:spcPts val="0"/>
              </a:spcAft>
              <a:buNone/>
            </a:pPr>
            <a:r>
              <a:t/>
            </a:r>
            <a:endParaRPr b="1" sz="4000"/>
          </a:p>
        </p:txBody>
      </p:sp>
      <p:sp>
        <p:nvSpPr>
          <p:cNvPr id="172" name="Google Shape;172;g32e53d89950_0_84"/>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12 factor app</a:t>
            </a:r>
            <a:endParaRPr b="1" i="0" sz="6000" u="none" cap="none" strike="noStrike">
              <a:solidFill>
                <a:srgbClr val="4F81BD"/>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2e53d89950_0_89"/>
          <p:cNvSpPr txBox="1"/>
          <p:nvPr/>
        </p:nvSpPr>
        <p:spPr>
          <a:xfrm>
            <a:off x="1491350" y="2101875"/>
            <a:ext cx="19053900" cy="10035300"/>
          </a:xfrm>
          <a:prstGeom prst="rect">
            <a:avLst/>
          </a:prstGeom>
          <a:noFill/>
          <a:ln>
            <a:noFill/>
          </a:ln>
        </p:spPr>
        <p:txBody>
          <a:bodyPr anchorCtr="0" anchor="t" bIns="45700" lIns="91425" spcFirstLastPara="1" rIns="91425" wrap="square" tIns="45700">
            <a:noAutofit/>
          </a:bodyPr>
          <a:lstStyle/>
          <a:p>
            <a:pPr indent="0" lvl="0" marL="457200" rtl="0" algn="l">
              <a:spcBef>
                <a:spcPts val="0"/>
              </a:spcBef>
              <a:spcAft>
                <a:spcPts val="0"/>
              </a:spcAft>
              <a:buNone/>
            </a:pPr>
            <a:r>
              <a:rPr b="1" lang="en-US" sz="4100">
                <a:solidFill>
                  <a:schemeClr val="dk1"/>
                </a:solidFill>
              </a:rPr>
              <a:t>11</a:t>
            </a:r>
            <a:r>
              <a:rPr b="1" lang="en-US" sz="4100">
                <a:solidFill>
                  <a:schemeClr val="dk1"/>
                </a:solidFill>
              </a:rPr>
              <a:t>. </a:t>
            </a:r>
            <a:r>
              <a:rPr b="1" lang="en-US" sz="4100">
                <a:solidFill>
                  <a:schemeClr val="dk1"/>
                </a:solidFill>
              </a:rPr>
              <a:t>Logs</a:t>
            </a:r>
            <a:r>
              <a:rPr b="1" lang="en-US" sz="4100">
                <a:solidFill>
                  <a:schemeClr val="dk1"/>
                </a:solidFill>
              </a:rPr>
              <a:t>: </a:t>
            </a:r>
            <a:r>
              <a:rPr b="1" lang="en-US" sz="4100">
                <a:solidFill>
                  <a:schemeClr val="dk1"/>
                </a:solidFill>
              </a:rPr>
              <a:t>Xử lý log như luồng sự kiện</a:t>
            </a:r>
            <a:endParaRPr b="1" sz="4100">
              <a:solidFill>
                <a:schemeClr val="dk1"/>
              </a:solidFill>
            </a:endParaRPr>
          </a:p>
          <a:p>
            <a:pPr indent="-488950" lvl="0" marL="457200" rtl="0" algn="l">
              <a:spcBef>
                <a:spcPts val="0"/>
              </a:spcBef>
              <a:spcAft>
                <a:spcPts val="0"/>
              </a:spcAft>
              <a:buClr>
                <a:schemeClr val="dk1"/>
              </a:buClr>
              <a:buSzPts val="4100"/>
              <a:buChar char="●"/>
            </a:pPr>
            <a:r>
              <a:rPr lang="en-US" sz="4100">
                <a:solidFill>
                  <a:schemeClr val="dk1"/>
                </a:solidFill>
              </a:rPr>
              <a:t>Ứng dụng </a:t>
            </a:r>
            <a:r>
              <a:rPr lang="en-US" sz="4100">
                <a:solidFill>
                  <a:schemeClr val="dk1"/>
                </a:solidFill>
              </a:rPr>
              <a:t>không nên tự quản lý log (ghi log ra file, rotate log) mà nên xử lý như luồng sự kiện gửi đến stdout hoặc stderr</a:t>
            </a:r>
            <a:r>
              <a:rPr lang="en-US" sz="4100">
                <a:solidFill>
                  <a:schemeClr val="dk1"/>
                </a:solidFill>
              </a:rPr>
              <a:t>. </a:t>
            </a:r>
            <a:r>
              <a:rPr lang="en-US" sz="4100">
                <a:solidFill>
                  <a:schemeClr val="dk1"/>
                </a:solidFill>
              </a:rPr>
              <a:t>Và sử dụng các công cụ khác như Elasticsearch, Fluentd để xử lý log. Ứng dụng nên ghi log với định dạng phù hợp để dễ parse (ví dụ json)</a:t>
            </a:r>
            <a:endParaRPr sz="4100">
              <a:solidFill>
                <a:schemeClr val="dk1"/>
              </a:solidFill>
            </a:endParaRPr>
          </a:p>
          <a:p>
            <a:pPr indent="-488950" lvl="0" marL="457200" rtl="0" algn="l">
              <a:spcBef>
                <a:spcPts val="0"/>
              </a:spcBef>
              <a:spcAft>
                <a:spcPts val="0"/>
              </a:spcAft>
              <a:buClr>
                <a:schemeClr val="dk1"/>
              </a:buClr>
              <a:buSzPts val="4100"/>
              <a:buChar char="●"/>
            </a:pPr>
            <a:r>
              <a:rPr lang="en-US" sz="4100">
                <a:solidFill>
                  <a:schemeClr val="dk1"/>
                </a:solidFill>
              </a:rPr>
              <a:t>Nên tránh:</a:t>
            </a:r>
            <a:endParaRPr sz="4100">
              <a:solidFill>
                <a:schemeClr val="dk1"/>
              </a:solidFill>
            </a:endParaRPr>
          </a:p>
          <a:p>
            <a:pPr indent="-488950" lvl="1" marL="914400" rtl="0" algn="l">
              <a:spcBef>
                <a:spcPts val="0"/>
              </a:spcBef>
              <a:spcAft>
                <a:spcPts val="0"/>
              </a:spcAft>
              <a:buClr>
                <a:schemeClr val="dk1"/>
              </a:buClr>
              <a:buSzPts val="4100"/>
              <a:buChar char="○"/>
            </a:pPr>
            <a:r>
              <a:rPr lang="en-US" sz="4100">
                <a:solidFill>
                  <a:schemeClr val="dk1"/>
                </a:solidFill>
              </a:rPr>
              <a:t>Ứng dụng tự quản lý ghi log ra file, tự quy định format log riêng.</a:t>
            </a:r>
            <a:r>
              <a:rPr lang="en-US" sz="4100">
                <a:solidFill>
                  <a:schemeClr val="dk1"/>
                </a:solidFill>
              </a:rPr>
              <a:t> </a:t>
            </a:r>
            <a:endParaRPr sz="4100">
              <a:solidFill>
                <a:schemeClr val="dk1"/>
              </a:solidFill>
            </a:endParaRPr>
          </a:p>
          <a:p>
            <a:pPr indent="0" lvl="0" marL="0" rtl="0" algn="l">
              <a:spcBef>
                <a:spcPts val="0"/>
              </a:spcBef>
              <a:spcAft>
                <a:spcPts val="0"/>
              </a:spcAft>
              <a:buNone/>
            </a:pPr>
            <a:r>
              <a:t/>
            </a:r>
            <a:endParaRPr sz="4100">
              <a:solidFill>
                <a:schemeClr val="dk1"/>
              </a:solidFill>
            </a:endParaRPr>
          </a:p>
          <a:p>
            <a:pPr indent="0" lvl="0" marL="457200" rtl="0" algn="l">
              <a:spcBef>
                <a:spcPts val="0"/>
              </a:spcBef>
              <a:spcAft>
                <a:spcPts val="0"/>
              </a:spcAft>
              <a:buNone/>
            </a:pPr>
            <a:r>
              <a:rPr b="1" lang="en-US" sz="4100">
                <a:solidFill>
                  <a:schemeClr val="dk1"/>
                </a:solidFill>
              </a:rPr>
              <a:t>1</a:t>
            </a:r>
            <a:r>
              <a:rPr b="1" lang="en-US" sz="4100">
                <a:solidFill>
                  <a:schemeClr val="dk1"/>
                </a:solidFill>
              </a:rPr>
              <a:t>2</a:t>
            </a:r>
            <a:r>
              <a:rPr b="1" lang="en-US" sz="4100">
                <a:solidFill>
                  <a:schemeClr val="dk1"/>
                </a:solidFill>
              </a:rPr>
              <a:t>. </a:t>
            </a:r>
            <a:r>
              <a:rPr b="1" lang="en-US" sz="4100">
                <a:solidFill>
                  <a:schemeClr val="dk1"/>
                </a:solidFill>
              </a:rPr>
              <a:t>Admin Processes</a:t>
            </a:r>
            <a:r>
              <a:rPr b="1" lang="en-US" sz="4100">
                <a:solidFill>
                  <a:schemeClr val="dk1"/>
                </a:solidFill>
              </a:rPr>
              <a:t>: </a:t>
            </a:r>
            <a:r>
              <a:rPr b="1" lang="en-US" sz="4100">
                <a:solidFill>
                  <a:schemeClr val="dk1"/>
                </a:solidFill>
              </a:rPr>
              <a:t>chạy các tác vụ vận hành 1 lần tạm thời</a:t>
            </a:r>
            <a:endParaRPr b="1" sz="4100">
              <a:solidFill>
                <a:schemeClr val="dk1"/>
              </a:solidFill>
            </a:endParaRPr>
          </a:p>
          <a:p>
            <a:pPr indent="-488950" lvl="0" marL="457200" rtl="0" algn="l">
              <a:spcBef>
                <a:spcPts val="0"/>
              </a:spcBef>
              <a:spcAft>
                <a:spcPts val="0"/>
              </a:spcAft>
              <a:buClr>
                <a:schemeClr val="dk1"/>
              </a:buClr>
              <a:buSzPts val="4100"/>
              <a:buChar char="●"/>
            </a:pPr>
            <a:r>
              <a:rPr lang="en-US" sz="4100">
                <a:solidFill>
                  <a:schemeClr val="dk1"/>
                </a:solidFill>
              </a:rPr>
              <a:t>Các tác vụ quản trị như update schema database nên được tách ra các lệnh tạm thời, sử dụng cùng môi trường với mã nguồn, thực hiện thông qua cli</a:t>
            </a:r>
            <a:r>
              <a:rPr lang="en-US" sz="4100">
                <a:solidFill>
                  <a:schemeClr val="dk1"/>
                </a:solidFill>
              </a:rPr>
              <a:t>.</a:t>
            </a:r>
            <a:endParaRPr sz="4100">
              <a:solidFill>
                <a:schemeClr val="dk1"/>
              </a:solidFill>
            </a:endParaRPr>
          </a:p>
          <a:p>
            <a:pPr indent="-488950" lvl="0" marL="457200" rtl="0" algn="l">
              <a:spcBef>
                <a:spcPts val="0"/>
              </a:spcBef>
              <a:spcAft>
                <a:spcPts val="0"/>
              </a:spcAft>
              <a:buClr>
                <a:schemeClr val="dk1"/>
              </a:buClr>
              <a:buSzPts val="4100"/>
              <a:buChar char="●"/>
            </a:pPr>
            <a:r>
              <a:rPr lang="en-US" sz="4100">
                <a:solidFill>
                  <a:schemeClr val="dk1"/>
                </a:solidFill>
              </a:rPr>
              <a:t>Nên tránh:</a:t>
            </a:r>
            <a:endParaRPr sz="4100">
              <a:solidFill>
                <a:schemeClr val="dk1"/>
              </a:solidFill>
            </a:endParaRPr>
          </a:p>
          <a:p>
            <a:pPr indent="-488950" lvl="1" marL="914400" rtl="0" algn="l">
              <a:spcBef>
                <a:spcPts val="0"/>
              </a:spcBef>
              <a:spcAft>
                <a:spcPts val="0"/>
              </a:spcAft>
              <a:buClr>
                <a:schemeClr val="dk1"/>
              </a:buClr>
              <a:buSzPts val="4100"/>
              <a:buChar char="○"/>
            </a:pPr>
            <a:r>
              <a:rPr lang="en-US" sz="4100">
                <a:solidFill>
                  <a:schemeClr val="dk1"/>
                </a:solidFill>
              </a:rPr>
              <a:t>Chạy tác vụ quản trị song song, đồng thời với process của ứng dụng.</a:t>
            </a:r>
            <a:endParaRPr sz="4100">
              <a:solidFill>
                <a:schemeClr val="dk1"/>
              </a:solidFill>
            </a:endParaRPr>
          </a:p>
          <a:p>
            <a:pPr indent="0" lvl="0" marL="0" rtl="0" algn="l">
              <a:spcBef>
                <a:spcPts val="0"/>
              </a:spcBef>
              <a:spcAft>
                <a:spcPts val="0"/>
              </a:spcAft>
              <a:buNone/>
            </a:pPr>
            <a:r>
              <a:t/>
            </a:r>
            <a:endParaRPr b="1" sz="4100">
              <a:solidFill>
                <a:schemeClr val="dk1"/>
              </a:solidFill>
            </a:endParaRPr>
          </a:p>
          <a:p>
            <a:pPr indent="0" lvl="0" marL="0" rtl="0" algn="l">
              <a:spcBef>
                <a:spcPts val="0"/>
              </a:spcBef>
              <a:spcAft>
                <a:spcPts val="0"/>
              </a:spcAft>
              <a:buNone/>
            </a:pPr>
            <a:r>
              <a:t/>
            </a:r>
            <a:endParaRPr sz="4000">
              <a:solidFill>
                <a:schemeClr val="dk1"/>
              </a:solidFill>
            </a:endParaRPr>
          </a:p>
          <a:p>
            <a:pPr indent="0" lvl="0" marL="0" marR="0" rtl="0" algn="l">
              <a:lnSpc>
                <a:spcPct val="100000"/>
              </a:lnSpc>
              <a:spcBef>
                <a:spcPts val="0"/>
              </a:spcBef>
              <a:spcAft>
                <a:spcPts val="0"/>
              </a:spcAft>
              <a:buNone/>
            </a:pPr>
            <a:r>
              <a:t/>
            </a:r>
            <a:endParaRPr b="1" sz="4100"/>
          </a:p>
        </p:txBody>
      </p:sp>
      <p:sp>
        <p:nvSpPr>
          <p:cNvPr id="178" name="Google Shape;178;g32e53d89950_0_89"/>
          <p:cNvSpPr txBox="1"/>
          <p:nvPr/>
        </p:nvSpPr>
        <p:spPr>
          <a:xfrm>
            <a:off x="1200149" y="571498"/>
            <a:ext cx="11242500" cy="620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lang="en-US" sz="6000">
                <a:solidFill>
                  <a:srgbClr val="4F81BD"/>
                </a:solidFill>
              </a:rPr>
              <a:t>12 factor app</a:t>
            </a:r>
            <a:endParaRPr b="1" i="0" sz="6000" u="none" cap="none" strike="noStrike">
              <a:solidFill>
                <a:srgbClr val="4F81BD"/>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Nguyen Anh Quan (VTI.GA)</dc:creator>
</cp:coreProperties>
</file>