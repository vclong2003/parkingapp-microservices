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68" r:id="rId4"/>
    <p:sldId id="380" r:id="rId5"/>
    <p:sldId id="382" r:id="rId6"/>
    <p:sldId id="383" r:id="rId7"/>
    <p:sldId id="384" r:id="rId8"/>
    <p:sldId id="386" r:id="rId9"/>
    <p:sldId id="388" r:id="rId10"/>
    <p:sldId id="389" r:id="rId11"/>
    <p:sldId id="390" r:id="rId12"/>
    <p:sldId id="392" r:id="rId13"/>
    <p:sldId id="393" r:id="rId14"/>
    <p:sldId id="391" r:id="rId15"/>
    <p:sldId id="394" r:id="rId16"/>
    <p:sldId id="395" r:id="rId17"/>
    <p:sldId id="396" r:id="rId18"/>
    <p:sldId id="397" r:id="rId19"/>
    <p:sldId id="399" r:id="rId20"/>
    <p:sldId id="398" r:id="rId21"/>
    <p:sldId id="400" r:id="rId22"/>
    <p:sldId id="402" r:id="rId23"/>
    <p:sldId id="401" r:id="rId24"/>
    <p:sldId id="403" r:id="rId25"/>
    <p:sldId id="404" r:id="rId26"/>
    <p:sldId id="405" r:id="rId27"/>
    <p:sldId id="406" r:id="rId28"/>
    <p:sldId id="407" r:id="rId29"/>
    <p:sldId id="408" r:id="rId30"/>
  </p:sldIdLst>
  <p:sldSz cx="24384000" cy="13716000"/>
  <p:notesSz cx="6797675" cy="9929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20">
          <p15:clr>
            <a:srgbClr val="A4A3A4"/>
          </p15:clr>
        </p15:guide>
        <p15:guide id="2" pos="76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1" roundtripDataSignature="AMtx7mjs085yzzlXE3f0C5X3//xYLaW4u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1" autoAdjust="0"/>
    <p:restoredTop sz="96283" autoAdjust="0"/>
  </p:normalViewPr>
  <p:slideViewPr>
    <p:cSldViewPr snapToGrid="0">
      <p:cViewPr varScale="1">
        <p:scale>
          <a:sx n="69" d="100"/>
          <a:sy n="69" d="100"/>
        </p:scale>
        <p:origin x="828" y="10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71"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 Id="rId7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06357" y="4716661"/>
            <a:ext cx="4984962" cy="446841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extLst>
      <p:ext uri="{BB962C8B-B14F-4D97-AF65-F5344CB8AC3E}">
        <p14:creationId xmlns:p14="http://schemas.microsoft.com/office/powerpoint/2010/main" val="26737769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 name="Google Shape;33;p1:notes"/>
          <p:cNvSpPr txBox="1">
            <a:spLocks noGrp="1"/>
          </p:cNvSpPr>
          <p:nvPr>
            <p:ph type="body" idx="1"/>
          </p:nvPr>
        </p:nvSpPr>
        <p:spPr>
          <a:xfrm>
            <a:off x="906357" y="4716661"/>
            <a:ext cx="4984962" cy="4468416"/>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lang="vi-VN" dirty="0"/>
          </a:p>
        </p:txBody>
      </p:sp>
    </p:spTree>
    <p:extLst>
      <p:ext uri="{BB962C8B-B14F-4D97-AF65-F5344CB8AC3E}">
        <p14:creationId xmlns:p14="http://schemas.microsoft.com/office/powerpoint/2010/main" val="1609121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 name="Google Shape;41;p2:notes"/>
          <p:cNvSpPr txBox="1">
            <a:spLocks noGrp="1"/>
          </p:cNvSpPr>
          <p:nvPr>
            <p:ph type="body" idx="1"/>
          </p:nvPr>
        </p:nvSpPr>
        <p:spPr>
          <a:xfrm>
            <a:off x="906357" y="4716661"/>
            <a:ext cx="4984962" cy="4468416"/>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extLst>
      <p:ext uri="{BB962C8B-B14F-4D97-AF65-F5344CB8AC3E}">
        <p14:creationId xmlns:p14="http://schemas.microsoft.com/office/powerpoint/2010/main" val="342099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6473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7669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1243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1175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7245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96524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7509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5393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3676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9806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7467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4344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4089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3084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55654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4317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0296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760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53103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27942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9769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605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9822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64801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03642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5269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5:notes"/>
          <p:cNvSpPr txBox="1">
            <a:spLocks noGrp="1"/>
          </p:cNvSpPr>
          <p:nvPr>
            <p:ph type="body" idx="1"/>
          </p:nvPr>
        </p:nvSpPr>
        <p:spPr>
          <a:xfrm>
            <a:off x="906357" y="4716661"/>
            <a:ext cx="4984962" cy="4468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 name="Google Shape;60;p5:notes"/>
          <p:cNvSpPr>
            <a:spLocks noGrp="1" noRot="1" noChangeAspect="1"/>
          </p:cNvSpPr>
          <p:nvPr>
            <p:ph type="sldImg" idx="2"/>
          </p:nvPr>
        </p:nvSpPr>
        <p:spPr>
          <a:xfrm>
            <a:off x="88900" y="744538"/>
            <a:ext cx="6619875" cy="3724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60966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r="100000" b="100000"/>
          </a:path>
          <a:tileRect l="-100000" t="-100000"/>
        </a:gra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2"/>
        <p:cNvGrpSpPr/>
        <p:nvPr/>
      </p:nvGrpSpPr>
      <p:grpSpPr>
        <a:xfrm>
          <a:off x="0" y="0"/>
          <a:ext cx="0" cy="0"/>
          <a:chOff x="0" y="0"/>
          <a:chExt cx="0" cy="0"/>
        </a:xfrm>
      </p:grpSpPr>
      <p:pic>
        <p:nvPicPr>
          <p:cNvPr id="13" name="Google Shape;13;p14" descr="A screenshot of a cell phone&#10;&#10;Description automatically generated"/>
          <p:cNvPicPr preferRelativeResize="0"/>
          <p:nvPr/>
        </p:nvPicPr>
        <p:blipFill rotWithShape="1">
          <a:blip r:embed="rId2">
            <a:alphaModFix/>
          </a:blip>
          <a:srcRect/>
          <a:stretch/>
        </p:blipFill>
        <p:spPr>
          <a:xfrm>
            <a:off x="0" y="0"/>
            <a:ext cx="24384000" cy="13716000"/>
          </a:xfrm>
          <a:prstGeom prst="rect">
            <a:avLst/>
          </a:prstGeom>
          <a:noFill/>
          <a:ln>
            <a:noFill/>
          </a:ln>
        </p:spPr>
      </p:pic>
      <p:sp>
        <p:nvSpPr>
          <p:cNvPr id="14" name="Google Shape;14;p14"/>
          <p:cNvSpPr txBox="1">
            <a:spLocks noGrp="1"/>
          </p:cNvSpPr>
          <p:nvPr>
            <p:ph type="title"/>
          </p:nvPr>
        </p:nvSpPr>
        <p:spPr>
          <a:xfrm>
            <a:off x="1845217" y="357188"/>
            <a:ext cx="15794390" cy="1710326"/>
          </a:xfrm>
          <a:prstGeom prst="rect">
            <a:avLst/>
          </a:prstGeom>
          <a:noFill/>
          <a:ln>
            <a:noFill/>
          </a:ln>
        </p:spPr>
        <p:txBody>
          <a:bodyPr spcFirstLastPara="1" wrap="square" lIns="71425" tIns="71425" rIns="71425" bIns="71425" anchor="ctr" anchorCtr="0">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 name="Google Shape;15;p14"/>
          <p:cNvSpPr txBox="1">
            <a:spLocks noGrp="1"/>
          </p:cNvSpPr>
          <p:nvPr>
            <p:ph type="sldNum" idx="12"/>
          </p:nvPr>
        </p:nvSpPr>
        <p:spPr>
          <a:xfrm>
            <a:off x="8820083" y="13156977"/>
            <a:ext cx="6743833" cy="482823"/>
          </a:xfrm>
          <a:prstGeom prst="rect">
            <a:avLst/>
          </a:prstGeom>
          <a:noFill/>
          <a:ln>
            <a:noFill/>
          </a:ln>
        </p:spPr>
        <p:txBody>
          <a:bodyPr spcFirstLastPara="1" wrap="square" lIns="71425" tIns="71425" rIns="71425" bIns="71425" anchor="t" anchorCtr="0">
            <a:spAutoFit/>
          </a:bodyPr>
          <a:lstStyle>
            <a:lvl1pPr marL="0" lvl="0"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1pPr>
            <a:lvl2pPr marL="0" lvl="1"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2pPr>
            <a:lvl3pPr marL="0" lvl="2"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3pPr>
            <a:lvl4pPr marL="0" lvl="3"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4pPr>
            <a:lvl5pPr marL="0" lvl="4"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5pPr>
            <a:lvl6pPr marL="0" lvl="5"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6pPr>
            <a:lvl7pPr marL="0" lvl="6"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7pPr>
            <a:lvl8pPr marL="0" lvl="7"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8pPr>
            <a:lvl9pPr marL="0" lvl="8" indent="0" algn="ctr">
              <a:lnSpc>
                <a:spcPct val="100000"/>
              </a:lnSpc>
              <a:spcBef>
                <a:spcPts val="0"/>
              </a:spcBef>
              <a:spcAft>
                <a:spcPts val="0"/>
              </a:spcAft>
              <a:buClr>
                <a:schemeClr val="lt1"/>
              </a:buClr>
              <a:buSzPts val="2200"/>
              <a:buFont typeface="Meiryo"/>
              <a:buNone/>
              <a:defRPr sz="2200" b="0" i="0" u="none" strike="noStrike" cap="none">
                <a:solidFill>
                  <a:schemeClr val="lt1"/>
                </a:solidFill>
                <a:latin typeface="Meiryo"/>
                <a:ea typeface="Meiryo"/>
                <a:cs typeface="Meiryo"/>
                <a:sym typeface="Meiryo"/>
              </a:defRPr>
            </a:lvl9pPr>
          </a:lstStyle>
          <a:p>
            <a:pPr marL="0" lvl="0" indent="0" algn="ctr" rtl="0">
              <a:spcBef>
                <a:spcPts val="0"/>
              </a:spcBef>
              <a:spcAft>
                <a:spcPts val="0"/>
              </a:spcAft>
              <a:buNone/>
            </a:pPr>
            <a:r>
              <a:rPr lang="en-US"/>
              <a:t>Copyright </a:t>
            </a:r>
            <a:r>
              <a:rPr lang="en-US" i="1"/>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w="19050" cap="flat" cmpd="sng">
            <a:solidFill>
              <a:srgbClr val="3C5A99"/>
            </a:solidFill>
            <a:prstDash val="solid"/>
            <a:miter lim="800000"/>
            <a:headEnd type="none" w="sm" len="sm"/>
            <a:tailEnd type="none" w="sm" len="sm"/>
          </a:ln>
        </p:spPr>
      </p:cxnSp>
      <p:sp>
        <p:nvSpPr>
          <p:cNvPr id="18" name="Google Shape;18;p15"/>
          <p:cNvSpPr/>
          <p:nvPr/>
        </p:nvSpPr>
        <p:spPr>
          <a:xfrm>
            <a:off x="0" y="12670972"/>
            <a:ext cx="24384001" cy="1045028"/>
          </a:xfrm>
          <a:prstGeom prst="rect">
            <a:avLst/>
          </a:prstGeom>
          <a:solidFill>
            <a:srgbClr val="3C5A99"/>
          </a:soli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rgbClr val="000000"/>
              </a:buClr>
              <a:buSzPts val="3600"/>
              <a:buFont typeface="Helvetica Neue"/>
              <a:buNone/>
            </a:pPr>
            <a:endParaRPr sz="3600" b="1" i="0" u="none" strike="noStrike" cap="non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spcFirstLastPara="1" wrap="square" lIns="182850" tIns="91400" rIns="182850" bIns="91400" anchor="t" anchorCtr="0">
            <a:noAutofit/>
          </a:bodyPr>
          <a:lstStyle/>
          <a:p>
            <a:pPr marL="0" marR="0" lvl="0" indent="0" algn="ctr" rtl="0">
              <a:lnSpc>
                <a:spcPct val="100000"/>
              </a:lnSpc>
              <a:spcBef>
                <a:spcPts val="0"/>
              </a:spcBef>
              <a:spcAft>
                <a:spcPts val="0"/>
              </a:spcAft>
              <a:buClr>
                <a:schemeClr val="lt1"/>
              </a:buClr>
              <a:buSzPts val="3200"/>
              <a:buFont typeface="Helvetica Neue"/>
              <a:buNone/>
            </a:pPr>
            <a:r>
              <a:rPr lang="en-US" sz="3200" b="1" i="0" u="none" strike="noStrike" cap="none">
                <a:solidFill>
                  <a:schemeClr val="lt1"/>
                </a:solidFill>
                <a:latin typeface="Helvetica Neue"/>
                <a:ea typeface="Helvetica Neue"/>
                <a:cs typeface="Helvetica Neue"/>
                <a:sym typeface="Helvetica Neue"/>
              </a:rPr>
              <a:t>Copyright </a:t>
            </a:r>
            <a:r>
              <a:rPr lang="en-US" sz="3200" b="1" i="1" u="none" strike="noStrike" cap="none">
                <a:solidFill>
                  <a:schemeClr val="lt1"/>
                </a:solidFill>
                <a:latin typeface="Helvetica Neue"/>
                <a:ea typeface="Helvetica Neue"/>
                <a:cs typeface="Helvetica Neue"/>
                <a:sym typeface="Helvetica Neue"/>
              </a:rPr>
              <a:t>© </a:t>
            </a:r>
            <a:r>
              <a:rPr lang="en-US" sz="3200" b="1" i="0" u="none" strike="noStrike" cap="none">
                <a:solidFill>
                  <a:schemeClr val="lt1"/>
                </a:solidFill>
                <a:latin typeface="Helvetica Neue"/>
                <a:ea typeface="Helvetica Neue"/>
                <a:cs typeface="Helvetica Neue"/>
                <a:sym typeface="Helvetica Neue"/>
              </a:rPr>
              <a:t>VTI Academy All Right Reserved </a:t>
            </a:r>
            <a:endParaRPr sz="3200" b="1" i="0" u="none" strike="noStrike" cap="non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w="19050" cap="flat" cmpd="sng">
            <a:solidFill>
              <a:srgbClr val="FFC000"/>
            </a:solidFill>
            <a:prstDash val="solid"/>
            <a:miter lim="800000"/>
            <a:headEnd type="none" w="sm" len="sm"/>
            <a:tailEnd type="none" w="sm" len="sm"/>
          </a:ln>
        </p:spPr>
      </p:cxnSp>
      <p:cxnSp>
        <p:nvCxnSpPr>
          <p:cNvPr id="21" name="Google Shape;21;p15"/>
          <p:cNvCxnSpPr/>
          <p:nvPr/>
        </p:nvCxnSpPr>
        <p:spPr>
          <a:xfrm>
            <a:off x="0" y="12670972"/>
            <a:ext cx="24384001" cy="0"/>
          </a:xfrm>
          <a:prstGeom prst="straightConnector1">
            <a:avLst/>
          </a:prstGeom>
          <a:noFill/>
          <a:ln w="19050" cap="flat" cmpd="sng">
            <a:solidFill>
              <a:srgbClr val="FFC000"/>
            </a:solidFill>
            <a:prstDash val="solid"/>
            <a:miter lim="800000"/>
            <a:headEnd type="none" w="sm" len="sm"/>
            <a:tailEnd type="none" w="sm" len="sm"/>
          </a:ln>
        </p:spPr>
      </p:cxnSp>
      <p:pic>
        <p:nvPicPr>
          <p:cNvPr id="22" name="Google Shape;22;p15" descr="A picture containing drawing&#10;&#10;Description automatically generated"/>
          <p:cNvPicPr preferRelativeResize="0"/>
          <p:nvPr/>
        </p:nvPicPr>
        <p:blipFill rotWithShape="1">
          <a:blip r:embed="rId2">
            <a:alphaModFix/>
          </a:blip>
          <a:srcRect/>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r="100000" b="100000"/>
          </a:path>
          <a:tileRect l="-100000" t="-100000"/>
        </a:gradFill>
        <a:effectLst/>
      </p:bgPr>
    </p:bg>
    <p:spTree>
      <p:nvGrpSpPr>
        <p:cNvPr id="1" name="Shape 23"/>
        <p:cNvGrpSpPr/>
        <p:nvPr/>
      </p:nvGrpSpPr>
      <p:grpSpPr>
        <a:xfrm>
          <a:off x="0" y="0"/>
          <a:ext cx="0" cy="0"/>
          <a:chOff x="0" y="0"/>
          <a:chExt cx="0" cy="0"/>
        </a:xfrm>
      </p:grpSpPr>
      <p:sp>
        <p:nvSpPr>
          <p:cNvPr id="24" name="Google Shape;24;p16"/>
          <p:cNvSpPr txBox="1">
            <a:spLocks noGrp="1"/>
          </p:cNvSpPr>
          <p:nvPr>
            <p:ph type="title"/>
          </p:nvPr>
        </p:nvSpPr>
        <p:spPr>
          <a:xfrm>
            <a:off x="1845217" y="357188"/>
            <a:ext cx="18701657" cy="1710326"/>
          </a:xfrm>
          <a:prstGeom prst="rect">
            <a:avLst/>
          </a:prstGeom>
          <a:noFill/>
          <a:ln>
            <a:noFill/>
          </a:ln>
        </p:spPr>
        <p:txBody>
          <a:bodyPr spcFirstLastPara="1" wrap="square" lIns="71425" tIns="71425" rIns="71425" bIns="71425" anchor="ctr" anchorCtr="0">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5" name="Google Shape;25;p16"/>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9pPr>
          </a:lstStyle>
          <a:p>
            <a:endParaRPr/>
          </a:p>
        </p:txBody>
      </p:sp>
      <p:sp>
        <p:nvSpPr>
          <p:cNvPr id="26" name="Google Shape;26;p16"/>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3200"/>
              <a:buFont typeface="Helvetica Neue"/>
              <a:buNone/>
              <a:defRPr sz="3200" b="1" i="0" u="none" strike="noStrike" cap="none">
                <a:solidFill>
                  <a:srgbClr val="000000"/>
                </a:solidFill>
                <a:latin typeface="Helvetica Neue"/>
                <a:ea typeface="Helvetica Neue"/>
                <a:cs typeface="Helvetica Neue"/>
                <a:sym typeface="Helvetica Neue"/>
              </a:defRPr>
            </a:lvl9pPr>
          </a:lstStyle>
          <a:p>
            <a:endParaRPr/>
          </a:p>
        </p:txBody>
      </p:sp>
      <p:sp>
        <p:nvSpPr>
          <p:cNvPr id="27" name="Google Shape;27;p16"/>
          <p:cNvSpPr txBox="1">
            <a:spLocks noGrp="1"/>
          </p:cNvSpPr>
          <p:nvPr>
            <p:ph type="sldNum" idx="12"/>
          </p:nvPr>
        </p:nvSpPr>
        <p:spPr>
          <a:xfrm>
            <a:off x="11962817" y="13073062"/>
            <a:ext cx="448840" cy="482823"/>
          </a:xfrm>
          <a:prstGeom prst="rect">
            <a:avLst/>
          </a:prstGeom>
          <a:noFill/>
          <a:ln>
            <a:noFill/>
          </a:ln>
        </p:spPr>
        <p:txBody>
          <a:bodyPr spcFirstLastPara="1" wrap="square" lIns="71425" tIns="71425" rIns="71425" bIns="71425" anchor="t" anchorCtr="0">
            <a:spAutoFit/>
          </a:bodyPr>
          <a:lstStyle>
            <a:lvl1pPr marL="0" lvl="0" indent="0" algn="ctr">
              <a:lnSpc>
                <a:spcPct val="100000"/>
              </a:lnSpc>
              <a:spcBef>
                <a:spcPts val="0"/>
              </a:spcBef>
              <a:spcAft>
                <a:spcPts val="0"/>
              </a:spcAft>
              <a:buClr>
                <a:srgbClr val="000000"/>
              </a:buClr>
              <a:buSzPts val="2200"/>
              <a:buFont typeface="Helvetica Neue Light"/>
              <a:buNone/>
              <a:defRPr/>
            </a:lvl1pPr>
            <a:lvl2pPr marL="0" lvl="1" indent="0" algn="ctr">
              <a:lnSpc>
                <a:spcPct val="100000"/>
              </a:lnSpc>
              <a:spcBef>
                <a:spcPts val="0"/>
              </a:spcBef>
              <a:spcAft>
                <a:spcPts val="0"/>
              </a:spcAft>
              <a:buClr>
                <a:srgbClr val="000000"/>
              </a:buClr>
              <a:buSzPts val="2200"/>
              <a:buFont typeface="Helvetica Neue Light"/>
              <a:buNone/>
              <a:defRPr/>
            </a:lvl2pPr>
            <a:lvl3pPr marL="0" lvl="2" indent="0" algn="ctr">
              <a:lnSpc>
                <a:spcPct val="100000"/>
              </a:lnSpc>
              <a:spcBef>
                <a:spcPts val="0"/>
              </a:spcBef>
              <a:spcAft>
                <a:spcPts val="0"/>
              </a:spcAft>
              <a:buClr>
                <a:srgbClr val="000000"/>
              </a:buClr>
              <a:buSzPts val="2200"/>
              <a:buFont typeface="Helvetica Neue Light"/>
              <a:buNone/>
              <a:defRPr/>
            </a:lvl3pPr>
            <a:lvl4pPr marL="0" lvl="3" indent="0" algn="ctr">
              <a:lnSpc>
                <a:spcPct val="100000"/>
              </a:lnSpc>
              <a:spcBef>
                <a:spcPts val="0"/>
              </a:spcBef>
              <a:spcAft>
                <a:spcPts val="0"/>
              </a:spcAft>
              <a:buClr>
                <a:srgbClr val="000000"/>
              </a:buClr>
              <a:buSzPts val="2200"/>
              <a:buFont typeface="Helvetica Neue Light"/>
              <a:buNone/>
              <a:defRPr/>
            </a:lvl4pPr>
            <a:lvl5pPr marL="0" lvl="4" indent="0" algn="ctr">
              <a:lnSpc>
                <a:spcPct val="100000"/>
              </a:lnSpc>
              <a:spcBef>
                <a:spcPts val="0"/>
              </a:spcBef>
              <a:spcAft>
                <a:spcPts val="0"/>
              </a:spcAft>
              <a:buClr>
                <a:srgbClr val="000000"/>
              </a:buClr>
              <a:buSzPts val="2200"/>
              <a:buFont typeface="Helvetica Neue Light"/>
              <a:buNone/>
              <a:defRPr/>
            </a:lvl5pPr>
            <a:lvl6pPr marL="0" lvl="5" indent="0" algn="ctr">
              <a:lnSpc>
                <a:spcPct val="100000"/>
              </a:lnSpc>
              <a:spcBef>
                <a:spcPts val="0"/>
              </a:spcBef>
              <a:spcAft>
                <a:spcPts val="0"/>
              </a:spcAft>
              <a:buClr>
                <a:srgbClr val="000000"/>
              </a:buClr>
              <a:buSzPts val="2200"/>
              <a:buFont typeface="Helvetica Neue Light"/>
              <a:buNone/>
              <a:defRPr/>
            </a:lvl6pPr>
            <a:lvl7pPr marL="0" lvl="6" indent="0" algn="ctr">
              <a:lnSpc>
                <a:spcPct val="100000"/>
              </a:lnSpc>
              <a:spcBef>
                <a:spcPts val="0"/>
              </a:spcBef>
              <a:spcAft>
                <a:spcPts val="0"/>
              </a:spcAft>
              <a:buClr>
                <a:srgbClr val="000000"/>
              </a:buClr>
              <a:buSzPts val="2200"/>
              <a:buFont typeface="Helvetica Neue Light"/>
              <a:buNone/>
              <a:defRPr/>
            </a:lvl7pPr>
            <a:lvl8pPr marL="0" lvl="7" indent="0" algn="ctr">
              <a:lnSpc>
                <a:spcPct val="100000"/>
              </a:lnSpc>
              <a:spcBef>
                <a:spcPts val="0"/>
              </a:spcBef>
              <a:spcAft>
                <a:spcPts val="0"/>
              </a:spcAft>
              <a:buClr>
                <a:srgbClr val="000000"/>
              </a:buClr>
              <a:buSzPts val="2200"/>
              <a:buFont typeface="Helvetica Neue Light"/>
              <a:buNone/>
              <a:defRPr/>
            </a:lvl8pPr>
            <a:lvl9pPr marL="0" lvl="8" indent="0" algn="ctr">
              <a:lnSpc>
                <a:spcPct val="100000"/>
              </a:lnSpc>
              <a:spcBef>
                <a:spcPts val="0"/>
              </a:spcBef>
              <a:spcAft>
                <a:spcPts val="0"/>
              </a:spcAft>
              <a:buClr>
                <a:srgbClr val="000000"/>
              </a:buClr>
              <a:buSzPts val="2200"/>
              <a:buFont typeface="Helvetica Neue Light"/>
              <a:buNone/>
              <a:defRPr/>
            </a:lvl9pPr>
          </a:lstStyle>
          <a:p>
            <a:pPr marL="0" lvl="0" indent="0" algn="ctr" rtl="0">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w="38100" cap="rnd" cmpd="sng">
            <a:solidFill>
              <a:srgbClr val="057BBA">
                <a:alpha val="80000"/>
              </a:srgbClr>
            </a:solidFill>
            <a:prstDash val="solid"/>
            <a:round/>
            <a:headEnd type="none" w="sm" len="sm"/>
            <a:tailEnd type="none" w="sm" len="sm"/>
          </a:ln>
        </p:spPr>
      </p:cxnSp>
      <p:pic>
        <p:nvPicPr>
          <p:cNvPr id="29" name="Google Shape;29;p16" descr="A close up of a sign&#10;&#10;Description automatically generated"/>
          <p:cNvPicPr preferRelativeResize="0"/>
          <p:nvPr/>
        </p:nvPicPr>
        <p:blipFill rotWithShape="1">
          <a:blip r:embed="rId2">
            <a:alphaModFix/>
          </a:blip>
          <a:srcRect/>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r="100000" b="100000"/>
          </a:path>
          <a:tileRect l="-100000" t="-100000"/>
        </a:gradFill>
        <a:effectLst/>
      </p:bgPr>
    </p:bg>
    <p:spTree>
      <p:nvGrpSpPr>
        <p:cNvPr id="1"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387453" y="357187"/>
            <a:ext cx="15609095" cy="3036095"/>
          </a:xfrm>
          <a:prstGeom prst="rect">
            <a:avLst/>
          </a:prstGeom>
          <a:noFill/>
          <a:ln>
            <a:noFill/>
          </a:ln>
        </p:spPr>
        <p:txBody>
          <a:bodyPr spcFirstLastPara="1" wrap="square" lIns="71425" tIns="71425" rIns="71425" bIns="71425" anchor="ctr" anchorCtr="0">
            <a:normAutofit/>
          </a:bodyPr>
          <a:lstStyle>
            <a:lvl1pPr marR="0" lvl="0"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11200"/>
              <a:buFont typeface="Helvetica Neue"/>
              <a:buNone/>
              <a:defRPr sz="11200" b="0"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12"/>
          <p:cNvSpPr txBox="1">
            <a:spLocks noGrp="1"/>
          </p:cNvSpPr>
          <p:nvPr>
            <p:ph type="body" idx="1"/>
          </p:nvPr>
        </p:nvSpPr>
        <p:spPr>
          <a:xfrm>
            <a:off x="4387453" y="3643312"/>
            <a:ext cx="15609095" cy="8840392"/>
          </a:xfrm>
          <a:prstGeom prst="rect">
            <a:avLst/>
          </a:prstGeom>
          <a:noFill/>
          <a:ln>
            <a:noFill/>
          </a:ln>
        </p:spPr>
        <p:txBody>
          <a:bodyPr spcFirstLastPara="1" wrap="square" lIns="71425" tIns="71425" rIns="71425" bIns="71425" anchor="ctr" anchorCtr="0">
            <a:normAutofit/>
          </a:bodyPr>
          <a:lstStyle>
            <a:lvl1pPr marL="457200" marR="0" lvl="0" indent="-633730"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1pPr>
            <a:lvl2pPr marL="914400" marR="0" lvl="1" indent="-633730"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2pPr>
            <a:lvl3pPr marL="1371600" marR="0" lvl="2" indent="-633730"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3pPr>
            <a:lvl4pPr marL="1828800" marR="0" lvl="3" indent="-633730"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4pPr>
            <a:lvl5pPr marL="2286000" marR="0" lvl="4"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5pPr>
            <a:lvl6pPr marL="2743200" marR="0" lvl="5"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6pPr>
            <a:lvl7pPr marL="3200400" marR="0" lvl="6"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7pPr>
            <a:lvl8pPr marL="3657600" marR="0" lvl="7"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8pPr>
            <a:lvl9pPr marL="4114800" marR="0" lvl="8" indent="-633729" algn="l" rtl="0">
              <a:lnSpc>
                <a:spcPct val="100000"/>
              </a:lnSpc>
              <a:spcBef>
                <a:spcPts val="5900"/>
              </a:spcBef>
              <a:spcAft>
                <a:spcPts val="0"/>
              </a:spcAft>
              <a:buClr>
                <a:srgbClr val="000000"/>
              </a:buClr>
              <a:buSzPts val="6380"/>
              <a:buFont typeface="Helvetica Neue"/>
              <a:buChar char="•"/>
              <a:defRPr sz="44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12"/>
          <p:cNvSpPr txBox="1">
            <a:spLocks noGrp="1"/>
          </p:cNvSpPr>
          <p:nvPr>
            <p:ph type="sldNum" idx="12"/>
          </p:nvPr>
        </p:nvSpPr>
        <p:spPr>
          <a:xfrm>
            <a:off x="11954103" y="13073062"/>
            <a:ext cx="466269" cy="477671"/>
          </a:xfrm>
          <a:prstGeom prst="rect">
            <a:avLst/>
          </a:prstGeom>
          <a:noFill/>
          <a:ln>
            <a:noFill/>
          </a:ln>
        </p:spPr>
        <p:txBody>
          <a:bodyPr spcFirstLastPara="1" wrap="square" lIns="71425" tIns="71425" rIns="71425" bIns="71425" anchor="t" anchorCtr="0">
            <a:spAutoFit/>
          </a:bodyPr>
          <a:lstStyle>
            <a:lvl1pPr marL="0" marR="0" lvl="0"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2200"/>
              <a:buFont typeface="Helvetica Neue Light"/>
              <a:buNone/>
              <a:defRPr sz="22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localhost:5601/"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pic>
        <p:nvPicPr>
          <p:cNvPr id="35" name="Google Shape;35;p1" descr="A picture containing drawing&#10;&#10;Description automatically generated"/>
          <p:cNvPicPr preferRelativeResize="0"/>
          <p:nvPr/>
        </p:nvPicPr>
        <p:blipFill rotWithShape="1">
          <a:blip r:embed="rId3">
            <a:alphaModFix/>
          </a:blip>
          <a:srcRect/>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79BF"/>
              </a:buClr>
              <a:buSzPts val="3100"/>
              <a:buFont typeface="Helvetica Neue"/>
              <a:buNone/>
            </a:pPr>
            <a:r>
              <a:rPr lang="en-US" sz="3100" b="1" i="0" u="none" strike="noStrike" cap="none">
                <a:solidFill>
                  <a:srgbClr val="0079BF"/>
                </a:solidFill>
                <a:latin typeface="Helvetica Neue"/>
                <a:ea typeface="Helvetica Neue"/>
                <a:cs typeface="Helvetica Neue"/>
                <a:sym typeface="Helvetica Neue"/>
              </a:rPr>
              <a:t>WAY TO ENTERPRISE</a:t>
            </a:r>
            <a:endParaRPr/>
          </a:p>
        </p:txBody>
      </p:sp>
      <p:sp>
        <p:nvSpPr>
          <p:cNvPr id="37" name="Google Shape;37;p1"/>
          <p:cNvSpPr txBox="1"/>
          <p:nvPr/>
        </p:nvSpPr>
        <p:spPr>
          <a:xfrm>
            <a:off x="1959429" y="3853744"/>
            <a:ext cx="20876821" cy="418255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79BF"/>
              </a:buClr>
              <a:buSzPts val="4400"/>
              <a:buFont typeface="Helvetica Neue"/>
              <a:buNone/>
            </a:pPr>
            <a:r>
              <a:rPr lang="en-US" sz="9600">
                <a:solidFill>
                  <a:srgbClr val="0079BF"/>
                </a:solidFill>
                <a:latin typeface="RobotoCondensed"/>
                <a:ea typeface="Helvetica Neue"/>
                <a:cs typeface="Helvetica Neue"/>
                <a:sym typeface="Helvetica Neue"/>
              </a:rPr>
              <a:t>Centralised Log Analyses</a:t>
            </a:r>
            <a:endParaRPr sz="9600" i="0" u="none" strike="noStrike" cap="none" dirty="0">
              <a:solidFill>
                <a:srgbClr val="0079BF"/>
              </a:solidFill>
              <a:latin typeface="RobotoCondensed"/>
              <a:ea typeface="Helvetica Neue"/>
              <a:cs typeface="Helvetica Neue"/>
              <a:sym typeface="Helvetica Neue"/>
            </a:endParaRPr>
          </a:p>
        </p:txBody>
      </p:sp>
      <p:sp>
        <p:nvSpPr>
          <p:cNvPr id="38" name="Google Shape;38;p1"/>
          <p:cNvSpPr txBox="1"/>
          <p:nvPr/>
        </p:nvSpPr>
        <p:spPr>
          <a:xfrm>
            <a:off x="1795790" y="8295495"/>
            <a:ext cx="11871552" cy="28416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9BF"/>
              </a:buClr>
              <a:buSzPts val="3000"/>
              <a:buFont typeface="Arial"/>
              <a:buNone/>
            </a:pPr>
            <a:r>
              <a:rPr lang="en-US" sz="5000" b="1" i="0" u="none" strike="noStrike" cap="none">
                <a:solidFill>
                  <a:srgbClr val="0079BF"/>
                </a:solidFill>
                <a:latin typeface="Arial"/>
                <a:ea typeface="Arial"/>
                <a:cs typeface="Arial"/>
                <a:sym typeface="Arial"/>
              </a:rPr>
              <a:t>VTI ACADEMY</a:t>
            </a:r>
            <a:endParaRPr/>
          </a:p>
          <a:p>
            <a:pPr marL="0" marR="0" lvl="0" indent="0" algn="l" rtl="0">
              <a:lnSpc>
                <a:spcPct val="100000"/>
              </a:lnSpc>
              <a:spcBef>
                <a:spcPts val="1000"/>
              </a:spcBef>
              <a:spcAft>
                <a:spcPts val="0"/>
              </a:spcAft>
              <a:buClr>
                <a:srgbClr val="0079BF"/>
              </a:buClr>
              <a:buSzPts val="3000"/>
              <a:buFont typeface="Arial"/>
              <a:buNone/>
            </a:pPr>
            <a:r>
              <a:rPr lang="en-US" sz="5000" b="1" i="0" u="none" strike="noStrike" cap="none">
                <a:solidFill>
                  <a:srgbClr val="0079BF"/>
                </a:solidFill>
                <a:latin typeface="Arial"/>
                <a:ea typeface="Arial"/>
                <a:cs typeface="Arial"/>
                <a:sym typeface="Arial"/>
              </a:rPr>
              <a:t>Author: </a:t>
            </a:r>
            <a:r>
              <a:rPr lang="en-US" sz="5000" b="1" u="sng">
                <a:solidFill>
                  <a:srgbClr val="0079BF"/>
                </a:solidFill>
              </a:rPr>
              <a:t>namviet0710@gmail.com</a:t>
            </a:r>
            <a:endParaRPr sz="5000" b="1" i="0" u="none" strike="noStrike" cap="none">
              <a:solidFill>
                <a:srgbClr val="0079BF"/>
              </a:solidFill>
              <a:latin typeface="Arial"/>
              <a:ea typeface="Arial"/>
              <a:cs typeface="Arial"/>
              <a:sym typeface="Arial"/>
            </a:endParaRPr>
          </a:p>
          <a:p>
            <a:pPr marL="0" marR="0" lvl="0" indent="0" algn="l" rtl="0">
              <a:lnSpc>
                <a:spcPct val="100000"/>
              </a:lnSpc>
              <a:spcBef>
                <a:spcPts val="1000"/>
              </a:spcBef>
              <a:spcAft>
                <a:spcPts val="0"/>
              </a:spcAft>
              <a:buClr>
                <a:srgbClr val="0079BF"/>
              </a:buClr>
              <a:buSzPts val="3000"/>
              <a:buFont typeface="Arial"/>
              <a:buNone/>
            </a:pPr>
            <a:r>
              <a:rPr lang="en-US" sz="5000" b="1">
                <a:solidFill>
                  <a:srgbClr val="0079BF"/>
                </a:solidFill>
              </a:rPr>
              <a:t>February</a:t>
            </a:r>
            <a:r>
              <a:rPr lang="en-US" sz="5000" b="1" i="0" u="none" strike="noStrike" cap="none">
                <a:solidFill>
                  <a:srgbClr val="0079BF"/>
                </a:solidFill>
                <a:latin typeface="Arial"/>
                <a:ea typeface="Arial"/>
                <a:cs typeface="Arial"/>
                <a:sym typeface="Arial"/>
              </a:rPr>
              <a:t>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txBox="1">
            <a:spLocks noGrp="1"/>
          </p:cNvSpPr>
          <p:nvPr>
            <p:ph type="title"/>
          </p:nvPr>
        </p:nvSpPr>
        <p:spPr>
          <a:xfrm>
            <a:off x="1845217" y="357188"/>
            <a:ext cx="15794390" cy="1710326"/>
          </a:xfrm>
          <a:prstGeom prst="rect">
            <a:avLst/>
          </a:prstGeom>
          <a:noFill/>
          <a:ln>
            <a:noFill/>
          </a:ln>
        </p:spPr>
        <p:txBody>
          <a:bodyPr spcFirstLastPara="1" wrap="square" lIns="71425" tIns="71425" rIns="71425" bIns="71425" anchor="ctr" anchorCtr="0">
            <a:normAutofit/>
          </a:bodyPr>
          <a:lstStyle/>
          <a:p>
            <a:pPr marL="0" lvl="0" indent="0" algn="l" rtl="0">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2200"/>
              <a:buFont typeface="Meiryo"/>
              <a:buNone/>
            </a:pPr>
            <a:r>
              <a:rPr lang="en-US" sz="2200" b="0" i="0" u="none" strike="noStrike" cap="none">
                <a:solidFill>
                  <a:schemeClr val="lt1"/>
                </a:solidFill>
                <a:latin typeface="Meiryo"/>
                <a:ea typeface="Meiryo"/>
                <a:cs typeface="Meiryo"/>
                <a:sym typeface="Meiryo"/>
              </a:rPr>
              <a:t>Copyright </a:t>
            </a:r>
            <a:r>
              <a:rPr lang="en-US" sz="2200" b="0" i="1" u="none" strike="noStrike" cap="none">
                <a:solidFill>
                  <a:schemeClr val="lt1"/>
                </a:solidFill>
                <a:latin typeface="Meiryo"/>
                <a:ea typeface="Meiryo"/>
                <a:cs typeface="Meiryo"/>
                <a:sym typeface="Meiryo"/>
              </a:rPr>
              <a:t>© </a:t>
            </a:r>
            <a:r>
              <a:rPr lang="en-US" sz="2200" b="0" i="0" u="none" strike="noStrike" cap="none">
                <a:solidFill>
                  <a:schemeClr val="lt1"/>
                </a:solidFill>
                <a:latin typeface="Meiryo"/>
                <a:ea typeface="Meiryo"/>
                <a:cs typeface="Meiryo"/>
                <a:sym typeface="Meiryo"/>
              </a:rPr>
              <a:t>VTI Academy All Rights Reserved </a:t>
            </a:r>
            <a:endParaRPr/>
          </a:p>
        </p:txBody>
      </p:sp>
      <p:sp>
        <p:nvSpPr>
          <p:cNvPr id="45" name="Google Shape;45;p2"/>
          <p:cNvSpPr txBox="1"/>
          <p:nvPr/>
        </p:nvSpPr>
        <p:spPr>
          <a:xfrm>
            <a:off x="1886782" y="2402495"/>
            <a:ext cx="21401314" cy="5536159"/>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3960"/>
              <a:buFont typeface="Noto Sans Symbols"/>
              <a:buChar char="❑"/>
            </a:pPr>
            <a:r>
              <a:rPr lang="en-US" sz="6600" b="0" i="0" u="none" strike="noStrike" cap="none">
                <a:solidFill>
                  <a:srgbClr val="000000"/>
                </a:solidFill>
                <a:latin typeface="Arial"/>
                <a:ea typeface="Arial"/>
                <a:cs typeface="Arial"/>
                <a:sym typeface="Arial"/>
              </a:rPr>
              <a:t> </a:t>
            </a:r>
            <a:r>
              <a:rPr lang="en-US" sz="6600"/>
              <a:t>What is the </a:t>
            </a:r>
            <a:r>
              <a:rPr lang="en-US" sz="6600" b="0" i="0" u="none" strike="noStrike" cap="none">
                <a:solidFill>
                  <a:srgbClr val="000000"/>
                </a:solidFill>
                <a:latin typeface="Arial"/>
                <a:ea typeface="Arial"/>
                <a:cs typeface="Arial"/>
                <a:sym typeface="Arial"/>
              </a:rPr>
              <a:t>ELK stack ? </a:t>
            </a:r>
          </a:p>
          <a:p>
            <a:pPr marL="342900" indent="-342900">
              <a:buSzPts val="3960"/>
              <a:buFont typeface="Noto Sans Symbols"/>
              <a:buChar char="❑"/>
            </a:pPr>
            <a:r>
              <a:rPr lang="en-US" sz="6600"/>
              <a:t> </a:t>
            </a:r>
            <a:r>
              <a:rPr lang="en-US" sz="6600">
                <a:latin typeface="RobotoCondensed"/>
              </a:rPr>
              <a:t>Elasticsearch introduction</a:t>
            </a:r>
            <a:endParaRPr lang="en-US" sz="6600" b="0" i="0" u="none" strike="noStrike" cap="none">
              <a:solidFill>
                <a:srgbClr val="000000"/>
              </a:solidFill>
              <a:latin typeface="Arial"/>
              <a:ea typeface="Arial"/>
              <a:cs typeface="Arial"/>
              <a:sym typeface="Arial"/>
            </a:endParaRPr>
          </a:p>
          <a:p>
            <a:pPr marL="342900" indent="-342900">
              <a:buSzPts val="3960"/>
              <a:buFont typeface="Noto Sans Symbols"/>
              <a:buChar char="❑"/>
            </a:pPr>
            <a:r>
              <a:rPr lang="en-US" sz="6600"/>
              <a:t> Install Elasticsearch &amp; Kibana</a:t>
            </a:r>
            <a:endParaRPr lang="en-US" sz="6600">
              <a:latin typeface="RobotoCondensed"/>
            </a:endParaRPr>
          </a:p>
          <a:p>
            <a:pPr marL="342900" indent="-342900">
              <a:buSzPts val="3960"/>
              <a:buFont typeface="Noto Sans Symbols"/>
              <a:buChar char="❑"/>
            </a:pPr>
            <a:r>
              <a:rPr lang="en-US" sz="6600" b="0" i="0">
                <a:solidFill>
                  <a:srgbClr val="202124"/>
                </a:solidFill>
                <a:effectLst/>
                <a:highlight>
                  <a:srgbClr val="FFFFFF"/>
                </a:highlight>
                <a:latin typeface="RobotoCondensed"/>
              </a:rPr>
              <a:t> </a:t>
            </a:r>
            <a:r>
              <a:rPr lang="en-US" sz="6600">
                <a:solidFill>
                  <a:srgbClr val="202124"/>
                </a:solidFill>
                <a:highlight>
                  <a:srgbClr val="FFFFFF"/>
                </a:highlight>
                <a:latin typeface="RobotoCondensed"/>
              </a:rPr>
              <a:t>Using Elasticsearch UI With Kibana</a:t>
            </a:r>
          </a:p>
          <a:p>
            <a:pPr marL="342900" indent="-342900">
              <a:buSzPts val="3960"/>
              <a:buFont typeface="Noto Sans Symbols"/>
              <a:buChar char="❑"/>
            </a:pPr>
            <a:r>
              <a:rPr lang="en-US" sz="6600" b="0" i="0">
                <a:solidFill>
                  <a:srgbClr val="202124"/>
                </a:solidFill>
                <a:effectLst/>
                <a:highlight>
                  <a:srgbClr val="FFFFFF"/>
                </a:highlight>
                <a:latin typeface="RobotoCondensed"/>
              </a:rPr>
              <a:t> Elasticsearch queries basic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1. </a:t>
            </a:r>
            <a:r>
              <a:rPr lang="en-US" sz="3600" b="1">
                <a:solidFill>
                  <a:srgbClr val="0070C0"/>
                </a:solidFill>
                <a:latin typeface="RobotoCondensed"/>
              </a:rPr>
              <a:t>ELK Stack ?</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534447"/>
            <a:ext cx="11129504" cy="4524315"/>
          </a:xfrm>
          <a:prstGeom prst="rect">
            <a:avLst/>
          </a:prstGeom>
          <a:noFill/>
        </p:spPr>
        <p:txBody>
          <a:bodyPr wrap="square">
            <a:spAutoFit/>
          </a:bodyPr>
          <a:lstStyle/>
          <a:p>
            <a:pPr marL="571500" indent="-571500" algn="l">
              <a:buFont typeface="Arial" panose="020B0604020202020204" pitchFamily="34" charset="0"/>
              <a:buChar char="•"/>
            </a:pPr>
            <a:r>
              <a:rPr lang="vi-VN" sz="3200" b="0" i="0">
                <a:solidFill>
                  <a:srgbClr val="333333"/>
                </a:solidFill>
                <a:effectLst/>
                <a:latin typeface="RobotoCondensed"/>
              </a:rPr>
              <a:t>ELK Stack là từ viết tắt được sử dụng để mô tả bộ </a:t>
            </a:r>
            <a:r>
              <a:rPr lang="en-US" sz="3200" b="0" i="0">
                <a:solidFill>
                  <a:srgbClr val="333333"/>
                </a:solidFill>
                <a:effectLst/>
                <a:latin typeface="RobotoCondensed"/>
              </a:rPr>
              <a:t>3 dự án mã nguồn mở</a:t>
            </a:r>
            <a:r>
              <a:rPr lang="vi-VN" sz="3200" b="0" i="0">
                <a:solidFill>
                  <a:srgbClr val="333333"/>
                </a:solidFill>
                <a:effectLst/>
                <a:latin typeface="RobotoCondensed"/>
              </a:rPr>
              <a:t> bao gồm : Elasticsearch, Logstash và Kibana. Thường được gọi là Elasticsearch, ELK Stack mang tới khả năng tổng hợp nhật ký từ tất cả các hệ thống và ứng dụng </a:t>
            </a:r>
            <a:r>
              <a:rPr lang="en-US" sz="3200" b="0" i="0">
                <a:solidFill>
                  <a:srgbClr val="333333"/>
                </a:solidFill>
                <a:effectLst/>
                <a:latin typeface="RobotoCondensed"/>
              </a:rPr>
              <a:t>khác nhau</a:t>
            </a:r>
            <a:r>
              <a:rPr lang="vi-VN" sz="3200" b="0" i="0">
                <a:solidFill>
                  <a:srgbClr val="333333"/>
                </a:solidFill>
                <a:effectLst/>
                <a:latin typeface="RobotoCondensed"/>
              </a:rPr>
              <a:t>, phân tích những nhật ký này, hiển thị dữ liệu để giám sát ứng dụng và cơ sở hạ tầng, khắc phục sự cố nhanh hơn, phân tích bảo mật</a:t>
            </a:r>
            <a:r>
              <a:rPr lang="en-US" sz="3200" b="0" i="0">
                <a:solidFill>
                  <a:srgbClr val="333333"/>
                </a:solidFill>
                <a:effectLst/>
                <a:latin typeface="RobotoCondensed"/>
              </a:rPr>
              <a:t> …</a:t>
            </a:r>
            <a:endParaRPr lang="vi-VN" sz="3200" b="0" i="0">
              <a:solidFill>
                <a:srgbClr val="212529"/>
              </a:solidFill>
              <a:effectLst/>
              <a:highlight>
                <a:srgbClr val="FFFFFF"/>
              </a:highlight>
              <a:latin typeface="RobotoCondensed"/>
            </a:endParaRPr>
          </a:p>
          <a:p>
            <a:pPr marL="457200" indent="-457200" algn="l" fontAlgn="base">
              <a:buFont typeface="Arial" panose="020B0604020202020204" pitchFamily="34" charset="0"/>
              <a:buChar char="•"/>
            </a:pPr>
            <a:endParaRPr lang="en-US" sz="3200" b="0" i="0">
              <a:solidFill>
                <a:srgbClr val="161616"/>
              </a:solidFill>
              <a:effectLst/>
              <a:highlight>
                <a:srgbClr val="FFFFFF"/>
              </a:highlight>
              <a:latin typeface="RobotoCondensed"/>
            </a:endParaRPr>
          </a:p>
          <a:p>
            <a:pPr marL="457200" indent="-457200" algn="l">
              <a:buFont typeface="Arial" panose="020B0604020202020204" pitchFamily="34" charset="0"/>
              <a:buChar char="•"/>
            </a:pPr>
            <a:endParaRPr lang="vi-VN" sz="3200" b="1" i="0">
              <a:solidFill>
                <a:schemeClr val="tx1"/>
              </a:solidFill>
              <a:effectLst/>
              <a:latin typeface="RobotoCondensed"/>
            </a:endParaRPr>
          </a:p>
        </p:txBody>
      </p:sp>
      <p:pic>
        <p:nvPicPr>
          <p:cNvPr id="3" name="Picture 2">
            <a:extLst>
              <a:ext uri="{FF2B5EF4-FFF2-40B4-BE49-F238E27FC236}">
                <a16:creationId xmlns:a16="http://schemas.microsoft.com/office/drawing/2014/main" id="{2C097DC4-2D15-E3FF-9796-9B1AD43FB373}"/>
              </a:ext>
            </a:extLst>
          </p:cNvPr>
          <p:cNvPicPr>
            <a:picLocks noChangeAspect="1"/>
          </p:cNvPicPr>
          <p:nvPr/>
        </p:nvPicPr>
        <p:blipFill>
          <a:blip r:embed="rId3"/>
          <a:stretch>
            <a:fillRect/>
          </a:stretch>
        </p:blipFill>
        <p:spPr>
          <a:xfrm>
            <a:off x="13600057" y="1564634"/>
            <a:ext cx="9911108" cy="10100181"/>
          </a:xfrm>
          <a:prstGeom prst="rect">
            <a:avLst/>
          </a:prstGeom>
        </p:spPr>
      </p:pic>
    </p:spTree>
    <p:extLst>
      <p:ext uri="{BB962C8B-B14F-4D97-AF65-F5344CB8AC3E}">
        <p14:creationId xmlns:p14="http://schemas.microsoft.com/office/powerpoint/2010/main" val="1408661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1. </a:t>
            </a:r>
            <a:r>
              <a:rPr lang="en-US" sz="3600" b="1">
                <a:solidFill>
                  <a:srgbClr val="0070C0"/>
                </a:solidFill>
                <a:latin typeface="RobotoCondensed"/>
              </a:rPr>
              <a:t>ELK Stack ?</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534447"/>
            <a:ext cx="9522377" cy="5016758"/>
          </a:xfrm>
          <a:prstGeom prst="rect">
            <a:avLst/>
          </a:prstGeom>
          <a:noFill/>
        </p:spPr>
        <p:txBody>
          <a:bodyPr wrap="square">
            <a:spAutoFit/>
          </a:bodyPr>
          <a:lstStyle/>
          <a:p>
            <a:pPr algn="l"/>
            <a:r>
              <a:rPr lang="en-US" sz="3200" b="1" i="0">
                <a:solidFill>
                  <a:srgbClr val="333333"/>
                </a:solidFill>
                <a:effectLst/>
                <a:latin typeface="RobotoCondensed"/>
              </a:rPr>
              <a:t>1.1 Elasticsearch</a:t>
            </a:r>
          </a:p>
          <a:p>
            <a:pPr marL="571500" indent="-571500" algn="l">
              <a:buFont typeface="Arial" panose="020B0604020202020204" pitchFamily="34" charset="0"/>
              <a:buChar char="•"/>
            </a:pPr>
            <a:r>
              <a:rPr lang="vi-VN" sz="3200" b="0" i="0">
                <a:solidFill>
                  <a:srgbClr val="333333"/>
                </a:solidFill>
                <a:effectLst/>
                <a:latin typeface="RobotoCondensed"/>
              </a:rPr>
              <a:t>Elasticsearch là công cụ tìm kiếm và phân tích phân tán được xây dựng trên Apache Lucene. Khả năng hỗ trợ đa dạng ngôn ngữ, hiệu suất cao và </a:t>
            </a:r>
            <a:r>
              <a:rPr lang="en-US" sz="3200" b="0" i="0">
                <a:solidFill>
                  <a:srgbClr val="333333"/>
                </a:solidFill>
                <a:effectLst/>
                <a:latin typeface="RobotoCondensed"/>
              </a:rPr>
              <a:t>hỗ trợ kiểu dữ liệu</a:t>
            </a:r>
            <a:r>
              <a:rPr lang="vi-VN" sz="3200" b="0" i="0">
                <a:solidFill>
                  <a:srgbClr val="333333"/>
                </a:solidFill>
                <a:effectLst/>
                <a:latin typeface="RobotoCondensed"/>
              </a:rPr>
              <a:t> JSON khiến Elasticsearch trở thành một lựa chọn lý tưởng cho nhiều trường hợp sử dụng tìm kiếm và phân tích nhật ký khác nhau. </a:t>
            </a:r>
            <a:endParaRPr lang="vi-VN" sz="3200" b="0" i="0">
              <a:solidFill>
                <a:srgbClr val="212529"/>
              </a:solidFill>
              <a:effectLst/>
              <a:highlight>
                <a:srgbClr val="FFFFFF"/>
              </a:highlight>
              <a:latin typeface="RobotoCondensed"/>
            </a:endParaRPr>
          </a:p>
          <a:p>
            <a:pPr marL="457200" indent="-457200" algn="l" fontAlgn="base">
              <a:buFont typeface="Arial" panose="020B0604020202020204" pitchFamily="34" charset="0"/>
              <a:buChar char="•"/>
            </a:pPr>
            <a:endParaRPr lang="en-US" sz="3200" b="0" i="0">
              <a:solidFill>
                <a:srgbClr val="161616"/>
              </a:solidFill>
              <a:effectLst/>
              <a:highlight>
                <a:srgbClr val="FFFFFF"/>
              </a:highlight>
              <a:latin typeface="RobotoCondensed"/>
            </a:endParaRPr>
          </a:p>
          <a:p>
            <a:pPr marL="457200" indent="-457200" algn="l">
              <a:buFont typeface="Arial" panose="020B0604020202020204" pitchFamily="34" charset="0"/>
              <a:buChar char="•"/>
            </a:pPr>
            <a:endParaRPr lang="vi-VN" sz="3200" b="1" i="0">
              <a:solidFill>
                <a:schemeClr val="tx1"/>
              </a:solidFill>
              <a:effectLst/>
              <a:latin typeface="RobotoCondensed"/>
            </a:endParaRPr>
          </a:p>
        </p:txBody>
      </p:sp>
      <p:pic>
        <p:nvPicPr>
          <p:cNvPr id="4" name="Picture 3">
            <a:extLst>
              <a:ext uri="{FF2B5EF4-FFF2-40B4-BE49-F238E27FC236}">
                <a16:creationId xmlns:a16="http://schemas.microsoft.com/office/drawing/2014/main" id="{E6C5C4BA-5780-5844-9F13-E19242873F44}"/>
              </a:ext>
            </a:extLst>
          </p:cNvPr>
          <p:cNvPicPr>
            <a:picLocks noChangeAspect="1"/>
          </p:cNvPicPr>
          <p:nvPr/>
        </p:nvPicPr>
        <p:blipFill>
          <a:blip r:embed="rId3"/>
          <a:stretch>
            <a:fillRect/>
          </a:stretch>
        </p:blipFill>
        <p:spPr>
          <a:xfrm>
            <a:off x="10906810" y="2534447"/>
            <a:ext cx="12453914" cy="6429444"/>
          </a:xfrm>
          <a:prstGeom prst="rect">
            <a:avLst/>
          </a:prstGeom>
        </p:spPr>
      </p:pic>
    </p:spTree>
    <p:extLst>
      <p:ext uri="{BB962C8B-B14F-4D97-AF65-F5344CB8AC3E}">
        <p14:creationId xmlns:p14="http://schemas.microsoft.com/office/powerpoint/2010/main" val="2607137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1. </a:t>
            </a:r>
            <a:r>
              <a:rPr lang="en-US" sz="3600" b="1">
                <a:solidFill>
                  <a:srgbClr val="0070C0"/>
                </a:solidFill>
                <a:latin typeface="RobotoCondensed"/>
              </a:rPr>
              <a:t>ELK Stack ?</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534447"/>
            <a:ext cx="10852413" cy="6001643"/>
          </a:xfrm>
          <a:prstGeom prst="rect">
            <a:avLst/>
          </a:prstGeom>
          <a:noFill/>
        </p:spPr>
        <p:txBody>
          <a:bodyPr wrap="square">
            <a:spAutoFit/>
          </a:bodyPr>
          <a:lstStyle/>
          <a:p>
            <a:pPr algn="l"/>
            <a:r>
              <a:rPr lang="en-US" sz="3200" b="1" i="0">
                <a:solidFill>
                  <a:srgbClr val="333333"/>
                </a:solidFill>
                <a:effectLst/>
                <a:latin typeface="RobotoCondensed"/>
              </a:rPr>
              <a:t>1.2 Logstash</a:t>
            </a:r>
          </a:p>
          <a:p>
            <a:pPr marL="457200" indent="-457200" algn="l">
              <a:buFont typeface="Arial" panose="020B0604020202020204" pitchFamily="34" charset="0"/>
              <a:buChar char="•"/>
            </a:pPr>
            <a:r>
              <a:rPr lang="vi-VN" sz="3200" b="0" i="0">
                <a:solidFill>
                  <a:srgbClr val="333333"/>
                </a:solidFill>
                <a:effectLst/>
                <a:latin typeface="RobotoCondensed"/>
              </a:rPr>
              <a:t>Logstash là một công cụ tải n</a:t>
            </a:r>
            <a:r>
              <a:rPr lang="en-US" sz="3200">
                <a:solidFill>
                  <a:srgbClr val="333333"/>
                </a:solidFill>
                <a:latin typeface="RobotoCondensed"/>
              </a:rPr>
              <a:t>ạp</a:t>
            </a:r>
            <a:r>
              <a:rPr lang="vi-VN" sz="3200" b="0" i="0">
                <a:solidFill>
                  <a:srgbClr val="333333"/>
                </a:solidFill>
                <a:effectLst/>
                <a:latin typeface="RobotoCondensed"/>
              </a:rPr>
              <a:t> dữ liệu </a:t>
            </a:r>
            <a:r>
              <a:rPr lang="en-US" sz="3200">
                <a:solidFill>
                  <a:srgbClr val="333333"/>
                </a:solidFill>
                <a:latin typeface="RobotoCondensed"/>
              </a:rPr>
              <a:t>mã </a:t>
            </a:r>
            <a:r>
              <a:rPr lang="vi-VN" sz="3200" b="0" i="0">
                <a:solidFill>
                  <a:srgbClr val="333333"/>
                </a:solidFill>
                <a:effectLst/>
                <a:latin typeface="RobotoCondensed"/>
              </a:rPr>
              <a:t>nguồn mở cho phép thu thập dữ liệu từ các nguồn khác nhau, chuyển đổi dữ liệu và gửi dữ liệu tới điểm đích. Với các bộ lọc được tạo sẵn và hỗ trợ hơn 200 phần bổ trợ, Logstash cho phép người dùng dễ dàng tải </a:t>
            </a:r>
            <a:r>
              <a:rPr lang="en-US" sz="3200" b="0" i="0">
                <a:solidFill>
                  <a:srgbClr val="333333"/>
                </a:solidFill>
                <a:effectLst/>
                <a:latin typeface="RobotoCondensed"/>
              </a:rPr>
              <a:t>nập</a:t>
            </a:r>
            <a:r>
              <a:rPr lang="vi-VN" sz="3200" b="0" i="0">
                <a:solidFill>
                  <a:srgbClr val="333333"/>
                </a:solidFill>
                <a:effectLst/>
                <a:latin typeface="RobotoCondensed"/>
              </a:rPr>
              <a:t> dữ liệu đến từ bất kỳ nguồn dữ liệu hay thuộc loại dữ liệu nào. </a:t>
            </a:r>
          </a:p>
          <a:p>
            <a:pPr marL="457200" indent="-457200" algn="l">
              <a:buFont typeface="Arial" panose="020B0604020202020204" pitchFamily="34" charset="0"/>
              <a:buChar char="•"/>
            </a:pPr>
            <a:r>
              <a:rPr lang="vi-VN" sz="3200" b="0" i="0">
                <a:solidFill>
                  <a:srgbClr val="333333"/>
                </a:solidFill>
                <a:effectLst/>
                <a:latin typeface="RobotoCondensed"/>
              </a:rPr>
              <a:t>Logstash thường được sử dụng như một đường ống dữ liệu cho Elasticsearch. </a:t>
            </a:r>
            <a:endParaRPr lang="en-US" sz="3200" b="0" i="0">
              <a:solidFill>
                <a:srgbClr val="333333"/>
              </a:solidFill>
              <a:effectLst/>
              <a:latin typeface="RobotoCondensed"/>
            </a:endParaRPr>
          </a:p>
          <a:p>
            <a:pPr marL="457200" indent="-457200" algn="l">
              <a:buFont typeface="Arial" panose="020B0604020202020204" pitchFamily="34" charset="0"/>
              <a:buChar char="•"/>
            </a:pPr>
            <a:r>
              <a:rPr lang="vi-VN" sz="3200" b="0" i="0">
                <a:solidFill>
                  <a:srgbClr val="333333"/>
                </a:solidFill>
                <a:effectLst/>
                <a:latin typeface="RobotoCondensed"/>
              </a:rPr>
              <a:t>Logstash</a:t>
            </a:r>
            <a:r>
              <a:rPr lang="en-US" sz="3200" b="0" i="0">
                <a:solidFill>
                  <a:srgbClr val="333333"/>
                </a:solidFill>
                <a:effectLst/>
                <a:latin typeface="RobotoCondensed"/>
              </a:rPr>
              <a:t> cung cấp</a:t>
            </a:r>
            <a:r>
              <a:rPr lang="vi-VN" sz="3200" b="0" i="0">
                <a:solidFill>
                  <a:srgbClr val="333333"/>
                </a:solidFill>
                <a:effectLst/>
                <a:latin typeface="RobotoCondensed"/>
              </a:rPr>
              <a:t> khả năng xử lý bản ghi mạnh mẽ và hơn 200 </a:t>
            </a:r>
            <a:r>
              <a:rPr lang="en-US" sz="3200" b="0" i="0">
                <a:solidFill>
                  <a:srgbClr val="333333"/>
                </a:solidFill>
                <a:effectLst/>
                <a:latin typeface="RobotoCondensed"/>
              </a:rPr>
              <a:t>công cụ </a:t>
            </a:r>
            <a:r>
              <a:rPr lang="vi-VN" sz="3200" b="0" i="0">
                <a:solidFill>
                  <a:srgbClr val="333333"/>
                </a:solidFill>
                <a:effectLst/>
                <a:latin typeface="RobotoCondensed"/>
              </a:rPr>
              <a:t>bổ trợ giúp </a:t>
            </a:r>
            <a:r>
              <a:rPr lang="en-US" sz="3200" b="0" i="0">
                <a:solidFill>
                  <a:srgbClr val="333333"/>
                </a:solidFill>
                <a:effectLst/>
                <a:latin typeface="RobotoCondensed"/>
              </a:rPr>
              <a:t>chúng ta</a:t>
            </a:r>
            <a:r>
              <a:rPr lang="vi-VN" sz="3200" b="0" i="0">
                <a:solidFill>
                  <a:srgbClr val="333333"/>
                </a:solidFill>
                <a:effectLst/>
                <a:latin typeface="RobotoCondensed"/>
              </a:rPr>
              <a:t> dễ dàng lập chỉ mục cho dữ liệu của mình.</a:t>
            </a:r>
          </a:p>
        </p:txBody>
      </p:sp>
      <p:pic>
        <p:nvPicPr>
          <p:cNvPr id="3" name="Picture 2">
            <a:extLst>
              <a:ext uri="{FF2B5EF4-FFF2-40B4-BE49-F238E27FC236}">
                <a16:creationId xmlns:a16="http://schemas.microsoft.com/office/drawing/2014/main" id="{D9258824-DE81-8C10-A680-A6649206A0EE}"/>
              </a:ext>
            </a:extLst>
          </p:cNvPr>
          <p:cNvPicPr>
            <a:picLocks noChangeAspect="1"/>
          </p:cNvPicPr>
          <p:nvPr/>
        </p:nvPicPr>
        <p:blipFill>
          <a:blip r:embed="rId3"/>
          <a:stretch>
            <a:fillRect/>
          </a:stretch>
        </p:blipFill>
        <p:spPr>
          <a:xfrm>
            <a:off x="12997426" y="2534447"/>
            <a:ext cx="10369923" cy="6863252"/>
          </a:xfrm>
          <a:prstGeom prst="rect">
            <a:avLst/>
          </a:prstGeom>
        </p:spPr>
      </p:pic>
    </p:spTree>
    <p:extLst>
      <p:ext uri="{BB962C8B-B14F-4D97-AF65-F5344CB8AC3E}">
        <p14:creationId xmlns:p14="http://schemas.microsoft.com/office/powerpoint/2010/main" val="1024131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i="0">
                <a:solidFill>
                  <a:srgbClr val="0070C0"/>
                </a:solidFill>
                <a:effectLst/>
                <a:latin typeface="RobotoCondensed"/>
              </a:rPr>
              <a:t>1. </a:t>
            </a:r>
            <a:r>
              <a:rPr lang="en-US" sz="3600" b="1">
                <a:solidFill>
                  <a:srgbClr val="0070C0"/>
                </a:solidFill>
                <a:latin typeface="RobotoCondensed"/>
              </a:rPr>
              <a:t>ELK Stack ?</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534447"/>
            <a:ext cx="7721286" cy="8956298"/>
          </a:xfrm>
          <a:prstGeom prst="rect">
            <a:avLst/>
          </a:prstGeom>
          <a:noFill/>
        </p:spPr>
        <p:txBody>
          <a:bodyPr wrap="square">
            <a:spAutoFit/>
          </a:bodyPr>
          <a:lstStyle/>
          <a:p>
            <a:pPr algn="l"/>
            <a:r>
              <a:rPr lang="en-US" sz="3200" b="1" i="0">
                <a:solidFill>
                  <a:srgbClr val="333333"/>
                </a:solidFill>
                <a:effectLst/>
                <a:latin typeface="RobotoCondensed"/>
              </a:rPr>
              <a:t>1.3 Kibana</a:t>
            </a:r>
          </a:p>
          <a:p>
            <a:pPr marL="571500" indent="-571500" algn="l">
              <a:buFont typeface="Arial" panose="020B0604020202020204" pitchFamily="34" charset="0"/>
              <a:buChar char="•"/>
            </a:pPr>
            <a:r>
              <a:rPr lang="vi-VN" sz="3200" b="0" i="0">
                <a:solidFill>
                  <a:srgbClr val="333333"/>
                </a:solidFill>
                <a:effectLst/>
                <a:latin typeface="RobotoCondensed"/>
              </a:rPr>
              <a:t>Kibana là một công cụ hiển thị trực quan và </a:t>
            </a:r>
            <a:r>
              <a:rPr lang="en-US" sz="3200" b="0" i="0">
                <a:solidFill>
                  <a:srgbClr val="333333"/>
                </a:solidFill>
                <a:effectLst/>
                <a:latin typeface="RobotoCondensed"/>
              </a:rPr>
              <a:t>tím kiếm</a:t>
            </a:r>
            <a:r>
              <a:rPr lang="vi-VN" sz="3200" b="0" i="0">
                <a:solidFill>
                  <a:srgbClr val="333333"/>
                </a:solidFill>
                <a:effectLst/>
                <a:latin typeface="RobotoCondensed"/>
              </a:rPr>
              <a:t> dữ liệu được sử dụng trong những trường hợp phân tích nhật ký và chuỗi thời gian, giám sát ứng dụng và thông tin kinh doanh… </a:t>
            </a:r>
            <a:endParaRPr lang="en-US" sz="3200" b="0" i="0">
              <a:solidFill>
                <a:srgbClr val="333333"/>
              </a:solidFill>
              <a:effectLst/>
              <a:latin typeface="RobotoCondensed"/>
            </a:endParaRPr>
          </a:p>
          <a:p>
            <a:pPr marL="571500" indent="-571500" algn="l">
              <a:buFont typeface="Arial" panose="020B0604020202020204" pitchFamily="34" charset="0"/>
              <a:buChar char="•"/>
            </a:pPr>
            <a:r>
              <a:rPr lang="vi-VN" sz="3200" b="0" i="0">
                <a:solidFill>
                  <a:srgbClr val="333333"/>
                </a:solidFill>
                <a:effectLst/>
                <a:latin typeface="RobotoCondensed"/>
              </a:rPr>
              <a:t>Công cụ này cung cấp những tính năng mạnh mẽ, dễ sử dụng như biểu đồ tần suất, biểu đồ đường, biểu đồ tròn, biểu đồ nhiệt</a:t>
            </a:r>
            <a:r>
              <a:rPr lang="en-US" sz="3200" b="0" i="0">
                <a:solidFill>
                  <a:srgbClr val="333333"/>
                </a:solidFill>
                <a:effectLst/>
                <a:latin typeface="RobotoCondensed"/>
              </a:rPr>
              <a:t>..</a:t>
            </a:r>
            <a:r>
              <a:rPr lang="vi-VN" sz="3200" b="0" i="0">
                <a:solidFill>
                  <a:srgbClr val="333333"/>
                </a:solidFill>
                <a:effectLst/>
                <a:latin typeface="RobotoCondensed"/>
              </a:rPr>
              <a:t>. </a:t>
            </a:r>
            <a:endParaRPr lang="en-US" sz="3200" b="0" i="0">
              <a:solidFill>
                <a:srgbClr val="333333"/>
              </a:solidFill>
              <a:effectLst/>
              <a:latin typeface="RobotoCondensed"/>
            </a:endParaRPr>
          </a:p>
          <a:p>
            <a:pPr marL="571500" indent="-571500" algn="l">
              <a:buFont typeface="Arial" panose="020B0604020202020204" pitchFamily="34" charset="0"/>
              <a:buChar char="•"/>
            </a:pPr>
            <a:r>
              <a:rPr lang="vi-VN" sz="3200" b="0" i="0">
                <a:solidFill>
                  <a:srgbClr val="333333"/>
                </a:solidFill>
                <a:effectLst/>
                <a:latin typeface="RobotoCondensed"/>
              </a:rPr>
              <a:t>Ngoài ra, </a:t>
            </a:r>
            <a:r>
              <a:rPr lang="en-US" sz="3200" b="0" i="0">
                <a:solidFill>
                  <a:srgbClr val="333333"/>
                </a:solidFill>
                <a:effectLst/>
                <a:latin typeface="RobotoCondensed"/>
              </a:rPr>
              <a:t>kibana</a:t>
            </a:r>
            <a:r>
              <a:rPr lang="vi-VN" sz="3200" b="0" i="0">
                <a:solidFill>
                  <a:srgbClr val="333333"/>
                </a:solidFill>
                <a:effectLst/>
                <a:latin typeface="RobotoCondensed"/>
              </a:rPr>
              <a:t> còn cung cấp khả năng tích hợp chặt chẽ với Elasticsearch khiến Kibana trở thành lựa chọn hàng đầu cho hoạt động hiển thị trực quan dữ</a:t>
            </a:r>
            <a:r>
              <a:rPr lang="en-US" sz="3200" b="0" i="0">
                <a:solidFill>
                  <a:srgbClr val="333333"/>
                </a:solidFill>
                <a:effectLst/>
                <a:latin typeface="RobotoCondensed"/>
              </a:rPr>
              <a:t> cần theo dõi</a:t>
            </a:r>
            <a:r>
              <a:rPr lang="vi-VN" sz="3200" b="0" i="0">
                <a:solidFill>
                  <a:srgbClr val="333333"/>
                </a:solidFill>
                <a:effectLst/>
                <a:latin typeface="RobotoCondensed"/>
              </a:rPr>
              <a:t>.  </a:t>
            </a:r>
            <a:endParaRPr lang="vi-VN" sz="3200" b="0" i="0">
              <a:solidFill>
                <a:srgbClr val="212529"/>
              </a:solidFill>
              <a:effectLst/>
              <a:highlight>
                <a:srgbClr val="FFFFFF"/>
              </a:highlight>
              <a:latin typeface="RobotoCondensed"/>
            </a:endParaRPr>
          </a:p>
          <a:p>
            <a:pPr marL="457200" indent="-457200" algn="l" fontAlgn="base">
              <a:buFont typeface="Arial" panose="020B0604020202020204" pitchFamily="34" charset="0"/>
              <a:buChar char="•"/>
            </a:pPr>
            <a:endParaRPr lang="en-US" sz="3200" b="0" i="0">
              <a:solidFill>
                <a:srgbClr val="161616"/>
              </a:solidFill>
              <a:effectLst/>
              <a:highlight>
                <a:srgbClr val="FFFFFF"/>
              </a:highlight>
              <a:latin typeface="RobotoCondensed"/>
            </a:endParaRPr>
          </a:p>
          <a:p>
            <a:pPr marL="457200" indent="-457200" algn="l">
              <a:buFont typeface="Arial" panose="020B0604020202020204" pitchFamily="34" charset="0"/>
              <a:buChar char="•"/>
            </a:pPr>
            <a:endParaRPr lang="vi-VN" sz="3200" b="1" i="0">
              <a:solidFill>
                <a:schemeClr val="tx1"/>
              </a:solidFill>
              <a:effectLst/>
              <a:latin typeface="RobotoCondensed"/>
            </a:endParaRPr>
          </a:p>
        </p:txBody>
      </p:sp>
      <p:pic>
        <p:nvPicPr>
          <p:cNvPr id="8" name="Picture 7">
            <a:extLst>
              <a:ext uri="{FF2B5EF4-FFF2-40B4-BE49-F238E27FC236}">
                <a16:creationId xmlns:a16="http://schemas.microsoft.com/office/drawing/2014/main" id="{FABFD47A-8337-8FB8-BB8F-70FA4C491D3F}"/>
              </a:ext>
            </a:extLst>
          </p:cNvPr>
          <p:cNvPicPr>
            <a:picLocks noChangeAspect="1"/>
          </p:cNvPicPr>
          <p:nvPr/>
        </p:nvPicPr>
        <p:blipFill>
          <a:blip r:embed="rId3"/>
          <a:stretch>
            <a:fillRect/>
          </a:stretch>
        </p:blipFill>
        <p:spPr>
          <a:xfrm>
            <a:off x="9379457" y="2534447"/>
            <a:ext cx="14059127" cy="7904400"/>
          </a:xfrm>
          <a:prstGeom prst="rect">
            <a:avLst/>
          </a:prstGeom>
        </p:spPr>
      </p:pic>
    </p:spTree>
    <p:extLst>
      <p:ext uri="{BB962C8B-B14F-4D97-AF65-F5344CB8AC3E}">
        <p14:creationId xmlns:p14="http://schemas.microsoft.com/office/powerpoint/2010/main" val="2304204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Elasticsearch</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9169400" cy="8956298"/>
          </a:xfrm>
          <a:prstGeom prst="rect">
            <a:avLst/>
          </a:prstGeom>
          <a:noFill/>
        </p:spPr>
        <p:txBody>
          <a:bodyPr wrap="square">
            <a:spAutoFit/>
          </a:bodyPr>
          <a:lstStyle/>
          <a:p>
            <a:pPr algn="l"/>
            <a:r>
              <a:rPr lang="en-US" sz="3200" b="1" i="0">
                <a:solidFill>
                  <a:srgbClr val="212529"/>
                </a:solidFill>
                <a:effectLst/>
                <a:highlight>
                  <a:srgbClr val="FFFFFF"/>
                </a:highlight>
                <a:latin typeface="RobotoCondensed"/>
              </a:rPr>
              <a:t>2.1 Elasticsearch là gì?</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Elasticsearch là một search engine</a:t>
            </a:r>
            <a:r>
              <a:rPr lang="en-US" sz="3200" b="0" i="0">
                <a:solidFill>
                  <a:srgbClr val="212529"/>
                </a:solidFill>
                <a:effectLst/>
                <a:highlight>
                  <a:srgbClr val="FFFFFF"/>
                </a:highlight>
                <a:latin typeface="RobotoCondensed"/>
              </a:rPr>
              <a:t> </a:t>
            </a:r>
            <a:r>
              <a:rPr lang="vi-VN" sz="3200" b="0" i="0">
                <a:solidFill>
                  <a:srgbClr val="212529"/>
                </a:solidFill>
                <a:effectLst/>
                <a:highlight>
                  <a:srgbClr val="FFFFFF"/>
                </a:highlight>
                <a:latin typeface="RobotoCondensed"/>
              </a:rPr>
              <a:t>được kế thừa từ Lucene Apache</a:t>
            </a:r>
            <a:endParaRPr lang="en-US"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JSON based data: hệ thống sử dụng cơ sở dữ liệu noSQL để lưu trữ và truy vấn dữ liệu, tập trung vào việc tối ưu hóa hiệu suất tìm kiếm. Elasticsearch có thể cung cấp kết quả tìm kiếm chính xác trong thời gian gần như thời gian thực, ngay cả trên tập dữ liệu lớn.</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Elasticsearch chạy trên server riêng và đồng thời giao tiếp thông qua RESTful nên nó không phụ thuộc vào client hay hệ thống </a:t>
            </a:r>
            <a:r>
              <a:rPr lang="en-US" sz="3200" b="0" i="0">
                <a:solidFill>
                  <a:srgbClr val="212529"/>
                </a:solidFill>
                <a:effectLst/>
                <a:highlight>
                  <a:srgbClr val="FFFFFF"/>
                </a:highlight>
                <a:latin typeface="RobotoCondensed"/>
              </a:rPr>
              <a:t>tích hợp</a:t>
            </a:r>
            <a:r>
              <a:rPr lang="vi-VN" sz="3200" b="0" i="0">
                <a:solidFill>
                  <a:srgbClr val="212529"/>
                </a:solidFill>
                <a:effectLst/>
                <a:highlight>
                  <a:srgbClr val="FFFFFF"/>
                </a:highlight>
                <a:latin typeface="RobotoCondensed"/>
              </a:rPr>
              <a:t> viết bằng </a:t>
            </a:r>
            <a:r>
              <a:rPr lang="en-US" sz="3200">
                <a:solidFill>
                  <a:srgbClr val="212529"/>
                </a:solidFill>
                <a:highlight>
                  <a:srgbClr val="FFFFFF"/>
                </a:highlight>
                <a:latin typeface="RobotoCondensed"/>
              </a:rPr>
              <a:t>ngôn ngữ </a:t>
            </a:r>
            <a:r>
              <a:rPr lang="vi-VN" sz="3200" b="0" i="0">
                <a:solidFill>
                  <a:srgbClr val="212529"/>
                </a:solidFill>
                <a:effectLst/>
                <a:highlight>
                  <a:srgbClr val="FFFFFF"/>
                </a:highlight>
                <a:latin typeface="RobotoCondensed"/>
              </a:rPr>
              <a:t>gì.</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Elasticsearch là 1 hệ thống phân tán và có khả năng mở rộng (horizontal scalability).</a:t>
            </a:r>
            <a:r>
              <a:rPr lang="en-US" sz="3200" b="0" i="0">
                <a:solidFill>
                  <a:srgbClr val="212529"/>
                </a:solidFill>
                <a:effectLst/>
                <a:highlight>
                  <a:srgbClr val="FFFFFF"/>
                </a:highlight>
                <a:latin typeface="RobotoCondensed"/>
              </a:rPr>
              <a:t>Hệ thống cần mở rộng sẽ tăng số node elasticsearch</a:t>
            </a:r>
            <a:r>
              <a:rPr lang="vi-VN" sz="3200" b="0" i="0">
                <a:solidFill>
                  <a:srgbClr val="212529"/>
                </a:solidFill>
                <a:effectLst/>
                <a:highlight>
                  <a:srgbClr val="FFFFFF"/>
                </a:highlight>
                <a:latin typeface="RobotoCondensed"/>
              </a:rPr>
              <a:t>.</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Elasticsearch là 1 open source được phát triển bằng Java</a:t>
            </a:r>
          </a:p>
        </p:txBody>
      </p:sp>
      <p:pic>
        <p:nvPicPr>
          <p:cNvPr id="6" name="Picture 5">
            <a:extLst>
              <a:ext uri="{FF2B5EF4-FFF2-40B4-BE49-F238E27FC236}">
                <a16:creationId xmlns:a16="http://schemas.microsoft.com/office/drawing/2014/main" id="{E287BC66-C0DB-85B3-14A5-F2D9950F0DBB}"/>
              </a:ext>
            </a:extLst>
          </p:cNvPr>
          <p:cNvPicPr>
            <a:picLocks noChangeAspect="1"/>
          </p:cNvPicPr>
          <p:nvPr/>
        </p:nvPicPr>
        <p:blipFill>
          <a:blip r:embed="rId3"/>
          <a:stretch>
            <a:fillRect/>
          </a:stretch>
        </p:blipFill>
        <p:spPr>
          <a:xfrm>
            <a:off x="11091428" y="3226478"/>
            <a:ext cx="11238366" cy="6568685"/>
          </a:xfrm>
          <a:prstGeom prst="rect">
            <a:avLst/>
          </a:prstGeom>
        </p:spPr>
      </p:pic>
    </p:spTree>
    <p:extLst>
      <p:ext uri="{BB962C8B-B14F-4D97-AF65-F5344CB8AC3E}">
        <p14:creationId xmlns:p14="http://schemas.microsoft.com/office/powerpoint/2010/main" val="2508233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Elasticsearch</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2459540" cy="5509200"/>
          </a:xfrm>
          <a:prstGeom prst="rect">
            <a:avLst/>
          </a:prstGeom>
          <a:noFill/>
        </p:spPr>
        <p:txBody>
          <a:bodyPr wrap="square">
            <a:spAutoFit/>
          </a:bodyPr>
          <a:lstStyle/>
          <a:p>
            <a:pPr algn="l"/>
            <a:r>
              <a:rPr lang="en-US" sz="3200" b="1" i="0">
                <a:solidFill>
                  <a:srgbClr val="212529"/>
                </a:solidFill>
                <a:effectLst/>
                <a:highlight>
                  <a:srgbClr val="FFFFFF"/>
                </a:highlight>
                <a:latin typeface="RobotoCondensed"/>
              </a:rPr>
              <a:t>2.2 Những thành phần chính trong Elasticsearch</a:t>
            </a:r>
          </a:p>
          <a:p>
            <a:pPr algn="l"/>
            <a:r>
              <a:rPr lang="en-US" sz="3200">
                <a:solidFill>
                  <a:srgbClr val="212529"/>
                </a:solidFill>
                <a:highlight>
                  <a:srgbClr val="FFFFFF"/>
                </a:highlight>
                <a:latin typeface="RobotoCondensed"/>
              </a:rPr>
              <a:t>2.2.1 Index</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Index trong Elasticsearch là một tập hợp các tài liệu có tính chất tương tự (có cùng các trường hoặc field).</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Mỗi index có thể được coi như một cơ sở dữ liệu nhỏ trong hệ thống Elasticsearch.</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Index được sử dụng để tìm kiếm, lọc và lưu trữ dữ liệu. Một cơ sở dữ liệu có thể bao gồm nhiều index.</a:t>
            </a:r>
            <a:endParaRPr lang="en-US"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a:solidFill>
                  <a:srgbClr val="212529"/>
                </a:solidFill>
                <a:highlight>
                  <a:srgbClr val="FFFFFF"/>
                </a:highlight>
                <a:latin typeface="RobotoCondensed"/>
              </a:rPr>
              <a:t>Index trong ES giống như database trong RDMS(MySQL, Postgresql…)</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endParaRPr lang="vi-VN" sz="3200" b="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7D692F6F-1ECE-E0CA-BA1D-C1E3245788BC}"/>
              </a:ext>
            </a:extLst>
          </p:cNvPr>
          <p:cNvPicPr>
            <a:picLocks noChangeAspect="1"/>
          </p:cNvPicPr>
          <p:nvPr/>
        </p:nvPicPr>
        <p:blipFill>
          <a:blip r:embed="rId3"/>
          <a:stretch>
            <a:fillRect/>
          </a:stretch>
        </p:blipFill>
        <p:spPr>
          <a:xfrm>
            <a:off x="14145491" y="2943268"/>
            <a:ext cx="9670473" cy="4164114"/>
          </a:xfrm>
          <a:prstGeom prst="rect">
            <a:avLst/>
          </a:prstGeom>
        </p:spPr>
      </p:pic>
    </p:spTree>
    <p:extLst>
      <p:ext uri="{BB962C8B-B14F-4D97-AF65-F5344CB8AC3E}">
        <p14:creationId xmlns:p14="http://schemas.microsoft.com/office/powerpoint/2010/main" val="1220668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Elasticsearch</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2459540" cy="7971413"/>
          </a:xfrm>
          <a:prstGeom prst="rect">
            <a:avLst/>
          </a:prstGeom>
          <a:noFill/>
        </p:spPr>
        <p:txBody>
          <a:bodyPr wrap="square">
            <a:spAutoFit/>
          </a:bodyPr>
          <a:lstStyle/>
          <a:p>
            <a:pPr algn="l"/>
            <a:r>
              <a:rPr lang="en-US" sz="3200" b="1" i="0">
                <a:solidFill>
                  <a:srgbClr val="212529"/>
                </a:solidFill>
                <a:effectLst/>
                <a:highlight>
                  <a:srgbClr val="FFFFFF"/>
                </a:highlight>
                <a:latin typeface="RobotoCondensed"/>
              </a:rPr>
              <a:t>2.2 Những thành phần chính trong Elasticsearch</a:t>
            </a:r>
          </a:p>
          <a:p>
            <a:pPr algn="l"/>
            <a:r>
              <a:rPr lang="en-US" sz="3200">
                <a:solidFill>
                  <a:srgbClr val="212529"/>
                </a:solidFill>
                <a:highlight>
                  <a:srgbClr val="FFFFFF"/>
                </a:highlight>
                <a:latin typeface="RobotoCondensed"/>
              </a:rPr>
              <a:t>2.2.2 Type</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a:solidFill>
                  <a:srgbClr val="212529"/>
                </a:solidFill>
                <a:highlight>
                  <a:srgbClr val="FFFFFF"/>
                </a:highlight>
                <a:latin typeface="RobotoCondensed"/>
              </a:rPr>
              <a:t>M</a:t>
            </a:r>
            <a:r>
              <a:rPr lang="vi-VN" sz="3200" i="0">
                <a:solidFill>
                  <a:srgbClr val="212529"/>
                </a:solidFill>
                <a:effectLst/>
                <a:highlight>
                  <a:srgbClr val="FFFFFF"/>
                </a:highlight>
                <a:latin typeface="RobotoCondensed"/>
              </a:rPr>
              <a:t>ột index có thể chứa nhiều loại (type) khác nhau. Mỗi loại định nghĩa cấu trúc của các document trong index.</a:t>
            </a: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Mỗi loại chứa các field (trường) khác nhau. </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Ví dụ, một index có thể có loại "user" và loại "blog", mỗi loại sẽ có cấu trúc dữ liệu riêng.</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a:solidFill>
                  <a:srgbClr val="212529"/>
                </a:solidFill>
                <a:highlight>
                  <a:srgbClr val="FFFFFF"/>
                </a:highlight>
                <a:latin typeface="RobotoCondensed"/>
              </a:rPr>
              <a:t>Type giống nh</a:t>
            </a:r>
            <a:r>
              <a:rPr lang="en-US" sz="3200">
                <a:solidFill>
                  <a:srgbClr val="212529"/>
                </a:solidFill>
                <a:highlight>
                  <a:srgbClr val="FFFFFF"/>
                </a:highlight>
                <a:latin typeface="RobotoCondensed"/>
              </a:rPr>
              <a:t>ư table trong RDMS(MySQL, Postgresql…)</a:t>
            </a:r>
          </a:p>
          <a:p>
            <a:pPr algn="l"/>
            <a:r>
              <a:rPr lang="en-US" sz="3200">
                <a:solidFill>
                  <a:srgbClr val="212529"/>
                </a:solidFill>
                <a:highlight>
                  <a:srgbClr val="FFFFFF"/>
                </a:highlight>
                <a:latin typeface="RobotoCondensed"/>
              </a:rPr>
              <a:t>2.2.3 Document</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Document là dữ liệu cơ bản</a:t>
            </a:r>
            <a:r>
              <a:rPr lang="en-US" sz="3200">
                <a:solidFill>
                  <a:srgbClr val="212529"/>
                </a:solidFill>
                <a:highlight>
                  <a:srgbClr val="FFFFFF"/>
                </a:highlight>
                <a:latin typeface="RobotoCondensed"/>
              </a:rPr>
              <a:t> (đơn vị nhỏ nhất)</a:t>
            </a:r>
            <a:r>
              <a:rPr lang="vi-VN" sz="3200" b="0" i="0">
                <a:solidFill>
                  <a:srgbClr val="212529"/>
                </a:solidFill>
                <a:effectLst/>
                <a:highlight>
                  <a:srgbClr val="FFFFFF"/>
                </a:highlight>
                <a:latin typeface="RobotoCondensed"/>
              </a:rPr>
              <a:t> mà Elasticsearch lưu trữ và tìm kiếm.</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Document thường được biểu diễn dưới dạng JSON (JavaScript Object Notation).</a:t>
            </a:r>
            <a:endParaRPr lang="en-US"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a:solidFill>
                  <a:srgbClr val="212529"/>
                </a:solidFill>
                <a:highlight>
                  <a:srgbClr val="FFFFFF"/>
                </a:highlight>
                <a:latin typeface="RobotoCondensed"/>
              </a:rPr>
              <a:t>Document giống như row trong RDMS</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Ví dụ: Trong một index chứa thông tin người dùng, mỗi người dùng sẽ được biểu diễn bằng một document.</a:t>
            </a:r>
          </a:p>
        </p:txBody>
      </p:sp>
      <p:pic>
        <p:nvPicPr>
          <p:cNvPr id="4" name="Picture 3">
            <a:extLst>
              <a:ext uri="{FF2B5EF4-FFF2-40B4-BE49-F238E27FC236}">
                <a16:creationId xmlns:a16="http://schemas.microsoft.com/office/drawing/2014/main" id="{7D692F6F-1ECE-E0CA-BA1D-C1E3245788BC}"/>
              </a:ext>
            </a:extLst>
          </p:cNvPr>
          <p:cNvPicPr>
            <a:picLocks noChangeAspect="1"/>
          </p:cNvPicPr>
          <p:nvPr/>
        </p:nvPicPr>
        <p:blipFill>
          <a:blip r:embed="rId3"/>
          <a:stretch>
            <a:fillRect/>
          </a:stretch>
        </p:blipFill>
        <p:spPr>
          <a:xfrm>
            <a:off x="14145491" y="2943268"/>
            <a:ext cx="9670473" cy="4164114"/>
          </a:xfrm>
          <a:prstGeom prst="rect">
            <a:avLst/>
          </a:prstGeom>
        </p:spPr>
      </p:pic>
    </p:spTree>
    <p:extLst>
      <p:ext uri="{BB962C8B-B14F-4D97-AF65-F5344CB8AC3E}">
        <p14:creationId xmlns:p14="http://schemas.microsoft.com/office/powerpoint/2010/main" val="3755387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Elasticsearch</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2459540" cy="5016758"/>
          </a:xfrm>
          <a:prstGeom prst="rect">
            <a:avLst/>
          </a:prstGeom>
          <a:noFill/>
        </p:spPr>
        <p:txBody>
          <a:bodyPr wrap="square">
            <a:spAutoFit/>
          </a:bodyPr>
          <a:lstStyle/>
          <a:p>
            <a:pPr algn="l"/>
            <a:r>
              <a:rPr lang="en-US" sz="3200" b="1" i="0">
                <a:solidFill>
                  <a:srgbClr val="212529"/>
                </a:solidFill>
                <a:effectLst/>
                <a:highlight>
                  <a:srgbClr val="FFFFFF"/>
                </a:highlight>
                <a:latin typeface="RobotoCondensed"/>
              </a:rPr>
              <a:t>2.2 Những thành phần chính trong Elasticsearch</a:t>
            </a:r>
          </a:p>
          <a:p>
            <a:pPr algn="l"/>
            <a:r>
              <a:rPr lang="en-US" sz="3200">
                <a:solidFill>
                  <a:srgbClr val="212529"/>
                </a:solidFill>
                <a:highlight>
                  <a:srgbClr val="FFFFFF"/>
                </a:highlight>
                <a:latin typeface="RobotoCondensed"/>
              </a:rPr>
              <a:t>2.2.4 Field</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Field là các thành phần cơ bản của một document. Chúng là các thuộc tính hoặc trường thông tin về một document.</a:t>
            </a: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Mỗi field có thể chứa một loạt các giá trị như chuỗi ký tự, số, ngày tháng, …</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a:solidFill>
                  <a:srgbClr val="212529"/>
                </a:solidFill>
                <a:highlight>
                  <a:srgbClr val="FFFFFF"/>
                </a:highlight>
                <a:latin typeface="RobotoCondensed"/>
              </a:rPr>
              <a:t>Field giống như column trong RDMS</a:t>
            </a:r>
            <a:endParaRPr lang="vi-VN"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Ví dụ: Trong một document người dùng, các field có thể bao gồm "name", "age", "email", ...</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endParaRPr lang="vi-VN" sz="3200" b="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7D692F6F-1ECE-E0CA-BA1D-C1E3245788BC}"/>
              </a:ext>
            </a:extLst>
          </p:cNvPr>
          <p:cNvPicPr>
            <a:picLocks noChangeAspect="1"/>
          </p:cNvPicPr>
          <p:nvPr/>
        </p:nvPicPr>
        <p:blipFill>
          <a:blip r:embed="rId3"/>
          <a:stretch>
            <a:fillRect/>
          </a:stretch>
        </p:blipFill>
        <p:spPr>
          <a:xfrm>
            <a:off x="14145491" y="2943268"/>
            <a:ext cx="9670473" cy="4164114"/>
          </a:xfrm>
          <a:prstGeom prst="rect">
            <a:avLst/>
          </a:prstGeom>
        </p:spPr>
      </p:pic>
    </p:spTree>
    <p:extLst>
      <p:ext uri="{BB962C8B-B14F-4D97-AF65-F5344CB8AC3E}">
        <p14:creationId xmlns:p14="http://schemas.microsoft.com/office/powerpoint/2010/main" val="1056896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Elasticsearch</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9450050" cy="3539430"/>
          </a:xfrm>
          <a:prstGeom prst="rect">
            <a:avLst/>
          </a:prstGeom>
          <a:noFill/>
        </p:spPr>
        <p:txBody>
          <a:bodyPr wrap="square">
            <a:spAutoFit/>
          </a:bodyPr>
          <a:lstStyle/>
          <a:p>
            <a:pPr algn="l"/>
            <a:r>
              <a:rPr lang="en-US" sz="3200" b="1" i="0">
                <a:solidFill>
                  <a:srgbClr val="212529"/>
                </a:solidFill>
                <a:effectLst/>
                <a:highlight>
                  <a:srgbClr val="FFFFFF"/>
                </a:highlight>
                <a:latin typeface="RobotoCondensed"/>
              </a:rPr>
              <a:t>2.2 Những thành phần chính trong Elasticsearch</a:t>
            </a:r>
          </a:p>
          <a:p>
            <a:pPr algn="l"/>
            <a:r>
              <a:rPr lang="en-US" sz="3200">
                <a:solidFill>
                  <a:srgbClr val="212529"/>
                </a:solidFill>
                <a:highlight>
                  <a:srgbClr val="FFFFFF"/>
                </a:highlight>
                <a:latin typeface="RobotoCondensed"/>
              </a:rPr>
              <a:t>2.2.5 Node</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Là trung tâm hoạt động của Elasticsearch. Là nơi lưu trữ dữ liễu ,tham gia thực hiện đánh index cũng như thực hiện các thao tác tìm kiếm</a:t>
            </a: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Mỗi node được định danh bằng 1 unique name</a:t>
            </a:r>
            <a:endParaRPr lang="en-US" sz="3200">
              <a:solidFill>
                <a:srgbClr val="212529"/>
              </a:solidFill>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Condensed"/>
              </a:rPr>
              <a:t>Elastichsearch có thể gồm nhiều node khi cấn mở rộng</a:t>
            </a:r>
            <a:endParaRPr lang="vi-VN"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endParaRPr lang="vi-VN" sz="3200" b="0" i="0">
              <a:solidFill>
                <a:srgbClr val="212529"/>
              </a:solidFill>
              <a:effectLst/>
              <a:highlight>
                <a:srgbClr val="FFFFFF"/>
              </a:highlight>
              <a:latin typeface="RobotoCondensed"/>
            </a:endParaRPr>
          </a:p>
        </p:txBody>
      </p:sp>
      <p:pic>
        <p:nvPicPr>
          <p:cNvPr id="6" name="Picture 5">
            <a:extLst>
              <a:ext uri="{FF2B5EF4-FFF2-40B4-BE49-F238E27FC236}">
                <a16:creationId xmlns:a16="http://schemas.microsoft.com/office/drawing/2014/main" id="{0CF746AA-9BA7-1319-26E6-2C61A3EB4BF4}"/>
              </a:ext>
            </a:extLst>
          </p:cNvPr>
          <p:cNvPicPr>
            <a:picLocks noChangeAspect="1"/>
          </p:cNvPicPr>
          <p:nvPr/>
        </p:nvPicPr>
        <p:blipFill>
          <a:blip r:embed="rId3"/>
          <a:stretch>
            <a:fillRect/>
          </a:stretch>
        </p:blipFill>
        <p:spPr>
          <a:xfrm>
            <a:off x="5131225" y="5676536"/>
            <a:ext cx="13420011" cy="6019097"/>
          </a:xfrm>
          <a:prstGeom prst="rect">
            <a:avLst/>
          </a:prstGeom>
        </p:spPr>
      </p:pic>
    </p:spTree>
    <p:extLst>
      <p:ext uri="{BB962C8B-B14F-4D97-AF65-F5344CB8AC3E}">
        <p14:creationId xmlns:p14="http://schemas.microsoft.com/office/powerpoint/2010/main" val="3539823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Elasticsearch</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0118121" cy="8463855"/>
          </a:xfrm>
          <a:prstGeom prst="rect">
            <a:avLst/>
          </a:prstGeom>
          <a:noFill/>
        </p:spPr>
        <p:txBody>
          <a:bodyPr wrap="square">
            <a:spAutoFit/>
          </a:bodyPr>
          <a:lstStyle/>
          <a:p>
            <a:pPr algn="l"/>
            <a:r>
              <a:rPr lang="en-US" sz="3200" b="1" i="0">
                <a:solidFill>
                  <a:srgbClr val="212529"/>
                </a:solidFill>
                <a:effectLst/>
                <a:highlight>
                  <a:srgbClr val="FFFFFF"/>
                </a:highlight>
                <a:latin typeface="RobotoCondensed"/>
              </a:rPr>
              <a:t>2.2 Những thành phần chính trong Elasticsearch</a:t>
            </a:r>
          </a:p>
          <a:p>
            <a:pPr algn="l"/>
            <a:r>
              <a:rPr lang="en-US" sz="3200">
                <a:solidFill>
                  <a:srgbClr val="212529"/>
                </a:solidFill>
                <a:highlight>
                  <a:srgbClr val="FFFFFF"/>
                </a:highlight>
                <a:latin typeface="RobotoCondensed"/>
              </a:rPr>
              <a:t>2.2.6 Cluster</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b="0" i="0">
                <a:solidFill>
                  <a:srgbClr val="212529"/>
                </a:solidFill>
                <a:effectLst/>
                <a:highlight>
                  <a:srgbClr val="FFFFFF"/>
                </a:highlight>
                <a:latin typeface="RobotoCondensed"/>
              </a:rPr>
              <a:t>Cluster là </a:t>
            </a:r>
            <a:r>
              <a:rPr lang="en-US" sz="3200">
                <a:solidFill>
                  <a:srgbClr val="212529"/>
                </a:solidFill>
                <a:highlight>
                  <a:srgbClr val="FFFFFF"/>
                </a:highlight>
                <a:latin typeface="RobotoCondensed"/>
              </a:rPr>
              <a:t>t</a:t>
            </a:r>
            <a:r>
              <a:rPr lang="vi-VN" sz="3200" b="0" i="0">
                <a:solidFill>
                  <a:srgbClr val="212529"/>
                </a:solidFill>
                <a:effectLst/>
                <a:highlight>
                  <a:srgbClr val="FFFFFF"/>
                </a:highlight>
                <a:latin typeface="RobotoCondensed"/>
              </a:rPr>
              <a:t>ập hợp các nodes hoạt động cùng với nhau, chia sẽ cùng thuộc tính cluster.name</a:t>
            </a:r>
            <a:r>
              <a:rPr lang="en-US" sz="3200" b="0" i="0">
                <a:solidFill>
                  <a:srgbClr val="212529"/>
                </a:solidFill>
                <a:effectLst/>
                <a:highlight>
                  <a:srgbClr val="FFFFFF"/>
                </a:highlight>
                <a:latin typeface="RobotoCondensed"/>
              </a:rPr>
              <a:t>. </a:t>
            </a:r>
            <a:r>
              <a:rPr lang="vi-VN" sz="3200" b="0" i="0">
                <a:solidFill>
                  <a:srgbClr val="212529"/>
                </a:solidFill>
                <a:effectLst/>
                <a:highlight>
                  <a:srgbClr val="FFFFFF"/>
                </a:highlight>
                <a:latin typeface="RobotoCondensed"/>
              </a:rPr>
              <a:t>Cluster được xác định bằng 1 ‘unique name’. </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Mỗi cluster có một node chính (master), được lựa chọn một cách tự động và có thể thay thế nếu sự cố xảy ra. Một cluster có thể gồm 1 hoặc nhiều nodes. Các nodes có thể hoạt động trên cùng 1 server .</a:t>
            </a: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Tuy nhiên trong thực tế , một cluster sẽ gồm nhiều nodes hoạt động trên các server khác nhau để đảm bảo nếu 1 server gặp sự cố thì server khác (node khác) có thể hoạt động đầy đủ chức năng </a:t>
            </a:r>
            <a:r>
              <a:rPr lang="en-US" sz="3200" b="0" i="0">
                <a:solidFill>
                  <a:srgbClr val="212529"/>
                </a:solidFill>
                <a:effectLst/>
                <a:highlight>
                  <a:srgbClr val="FFFFFF"/>
                </a:highlight>
                <a:latin typeface="RobotoCondensed"/>
              </a:rPr>
              <a:t>mà hệ thống cung cấp</a:t>
            </a:r>
            <a:r>
              <a:rPr lang="vi-VN" sz="3200" b="0" i="0">
                <a:solidFill>
                  <a:srgbClr val="212529"/>
                </a:solidFill>
                <a:effectLst/>
                <a:highlight>
                  <a:srgbClr val="FFFFFF"/>
                </a:highlight>
                <a:latin typeface="RobotoCondensed"/>
              </a:rPr>
              <a:t>. </a:t>
            </a:r>
            <a:endParaRPr lang="en-US" sz="3200" b="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b="0" i="0">
                <a:solidFill>
                  <a:srgbClr val="212529"/>
                </a:solidFill>
                <a:effectLst/>
                <a:highlight>
                  <a:srgbClr val="FFFFFF"/>
                </a:highlight>
                <a:latin typeface="RobotoCondensed"/>
              </a:rPr>
              <a:t>Các node có thể tìm thấy nhau để hoạt động trên cùng 1 cluster qua giao thức unicast.</a:t>
            </a:r>
          </a:p>
          <a:p>
            <a:pPr marL="457200" indent="-457200" algn="l">
              <a:buFont typeface="Arial" panose="020B0604020202020204" pitchFamily="34" charset="0"/>
              <a:buChar char="•"/>
            </a:pPr>
            <a:endParaRPr lang="vi-VN" sz="3200" b="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2AF5D26F-33D5-A5D9-7EB4-7169B5FF9F88}"/>
              </a:ext>
            </a:extLst>
          </p:cNvPr>
          <p:cNvPicPr>
            <a:picLocks noChangeAspect="1"/>
          </p:cNvPicPr>
          <p:nvPr/>
        </p:nvPicPr>
        <p:blipFill>
          <a:blip r:embed="rId3"/>
          <a:stretch>
            <a:fillRect/>
          </a:stretch>
        </p:blipFill>
        <p:spPr>
          <a:xfrm>
            <a:off x="11704512" y="3123377"/>
            <a:ext cx="11539906" cy="6429376"/>
          </a:xfrm>
          <a:prstGeom prst="rect">
            <a:avLst/>
          </a:prstGeom>
        </p:spPr>
      </p:pic>
    </p:spTree>
    <p:extLst>
      <p:ext uri="{BB962C8B-B14F-4D97-AF65-F5344CB8AC3E}">
        <p14:creationId xmlns:p14="http://schemas.microsoft.com/office/powerpoint/2010/main" val="2171307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9450051" cy="646331"/>
          </a:xfrm>
          <a:prstGeom prst="rect">
            <a:avLst/>
          </a:prstGeom>
          <a:noFill/>
        </p:spPr>
        <p:txBody>
          <a:bodyPr wrap="square">
            <a:spAutoFit/>
          </a:bodyPr>
          <a:lstStyle/>
          <a:p>
            <a:pPr algn="l"/>
            <a:r>
              <a:rPr lang="en-US" sz="3600" b="1">
                <a:solidFill>
                  <a:srgbClr val="0070C0"/>
                </a:solidFill>
                <a:latin typeface="RobotoCondensed"/>
              </a:rPr>
              <a:t>2</a:t>
            </a:r>
            <a:r>
              <a:rPr lang="en-US" sz="3600" b="1" i="0">
                <a:solidFill>
                  <a:srgbClr val="0070C0"/>
                </a:solidFill>
                <a:effectLst/>
                <a:latin typeface="RobotoCondensed"/>
              </a:rPr>
              <a:t>. Elasticsearch</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8871212" cy="9448740"/>
          </a:xfrm>
          <a:prstGeom prst="rect">
            <a:avLst/>
          </a:prstGeom>
          <a:noFill/>
        </p:spPr>
        <p:txBody>
          <a:bodyPr wrap="square">
            <a:spAutoFit/>
          </a:bodyPr>
          <a:lstStyle/>
          <a:p>
            <a:pPr algn="l"/>
            <a:r>
              <a:rPr lang="en-US" sz="3200" b="1" i="0">
                <a:solidFill>
                  <a:srgbClr val="212529"/>
                </a:solidFill>
                <a:effectLst/>
                <a:highlight>
                  <a:srgbClr val="FFFFFF"/>
                </a:highlight>
                <a:latin typeface="RobotoCondensed"/>
              </a:rPr>
              <a:t>2.2 Những thành phần chính  Elasticsearch</a:t>
            </a:r>
          </a:p>
          <a:p>
            <a:pPr algn="l"/>
            <a:r>
              <a:rPr lang="en-US" sz="3200">
                <a:solidFill>
                  <a:srgbClr val="212529"/>
                </a:solidFill>
                <a:highlight>
                  <a:srgbClr val="FFFFFF"/>
                </a:highlight>
                <a:latin typeface="RobotoCondensed"/>
              </a:rPr>
              <a:t>2.2.6 Shard</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Shard là tập con các documents của 1 Index. Một Index có thể được chia thành nhiều shard.</a:t>
            </a: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Mỗi node bao gồm nhiều Shard . Chính vì thế Shard mà là đối tượng nhỏ nhất, hoạt động ở mức thấp nhất, đóng vai trò lưu trữ dữ liệu</a:t>
            </a:r>
            <a:r>
              <a:rPr lang="en-US" sz="3200" i="0">
                <a:solidFill>
                  <a:srgbClr val="212529"/>
                </a:solidFill>
                <a:effectLst/>
                <a:highlight>
                  <a:srgbClr val="FFFFFF"/>
                </a:highlight>
                <a:latin typeface="RobotoCondensed"/>
              </a:rPr>
              <a:t> trong mô hình phân tán.</a:t>
            </a:r>
            <a:endParaRPr lang="vi-VN"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vi-VN" sz="3200" i="0">
                <a:solidFill>
                  <a:srgbClr val="212529"/>
                </a:solidFill>
                <a:effectLst/>
                <a:highlight>
                  <a:srgbClr val="FFFFFF"/>
                </a:highlight>
                <a:latin typeface="RobotoCondensed"/>
              </a:rPr>
              <a:t>Có 2 loại Shard là : primary shard và replica shard.</a:t>
            </a:r>
            <a:endParaRPr lang="en-US" sz="3200" i="0">
              <a:solidFill>
                <a:srgbClr val="212529"/>
              </a:solidFill>
              <a:effectLst/>
              <a:highlight>
                <a:srgbClr val="FFFFFF"/>
              </a:highlight>
              <a:latin typeface="RobotoCondensed"/>
            </a:endParaRPr>
          </a:p>
          <a:p>
            <a:pPr lvl="3"/>
            <a:r>
              <a:rPr lang="en-US" sz="3200" i="0">
                <a:solidFill>
                  <a:srgbClr val="212529"/>
                </a:solidFill>
                <a:effectLst/>
                <a:highlight>
                  <a:srgbClr val="FFFFFF"/>
                </a:highlight>
                <a:latin typeface="RobotoCondensed"/>
              </a:rPr>
              <a:t>    	</a:t>
            </a:r>
            <a:r>
              <a:rPr lang="vi-VN" sz="3200" i="1">
                <a:solidFill>
                  <a:srgbClr val="212529"/>
                </a:solidFill>
                <a:highlight>
                  <a:srgbClr val="FFFFFF"/>
                </a:highlight>
                <a:latin typeface="RobotoCondensed"/>
              </a:rPr>
              <a:t>Primary Shard</a:t>
            </a:r>
            <a:r>
              <a:rPr lang="en-US" sz="3200" i="0">
                <a:solidFill>
                  <a:srgbClr val="212529"/>
                </a:solidFill>
                <a:effectLst/>
                <a:highlight>
                  <a:srgbClr val="FFFFFF"/>
                </a:highlight>
                <a:latin typeface="RobotoCondensed"/>
              </a:rPr>
              <a:t>:</a:t>
            </a:r>
            <a:r>
              <a:rPr lang="vi-VN" sz="3200" i="0">
                <a:solidFill>
                  <a:srgbClr val="212529"/>
                </a:solidFill>
                <a:effectLst/>
                <a:highlight>
                  <a:srgbClr val="FFFFFF"/>
                </a:highlight>
                <a:latin typeface="RobotoCondensed"/>
              </a:rPr>
              <a:t> lưu trữ dữ liệu và đánh </a:t>
            </a:r>
            <a:r>
              <a:rPr lang="en-US" sz="3200" i="0">
                <a:solidFill>
                  <a:srgbClr val="212529"/>
                </a:solidFill>
                <a:effectLst/>
                <a:highlight>
                  <a:srgbClr val="FFFFFF"/>
                </a:highlight>
                <a:latin typeface="RobotoCondensed"/>
              </a:rPr>
              <a:t>	</a:t>
            </a:r>
            <a:r>
              <a:rPr lang="vi-VN" sz="3200" i="0">
                <a:solidFill>
                  <a:srgbClr val="212529"/>
                </a:solidFill>
                <a:effectLst/>
                <a:highlight>
                  <a:srgbClr val="FFFFFF"/>
                </a:highlight>
                <a:latin typeface="RobotoCondensed"/>
              </a:rPr>
              <a:t>index . Mặc định của Elasticsearch là </a:t>
            </a:r>
            <a:r>
              <a:rPr lang="en-US" sz="3200" i="0">
                <a:solidFill>
                  <a:srgbClr val="212529"/>
                </a:solidFill>
                <a:effectLst/>
                <a:highlight>
                  <a:srgbClr val="FFFFFF"/>
                </a:highlight>
                <a:latin typeface="RobotoCondensed"/>
              </a:rPr>
              <a:t>	</a:t>
            </a:r>
            <a:r>
              <a:rPr lang="vi-VN" sz="3200" i="0">
                <a:solidFill>
                  <a:srgbClr val="212529"/>
                </a:solidFill>
                <a:effectLst/>
                <a:highlight>
                  <a:srgbClr val="FFFFFF"/>
                </a:highlight>
                <a:latin typeface="RobotoCondensed"/>
              </a:rPr>
              <a:t>mỗi index sẽ có 5 Primary shard.</a:t>
            </a:r>
            <a:endParaRPr lang="en-US" sz="3200" i="0">
              <a:solidFill>
                <a:srgbClr val="212529"/>
              </a:solidFill>
              <a:effectLst/>
              <a:highlight>
                <a:srgbClr val="FFFFFF"/>
              </a:highlight>
              <a:latin typeface="RobotoCondensed"/>
            </a:endParaRPr>
          </a:p>
          <a:p>
            <a:pPr lvl="3"/>
            <a:r>
              <a:rPr lang="en-US" sz="3200" i="0">
                <a:solidFill>
                  <a:srgbClr val="212529"/>
                </a:solidFill>
                <a:effectLst/>
                <a:highlight>
                  <a:srgbClr val="FFFFFF"/>
                </a:highlight>
                <a:latin typeface="RobotoCondensed"/>
              </a:rPr>
              <a:t>	</a:t>
            </a:r>
            <a:r>
              <a:rPr lang="vi-VN" sz="3200" i="1">
                <a:solidFill>
                  <a:srgbClr val="212529"/>
                </a:solidFill>
                <a:effectLst/>
                <a:highlight>
                  <a:srgbClr val="FFFFFF"/>
                </a:highlight>
                <a:latin typeface="RobotoCondensed"/>
              </a:rPr>
              <a:t>Replica Shard</a:t>
            </a:r>
            <a:r>
              <a:rPr lang="en-US" sz="3200" i="1">
                <a:solidFill>
                  <a:srgbClr val="212529"/>
                </a:solidFill>
                <a:effectLst/>
                <a:highlight>
                  <a:srgbClr val="FFFFFF"/>
                </a:highlight>
                <a:latin typeface="RobotoCondensed"/>
              </a:rPr>
              <a:t> (Secondary Shard)</a:t>
            </a:r>
            <a:r>
              <a:rPr lang="en-US" sz="3200" i="0">
                <a:solidFill>
                  <a:srgbClr val="212529"/>
                </a:solidFill>
                <a:effectLst/>
                <a:highlight>
                  <a:srgbClr val="FFFFFF"/>
                </a:highlight>
                <a:latin typeface="RobotoCondensed"/>
              </a:rPr>
              <a:t>: </a:t>
            </a:r>
            <a:r>
              <a:rPr lang="vi-VN" sz="3200" i="0">
                <a:solidFill>
                  <a:srgbClr val="212529"/>
                </a:solidFill>
                <a:effectLst/>
                <a:highlight>
                  <a:srgbClr val="FFFFFF"/>
                </a:highlight>
                <a:latin typeface="RobotoCondensed"/>
              </a:rPr>
              <a:t>lưu trữ </a:t>
            </a:r>
            <a:r>
              <a:rPr lang="en-US" sz="3200" i="0">
                <a:solidFill>
                  <a:srgbClr val="212529"/>
                </a:solidFill>
                <a:effectLst/>
                <a:highlight>
                  <a:srgbClr val="FFFFFF"/>
                </a:highlight>
                <a:latin typeface="RobotoCondensed"/>
              </a:rPr>
              <a:t>	</a:t>
            </a:r>
            <a:r>
              <a:rPr lang="vi-VN" sz="3200" i="0">
                <a:solidFill>
                  <a:srgbClr val="212529"/>
                </a:solidFill>
                <a:effectLst/>
                <a:highlight>
                  <a:srgbClr val="FFFFFF"/>
                </a:highlight>
                <a:latin typeface="RobotoCondensed"/>
              </a:rPr>
              <a:t>dữ liệu nhân bản của Primary Shard</a:t>
            </a:r>
            <a:r>
              <a:rPr lang="en-US" sz="3200" i="0">
                <a:solidFill>
                  <a:srgbClr val="212529"/>
                </a:solidFill>
                <a:effectLst/>
                <a:highlight>
                  <a:srgbClr val="FFFFFF"/>
                </a:highlight>
                <a:latin typeface="RobotoCondensed"/>
              </a:rPr>
              <a:t>.</a:t>
            </a:r>
            <a:r>
              <a:rPr lang="vi-VN" sz="3200" i="0">
                <a:solidFill>
                  <a:srgbClr val="212529"/>
                </a:solidFill>
                <a:effectLst/>
                <a:highlight>
                  <a:srgbClr val="FFFFFF"/>
                </a:highlight>
                <a:latin typeface="RobotoCondensed"/>
              </a:rPr>
              <a:t> </a:t>
            </a:r>
            <a:r>
              <a:rPr lang="en-US" sz="3200" i="0">
                <a:solidFill>
                  <a:srgbClr val="212529"/>
                </a:solidFill>
                <a:effectLst/>
                <a:highlight>
                  <a:srgbClr val="FFFFFF"/>
                </a:highlight>
                <a:latin typeface="RobotoCondensed"/>
              </a:rPr>
              <a:t>	</a:t>
            </a:r>
            <a:r>
              <a:rPr lang="vi-VN" sz="3200" i="0">
                <a:solidFill>
                  <a:srgbClr val="212529"/>
                </a:solidFill>
                <a:effectLst/>
                <a:highlight>
                  <a:srgbClr val="FFFFFF"/>
                </a:highlight>
                <a:latin typeface="RobotoCondensed"/>
              </a:rPr>
              <a:t>Replica Shard có vai trò đảm bảo tính </a:t>
            </a:r>
            <a:r>
              <a:rPr lang="en-US" sz="3200" i="0">
                <a:solidFill>
                  <a:srgbClr val="212529"/>
                </a:solidFill>
                <a:effectLst/>
                <a:highlight>
                  <a:srgbClr val="FFFFFF"/>
                </a:highlight>
                <a:latin typeface="RobotoCondensed"/>
              </a:rPr>
              <a:t>	</a:t>
            </a:r>
            <a:r>
              <a:rPr lang="vi-VN" sz="3200" i="0">
                <a:solidFill>
                  <a:srgbClr val="212529"/>
                </a:solidFill>
                <a:effectLst/>
                <a:highlight>
                  <a:srgbClr val="FFFFFF"/>
                </a:highlight>
                <a:latin typeface="RobotoCondensed"/>
              </a:rPr>
              <a:t>toàn vẹn của dữ liệu khi Primary Shard</a:t>
            </a:r>
            <a:r>
              <a:rPr lang="en-US" sz="3200" i="0">
                <a:solidFill>
                  <a:srgbClr val="212529"/>
                </a:solidFill>
                <a:effectLst/>
                <a:highlight>
                  <a:srgbClr val="FFFFFF"/>
                </a:highlight>
                <a:latin typeface="RobotoCondensed"/>
              </a:rPr>
              <a:t> </a:t>
            </a:r>
            <a:r>
              <a:rPr lang="vi-VN" sz="3200" i="0">
                <a:solidFill>
                  <a:srgbClr val="212529"/>
                </a:solidFill>
                <a:effectLst/>
                <a:highlight>
                  <a:srgbClr val="FFFFFF"/>
                </a:highlight>
                <a:latin typeface="RobotoCondensed"/>
              </a:rPr>
              <a:t>xảy </a:t>
            </a:r>
            <a:r>
              <a:rPr lang="en-US" sz="3200" i="0">
                <a:solidFill>
                  <a:srgbClr val="212529"/>
                </a:solidFill>
                <a:effectLst/>
                <a:highlight>
                  <a:srgbClr val="FFFFFF"/>
                </a:highlight>
                <a:latin typeface="RobotoCondensed"/>
              </a:rPr>
              <a:t>	</a:t>
            </a:r>
            <a:r>
              <a:rPr lang="vi-VN" sz="3200" i="0">
                <a:solidFill>
                  <a:srgbClr val="212529"/>
                </a:solidFill>
                <a:effectLst/>
                <a:highlight>
                  <a:srgbClr val="FFFFFF"/>
                </a:highlight>
                <a:latin typeface="RobotoCondensed"/>
              </a:rPr>
              <a:t>ra vấn đề.</a:t>
            </a:r>
            <a:endParaRPr lang="en-US" sz="320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84D21C30-F43B-2698-1781-28DD9E68D27C}"/>
              </a:ext>
            </a:extLst>
          </p:cNvPr>
          <p:cNvPicPr>
            <a:picLocks noChangeAspect="1"/>
          </p:cNvPicPr>
          <p:nvPr/>
        </p:nvPicPr>
        <p:blipFill>
          <a:blip r:embed="rId3"/>
          <a:stretch>
            <a:fillRect/>
          </a:stretch>
        </p:blipFill>
        <p:spPr>
          <a:xfrm>
            <a:off x="10454120" y="2964937"/>
            <a:ext cx="13039494" cy="7786126"/>
          </a:xfrm>
          <a:prstGeom prst="rect">
            <a:avLst/>
          </a:prstGeom>
        </p:spPr>
      </p:pic>
    </p:spTree>
    <p:extLst>
      <p:ext uri="{BB962C8B-B14F-4D97-AF65-F5344CB8AC3E}">
        <p14:creationId xmlns:p14="http://schemas.microsoft.com/office/powerpoint/2010/main" val="3483408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i="0">
                <a:solidFill>
                  <a:srgbClr val="0070C0"/>
                </a:solidFill>
                <a:effectLst/>
                <a:latin typeface="RobotoCondensed"/>
              </a:rPr>
              <a:t>3. Install Elasticsearch &amp;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2459540" cy="584775"/>
          </a:xfrm>
          <a:prstGeom prst="rect">
            <a:avLst/>
          </a:prstGeom>
          <a:noFill/>
        </p:spPr>
        <p:txBody>
          <a:bodyPr wrap="square">
            <a:spAutoFit/>
          </a:bodyPr>
          <a:lstStyle/>
          <a:p>
            <a:pPr algn="l"/>
            <a:r>
              <a:rPr lang="en-US" sz="3200">
                <a:solidFill>
                  <a:srgbClr val="212529"/>
                </a:solidFill>
                <a:highlight>
                  <a:srgbClr val="FFFFFF"/>
                </a:highlight>
                <a:latin typeface="RobotoCondensed"/>
              </a:rPr>
              <a:t>3</a:t>
            </a:r>
            <a:r>
              <a:rPr lang="en-US" sz="3200" i="0">
                <a:solidFill>
                  <a:srgbClr val="212529"/>
                </a:solidFill>
                <a:effectLst/>
                <a:highlight>
                  <a:srgbClr val="FFFFFF"/>
                </a:highlight>
                <a:latin typeface="RobotoCondensed"/>
              </a:rPr>
              <a:t>.1 Tạo project ELK-Stack trong folder gốc microservices</a:t>
            </a:r>
          </a:p>
        </p:txBody>
      </p:sp>
      <p:pic>
        <p:nvPicPr>
          <p:cNvPr id="6" name="Picture 5">
            <a:extLst>
              <a:ext uri="{FF2B5EF4-FFF2-40B4-BE49-F238E27FC236}">
                <a16:creationId xmlns:a16="http://schemas.microsoft.com/office/drawing/2014/main" id="{6836450B-3156-9427-D744-57278BBB06AE}"/>
              </a:ext>
            </a:extLst>
          </p:cNvPr>
          <p:cNvPicPr>
            <a:picLocks noChangeAspect="1"/>
          </p:cNvPicPr>
          <p:nvPr/>
        </p:nvPicPr>
        <p:blipFill>
          <a:blip r:embed="rId3"/>
          <a:stretch>
            <a:fillRect/>
          </a:stretch>
        </p:blipFill>
        <p:spPr>
          <a:xfrm>
            <a:off x="1630534" y="3498997"/>
            <a:ext cx="14994921" cy="7862666"/>
          </a:xfrm>
          <a:prstGeom prst="rect">
            <a:avLst/>
          </a:prstGeom>
        </p:spPr>
      </p:pic>
    </p:spTree>
    <p:extLst>
      <p:ext uri="{BB962C8B-B14F-4D97-AF65-F5344CB8AC3E}">
        <p14:creationId xmlns:p14="http://schemas.microsoft.com/office/powerpoint/2010/main" val="2733492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i="0">
                <a:solidFill>
                  <a:srgbClr val="0070C0"/>
                </a:solidFill>
                <a:effectLst/>
                <a:latin typeface="RobotoCondensed"/>
              </a:rPr>
              <a:t>3. Install Elasticsearch &amp;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354337"/>
            <a:ext cx="17128521" cy="1077218"/>
          </a:xfrm>
          <a:prstGeom prst="rect">
            <a:avLst/>
          </a:prstGeom>
          <a:noFill/>
        </p:spPr>
        <p:txBody>
          <a:bodyPr wrap="square">
            <a:spAutoFit/>
          </a:bodyPr>
          <a:lstStyle/>
          <a:p>
            <a:pPr algn="l"/>
            <a:r>
              <a:rPr lang="en-US" sz="3200">
                <a:solidFill>
                  <a:srgbClr val="212529"/>
                </a:solidFill>
                <a:highlight>
                  <a:srgbClr val="FFFFFF"/>
                </a:highlight>
                <a:latin typeface="RobotoCondensed"/>
              </a:rPr>
              <a:t>3</a:t>
            </a:r>
            <a:r>
              <a:rPr lang="en-US" sz="3200" i="0">
                <a:solidFill>
                  <a:srgbClr val="212529"/>
                </a:solidFill>
                <a:effectLst/>
                <a:highlight>
                  <a:srgbClr val="FFFFFF"/>
                </a:highlight>
                <a:latin typeface="RobotoCondensed"/>
              </a:rPr>
              <a:t>.1 Viết file docker-compose.yml</a:t>
            </a:r>
          </a:p>
          <a:p>
            <a:pPr algn="l"/>
            <a:r>
              <a:rPr lang="en-US" sz="3200">
                <a:solidFill>
                  <a:srgbClr val="212529"/>
                </a:solidFill>
                <a:highlight>
                  <a:srgbClr val="FFFFFF"/>
                </a:highlight>
                <a:latin typeface="RobotoCondensed"/>
              </a:rPr>
              <a:t>Tạo thư mục elastic-data và file docker-compose.yml với nộ dung trong hình</a:t>
            </a:r>
            <a:endParaRPr lang="en-US" sz="320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B16ABEA1-EDB9-FD96-03D2-EF35FC2A7B62}"/>
              </a:ext>
            </a:extLst>
          </p:cNvPr>
          <p:cNvPicPr>
            <a:picLocks noChangeAspect="1"/>
          </p:cNvPicPr>
          <p:nvPr/>
        </p:nvPicPr>
        <p:blipFill>
          <a:blip r:embed="rId3"/>
          <a:stretch>
            <a:fillRect/>
          </a:stretch>
        </p:blipFill>
        <p:spPr>
          <a:xfrm>
            <a:off x="1567728" y="3590062"/>
            <a:ext cx="16621125" cy="9029700"/>
          </a:xfrm>
          <a:prstGeom prst="rect">
            <a:avLst/>
          </a:prstGeom>
        </p:spPr>
      </p:pic>
    </p:spTree>
    <p:extLst>
      <p:ext uri="{BB962C8B-B14F-4D97-AF65-F5344CB8AC3E}">
        <p14:creationId xmlns:p14="http://schemas.microsoft.com/office/powerpoint/2010/main" val="1557072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i="0">
                <a:solidFill>
                  <a:srgbClr val="0070C0"/>
                </a:solidFill>
                <a:effectLst/>
                <a:latin typeface="RobotoCondensed"/>
              </a:rPr>
              <a:t>3. Install Elasticsearch &amp;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354337"/>
            <a:ext cx="17128521" cy="1077218"/>
          </a:xfrm>
          <a:prstGeom prst="rect">
            <a:avLst/>
          </a:prstGeom>
          <a:noFill/>
        </p:spPr>
        <p:txBody>
          <a:bodyPr wrap="square">
            <a:spAutoFit/>
          </a:bodyPr>
          <a:lstStyle/>
          <a:p>
            <a:pPr algn="l"/>
            <a:r>
              <a:rPr lang="en-US" sz="3200">
                <a:solidFill>
                  <a:srgbClr val="212529"/>
                </a:solidFill>
                <a:highlight>
                  <a:srgbClr val="FFFFFF"/>
                </a:highlight>
                <a:latin typeface="RobotoCondensed"/>
              </a:rPr>
              <a:t>3</a:t>
            </a:r>
            <a:r>
              <a:rPr lang="en-US" sz="3200" i="0">
                <a:solidFill>
                  <a:srgbClr val="212529"/>
                </a:solidFill>
                <a:effectLst/>
                <a:highlight>
                  <a:srgbClr val="FFFFFF"/>
                </a:highlight>
                <a:latin typeface="RobotoCondensed"/>
              </a:rPr>
              <a:t>.2 Run Elasticsearh &amp; Kibanne với docker-compose.yml</a:t>
            </a:r>
          </a:p>
          <a:p>
            <a:pPr algn="l"/>
            <a:r>
              <a:rPr lang="en-US" sz="3200">
                <a:solidFill>
                  <a:srgbClr val="212529"/>
                </a:solidFill>
                <a:highlight>
                  <a:srgbClr val="FFFFFF"/>
                </a:highlight>
                <a:latin typeface="RobotoCondensed"/>
              </a:rPr>
              <a:t>* Docker compose up</a:t>
            </a:r>
            <a:endParaRPr lang="en-US" sz="3200" i="0">
              <a:solidFill>
                <a:srgbClr val="212529"/>
              </a:solidFill>
              <a:effectLst/>
              <a:highlight>
                <a:srgbClr val="FFFFFF"/>
              </a:highlight>
              <a:latin typeface="RobotoCondensed"/>
            </a:endParaRPr>
          </a:p>
        </p:txBody>
      </p:sp>
      <p:pic>
        <p:nvPicPr>
          <p:cNvPr id="2" name="Picture 1">
            <a:extLst>
              <a:ext uri="{FF2B5EF4-FFF2-40B4-BE49-F238E27FC236}">
                <a16:creationId xmlns:a16="http://schemas.microsoft.com/office/drawing/2014/main" id="{5D556F3D-0F21-4299-0CB8-57C0ED4B5A14}"/>
              </a:ext>
            </a:extLst>
          </p:cNvPr>
          <p:cNvPicPr>
            <a:picLocks noChangeAspect="1"/>
          </p:cNvPicPr>
          <p:nvPr/>
        </p:nvPicPr>
        <p:blipFill>
          <a:blip r:embed="rId3"/>
          <a:stretch>
            <a:fillRect/>
          </a:stretch>
        </p:blipFill>
        <p:spPr>
          <a:xfrm>
            <a:off x="1597234" y="4095881"/>
            <a:ext cx="16427530" cy="7718061"/>
          </a:xfrm>
          <a:prstGeom prst="rect">
            <a:avLst/>
          </a:prstGeom>
        </p:spPr>
      </p:pic>
    </p:spTree>
    <p:extLst>
      <p:ext uri="{BB962C8B-B14F-4D97-AF65-F5344CB8AC3E}">
        <p14:creationId xmlns:p14="http://schemas.microsoft.com/office/powerpoint/2010/main" val="1626892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a:solidFill>
                  <a:srgbClr val="0070C0"/>
                </a:solidFill>
                <a:latin typeface="RobotoCondensed"/>
              </a:rPr>
              <a:t>4</a:t>
            </a:r>
            <a:r>
              <a:rPr lang="en-US" sz="3600" b="1" i="0">
                <a:solidFill>
                  <a:srgbClr val="0070C0"/>
                </a:solidFill>
                <a:effectLst/>
                <a:latin typeface="RobotoCondensed"/>
              </a:rPr>
              <a:t>. Using Elasticsearch UI With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5610744" cy="1077218"/>
          </a:xfrm>
          <a:prstGeom prst="rect">
            <a:avLst/>
          </a:prstGeom>
          <a:noFill/>
        </p:spPr>
        <p:txBody>
          <a:bodyPr wrap="square">
            <a:spAutoFit/>
          </a:bodyPr>
          <a:lstStyle/>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Truy cập </a:t>
            </a:r>
            <a:r>
              <a:rPr lang="en-US" sz="3200" i="0">
                <a:solidFill>
                  <a:srgbClr val="212529"/>
                </a:solidFill>
                <a:effectLst/>
                <a:highlight>
                  <a:srgbClr val="FFFFFF"/>
                </a:highlight>
                <a:latin typeface="RobotoCondensed"/>
                <a:hlinkClick r:id="rId3"/>
              </a:rPr>
              <a:t>http://localhost:5601</a:t>
            </a:r>
            <a:endParaRPr lang="en-US" sz="3200" i="0">
              <a:solidFill>
                <a:srgbClr val="212529"/>
              </a:solidFill>
              <a:effectLst/>
              <a:highlight>
                <a:srgbClr val="FFFFFF"/>
              </a:highlight>
              <a:latin typeface="RobotoCondensed"/>
            </a:endParaRPr>
          </a:p>
          <a:p>
            <a:pPr marL="457200" indent="-457200" algn="l">
              <a:buFont typeface="Arial" panose="020B0604020202020204" pitchFamily="34" charset="0"/>
              <a:buChar char="•"/>
            </a:pPr>
            <a:r>
              <a:rPr lang="en-US" sz="3200">
                <a:solidFill>
                  <a:srgbClr val="212529"/>
                </a:solidFill>
                <a:highlight>
                  <a:srgbClr val="FFFFFF"/>
                </a:highlight>
                <a:latin typeface="RobotoCondensed"/>
              </a:rPr>
              <a:t>Giao diện Kibana như hình bên dưới</a:t>
            </a:r>
            <a:endParaRPr lang="en-US" sz="320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7A2A2DB7-A30E-AE0D-F9AD-AC01AA3AF065}"/>
              </a:ext>
            </a:extLst>
          </p:cNvPr>
          <p:cNvPicPr>
            <a:picLocks noChangeAspect="1"/>
          </p:cNvPicPr>
          <p:nvPr/>
        </p:nvPicPr>
        <p:blipFill>
          <a:blip r:embed="rId4"/>
          <a:stretch>
            <a:fillRect/>
          </a:stretch>
        </p:blipFill>
        <p:spPr>
          <a:xfrm>
            <a:off x="1577252" y="3710854"/>
            <a:ext cx="15474189" cy="8481146"/>
          </a:xfrm>
          <a:prstGeom prst="rect">
            <a:avLst/>
          </a:prstGeom>
        </p:spPr>
      </p:pic>
    </p:spTree>
    <p:extLst>
      <p:ext uri="{BB962C8B-B14F-4D97-AF65-F5344CB8AC3E}">
        <p14:creationId xmlns:p14="http://schemas.microsoft.com/office/powerpoint/2010/main" val="426092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a:solidFill>
                  <a:srgbClr val="0070C0"/>
                </a:solidFill>
                <a:latin typeface="RobotoCondensed"/>
              </a:rPr>
              <a:t>4</a:t>
            </a:r>
            <a:r>
              <a:rPr lang="en-US" sz="3600" b="1" i="0">
                <a:solidFill>
                  <a:srgbClr val="0070C0"/>
                </a:solidFill>
                <a:effectLst/>
                <a:latin typeface="RobotoCondensed"/>
              </a:rPr>
              <a:t>. Using Elasticsearch UI With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5610744" cy="584775"/>
          </a:xfrm>
          <a:prstGeom prst="rect">
            <a:avLst/>
          </a:prstGeom>
          <a:noFill/>
        </p:spPr>
        <p:txBody>
          <a:bodyPr wrap="square">
            <a:spAutoFit/>
          </a:bodyPr>
          <a:lstStyle/>
          <a:p>
            <a:pPr marL="457200" indent="-457200" algn="l">
              <a:buFont typeface="Arial" panose="020B0604020202020204" pitchFamily="34" charset="0"/>
              <a:buChar char="•"/>
            </a:pPr>
            <a:r>
              <a:rPr lang="en-US" sz="3200">
                <a:solidFill>
                  <a:srgbClr val="212529"/>
                </a:solidFill>
                <a:highlight>
                  <a:srgbClr val="FFFFFF"/>
                </a:highlight>
                <a:latin typeface="RobotoCondensed"/>
              </a:rPr>
              <a:t>Chọn mục Dev Tools</a:t>
            </a:r>
            <a:endParaRPr lang="en-US" sz="3200" i="0">
              <a:solidFill>
                <a:srgbClr val="212529"/>
              </a:solidFill>
              <a:effectLst/>
              <a:highlight>
                <a:srgbClr val="FFFFFF"/>
              </a:highlight>
              <a:latin typeface="RobotoCondensed"/>
            </a:endParaRPr>
          </a:p>
        </p:txBody>
      </p:sp>
      <p:pic>
        <p:nvPicPr>
          <p:cNvPr id="8" name="Picture 7">
            <a:extLst>
              <a:ext uri="{FF2B5EF4-FFF2-40B4-BE49-F238E27FC236}">
                <a16:creationId xmlns:a16="http://schemas.microsoft.com/office/drawing/2014/main" id="{50356632-CB38-3512-32E2-10B5AD02A57F}"/>
              </a:ext>
            </a:extLst>
          </p:cNvPr>
          <p:cNvPicPr>
            <a:picLocks noChangeAspect="1"/>
          </p:cNvPicPr>
          <p:nvPr/>
        </p:nvPicPr>
        <p:blipFill>
          <a:blip r:embed="rId3"/>
          <a:stretch>
            <a:fillRect/>
          </a:stretch>
        </p:blipFill>
        <p:spPr>
          <a:xfrm>
            <a:off x="1588971" y="3326390"/>
            <a:ext cx="16266672" cy="7826519"/>
          </a:xfrm>
          <a:prstGeom prst="rect">
            <a:avLst/>
          </a:prstGeom>
        </p:spPr>
      </p:pic>
    </p:spTree>
    <p:extLst>
      <p:ext uri="{BB962C8B-B14F-4D97-AF65-F5344CB8AC3E}">
        <p14:creationId xmlns:p14="http://schemas.microsoft.com/office/powerpoint/2010/main" val="1473700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a:solidFill>
                  <a:srgbClr val="0070C0"/>
                </a:solidFill>
                <a:latin typeface="RobotoCondensed"/>
              </a:rPr>
              <a:t>4</a:t>
            </a:r>
            <a:r>
              <a:rPr lang="en-US" sz="3600" b="1" i="0">
                <a:solidFill>
                  <a:srgbClr val="0070C0"/>
                </a:solidFill>
                <a:effectLst/>
                <a:latin typeface="RobotoCondensed"/>
              </a:rPr>
              <a:t>. Using Elasticsearch UI With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5610744" cy="584775"/>
          </a:xfrm>
          <a:prstGeom prst="rect">
            <a:avLst/>
          </a:prstGeom>
          <a:noFill/>
        </p:spPr>
        <p:txBody>
          <a:bodyPr wrap="square">
            <a:spAutoFit/>
          </a:bodyPr>
          <a:lstStyle/>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Tạo index đầu tiên kèm theo insert một bản ghi mẫu</a:t>
            </a:r>
          </a:p>
        </p:txBody>
      </p:sp>
      <p:pic>
        <p:nvPicPr>
          <p:cNvPr id="3" name="Picture 2">
            <a:extLst>
              <a:ext uri="{FF2B5EF4-FFF2-40B4-BE49-F238E27FC236}">
                <a16:creationId xmlns:a16="http://schemas.microsoft.com/office/drawing/2014/main" id="{85957462-90F0-6E85-00C2-B9CC9B9F6A30}"/>
              </a:ext>
            </a:extLst>
          </p:cNvPr>
          <p:cNvPicPr>
            <a:picLocks noChangeAspect="1"/>
          </p:cNvPicPr>
          <p:nvPr/>
        </p:nvPicPr>
        <p:blipFill>
          <a:blip r:embed="rId3"/>
          <a:stretch>
            <a:fillRect/>
          </a:stretch>
        </p:blipFill>
        <p:spPr>
          <a:xfrm>
            <a:off x="1574655" y="3707932"/>
            <a:ext cx="15650632" cy="7653731"/>
          </a:xfrm>
          <a:prstGeom prst="rect">
            <a:avLst/>
          </a:prstGeom>
        </p:spPr>
      </p:pic>
    </p:spTree>
    <p:extLst>
      <p:ext uri="{BB962C8B-B14F-4D97-AF65-F5344CB8AC3E}">
        <p14:creationId xmlns:p14="http://schemas.microsoft.com/office/powerpoint/2010/main" val="1425742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a:solidFill>
                  <a:srgbClr val="0070C0"/>
                </a:solidFill>
                <a:latin typeface="RobotoCondensed"/>
              </a:rPr>
              <a:t>4</a:t>
            </a:r>
            <a:r>
              <a:rPr lang="en-US" sz="3600" b="1" i="0">
                <a:solidFill>
                  <a:srgbClr val="0070C0"/>
                </a:solidFill>
                <a:effectLst/>
                <a:latin typeface="RobotoCondensed"/>
              </a:rPr>
              <a:t>. Using Elasticsearch UI With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8524848" cy="584775"/>
          </a:xfrm>
          <a:prstGeom prst="rect">
            <a:avLst/>
          </a:prstGeom>
          <a:noFill/>
        </p:spPr>
        <p:txBody>
          <a:bodyPr wrap="square">
            <a:spAutoFit/>
          </a:bodyPr>
          <a:lstStyle/>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Kiểm tra index và document mẫu vừa thêm</a:t>
            </a:r>
          </a:p>
        </p:txBody>
      </p:sp>
      <p:pic>
        <p:nvPicPr>
          <p:cNvPr id="3" name="Picture 2">
            <a:extLst>
              <a:ext uri="{FF2B5EF4-FFF2-40B4-BE49-F238E27FC236}">
                <a16:creationId xmlns:a16="http://schemas.microsoft.com/office/drawing/2014/main" id="{95C733ED-A561-06C5-8234-2749D9B2953B}"/>
              </a:ext>
            </a:extLst>
          </p:cNvPr>
          <p:cNvPicPr>
            <a:picLocks noChangeAspect="1"/>
          </p:cNvPicPr>
          <p:nvPr/>
        </p:nvPicPr>
        <p:blipFill>
          <a:blip r:embed="rId3"/>
          <a:stretch>
            <a:fillRect/>
          </a:stretch>
        </p:blipFill>
        <p:spPr>
          <a:xfrm>
            <a:off x="1580718" y="3480522"/>
            <a:ext cx="19421475" cy="8334375"/>
          </a:xfrm>
          <a:prstGeom prst="rect">
            <a:avLst/>
          </a:prstGeom>
        </p:spPr>
      </p:pic>
    </p:spTree>
    <p:extLst>
      <p:ext uri="{BB962C8B-B14F-4D97-AF65-F5344CB8AC3E}">
        <p14:creationId xmlns:p14="http://schemas.microsoft.com/office/powerpoint/2010/main" val="68100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a:solidFill>
                  <a:srgbClr val="0070C0"/>
                </a:solidFill>
                <a:latin typeface="RobotoCondensed"/>
              </a:rPr>
              <a:t>4</a:t>
            </a:r>
            <a:r>
              <a:rPr lang="en-US" sz="3600" b="1" i="0">
                <a:solidFill>
                  <a:srgbClr val="0070C0"/>
                </a:solidFill>
                <a:effectLst/>
                <a:latin typeface="RobotoCondensed"/>
              </a:rPr>
              <a:t>. Using Elasticsearch UI With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1766812" cy="584775"/>
          </a:xfrm>
          <a:prstGeom prst="rect">
            <a:avLst/>
          </a:prstGeom>
          <a:noFill/>
        </p:spPr>
        <p:txBody>
          <a:bodyPr wrap="square">
            <a:spAutoFit/>
          </a:bodyPr>
          <a:lstStyle/>
          <a:p>
            <a:pPr marL="457200" indent="-457200" algn="l">
              <a:buFont typeface="Arial" panose="020B0604020202020204" pitchFamily="34" charset="0"/>
              <a:buChar char="•"/>
            </a:pPr>
            <a:r>
              <a:rPr lang="en-US" sz="3200">
                <a:solidFill>
                  <a:srgbClr val="212529"/>
                </a:solidFill>
                <a:highlight>
                  <a:srgbClr val="FFFFFF"/>
                </a:highlight>
                <a:latin typeface="RobotoCondensed"/>
              </a:rPr>
              <a:t>Add data index vào mục Discover để tìm kiếm trên giao diện</a:t>
            </a:r>
            <a:endParaRPr lang="en-US" sz="320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0D9DDC83-174F-95CC-EC6C-73E1122960B8}"/>
              </a:ext>
            </a:extLst>
          </p:cNvPr>
          <p:cNvPicPr>
            <a:picLocks noChangeAspect="1"/>
          </p:cNvPicPr>
          <p:nvPr/>
        </p:nvPicPr>
        <p:blipFill>
          <a:blip r:embed="rId3"/>
          <a:stretch>
            <a:fillRect/>
          </a:stretch>
        </p:blipFill>
        <p:spPr>
          <a:xfrm>
            <a:off x="1523266" y="3914814"/>
            <a:ext cx="15287625" cy="5514975"/>
          </a:xfrm>
          <a:prstGeom prst="rect">
            <a:avLst/>
          </a:prstGeom>
        </p:spPr>
      </p:pic>
    </p:spTree>
    <p:extLst>
      <p:ext uri="{BB962C8B-B14F-4D97-AF65-F5344CB8AC3E}">
        <p14:creationId xmlns:p14="http://schemas.microsoft.com/office/powerpoint/2010/main" val="2052225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a:solidFill>
                  <a:srgbClr val="0070C0"/>
                </a:solidFill>
                <a:latin typeface="RobotoCondensed"/>
              </a:rPr>
              <a:t>4</a:t>
            </a:r>
            <a:r>
              <a:rPr lang="en-US" sz="3600" b="1" i="0">
                <a:solidFill>
                  <a:srgbClr val="0070C0"/>
                </a:solidFill>
                <a:effectLst/>
                <a:latin typeface="RobotoCondensed"/>
              </a:rPr>
              <a:t>. Using Elasticsearch UI With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9" y="2354337"/>
            <a:ext cx="11766812" cy="584775"/>
          </a:xfrm>
          <a:prstGeom prst="rect">
            <a:avLst/>
          </a:prstGeom>
          <a:noFill/>
        </p:spPr>
        <p:txBody>
          <a:bodyPr wrap="square">
            <a:spAutoFit/>
          </a:bodyPr>
          <a:lstStyle/>
          <a:p>
            <a:pPr marL="457200" indent="-457200" algn="l">
              <a:buFont typeface="Arial" panose="020B0604020202020204" pitchFamily="34" charset="0"/>
              <a:buChar char="•"/>
            </a:pPr>
            <a:r>
              <a:rPr lang="en-US" sz="3200">
                <a:solidFill>
                  <a:srgbClr val="212529"/>
                </a:solidFill>
                <a:highlight>
                  <a:srgbClr val="FFFFFF"/>
                </a:highlight>
                <a:latin typeface="RobotoCondensed"/>
              </a:rPr>
              <a:t>Chọn Create a data view</a:t>
            </a:r>
            <a:endParaRPr lang="en-US" sz="3200" i="0">
              <a:solidFill>
                <a:srgbClr val="212529"/>
              </a:solidFill>
              <a:effectLst/>
              <a:highlight>
                <a:srgbClr val="FFFFFF"/>
              </a:highlight>
              <a:latin typeface="RobotoCondensed"/>
            </a:endParaRPr>
          </a:p>
        </p:txBody>
      </p:sp>
      <p:pic>
        <p:nvPicPr>
          <p:cNvPr id="3" name="Picture 2">
            <a:extLst>
              <a:ext uri="{FF2B5EF4-FFF2-40B4-BE49-F238E27FC236}">
                <a16:creationId xmlns:a16="http://schemas.microsoft.com/office/drawing/2014/main" id="{247AB353-4F19-991C-763D-909C22915D5B}"/>
              </a:ext>
            </a:extLst>
          </p:cNvPr>
          <p:cNvPicPr>
            <a:picLocks noChangeAspect="1"/>
          </p:cNvPicPr>
          <p:nvPr/>
        </p:nvPicPr>
        <p:blipFill>
          <a:blip r:embed="rId3"/>
          <a:stretch>
            <a:fillRect/>
          </a:stretch>
        </p:blipFill>
        <p:spPr>
          <a:xfrm>
            <a:off x="1575955" y="4219574"/>
            <a:ext cx="16381638" cy="6337589"/>
          </a:xfrm>
          <a:prstGeom prst="rect">
            <a:avLst/>
          </a:prstGeom>
        </p:spPr>
      </p:pic>
    </p:spTree>
    <p:extLst>
      <p:ext uri="{BB962C8B-B14F-4D97-AF65-F5344CB8AC3E}">
        <p14:creationId xmlns:p14="http://schemas.microsoft.com/office/powerpoint/2010/main" val="3204889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a:solidFill>
                  <a:srgbClr val="0070C0"/>
                </a:solidFill>
                <a:latin typeface="RobotoCondensed"/>
              </a:rPr>
              <a:t>4</a:t>
            </a:r>
            <a:r>
              <a:rPr lang="en-US" sz="3600" b="1" i="0">
                <a:solidFill>
                  <a:srgbClr val="0070C0"/>
                </a:solidFill>
                <a:effectLst/>
                <a:latin typeface="RobotoCondensed"/>
              </a:rPr>
              <a:t>. Using Elasticsearch UI With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354337"/>
            <a:ext cx="10727721" cy="584775"/>
          </a:xfrm>
          <a:prstGeom prst="rect">
            <a:avLst/>
          </a:prstGeom>
          <a:noFill/>
        </p:spPr>
        <p:txBody>
          <a:bodyPr wrap="square">
            <a:spAutoFit/>
          </a:bodyPr>
          <a:lstStyle/>
          <a:p>
            <a:pPr marL="457200" indent="-457200" algn="l">
              <a:buFont typeface="Arial" panose="020B0604020202020204" pitchFamily="34" charset="0"/>
              <a:buChar char="•"/>
            </a:pPr>
            <a:r>
              <a:rPr lang="en-US" sz="3200">
                <a:solidFill>
                  <a:srgbClr val="212529"/>
                </a:solidFill>
                <a:highlight>
                  <a:srgbClr val="FFFFFF"/>
                </a:highlight>
                <a:latin typeface="RobotoCondensed"/>
              </a:rPr>
              <a:t>Điền thông tin giống với index đã tạo ở bước trước</a:t>
            </a:r>
            <a:endParaRPr lang="en-US" sz="320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A8DA7C1E-09F4-3DE4-7437-172F5C1F0DDC}"/>
              </a:ext>
            </a:extLst>
          </p:cNvPr>
          <p:cNvPicPr>
            <a:picLocks noChangeAspect="1"/>
          </p:cNvPicPr>
          <p:nvPr/>
        </p:nvPicPr>
        <p:blipFill>
          <a:blip r:embed="rId3"/>
          <a:stretch>
            <a:fillRect/>
          </a:stretch>
        </p:blipFill>
        <p:spPr>
          <a:xfrm>
            <a:off x="1483001" y="3269672"/>
            <a:ext cx="15327890" cy="9217271"/>
          </a:xfrm>
          <a:prstGeom prst="rect">
            <a:avLst/>
          </a:prstGeom>
        </p:spPr>
      </p:pic>
    </p:spTree>
    <p:extLst>
      <p:ext uri="{BB962C8B-B14F-4D97-AF65-F5344CB8AC3E}">
        <p14:creationId xmlns:p14="http://schemas.microsoft.com/office/powerpoint/2010/main" val="3701429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a:solidFill>
                  <a:srgbClr val="0070C0"/>
                </a:solidFill>
                <a:latin typeface="RobotoCondensed"/>
              </a:rPr>
              <a:t>4</a:t>
            </a:r>
            <a:r>
              <a:rPr lang="en-US" sz="3600" b="1" i="0">
                <a:solidFill>
                  <a:srgbClr val="0070C0"/>
                </a:solidFill>
                <a:effectLst/>
                <a:latin typeface="RobotoCondensed"/>
              </a:rPr>
              <a:t>. Using Elasticsearch UI With Kibana</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354337"/>
            <a:ext cx="10727721" cy="584775"/>
          </a:xfrm>
          <a:prstGeom prst="rect">
            <a:avLst/>
          </a:prstGeom>
          <a:noFill/>
        </p:spPr>
        <p:txBody>
          <a:bodyPr wrap="square">
            <a:spAutoFit/>
          </a:bodyPr>
          <a:lstStyle/>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Kiểm tra tìm kiếm từ giao diện kibana</a:t>
            </a:r>
          </a:p>
        </p:txBody>
      </p:sp>
      <p:pic>
        <p:nvPicPr>
          <p:cNvPr id="3" name="Picture 2">
            <a:extLst>
              <a:ext uri="{FF2B5EF4-FFF2-40B4-BE49-F238E27FC236}">
                <a16:creationId xmlns:a16="http://schemas.microsoft.com/office/drawing/2014/main" id="{19056FBF-3D22-771C-2444-F2558758551F}"/>
              </a:ext>
            </a:extLst>
          </p:cNvPr>
          <p:cNvPicPr>
            <a:picLocks noChangeAspect="1"/>
          </p:cNvPicPr>
          <p:nvPr/>
        </p:nvPicPr>
        <p:blipFill>
          <a:blip r:embed="rId3"/>
          <a:stretch>
            <a:fillRect/>
          </a:stretch>
        </p:blipFill>
        <p:spPr>
          <a:xfrm>
            <a:off x="1561261" y="3789288"/>
            <a:ext cx="19719322" cy="7572375"/>
          </a:xfrm>
          <a:prstGeom prst="rect">
            <a:avLst/>
          </a:prstGeom>
        </p:spPr>
      </p:pic>
    </p:spTree>
    <p:extLst>
      <p:ext uri="{BB962C8B-B14F-4D97-AF65-F5344CB8AC3E}">
        <p14:creationId xmlns:p14="http://schemas.microsoft.com/office/powerpoint/2010/main" val="4131716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i="0">
                <a:solidFill>
                  <a:srgbClr val="0070C0"/>
                </a:solidFill>
                <a:effectLst/>
                <a:latin typeface="RobotoCondensed"/>
              </a:rPr>
              <a:t>5. Elasticsearch Query Basic</a:t>
            </a:r>
            <a:endParaRPr lang="vi-VN" sz="3600" b="1" i="0">
              <a:solidFill>
                <a:srgbClr val="0070C0"/>
              </a:solidFill>
              <a:effectLst/>
              <a:latin typeface="RobotoCondensed"/>
            </a:endParaRPr>
          </a:p>
        </p:txBody>
      </p:sp>
      <p:sp>
        <p:nvSpPr>
          <p:cNvPr id="2" name="TextBox 1">
            <a:extLst>
              <a:ext uri="{FF2B5EF4-FFF2-40B4-BE49-F238E27FC236}">
                <a16:creationId xmlns:a16="http://schemas.microsoft.com/office/drawing/2014/main" id="{1C5AE4C4-34E6-8FAF-127D-C44485DA8E29}"/>
              </a:ext>
            </a:extLst>
          </p:cNvPr>
          <p:cNvSpPr txBox="1"/>
          <p:nvPr/>
        </p:nvSpPr>
        <p:spPr>
          <a:xfrm>
            <a:off x="1464278" y="2354337"/>
            <a:ext cx="6017177" cy="584775"/>
          </a:xfrm>
          <a:prstGeom prst="rect">
            <a:avLst/>
          </a:prstGeom>
          <a:noFill/>
        </p:spPr>
        <p:txBody>
          <a:bodyPr wrap="square">
            <a:spAutoFit/>
          </a:bodyPr>
          <a:lstStyle/>
          <a:p>
            <a:pPr marL="457200" indent="-457200" algn="l">
              <a:buFont typeface="Arial" panose="020B0604020202020204" pitchFamily="34" charset="0"/>
              <a:buChar char="•"/>
            </a:pPr>
            <a:r>
              <a:rPr lang="en-US" sz="3200">
                <a:solidFill>
                  <a:srgbClr val="212529"/>
                </a:solidFill>
                <a:highlight>
                  <a:srgbClr val="FFFFFF"/>
                </a:highlight>
                <a:latin typeface="RobotoCondensed"/>
              </a:rPr>
              <a:t>Insert multiple documents</a:t>
            </a:r>
            <a:endParaRPr lang="en-US" sz="3200" i="0">
              <a:solidFill>
                <a:srgbClr val="212529"/>
              </a:solidFill>
              <a:effectLst/>
              <a:highlight>
                <a:srgbClr val="FFFFFF"/>
              </a:highlight>
              <a:latin typeface="RobotoCondensed"/>
            </a:endParaRPr>
          </a:p>
        </p:txBody>
      </p:sp>
      <p:pic>
        <p:nvPicPr>
          <p:cNvPr id="6" name="Picture 5">
            <a:extLst>
              <a:ext uri="{FF2B5EF4-FFF2-40B4-BE49-F238E27FC236}">
                <a16:creationId xmlns:a16="http://schemas.microsoft.com/office/drawing/2014/main" id="{FD9FAF0F-BFE7-8FBA-C237-C7B4554A2F69}"/>
              </a:ext>
            </a:extLst>
          </p:cNvPr>
          <p:cNvPicPr>
            <a:picLocks noChangeAspect="1"/>
          </p:cNvPicPr>
          <p:nvPr/>
        </p:nvPicPr>
        <p:blipFill>
          <a:blip r:embed="rId3"/>
          <a:stretch>
            <a:fillRect/>
          </a:stretch>
        </p:blipFill>
        <p:spPr>
          <a:xfrm>
            <a:off x="1578119" y="3343275"/>
            <a:ext cx="19789458" cy="7698798"/>
          </a:xfrm>
          <a:prstGeom prst="rect">
            <a:avLst/>
          </a:prstGeom>
        </p:spPr>
      </p:pic>
    </p:spTree>
    <p:extLst>
      <p:ext uri="{BB962C8B-B14F-4D97-AF65-F5344CB8AC3E}">
        <p14:creationId xmlns:p14="http://schemas.microsoft.com/office/powerpoint/2010/main" val="720056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i="0">
                <a:solidFill>
                  <a:srgbClr val="0070C0"/>
                </a:solidFill>
                <a:effectLst/>
                <a:latin typeface="RobotoCondensed"/>
              </a:rPr>
              <a:t>5. Elasticsearch Query Basic</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354337"/>
            <a:ext cx="14662413" cy="1077218"/>
          </a:xfrm>
          <a:prstGeom prst="rect">
            <a:avLst/>
          </a:prstGeom>
          <a:noFill/>
        </p:spPr>
        <p:txBody>
          <a:bodyPr wrap="square">
            <a:spAutoFit/>
          </a:bodyPr>
          <a:lstStyle/>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Kiểm tra tất cả những bản ghi trong index vừa được them (getAll)</a:t>
            </a:r>
          </a:p>
          <a:p>
            <a:pPr marL="457200" indent="-457200" algn="l">
              <a:buFont typeface="Arial" panose="020B0604020202020204" pitchFamily="34" charset="0"/>
              <a:buChar char="•"/>
            </a:pPr>
            <a:r>
              <a:rPr lang="en-US" sz="3200">
                <a:solidFill>
                  <a:srgbClr val="212529"/>
                </a:solidFill>
                <a:highlight>
                  <a:srgbClr val="FFFFFF"/>
                </a:highlight>
                <a:latin typeface="RobotoCondensed"/>
              </a:rPr>
              <a:t>Kết quả là có tất cả 4 bản ghi đã được thêm vào index micro-services</a:t>
            </a:r>
            <a:endParaRPr lang="en-US" sz="3200" i="0">
              <a:solidFill>
                <a:srgbClr val="212529"/>
              </a:solidFill>
              <a:effectLst/>
              <a:highlight>
                <a:srgbClr val="FFFFFF"/>
              </a:highlight>
              <a:latin typeface="RobotoCondensed"/>
            </a:endParaRPr>
          </a:p>
        </p:txBody>
      </p:sp>
      <p:pic>
        <p:nvPicPr>
          <p:cNvPr id="4" name="Picture 3">
            <a:extLst>
              <a:ext uri="{FF2B5EF4-FFF2-40B4-BE49-F238E27FC236}">
                <a16:creationId xmlns:a16="http://schemas.microsoft.com/office/drawing/2014/main" id="{15D45069-0E7A-4478-E293-342C57EC2AFA}"/>
              </a:ext>
            </a:extLst>
          </p:cNvPr>
          <p:cNvPicPr>
            <a:picLocks noChangeAspect="1"/>
          </p:cNvPicPr>
          <p:nvPr/>
        </p:nvPicPr>
        <p:blipFill>
          <a:blip r:embed="rId3"/>
          <a:stretch>
            <a:fillRect/>
          </a:stretch>
        </p:blipFill>
        <p:spPr>
          <a:xfrm>
            <a:off x="1464278" y="3615171"/>
            <a:ext cx="17907000" cy="7981950"/>
          </a:xfrm>
          <a:prstGeom prst="rect">
            <a:avLst/>
          </a:prstGeom>
        </p:spPr>
      </p:pic>
    </p:spTree>
    <p:extLst>
      <p:ext uri="{BB962C8B-B14F-4D97-AF65-F5344CB8AC3E}">
        <p14:creationId xmlns:p14="http://schemas.microsoft.com/office/powerpoint/2010/main" val="4031944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i="0">
                <a:solidFill>
                  <a:srgbClr val="0070C0"/>
                </a:solidFill>
                <a:effectLst/>
                <a:latin typeface="RobotoCondensed"/>
              </a:rPr>
              <a:t>5. Elasticsearch Query Basic</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354337"/>
            <a:ext cx="14662413" cy="584775"/>
          </a:xfrm>
          <a:prstGeom prst="rect">
            <a:avLst/>
          </a:prstGeom>
          <a:noFill/>
        </p:spPr>
        <p:txBody>
          <a:bodyPr wrap="square">
            <a:spAutoFit/>
          </a:bodyPr>
          <a:lstStyle/>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Thêm mới bản ghi với id xác định trước</a:t>
            </a:r>
          </a:p>
        </p:txBody>
      </p:sp>
      <p:pic>
        <p:nvPicPr>
          <p:cNvPr id="3" name="Picture 2">
            <a:extLst>
              <a:ext uri="{FF2B5EF4-FFF2-40B4-BE49-F238E27FC236}">
                <a16:creationId xmlns:a16="http://schemas.microsoft.com/office/drawing/2014/main" id="{A02C64FA-EE49-C86D-C71F-80C556E5EA9E}"/>
              </a:ext>
            </a:extLst>
          </p:cNvPr>
          <p:cNvPicPr>
            <a:picLocks noChangeAspect="1"/>
          </p:cNvPicPr>
          <p:nvPr/>
        </p:nvPicPr>
        <p:blipFill>
          <a:blip r:embed="rId3"/>
          <a:stretch>
            <a:fillRect/>
          </a:stretch>
        </p:blipFill>
        <p:spPr>
          <a:xfrm>
            <a:off x="1689821" y="3716049"/>
            <a:ext cx="15651659" cy="7367587"/>
          </a:xfrm>
          <a:prstGeom prst="rect">
            <a:avLst/>
          </a:prstGeom>
        </p:spPr>
      </p:pic>
    </p:spTree>
    <p:extLst>
      <p:ext uri="{BB962C8B-B14F-4D97-AF65-F5344CB8AC3E}">
        <p14:creationId xmlns:p14="http://schemas.microsoft.com/office/powerpoint/2010/main" val="1536906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i="0">
                <a:solidFill>
                  <a:srgbClr val="0070C0"/>
                </a:solidFill>
                <a:effectLst/>
                <a:latin typeface="RobotoCondensed"/>
              </a:rPr>
              <a:t>5. Elasticsearch Query Basic</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8" y="2354337"/>
            <a:ext cx="9286850" cy="1077218"/>
          </a:xfrm>
          <a:prstGeom prst="rect">
            <a:avLst/>
          </a:prstGeom>
          <a:noFill/>
        </p:spPr>
        <p:txBody>
          <a:bodyPr wrap="square">
            <a:spAutoFit/>
          </a:bodyPr>
          <a:lstStyle/>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Update bản ghi bằng lệnh PUT</a:t>
            </a:r>
          </a:p>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Lấy bản ghi ra để xem kết quả của lệnh update</a:t>
            </a:r>
          </a:p>
        </p:txBody>
      </p:sp>
      <p:pic>
        <p:nvPicPr>
          <p:cNvPr id="3" name="Picture 2">
            <a:extLst>
              <a:ext uri="{FF2B5EF4-FFF2-40B4-BE49-F238E27FC236}">
                <a16:creationId xmlns:a16="http://schemas.microsoft.com/office/drawing/2014/main" id="{174D4265-6068-45C8-695A-1756EA605F2F}"/>
              </a:ext>
            </a:extLst>
          </p:cNvPr>
          <p:cNvPicPr>
            <a:picLocks noChangeAspect="1"/>
          </p:cNvPicPr>
          <p:nvPr/>
        </p:nvPicPr>
        <p:blipFill>
          <a:blip r:embed="rId3"/>
          <a:stretch>
            <a:fillRect/>
          </a:stretch>
        </p:blipFill>
        <p:spPr>
          <a:xfrm>
            <a:off x="1562532" y="4407257"/>
            <a:ext cx="18446381" cy="7161288"/>
          </a:xfrm>
          <a:prstGeom prst="rect">
            <a:avLst/>
          </a:prstGeom>
        </p:spPr>
      </p:pic>
    </p:spTree>
    <p:extLst>
      <p:ext uri="{BB962C8B-B14F-4D97-AF65-F5344CB8AC3E}">
        <p14:creationId xmlns:p14="http://schemas.microsoft.com/office/powerpoint/2010/main" val="93043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5"/>
          <p:cNvSpPr txBox="1"/>
          <p:nvPr/>
        </p:nvSpPr>
        <p:spPr>
          <a:xfrm>
            <a:off x="1200148" y="571499"/>
            <a:ext cx="15610743" cy="807136"/>
          </a:xfrm>
          <a:prstGeom prst="rect">
            <a:avLst/>
          </a:prstGeom>
          <a:noFill/>
          <a:ln>
            <a:noFill/>
          </a:ln>
        </p:spPr>
        <p:txBody>
          <a:bodyPr spcFirstLastPara="1" wrap="square" lIns="91425" tIns="45700" rIns="91425" bIns="45700" anchor="ctr" anchorCtr="0">
            <a:noAutofit/>
          </a:bodyPr>
          <a:lstStyle/>
          <a:p>
            <a:pPr>
              <a:lnSpc>
                <a:spcPct val="90000"/>
              </a:lnSpc>
              <a:buClr>
                <a:srgbClr val="0079BF"/>
              </a:buClr>
              <a:buSzPts val="4400"/>
            </a:pPr>
            <a:r>
              <a:rPr lang="en-US" sz="6000" b="1">
                <a:solidFill>
                  <a:srgbClr val="0079BF"/>
                </a:solidFill>
                <a:latin typeface="RobotoCondensed"/>
                <a:ea typeface="Helvetica Neue"/>
                <a:cs typeface="Helvetica Neue"/>
                <a:sym typeface="Helvetica Neue"/>
              </a:rPr>
              <a:t>Centralised Log Analyses</a:t>
            </a:r>
            <a:endParaRPr lang="en-US" sz="6000" b="1" i="0" u="none" strike="noStrike" cap="none">
              <a:solidFill>
                <a:srgbClr val="0079BF"/>
              </a:solidFill>
              <a:latin typeface="RobotoCondensed"/>
              <a:ea typeface="Helvetica Neue"/>
              <a:cs typeface="Helvetica Neue"/>
              <a:sym typeface="Helvetica Neue"/>
            </a:endParaRPr>
          </a:p>
        </p:txBody>
      </p:sp>
      <p:sp>
        <p:nvSpPr>
          <p:cNvPr id="5" name="TextBox 4">
            <a:extLst>
              <a:ext uri="{FF2B5EF4-FFF2-40B4-BE49-F238E27FC236}">
                <a16:creationId xmlns:a16="http://schemas.microsoft.com/office/drawing/2014/main" id="{4D00B998-5E6F-A346-3709-1135AADE12D3}"/>
              </a:ext>
            </a:extLst>
          </p:cNvPr>
          <p:cNvSpPr txBox="1"/>
          <p:nvPr/>
        </p:nvSpPr>
        <p:spPr>
          <a:xfrm>
            <a:off x="1200149" y="1564634"/>
            <a:ext cx="10991851" cy="646331"/>
          </a:xfrm>
          <a:prstGeom prst="rect">
            <a:avLst/>
          </a:prstGeom>
          <a:noFill/>
        </p:spPr>
        <p:txBody>
          <a:bodyPr wrap="square">
            <a:spAutoFit/>
          </a:bodyPr>
          <a:lstStyle/>
          <a:p>
            <a:pPr algn="l"/>
            <a:r>
              <a:rPr lang="en-US" sz="3600" b="1" i="0">
                <a:solidFill>
                  <a:srgbClr val="0070C0"/>
                </a:solidFill>
                <a:effectLst/>
                <a:latin typeface="RobotoCondensed"/>
              </a:rPr>
              <a:t>5. Elasticsearch Query Basic</a:t>
            </a:r>
            <a:endParaRPr lang="vi-VN" sz="3600" b="1" i="0">
              <a:solidFill>
                <a:srgbClr val="0070C0"/>
              </a:solidFill>
              <a:effectLst/>
              <a:latin typeface="RobotoCondensed"/>
            </a:endParaRPr>
          </a:p>
        </p:txBody>
      </p:sp>
      <p:sp>
        <p:nvSpPr>
          <p:cNvPr id="7" name="TextBox 6">
            <a:extLst>
              <a:ext uri="{FF2B5EF4-FFF2-40B4-BE49-F238E27FC236}">
                <a16:creationId xmlns:a16="http://schemas.microsoft.com/office/drawing/2014/main" id="{3260D5E6-DDF1-A28C-12AF-DA82C4394BC1}"/>
              </a:ext>
            </a:extLst>
          </p:cNvPr>
          <p:cNvSpPr txBox="1"/>
          <p:nvPr/>
        </p:nvSpPr>
        <p:spPr>
          <a:xfrm>
            <a:off x="1464277" y="2354337"/>
            <a:ext cx="10991851" cy="1077218"/>
          </a:xfrm>
          <a:prstGeom prst="rect">
            <a:avLst/>
          </a:prstGeom>
          <a:noFill/>
        </p:spPr>
        <p:txBody>
          <a:bodyPr wrap="square">
            <a:spAutoFit/>
          </a:bodyPr>
          <a:lstStyle/>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Xóa bản ghi bằng lệnh DELETE</a:t>
            </a:r>
          </a:p>
          <a:p>
            <a:pPr marL="457200" indent="-457200" algn="l">
              <a:buFont typeface="Arial" panose="020B0604020202020204" pitchFamily="34" charset="0"/>
              <a:buChar char="•"/>
            </a:pPr>
            <a:r>
              <a:rPr lang="en-US" sz="3200" i="0">
                <a:solidFill>
                  <a:srgbClr val="212529"/>
                </a:solidFill>
                <a:effectLst/>
                <a:highlight>
                  <a:srgbClr val="FFFFFF"/>
                </a:highlight>
                <a:latin typeface="RobotoCondensed"/>
              </a:rPr>
              <a:t>Lấy bản ghi ra để xem kết quả của lệnh DELETE</a:t>
            </a:r>
          </a:p>
        </p:txBody>
      </p:sp>
      <p:pic>
        <p:nvPicPr>
          <p:cNvPr id="8" name="Picture 7">
            <a:extLst>
              <a:ext uri="{FF2B5EF4-FFF2-40B4-BE49-F238E27FC236}">
                <a16:creationId xmlns:a16="http://schemas.microsoft.com/office/drawing/2014/main" id="{2726BAD8-06E1-834E-AFE0-FDF47F42661A}"/>
              </a:ext>
            </a:extLst>
          </p:cNvPr>
          <p:cNvPicPr>
            <a:picLocks noChangeAspect="1"/>
          </p:cNvPicPr>
          <p:nvPr/>
        </p:nvPicPr>
        <p:blipFill>
          <a:blip r:embed="rId3"/>
          <a:stretch>
            <a:fillRect/>
          </a:stretch>
        </p:blipFill>
        <p:spPr>
          <a:xfrm>
            <a:off x="1619683" y="4385830"/>
            <a:ext cx="16544925" cy="6800850"/>
          </a:xfrm>
          <a:prstGeom prst="rect">
            <a:avLst/>
          </a:prstGeom>
        </p:spPr>
      </p:pic>
    </p:spTree>
    <p:extLst>
      <p:ext uri="{BB962C8B-B14F-4D97-AF65-F5344CB8AC3E}">
        <p14:creationId xmlns:p14="http://schemas.microsoft.com/office/powerpoint/2010/main" val="2482612683"/>
      </p:ext>
    </p:extLst>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22159</TotalTime>
  <Words>1684</Words>
  <Application>Microsoft Office PowerPoint</Application>
  <PresentationFormat>Custom</PresentationFormat>
  <Paragraphs>146</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Meiryo</vt:lpstr>
      <vt:lpstr>Arial</vt:lpstr>
      <vt:lpstr>Calibri</vt:lpstr>
      <vt:lpstr>Helvetica Neue</vt:lpstr>
      <vt:lpstr>Helvetica Neue Light</vt:lpstr>
      <vt:lpstr>Noto Sans Symbols</vt:lpstr>
      <vt:lpstr>RobotoCondensed</vt:lpstr>
      <vt:lpstr>White</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Anh Quan (VTI.GA)</dc:creator>
  <cp:lastModifiedBy>Nam. Phạm Viết -  FS</cp:lastModifiedBy>
  <cp:revision>380</cp:revision>
  <dcterms:modified xsi:type="dcterms:W3CDTF">2024-06-09T08:08:39Z</dcterms:modified>
</cp:coreProperties>
</file>