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524" r:id="rId2"/>
    <p:sldId id="525" r:id="rId3"/>
    <p:sldId id="419" r:id="rId4"/>
    <p:sldId id="420" r:id="rId5"/>
    <p:sldId id="507" r:id="rId6"/>
    <p:sldId id="506" r:id="rId7"/>
    <p:sldId id="508" r:id="rId8"/>
    <p:sldId id="502" r:id="rId9"/>
    <p:sldId id="505" r:id="rId10"/>
    <p:sldId id="509" r:id="rId11"/>
    <p:sldId id="510" r:id="rId12"/>
    <p:sldId id="496" r:id="rId13"/>
    <p:sldId id="520" r:id="rId14"/>
    <p:sldId id="521" r:id="rId15"/>
    <p:sldId id="511" r:id="rId16"/>
    <p:sldId id="518" r:id="rId17"/>
    <p:sldId id="517" r:id="rId18"/>
    <p:sldId id="519" r:id="rId19"/>
    <p:sldId id="522" r:id="rId20"/>
    <p:sldId id="523" r:id="rId21"/>
    <p:sldId id="512" r:id="rId22"/>
    <p:sldId id="503" r:id="rId23"/>
    <p:sldId id="421" r:id="rId24"/>
    <p:sldId id="516" r:id="rId25"/>
    <p:sldId id="501" r:id="rId26"/>
    <p:sldId id="342" r:id="rId27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82" autoAdjust="0"/>
    <p:restoredTop sz="87958" autoAdjust="0"/>
  </p:normalViewPr>
  <p:slideViewPr>
    <p:cSldViewPr snapToGrid="0" snapToObjects="1">
      <p:cViewPr varScale="1">
        <p:scale>
          <a:sx n="21" d="100"/>
          <a:sy n="21" d="100"/>
        </p:scale>
        <p:origin x="67" y="739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74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26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12/14/2023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Pakage 1: Database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Lesson 7</a:t>
            </a:r>
          </a:p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4435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Session &amp; Connection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Variable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Trigger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Index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CASE WHEN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141857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Connection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3732276"/>
            <a:ext cx="11042858" cy="604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5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Session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2829688" y="22208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A session is just a result of a successful connection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343" y="3549121"/>
            <a:ext cx="18846550" cy="534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24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2479274" cy="75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Variable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2829688" y="22208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User-defined variable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System variable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565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7576948" cy="55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User-defined variable</a:t>
            </a: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2829688" y="1865226"/>
            <a:ext cx="1648142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sz="3000" b="1" dirty="0"/>
              <a:t>Local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000" dirty="0"/>
              <a:t> A scope variable that can only be used in functions, store procedures and triggers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n-US" sz="3000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sz="3000" b="1" dirty="0"/>
              <a:t>Global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000" dirty="0"/>
              <a:t> A scope variable that can be used in all SQL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n-US" sz="3000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sz="3000" b="1" dirty="0"/>
              <a:t>Session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000" dirty="0"/>
              <a:t> A scope variable that can only be used in a session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sz="3000" dirty="0"/>
          </a:p>
          <a:p>
            <a:pPr hangingPunct="1">
              <a:buFont typeface="Wingdings" panose="05000000000000000000" pitchFamily="2" charset="2"/>
              <a:buChar char="Ø"/>
            </a:pPr>
            <a:endParaRPr lang="en-US" sz="3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597" y="4072685"/>
            <a:ext cx="7805557" cy="65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597" y="7607300"/>
            <a:ext cx="8336756" cy="10287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2597" y="11112500"/>
            <a:ext cx="8336756" cy="105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5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sz="6000" dirty="0">
                <a:solidFill>
                  <a:schemeClr val="accent1">
                    <a:lumMod val="75000"/>
                  </a:schemeClr>
                </a:solidFill>
                <a:ea typeface="ＭＳ Ｐゴシック" charset="0"/>
                <a:cs typeface="League Gothic" charset="0"/>
                <a:sym typeface="League Gothic" charset="0"/>
              </a:rPr>
              <a:t>System variable</a:t>
            </a: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677288" y="2068426"/>
            <a:ext cx="19827112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A variable whose scope can be used in all SQL (created by SQL).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The system variable can only be session or global </a:t>
            </a:r>
          </a:p>
          <a:p>
            <a:pPr hangingPunct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820" y="4686924"/>
            <a:ext cx="14536780" cy="72256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869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Trigger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2677288" y="2068426"/>
            <a:ext cx="20716112" cy="959017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 Trigger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 Automatically execute SQL commands or Store Procedure BEFORE | AFTER the INSERT, UPDATE, or DELETE commands.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 Trigger is a special type of Store Procedure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 Aim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 Checking the integrity, logical errors of the database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 Checking constraints, complex default values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 Controlling changes to data in a table</a:t>
            </a:r>
          </a:p>
        </p:txBody>
      </p:sp>
    </p:spTree>
    <p:extLst>
      <p:ext uri="{BB962C8B-B14F-4D97-AF65-F5344CB8AC3E}">
        <p14:creationId xmlns:p14="http://schemas.microsoft.com/office/powerpoint/2010/main" val="3547875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Trigger Type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 descr="Sự khác nhau của các loại SQL trigger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110" y="2893906"/>
            <a:ext cx="11015290" cy="70120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4130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616688" y="571498"/>
            <a:ext cx="1839432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DML Trigger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677288" y="2068426"/>
            <a:ext cx="20716112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285750" lvl="0" indent="-285750" defTabSz="914400" hangingPunct="1">
              <a:spcBef>
                <a:spcPts val="0"/>
              </a:spcBef>
              <a:buSzTx/>
              <a:buFont typeface="Wingdings" panose="05000000000000000000" pitchFamily="2" charset="2"/>
              <a:buChar char="Ø"/>
            </a:pPr>
            <a:r>
              <a:rPr lang="en-US" sz="3600" b="1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Before</a:t>
            </a:r>
          </a:p>
          <a:p>
            <a:pPr marL="285750" lvl="0" indent="-285750" defTabSz="914400" hangingPunct="1">
              <a:spcBef>
                <a:spcPts val="0"/>
              </a:spcBef>
              <a:buSzTx/>
              <a:buFont typeface="Wingdings" panose="05000000000000000000" pitchFamily="2" charset="2"/>
              <a:buChar char="Ø"/>
            </a:pPr>
            <a:endParaRPr lang="en-US" sz="3600" b="1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lvl="0" indent="-285750" defTabSz="914400" hangingPunct="1">
              <a:spcBef>
                <a:spcPts val="0"/>
              </a:spcBef>
              <a:buSzTx/>
              <a:buFont typeface="Wingdings" panose="05000000000000000000" pitchFamily="2" charset="2"/>
              <a:buChar char="Ø"/>
            </a:pPr>
            <a:r>
              <a:rPr lang="en-US" sz="3600" b="1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 After</a:t>
            </a:r>
          </a:p>
          <a:p>
            <a:pPr marL="285750" lvl="0" indent="-285750" defTabSz="914400" hangingPunct="1">
              <a:spcBef>
                <a:spcPts val="0"/>
              </a:spcBef>
              <a:buSzTx/>
              <a:buFont typeface="Wingdings" panose="05000000000000000000" pitchFamily="2" charset="2"/>
              <a:buChar char="Ø"/>
            </a:pPr>
            <a:endParaRPr lang="en-US" sz="36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742950" lvl="1" indent="-285750" defTabSz="914400" hangingPunct="1">
              <a:spcBef>
                <a:spcPts val="0"/>
              </a:spcBef>
              <a:buSzTx/>
              <a:buFont typeface="Courier New" panose="02070309020205020404" pitchFamily="49" charset="0"/>
              <a:buChar char="o"/>
            </a:pPr>
            <a:endParaRPr lang="en-US" sz="36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8312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Syntax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4454" y="2256143"/>
            <a:ext cx="19503434" cy="8894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/>
              <a:t>Create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  <a:p>
            <a:pPr algn="l"/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/>
              <a:t> Disable / Enable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/>
              <a:t> Drop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293" y="9214350"/>
            <a:ext cx="7172360" cy="6154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293" y="3113307"/>
            <a:ext cx="10371501" cy="43081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750" y="11150886"/>
            <a:ext cx="6491252" cy="47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46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4454" y="2256143"/>
            <a:ext cx="1950343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/>
              <a:t> Before </a:t>
            </a:r>
          </a:p>
          <a:p>
            <a:pPr algn="l"/>
            <a:r>
              <a:rPr lang="en-US" sz="4400" b="0" dirty="0"/>
              <a:t>    Verify data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611" y="4671685"/>
            <a:ext cx="16502089" cy="520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31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144454" y="2256143"/>
            <a:ext cx="1950343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/>
              <a:t> After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340" y="3893762"/>
            <a:ext cx="16502089" cy="520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47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1 (Before)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581" y="2563246"/>
            <a:ext cx="18477243" cy="14491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578" y="5632736"/>
            <a:ext cx="21707116" cy="441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17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1 (Before)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618" y="2678131"/>
            <a:ext cx="10003808" cy="822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83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2 (Before)</a:t>
            </a:r>
          </a:p>
        </p:txBody>
      </p:sp>
      <p:pic>
        <p:nvPicPr>
          <p:cNvPr id="1026" name="Picture 2" descr="https://scontent.fhan4-1.fna.fbcdn.net/v/t1.15752-9/93702178_159195318767755_271003554385231872_n.png?_nc_cat=105&amp;_nc_sid=b96e70&amp;_nc_ohc=JKeFJ4V_ffgAX8YR9Yc&amp;_nc_ht=scontent.fhan4-1.fna&amp;oh=f5df398e1d4c4ac58d6c8bfeb6d4ada2&amp;oe=5EBF7E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755" y="2139286"/>
            <a:ext cx="16112556" cy="890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70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2 (Before)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353" y="4991649"/>
            <a:ext cx="21191152" cy="93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61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3 (Before)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838" y="2038161"/>
            <a:ext cx="10617600" cy="976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670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3 (After)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4454" y="2256143"/>
            <a:ext cx="1950343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/>
              <a:t> Delete Question which has id = 6 (without using on delete cascade)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</p:txBody>
      </p:sp>
    </p:spTree>
    <p:extLst>
      <p:ext uri="{BB962C8B-B14F-4D97-AF65-F5344CB8AC3E}">
        <p14:creationId xmlns:p14="http://schemas.microsoft.com/office/powerpoint/2010/main" val="3000791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4454" y="2256143"/>
            <a:ext cx="1950343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/>
              <a:t> Like catalog of books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4400" b="0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4400" b="0" dirty="0"/>
              <a:t> Create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981" y="5248666"/>
            <a:ext cx="18304618" cy="18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77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CASE WHEN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36431" y="2285700"/>
            <a:ext cx="1611994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44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Like switch case in language programming (Java, C, C ++)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44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r>
              <a:rPr lang="en-US" sz="4400" kern="1200" dirty="0">
                <a:solidFill>
                  <a:srgbClr val="44546A"/>
                </a:solidFill>
                <a:latin typeface="Open Sans Light"/>
                <a:ea typeface="+mn-ea"/>
                <a:cs typeface="+mn-cs"/>
              </a:rPr>
              <a:t>Using filter data</a:t>
            </a:r>
          </a:p>
          <a:p>
            <a:pPr marL="285750" indent="-285750" algn="l" defTabSz="914400" hangingPunct="1">
              <a:buFont typeface="Wingdings" panose="05000000000000000000" pitchFamily="2" charset="2"/>
              <a:buChar char="Ø"/>
            </a:pPr>
            <a:endParaRPr lang="en-US" sz="4400" kern="1200" dirty="0">
              <a:solidFill>
                <a:srgbClr val="44546A"/>
              </a:solidFill>
              <a:latin typeface="Open Sans Light"/>
              <a:ea typeface="+mn-ea"/>
              <a:cs typeface="+mn-cs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0" y="4699590"/>
            <a:ext cx="13035516" cy="73789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537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65" y="1483842"/>
            <a:ext cx="9848742" cy="107298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789" y="2053634"/>
            <a:ext cx="13639785" cy="830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64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853" y="2341852"/>
            <a:ext cx="16674082" cy="637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45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937260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Arial" panose="020B0604020202020204" pitchFamily="34" charset="0"/>
              </a:rPr>
              <a:t>Assignments 2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105026" y="2022302"/>
            <a:ext cx="21901784" cy="95901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/>
              <a:t>Assignments for Testing System</a:t>
            </a:r>
          </a:p>
        </p:txBody>
      </p:sp>
    </p:spTree>
    <p:extLst>
      <p:ext uri="{BB962C8B-B14F-4D97-AF65-F5344CB8AC3E}">
        <p14:creationId xmlns:p14="http://schemas.microsoft.com/office/powerpoint/2010/main" val="3358299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20995</TotalTime>
  <Words>300</Words>
  <Application>Microsoft Office PowerPoint</Application>
  <PresentationFormat>Custom</PresentationFormat>
  <Paragraphs>84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Meiryo</vt:lpstr>
      <vt:lpstr> Arial (Headings)</vt:lpstr>
      <vt:lpstr>Arial</vt:lpstr>
      <vt:lpstr>Arial (Body)</vt:lpstr>
      <vt:lpstr>Calibri</vt:lpstr>
      <vt:lpstr>Courier New</vt:lpstr>
      <vt:lpstr>Helvetica Neue</vt:lpstr>
      <vt:lpstr>Helvetica Neue Light</vt:lpstr>
      <vt:lpstr>Helvetica Neue Medium</vt:lpstr>
      <vt:lpstr>Open Sans Light</vt:lpstr>
      <vt:lpstr>Wingdings</vt:lpstr>
      <vt:lpstr>White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1592</cp:revision>
  <cp:lastPrinted>2019-09-17T11:00:25Z</cp:lastPrinted>
  <dcterms:modified xsi:type="dcterms:W3CDTF">2023-12-14T02:09:15Z</dcterms:modified>
  <cp:category/>
</cp:coreProperties>
</file>