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6" r:id="rId2"/>
    <p:sldId id="503" r:id="rId3"/>
    <p:sldId id="419" r:id="rId4"/>
    <p:sldId id="420" r:id="rId5"/>
    <p:sldId id="479" r:id="rId6"/>
    <p:sldId id="480" r:id="rId7"/>
    <p:sldId id="481" r:id="rId8"/>
    <p:sldId id="482" r:id="rId9"/>
    <p:sldId id="483" r:id="rId10"/>
    <p:sldId id="421" r:id="rId11"/>
    <p:sldId id="484" r:id="rId12"/>
    <p:sldId id="485" r:id="rId13"/>
    <p:sldId id="422" r:id="rId14"/>
    <p:sldId id="423" r:id="rId15"/>
    <p:sldId id="486" r:id="rId16"/>
    <p:sldId id="487" r:id="rId17"/>
    <p:sldId id="489" r:id="rId18"/>
    <p:sldId id="488" r:id="rId19"/>
    <p:sldId id="497" r:id="rId20"/>
    <p:sldId id="500" r:id="rId21"/>
    <p:sldId id="496" r:id="rId22"/>
    <p:sldId id="501" r:id="rId23"/>
    <p:sldId id="502" r:id="rId24"/>
  </p:sldIdLst>
  <p:sldSz cx="24384000" cy="13716000"/>
  <p:notesSz cx="6797675" cy="9929813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B040"/>
    <a:srgbClr val="F25A29"/>
    <a:srgbClr val="F35A29"/>
    <a:srgbClr val="4372C4"/>
    <a:srgbClr val="ED1C24"/>
    <a:srgbClr val="E4C622"/>
    <a:srgbClr val="B9D532"/>
    <a:srgbClr val="7BC242"/>
    <a:srgbClr val="E4C721"/>
    <a:srgbClr val="45B7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682" autoAdjust="0"/>
    <p:restoredTop sz="68750" autoAdjust="0"/>
  </p:normalViewPr>
  <p:slideViewPr>
    <p:cSldViewPr snapToGrid="0" snapToObjects="1">
      <p:cViewPr varScale="1">
        <p:scale>
          <a:sx n="40" d="100"/>
          <a:sy n="40" d="100"/>
        </p:scale>
        <p:origin x="403" y="58"/>
      </p:cViewPr>
      <p:guideLst>
        <p:guide orient="horz" pos="4320"/>
        <p:guide pos="7680"/>
      </p:guideLst>
    </p:cSldViewPr>
  </p:slideViewPr>
  <p:outlineViewPr>
    <p:cViewPr>
      <p:scale>
        <a:sx n="33" d="100"/>
        <a:sy n="33" d="100"/>
      </p:scale>
      <p:origin x="0" y="-932"/>
    </p:cViewPr>
  </p:outlin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C9682A-6338-40E2-9ACD-2A3FF92BB3F1}" type="datetime1">
              <a:rPr lang="en-US" smtClean="0"/>
              <a:t>12/14/2023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AC4568-2AE6-42F2-B295-3769A765E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770683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sz="quarter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3044357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8362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745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071722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FA04767-AA7B-4F3E-BCFB-179D9E0CC0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017132" y="859479"/>
            <a:ext cx="2950192" cy="113183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9C049C43-2C50-4372-822C-DA510E94A2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5794390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820083" y="13156977"/>
            <a:ext cx="6743833" cy="482823"/>
          </a:xfrm>
        </p:spPr>
        <p:txBody>
          <a:bodyPr/>
          <a:lstStyle>
            <a:lvl1pPr>
              <a:defRPr sz="220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r>
              <a:rPr lang="vi-VN" dirty="0">
                <a:solidFill>
                  <a:schemeClr val="bg1"/>
                </a:solidFill>
              </a:rPr>
              <a:t>Copyright </a:t>
            </a:r>
            <a:r>
              <a:rPr lang="de-DE" i="1" dirty="0">
                <a:solidFill>
                  <a:schemeClr val="bg1"/>
                </a:solidFill>
              </a:rPr>
              <a:t>© </a:t>
            </a:r>
            <a:r>
              <a:rPr lang="de-DE" dirty="0">
                <a:solidFill>
                  <a:schemeClr val="bg1"/>
                </a:solidFill>
              </a:rPr>
              <a:t>VTI Academy All Right Reserved</a:t>
            </a:r>
            <a:r>
              <a:rPr lang="vi-VN" dirty="0">
                <a:solidFill>
                  <a:schemeClr val="bg1"/>
                </a:solidFill>
              </a:rPr>
              <a:t> </a:t>
            </a:r>
            <a:endParaRPr lang="uk-UA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23;p3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w="19050" cap="flat" cmpd="sng">
            <a:solidFill>
              <a:srgbClr val="3C5A9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3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r>
              <a:rPr lang="vi-VN" dirty="0">
                <a:solidFill>
                  <a:schemeClr val="bg1"/>
                </a:solidFill>
              </a:rPr>
              <a:t>Copyright </a:t>
            </a:r>
            <a:r>
              <a:rPr lang="de-DE" i="1" dirty="0">
                <a:solidFill>
                  <a:schemeClr val="bg1"/>
                </a:solidFill>
              </a:rPr>
              <a:t>© </a:t>
            </a:r>
            <a:r>
              <a:rPr lang="de-DE" dirty="0">
                <a:solidFill>
                  <a:schemeClr val="bg1"/>
                </a:solidFill>
              </a:rPr>
              <a:t>VTI Academy All Right Reserved</a:t>
            </a:r>
            <a:r>
              <a:rPr lang="vi-VN" dirty="0">
                <a:solidFill>
                  <a:schemeClr val="bg1"/>
                </a:solidFill>
              </a:rPr>
              <a:t> </a:t>
            </a:r>
            <a:endParaRPr lang="uk-UA" dirty="0">
              <a:solidFill>
                <a:schemeClr val="bg1"/>
              </a:solidFill>
            </a:endParaRPr>
          </a:p>
        </p:txBody>
      </p:sp>
      <p:cxnSp>
        <p:nvCxnSpPr>
          <p:cNvPr id="26" name="Google Shape;26;p3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7" name="Google Shape;27;p3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BF365656-3C2C-401A-A261-7849E1DCB5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2276" y="-25180"/>
            <a:ext cx="5131724" cy="143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871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8701658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4B674F-1420-4DF2-8459-B3931B4964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06980E3F-CE96-4267-B841-15E317674931}" type="datetimeFigureOut">
              <a:rPr lang="en-US" smtClean="0"/>
              <a:t>12/14/2023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EB1A97-058D-4695-BDEE-1CB388B84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E0EE83-65C2-45C2-B15E-F5BF3C6B9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62817" y="13073062"/>
            <a:ext cx="448840" cy="482823"/>
          </a:xfrm>
        </p:spPr>
        <p:txBody>
          <a:bodyPr/>
          <a:lstStyle/>
          <a:p>
            <a:fld id="{76CA7329-12AB-4100-8DDD-19BE59417CE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0641B02-D364-4240-835E-FF32F0F89CB6}"/>
              </a:ext>
            </a:extLst>
          </p:cNvPr>
          <p:cNvCxnSpPr/>
          <p:nvPr userDrawn="1"/>
        </p:nvCxnSpPr>
        <p:spPr>
          <a:xfrm>
            <a:off x="1845217" y="1893677"/>
            <a:ext cx="18701658" cy="0"/>
          </a:xfrm>
          <a:prstGeom prst="line">
            <a:avLst/>
          </a:prstGeom>
          <a:ln w="38100" cap="rnd">
            <a:solidFill>
              <a:srgbClr val="057BBA">
                <a:alpha val="80000"/>
              </a:srgbClr>
            </a:solidFill>
          </a:ln>
          <a:effectLst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F3C5E42B-5773-41D1-82C9-A3B7861809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2883" y="427995"/>
            <a:ext cx="2645634" cy="163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217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5790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spAutoFit/>
          </a:bodyPr>
          <a:lstStyle>
            <a:lvl1pPr>
              <a:defRPr sz="22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49" r:id="rId2"/>
    <p:sldLayoutId id="2147483655" r:id="rId3"/>
    <p:sldLayoutId id="2147483656" r:id="rId4"/>
    <p:sldLayoutId id="2147483657" r:id="rId5"/>
  </p:sldLayoutIdLst>
  <p:transition spd="med"/>
  <p:txStyles>
    <p:title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11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055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500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944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389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833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278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722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167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5C73E9A0-1581-412A-9370-80FB5A08E4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650" y="1753558"/>
            <a:ext cx="5103775" cy="142974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3535C99-41AF-418B-BEDD-F28650092074}"/>
              </a:ext>
            </a:extLst>
          </p:cNvPr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3100" dirty="0">
                <a:solidFill>
                  <a:schemeClr val="accent1">
                    <a:lumMod val="75000"/>
                  </a:schemeClr>
                </a:solidFill>
                <a:latin typeface="+mj-lt"/>
                <a:ea typeface="Meiryo" charset="-128"/>
                <a:cs typeface="Meiryo" charset="-128"/>
              </a:rPr>
              <a:t>WAY TO ENTERPRISE</a:t>
            </a:r>
          </a:p>
        </p:txBody>
      </p:sp>
      <p:sp>
        <p:nvSpPr>
          <p:cNvPr id="5" name="Google Shape;90;p9">
            <a:extLst>
              <a:ext uri="{FF2B5EF4-FFF2-40B4-BE49-F238E27FC236}">
                <a16:creationId xmlns:a16="http://schemas.microsoft.com/office/drawing/2014/main" id="{DB753221-CAE6-4172-B420-253F82036F95}"/>
              </a:ext>
            </a:extLst>
          </p:cNvPr>
          <p:cNvSpPr txBox="1">
            <a:spLocks/>
          </p:cNvSpPr>
          <p:nvPr/>
        </p:nvSpPr>
        <p:spPr>
          <a:xfrm>
            <a:off x="-357940" y="6479775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hangingPunct="1">
              <a:lnSpc>
                <a:spcPct val="90000"/>
              </a:lnSpc>
              <a:buClr>
                <a:srgbClr val="1E4E79"/>
              </a:buClr>
              <a:buSzPts val="4400"/>
            </a:pPr>
            <a:r>
              <a:rPr lang="en-US" altLang="en-US" sz="10000">
                <a:solidFill>
                  <a:schemeClr val="accent1">
                    <a:lumMod val="75000"/>
                  </a:schemeClr>
                </a:solidFill>
              </a:rPr>
              <a:t>Pakage 1: Database</a:t>
            </a:r>
            <a:endParaRPr lang="en-US" sz="10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F2001B0A-062A-4A6F-BBE4-0E31E8A7C59F}"/>
              </a:ext>
            </a:extLst>
          </p:cNvPr>
          <p:cNvSpPr txBox="1">
            <a:spLocks/>
          </p:cNvSpPr>
          <p:nvPr/>
        </p:nvSpPr>
        <p:spPr bwMode="auto">
          <a:xfrm>
            <a:off x="1795790" y="8295495"/>
            <a:ext cx="11871552" cy="2841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q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/>
            </a:pPr>
            <a:endParaRPr lang="en-US" sz="5000" dirty="0">
              <a:solidFill>
                <a:schemeClr val="accent1">
                  <a:lumMod val="75000"/>
                </a:schemeClr>
              </a:solidFill>
              <a:latin typeface=" Arial (Headings)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5C73E9A0-1581-412A-9370-80FB5A08E4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650" y="1753558"/>
            <a:ext cx="5103775" cy="142974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3535C99-41AF-418B-BEDD-F28650092074}"/>
              </a:ext>
            </a:extLst>
          </p:cNvPr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3100" dirty="0">
                <a:solidFill>
                  <a:schemeClr val="accent1">
                    <a:lumMod val="75000"/>
                  </a:schemeClr>
                </a:solidFill>
                <a:latin typeface="+mj-lt"/>
                <a:ea typeface="Meiryo" charset="-128"/>
                <a:cs typeface="Meiryo" charset="-128"/>
              </a:rPr>
              <a:t>WAY TO ENTERPRISE</a:t>
            </a:r>
          </a:p>
        </p:txBody>
      </p:sp>
      <p:sp>
        <p:nvSpPr>
          <p:cNvPr id="5" name="Google Shape;90;p9">
            <a:extLst>
              <a:ext uri="{FF2B5EF4-FFF2-40B4-BE49-F238E27FC236}">
                <a16:creationId xmlns:a16="http://schemas.microsoft.com/office/drawing/2014/main" id="{DB753221-CAE6-4172-B420-253F82036F95}"/>
              </a:ext>
            </a:extLst>
          </p:cNvPr>
          <p:cNvSpPr txBox="1">
            <a:spLocks/>
          </p:cNvSpPr>
          <p:nvPr/>
        </p:nvSpPr>
        <p:spPr>
          <a:xfrm>
            <a:off x="-357940" y="6479775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hangingPunct="1">
              <a:lnSpc>
                <a:spcPct val="90000"/>
              </a:lnSpc>
              <a:buClr>
                <a:srgbClr val="1E4E79"/>
              </a:buClr>
              <a:buSzPts val="4400"/>
            </a:pPr>
            <a:r>
              <a:rPr lang="en-US" altLang="en-US" sz="10000">
                <a:solidFill>
                  <a:schemeClr val="accent1">
                    <a:lumMod val="75000"/>
                  </a:schemeClr>
                </a:solidFill>
              </a:rPr>
              <a:t>Lesson 1</a:t>
            </a:r>
            <a:endParaRPr lang="en-US" sz="10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F2001B0A-062A-4A6F-BBE4-0E31E8A7C59F}"/>
              </a:ext>
            </a:extLst>
          </p:cNvPr>
          <p:cNvSpPr txBox="1">
            <a:spLocks/>
          </p:cNvSpPr>
          <p:nvPr/>
        </p:nvSpPr>
        <p:spPr bwMode="auto">
          <a:xfrm>
            <a:off x="1795790" y="8295495"/>
            <a:ext cx="11871552" cy="2841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q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/>
            </a:pPr>
            <a:endParaRPr lang="en-US" sz="5000" dirty="0">
              <a:solidFill>
                <a:schemeClr val="accent1">
                  <a:lumMod val="75000"/>
                </a:schemeClr>
              </a:solidFill>
              <a:latin typeface=" Arial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6443527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30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ja-JP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Copyright </a:t>
            </a:r>
            <a:r>
              <a:rPr lang="en-GB" sz="2200" b="0" i="1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© </a:t>
            </a:r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VTI Academy All Rights Reserved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DE6175F-EC54-41CE-AC36-9254032B4CC2}"/>
              </a:ext>
            </a:extLst>
          </p:cNvPr>
          <p:cNvSpPr txBox="1">
            <a:spLocks/>
          </p:cNvSpPr>
          <p:nvPr/>
        </p:nvSpPr>
        <p:spPr bwMode="auto">
          <a:xfrm>
            <a:off x="1845217" y="3116480"/>
            <a:ext cx="21401314" cy="9329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q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Web architecture</a:t>
            </a:r>
          </a:p>
          <a:p>
            <a:pPr lvl="0"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Comparing Excel &amp; Database</a:t>
            </a:r>
          </a:p>
          <a:p>
            <a:pPr lvl="0"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Database Components</a:t>
            </a:r>
          </a:p>
          <a:p>
            <a:pPr lvl="0"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SQL Statement</a:t>
            </a:r>
          </a:p>
          <a:p>
            <a:pPr lvl="0"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Create Example Table</a:t>
            </a:r>
          </a:p>
        </p:txBody>
      </p:sp>
    </p:spTree>
    <p:extLst>
      <p:ext uri="{BB962C8B-B14F-4D97-AF65-F5344CB8AC3E}">
        <p14:creationId xmlns:p14="http://schemas.microsoft.com/office/powerpoint/2010/main" val="3603794139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Web architecture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4" name="Picture 4" descr="Image result for front end and back end, database we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0701" y="2200429"/>
            <a:ext cx="18010822" cy="8805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258491" y="8590513"/>
            <a:ext cx="627018" cy="63671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4190559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Web architecture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1965" y="3124200"/>
            <a:ext cx="17682449" cy="85344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345027" y="1954431"/>
            <a:ext cx="257634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D" sz="4000" dirty="0"/>
              <a:t>Front-end</a:t>
            </a:r>
          </a:p>
        </p:txBody>
      </p:sp>
    </p:spTree>
    <p:extLst>
      <p:ext uri="{BB962C8B-B14F-4D97-AF65-F5344CB8AC3E}">
        <p14:creationId xmlns:p14="http://schemas.microsoft.com/office/powerpoint/2010/main" val="3844460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Web architecture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0345027" y="1954431"/>
            <a:ext cx="257634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D" sz="4000" dirty="0"/>
              <a:t>Front-end</a:t>
            </a:r>
          </a:p>
        </p:txBody>
      </p:sp>
      <p:pic>
        <p:nvPicPr>
          <p:cNvPr id="6" name="Picture 2" descr="Image result for mobile facebook u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4140" y="3521710"/>
            <a:ext cx="10767059" cy="8075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7554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Web architecture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0472467" y="1954431"/>
            <a:ext cx="232146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D" sz="4000" dirty="0"/>
              <a:t>Backend</a:t>
            </a:r>
          </a:p>
        </p:txBody>
      </p:sp>
      <p:pic>
        <p:nvPicPr>
          <p:cNvPr id="5" name="Picture 2" descr="Image result for back end system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4937" y="3445510"/>
            <a:ext cx="7058263" cy="7058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208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Web architecture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0400333" y="1954431"/>
            <a:ext cx="246574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D" sz="4000" dirty="0"/>
              <a:t>Database</a:t>
            </a:r>
          </a:p>
        </p:txBody>
      </p:sp>
      <p:pic>
        <p:nvPicPr>
          <p:cNvPr id="6" name="Picture 2" descr="Image result for database sql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7775" y="3660110"/>
            <a:ext cx="6065025" cy="4730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8590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Excel &amp; Database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3063" y="4462498"/>
            <a:ext cx="7089793" cy="2598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888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7765A43E-0B15-485F-9F30-2D602F01A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4" y="514346"/>
            <a:ext cx="9372600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fontAlgn="base" hangingPunct="1">
              <a:spcBef>
                <a:spcPct val="5000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5700" kern="1200" dirty="0">
                <a:solidFill>
                  <a:srgbClr val="4F81BD"/>
                </a:solidFill>
                <a:ea typeface="+mn-ea"/>
                <a:cs typeface="Arial" panose="020B0604020202020204" pitchFamily="34" charset="0"/>
              </a:rPr>
              <a:t>Excel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297" y="3184978"/>
            <a:ext cx="23837913" cy="4689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164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7765A43E-0B15-485F-9F30-2D602F01A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4" y="514346"/>
            <a:ext cx="9372600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fontAlgn="base" hangingPunct="1">
              <a:spcBef>
                <a:spcPct val="5000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5700" kern="1200" dirty="0">
                <a:solidFill>
                  <a:srgbClr val="4F81BD"/>
                </a:solidFill>
                <a:ea typeface="+mn-ea"/>
                <a:cs typeface="Arial" panose="020B0604020202020204" pitchFamily="34" charset="0"/>
              </a:rPr>
              <a:t>Excel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7181" y="2256388"/>
            <a:ext cx="17346465" cy="9478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0852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7765A43E-0B15-485F-9F30-2D602F01A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4" y="514346"/>
            <a:ext cx="9372600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fontAlgn="base" hangingPunct="1">
              <a:spcBef>
                <a:spcPct val="5000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5700" kern="1200" dirty="0">
                <a:solidFill>
                  <a:srgbClr val="4F81BD"/>
                </a:solidFill>
                <a:ea typeface="+mn-ea"/>
                <a:cs typeface="Arial" panose="020B0604020202020204" pitchFamily="34" charset="0"/>
              </a:rPr>
              <a:t>Database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4774" y="1809750"/>
            <a:ext cx="21701421" cy="10508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872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CC28034-6C2E-47ED-8137-4987D59162C6}"/>
              </a:ext>
            </a:extLst>
          </p:cNvPr>
          <p:cNvSpPr txBox="1">
            <a:spLocks/>
          </p:cNvSpPr>
          <p:nvPr/>
        </p:nvSpPr>
        <p:spPr bwMode="auto">
          <a:xfrm>
            <a:off x="1066800" y="590396"/>
            <a:ext cx="1304925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rgbClr val="C00000"/>
                </a:solidFill>
                <a:latin typeface="Arial" pitchFamily="34" charset="0"/>
                <a:ea typeface="Tahoma" pitchFamily="34" charset="0"/>
                <a:cs typeface="Arial" pitchFamily="34" charset="0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C00000"/>
                </a:solidFill>
                <a:latin typeface="Arial" charset="0"/>
                <a:ea typeface="Tahoma" pitchFamily="34" charset="0"/>
                <a:cs typeface="Arial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C00000"/>
                </a:solidFill>
                <a:latin typeface="Arial" charset="0"/>
                <a:ea typeface="Tahoma" pitchFamily="34" charset="0"/>
                <a:cs typeface="Arial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C00000"/>
                </a:solidFill>
                <a:latin typeface="Arial" charset="0"/>
                <a:ea typeface="Tahoma" pitchFamily="34" charset="0"/>
                <a:cs typeface="Arial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C00000"/>
                </a:solidFill>
                <a:latin typeface="Arial" charset="0"/>
                <a:ea typeface="Tahoma" pitchFamily="34" charset="0"/>
                <a:cs typeface="Arial" charset="0"/>
              </a:defRPr>
            </a:lvl5pPr>
            <a:lvl6pPr marL="457200" algn="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C00000"/>
                </a:solidFill>
                <a:latin typeface="Times New Roman" pitchFamily="18" charset="0"/>
              </a:defRPr>
            </a:lvl6pPr>
            <a:lvl7pPr marL="914400" algn="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C00000"/>
                </a:solidFill>
                <a:latin typeface="Times New Roman" pitchFamily="18" charset="0"/>
              </a:defRPr>
            </a:lvl7pPr>
            <a:lvl8pPr marL="1371600" algn="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C00000"/>
                </a:solidFill>
                <a:latin typeface="Times New Roman" pitchFamily="18" charset="0"/>
              </a:defRPr>
            </a:lvl8pPr>
            <a:lvl9pPr marL="1828800" algn="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C00000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5700" dirty="0">
                <a:solidFill>
                  <a:srgbClr val="4F81BD"/>
                </a:solidFill>
              </a:rPr>
              <a:t>Database components</a:t>
            </a:r>
            <a:endParaRPr kumimoji="0" lang="en-GB" altLang="en-US" sz="5700" b="1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Arial" pitchFamily="34" charset="0"/>
              <a:ea typeface="Tahoma" pitchFamily="34" charset="0"/>
              <a:cs typeface="Arial" pitchFamily="34" charset="0"/>
            </a:endParaRPr>
          </a:p>
        </p:txBody>
      </p:sp>
      <p:pic>
        <p:nvPicPr>
          <p:cNvPr id="16" name="Picture 14" descr="Image result for database management syste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5688" y="1771649"/>
            <a:ext cx="17410112" cy="9948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09582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B828494-BD34-4466-9EF2-8DF11983CC11}"/>
              </a:ext>
            </a:extLst>
          </p:cNvPr>
          <p:cNvSpPr/>
          <p:nvPr/>
        </p:nvSpPr>
        <p:spPr>
          <a:xfrm>
            <a:off x="1074543" y="498040"/>
            <a:ext cx="10919977" cy="9694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5700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" pitchFamily="34" charset="0"/>
                <a:ea typeface="Tahoma" pitchFamily="34" charset="0"/>
                <a:cs typeface="Arial" pitchFamily="34" charset="0"/>
              </a:rPr>
              <a:t>Database Management</a:t>
            </a:r>
            <a:r>
              <a:rPr kumimoji="0" lang="en-US" altLang="en-US" sz="5700" i="0" u="none" strike="noStrike" kern="1200" cap="none" spc="0" normalizeH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" pitchFamily="34" charset="0"/>
                <a:ea typeface="Tahoma" pitchFamily="34" charset="0"/>
                <a:cs typeface="Arial" pitchFamily="34" charset="0"/>
              </a:rPr>
              <a:t> System</a:t>
            </a:r>
            <a:endParaRPr kumimoji="0" lang="en-US" sz="570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5" name="Picture 10" descr="Image result for MySQ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4576" y="1974056"/>
            <a:ext cx="15897224" cy="9821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44912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B828494-BD34-4466-9EF2-8DF11983CC11}"/>
              </a:ext>
            </a:extLst>
          </p:cNvPr>
          <p:cNvSpPr/>
          <p:nvPr/>
        </p:nvSpPr>
        <p:spPr>
          <a:xfrm>
            <a:off x="1376388" y="498040"/>
            <a:ext cx="3438762" cy="9694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5700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" pitchFamily="34" charset="0"/>
                <a:ea typeface="Tahoma" pitchFamily="34" charset="0"/>
                <a:cs typeface="Arial" pitchFamily="34" charset="0"/>
              </a:rPr>
              <a:t>Database</a:t>
            </a:r>
            <a:endParaRPr kumimoji="0" lang="en-US" sz="570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4" name="Picture 8" descr="Image result for database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1936" y="2702468"/>
            <a:ext cx="6644264" cy="6644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0125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B828494-BD34-4466-9EF2-8DF11983CC11}"/>
              </a:ext>
            </a:extLst>
          </p:cNvPr>
          <p:cNvSpPr/>
          <p:nvPr/>
        </p:nvSpPr>
        <p:spPr>
          <a:xfrm>
            <a:off x="1718767" y="498040"/>
            <a:ext cx="2042803" cy="9694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5700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" pitchFamily="34" charset="0"/>
                <a:ea typeface="Tahoma" pitchFamily="34" charset="0"/>
                <a:cs typeface="Arial" pitchFamily="34" charset="0"/>
              </a:rPr>
              <a:t>Table</a:t>
            </a:r>
            <a:endParaRPr kumimoji="0" lang="en-US" sz="570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139" y="1933574"/>
            <a:ext cx="16481461" cy="9509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2925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B828494-BD34-4466-9EF2-8DF11983CC11}"/>
              </a:ext>
            </a:extLst>
          </p:cNvPr>
          <p:cNvSpPr/>
          <p:nvPr/>
        </p:nvSpPr>
        <p:spPr>
          <a:xfrm>
            <a:off x="798241" y="498040"/>
            <a:ext cx="5306261" cy="9694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 hangingPunct="1">
              <a:defRPr/>
            </a:pPr>
            <a:r>
              <a:rPr lang="en-US" altLang="en-US" sz="5700" kern="1200" dirty="0">
                <a:solidFill>
                  <a:srgbClr val="4F81BD"/>
                </a:solidFill>
                <a:latin typeface="Arial" pitchFamily="34" charset="0"/>
                <a:ea typeface="Tahoma" pitchFamily="34" charset="0"/>
                <a:cs typeface="Arial" pitchFamily="34" charset="0"/>
              </a:rPr>
              <a:t>Column (Field)</a:t>
            </a:r>
            <a:endParaRPr kumimoji="0" lang="en-US" sz="570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1371" y="1935077"/>
            <a:ext cx="16458623" cy="10187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0127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B828494-BD34-4466-9EF2-8DF11983CC11}"/>
              </a:ext>
            </a:extLst>
          </p:cNvPr>
          <p:cNvSpPr/>
          <p:nvPr/>
        </p:nvSpPr>
        <p:spPr>
          <a:xfrm>
            <a:off x="875013" y="498040"/>
            <a:ext cx="4695516" cy="9694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5700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" pitchFamily="34" charset="0"/>
                <a:ea typeface="Tahoma" pitchFamily="34" charset="0"/>
                <a:cs typeface="Arial" pitchFamily="34" charset="0"/>
              </a:rPr>
              <a:t>Record (row)</a:t>
            </a:r>
            <a:endParaRPr kumimoji="0" lang="en-US" sz="570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9848" y="2002590"/>
            <a:ext cx="21293952" cy="10249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1272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SQL Statement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5" name="Text Placeholder 1"/>
          <p:cNvSpPr txBox="1">
            <a:spLocks/>
          </p:cNvSpPr>
          <p:nvPr/>
        </p:nvSpPr>
        <p:spPr>
          <a:xfrm>
            <a:off x="1704976" y="2735176"/>
            <a:ext cx="5854064" cy="1020843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>
              <a:buFont typeface="Wingdings" panose="05000000000000000000" pitchFamily="2" charset="2"/>
              <a:buChar char="Ø"/>
            </a:pPr>
            <a:r>
              <a:rPr lang="en-US" b="1" dirty="0"/>
              <a:t> Create Database</a:t>
            </a:r>
          </a:p>
          <a:p>
            <a:pPr>
              <a:buFont typeface="Wingdings" panose="05000000000000000000" pitchFamily="2" charset="2"/>
              <a:buChar char="Ø"/>
            </a:pPr>
            <a:endParaRPr lang="en-ID" b="1" dirty="0"/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1704976" y="5535693"/>
            <a:ext cx="5610224" cy="1020843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>
              <a:buFont typeface="Wingdings" panose="05000000000000000000" pitchFamily="2" charset="2"/>
              <a:buChar char="Ø"/>
            </a:pPr>
            <a:r>
              <a:rPr lang="en-US" b="1" dirty="0"/>
              <a:t> Create table</a:t>
            </a:r>
          </a:p>
          <a:p>
            <a:pPr>
              <a:buFont typeface="Wingdings" panose="05000000000000000000" pitchFamily="2" charset="2"/>
              <a:buChar char="Ø"/>
            </a:pPr>
            <a:endParaRPr lang="en-ID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4614" y="6716910"/>
            <a:ext cx="6756536" cy="440149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4614" y="3748109"/>
            <a:ext cx="7987675" cy="804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6071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Datatype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5" name="Text Placeholder 1"/>
          <p:cNvSpPr txBox="1">
            <a:spLocks/>
          </p:cNvSpPr>
          <p:nvPr/>
        </p:nvSpPr>
        <p:spPr>
          <a:xfrm>
            <a:off x="1704976" y="2735176"/>
            <a:ext cx="16481424" cy="6383423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Number: INT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Characters: VARCHAR(50)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Date: DATE</a:t>
            </a:r>
          </a:p>
        </p:txBody>
      </p:sp>
    </p:spTree>
    <p:extLst>
      <p:ext uri="{BB962C8B-B14F-4D97-AF65-F5344CB8AC3E}">
        <p14:creationId xmlns:p14="http://schemas.microsoft.com/office/powerpoint/2010/main" val="32222363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B828494-BD34-4466-9EF2-8DF11983CC11}"/>
              </a:ext>
            </a:extLst>
          </p:cNvPr>
          <p:cNvSpPr/>
          <p:nvPr/>
        </p:nvSpPr>
        <p:spPr>
          <a:xfrm>
            <a:off x="402994" y="367430"/>
            <a:ext cx="7735067" cy="9694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5700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" pitchFamily="34" charset="0"/>
                <a:ea typeface="Tahoma" pitchFamily="34" charset="0"/>
                <a:cs typeface="Arial" pitchFamily="34" charset="0"/>
              </a:rPr>
              <a:t>Create Example</a:t>
            </a:r>
            <a:r>
              <a:rPr kumimoji="0" lang="en-US" altLang="en-US" sz="5700" i="0" u="none" strike="noStrike" kern="1200" cap="none" spc="0" normalizeH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" pitchFamily="34" charset="0"/>
                <a:ea typeface="Tahoma" pitchFamily="34" charset="0"/>
                <a:cs typeface="Arial" pitchFamily="34" charset="0"/>
              </a:rPr>
              <a:t> Table</a:t>
            </a:r>
            <a:endParaRPr kumimoji="0" lang="en-US" sz="570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6" name="Picture 2" descr="https://scontent.fhan3-1.fna.fbcdn.net/v/t1.15752-9/91884979_1612226458932580_1385182207714263040_n.png?_nc_cat=102&amp;_nc_sid=b96e70&amp;_nc_ohc=WETyEttRoBUAX8EASoW&amp;_nc_ht=scontent.fhan3-1.fna&amp;oh=93baed3fdf0a77c479de47a675e5d966&amp;oe=5EC4995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3222" y="2307600"/>
            <a:ext cx="10326586" cy="8922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83854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7765A43E-0B15-485F-9F30-2D602F01A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4" y="514346"/>
            <a:ext cx="9372600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fontAlgn="base" hangingPunct="1">
              <a:spcBef>
                <a:spcPct val="5000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5700" kern="1200" dirty="0">
                <a:solidFill>
                  <a:srgbClr val="4F81BD"/>
                </a:solidFill>
                <a:ea typeface="+mn-ea"/>
                <a:cs typeface="Arial" panose="020B0604020202020204" pitchFamily="34" charset="0"/>
              </a:rPr>
              <a:t>Assignments 1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9886" y="1903998"/>
            <a:ext cx="12023170" cy="9013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909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7765A43E-0B15-485F-9F30-2D602F01A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4" y="514346"/>
            <a:ext cx="9372600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fontAlgn="base" hangingPunct="1">
              <a:spcBef>
                <a:spcPct val="5000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5700" kern="1200" dirty="0">
                <a:solidFill>
                  <a:srgbClr val="4F81BD"/>
                </a:solidFill>
                <a:ea typeface="+mn-ea"/>
                <a:cs typeface="Arial" panose="020B0604020202020204" pitchFamily="34" charset="0"/>
              </a:rPr>
              <a:t>Assignments 2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704976" y="2735176"/>
            <a:ext cx="16481424" cy="6383423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>
              <a:buNone/>
            </a:pPr>
            <a:r>
              <a:rPr lang="en-US" dirty="0"/>
              <a:t>Assignment for Testing System</a:t>
            </a:r>
          </a:p>
        </p:txBody>
      </p:sp>
    </p:spTree>
    <p:extLst>
      <p:ext uri="{BB962C8B-B14F-4D97-AF65-F5344CB8AC3E}">
        <p14:creationId xmlns:p14="http://schemas.microsoft.com/office/powerpoint/2010/main" val="2922751731"/>
      </p:ext>
    </p:extLst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20470</TotalTime>
  <Words>108</Words>
  <Application>Microsoft Office PowerPoint</Application>
  <PresentationFormat>Custom</PresentationFormat>
  <Paragraphs>41</Paragraphs>
  <Slides>23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Meiryo</vt:lpstr>
      <vt:lpstr> Arial (Headings)</vt:lpstr>
      <vt:lpstr>Arial</vt:lpstr>
      <vt:lpstr>Arial (Body)</vt:lpstr>
      <vt:lpstr>Calibri</vt:lpstr>
      <vt:lpstr>Helvetica Neue</vt:lpstr>
      <vt:lpstr>Helvetica Neue Light</vt:lpstr>
      <vt:lpstr>Helvetica Neue Medium</vt:lpstr>
      <vt:lpstr>Wingdings</vt:lpstr>
      <vt:lpstr>White</vt:lpstr>
      <vt:lpstr>PowerPoint Presentation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Nguyen Anh Quan (VTI.GA)</dc:creator>
  <cp:keywords/>
  <dc:description/>
  <cp:lastModifiedBy>Nguyen Dao</cp:lastModifiedBy>
  <cp:revision>1465</cp:revision>
  <cp:lastPrinted>2019-09-17T11:00:25Z</cp:lastPrinted>
  <dcterms:modified xsi:type="dcterms:W3CDTF">2023-12-14T01:50:59Z</dcterms:modified>
  <cp:category/>
</cp:coreProperties>
</file>