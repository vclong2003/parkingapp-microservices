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13" r:id="rId2"/>
    <p:sldId id="514" r:id="rId3"/>
    <p:sldId id="419" r:id="rId4"/>
    <p:sldId id="420" r:id="rId5"/>
    <p:sldId id="502" r:id="rId6"/>
    <p:sldId id="496" r:id="rId7"/>
    <p:sldId id="503" r:id="rId8"/>
    <p:sldId id="504" r:id="rId9"/>
    <p:sldId id="505" r:id="rId10"/>
    <p:sldId id="506" r:id="rId11"/>
    <p:sldId id="507" r:id="rId12"/>
    <p:sldId id="508" r:id="rId13"/>
    <p:sldId id="512" r:id="rId14"/>
    <p:sldId id="509" r:id="rId15"/>
    <p:sldId id="510" r:id="rId16"/>
    <p:sldId id="511" r:id="rId17"/>
    <p:sldId id="421" r:id="rId18"/>
    <p:sldId id="501" r:id="rId19"/>
    <p:sldId id="342" r:id="rId20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199" autoAdjust="0"/>
    <p:restoredTop sz="68750" autoAdjust="0"/>
  </p:normalViewPr>
  <p:slideViewPr>
    <p:cSldViewPr snapToGrid="0" snapToObjects="1">
      <p:cViewPr varScale="1">
        <p:scale>
          <a:sx n="39" d="100"/>
          <a:sy n="39" d="100"/>
        </p:scale>
        <p:origin x="139" y="221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19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3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Query Data Statement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Modify Data Statement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637470" y="452228"/>
            <a:ext cx="11432117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QUERY DATA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3152776" y="2068426"/>
            <a:ext cx="16481424" cy="959017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(8) SELECT   </a:t>
            </a:r>
            <a:r>
              <a:rPr lang="en-US" i="1" dirty="0"/>
              <a:t>column_name_1, column_name_2, …</a:t>
            </a:r>
          </a:p>
          <a:p>
            <a:pPr marL="0" indent="0" hangingPunct="1">
              <a:buNone/>
            </a:pPr>
            <a:r>
              <a:rPr lang="en-US" dirty="0"/>
              <a:t>(1) FROM 	     </a:t>
            </a:r>
            <a:r>
              <a:rPr lang="en-US" i="1" dirty="0" err="1"/>
              <a:t>table_name</a:t>
            </a:r>
            <a:endParaRPr lang="en-US" i="1" dirty="0"/>
          </a:p>
          <a:p>
            <a:pPr marL="0" indent="0" hangingPunct="1">
              <a:buNone/>
            </a:pPr>
            <a:r>
              <a:rPr lang="en-US" dirty="0"/>
              <a:t>(2) [JOIN]</a:t>
            </a:r>
          </a:p>
          <a:p>
            <a:pPr marL="0" indent="0" hangingPunct="1">
              <a:buNone/>
            </a:pPr>
            <a:r>
              <a:rPr lang="en-US" dirty="0"/>
              <a:t>(3) [WHERE]</a:t>
            </a:r>
          </a:p>
          <a:p>
            <a:pPr marL="0" indent="0" hangingPunct="1">
              <a:buNone/>
            </a:pPr>
            <a:r>
              <a:rPr lang="en-US" dirty="0"/>
              <a:t>(4) [GROUP BY]</a:t>
            </a:r>
          </a:p>
          <a:p>
            <a:pPr marL="0" indent="0" hangingPunct="1">
              <a:buNone/>
            </a:pPr>
            <a:r>
              <a:rPr lang="en-US" dirty="0"/>
              <a:t>(5) [HAVING]</a:t>
            </a:r>
          </a:p>
          <a:p>
            <a:pPr marL="0" indent="0" hangingPunct="1">
              <a:buNone/>
            </a:pPr>
            <a:r>
              <a:rPr lang="en-US" dirty="0"/>
              <a:t>(6) [ORDER BY]</a:t>
            </a:r>
          </a:p>
          <a:p>
            <a:pPr marL="0" indent="0" hangingPunct="1">
              <a:buNone/>
            </a:pPr>
            <a:r>
              <a:rPr lang="en-US" dirty="0"/>
              <a:t>(7) [LIMIT]</a:t>
            </a:r>
          </a:p>
        </p:txBody>
      </p:sp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SELECT BASIC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76426" y="2003252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Select fields in the table  </a:t>
            </a:r>
          </a:p>
          <a:p>
            <a:pPr marL="889000" lvl="2" indent="0" hangingPunct="1">
              <a:buNone/>
            </a:pPr>
            <a:r>
              <a:rPr lang="en-US" dirty="0"/>
              <a:t>SELECT  * </a:t>
            </a:r>
          </a:p>
          <a:p>
            <a:pPr marL="889000" lvl="2" indent="0" hangingPunct="1">
              <a:buNone/>
            </a:pPr>
            <a:r>
              <a:rPr lang="en-US" dirty="0"/>
              <a:t>FROM     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889000" lvl="2" indent="0" hangingPunct="1">
              <a:buNone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View only some of the listed fields  </a:t>
            </a:r>
          </a:p>
          <a:p>
            <a:pPr marL="889000" lvl="2" indent="0" hangingPunct="1">
              <a:buNone/>
            </a:pPr>
            <a:r>
              <a:rPr lang="en-US" dirty="0"/>
              <a:t>SELECT  column_name_1, column_name_2</a:t>
            </a:r>
          </a:p>
          <a:p>
            <a:pPr marL="889000" lvl="2" indent="0" hangingPunct="1">
              <a:buNone/>
            </a:pPr>
            <a:r>
              <a:rPr lang="en-US" dirty="0"/>
              <a:t>FROM     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WHERE - Operator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3152776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AND / OR</a:t>
            </a:r>
          </a:p>
          <a:p>
            <a:pPr marL="0" indent="0" hangingPunct="1">
              <a:buNone/>
            </a:pPr>
            <a:r>
              <a:rPr lang="en-US" dirty="0"/>
              <a:t>BETWEEN…AND</a:t>
            </a:r>
          </a:p>
          <a:p>
            <a:pPr marL="0" indent="0" hangingPunct="1">
              <a:buNone/>
            </a:pPr>
            <a:r>
              <a:rPr lang="en-US" dirty="0"/>
              <a:t>IN / NOT IN</a:t>
            </a:r>
          </a:p>
          <a:p>
            <a:pPr marL="0" indent="0" hangingPunct="1">
              <a:buNone/>
            </a:pPr>
            <a:r>
              <a:rPr lang="en-US" dirty="0"/>
              <a:t>LIKE / NOT LIKE (wildcard: % _)</a:t>
            </a:r>
          </a:p>
          <a:p>
            <a:pPr marL="0" indent="0" hangingPunct="1">
              <a:buNone/>
            </a:pPr>
            <a:r>
              <a:rPr lang="en-US" dirty="0"/>
              <a:t>IS NULL / IS NOT NULL</a:t>
            </a:r>
          </a:p>
          <a:p>
            <a:pPr marL="0" indent="0" hangingPunct="1">
              <a:buNone/>
            </a:pPr>
            <a:r>
              <a:rPr lang="en-US" dirty="0"/>
              <a:t> = , &gt;, &lt;, &gt;=, &lt;=, !=, &lt;&gt;</a:t>
            </a:r>
          </a:p>
        </p:txBody>
      </p:sp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WHERE - EX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3152776" y="2438400"/>
            <a:ext cx="16481424" cy="608380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SELECT </a:t>
            </a:r>
            <a:r>
              <a:rPr lang="en-US" dirty="0" err="1"/>
              <a:t>firstName</a:t>
            </a:r>
            <a:endParaRPr lang="en-US" dirty="0"/>
          </a:p>
          <a:p>
            <a:pPr marL="0" indent="0" hangingPunct="1">
              <a:buNone/>
            </a:pPr>
            <a:r>
              <a:rPr lang="en-US" dirty="0"/>
              <a:t>FROM 	Employees</a:t>
            </a:r>
          </a:p>
          <a:p>
            <a:pPr marL="0" indent="0" hangingPunct="1">
              <a:buNone/>
            </a:pPr>
            <a:r>
              <a:rPr lang="en-US" dirty="0"/>
              <a:t>WHERE 	</a:t>
            </a:r>
            <a:r>
              <a:rPr lang="en-US" dirty="0" err="1"/>
              <a:t>firstName</a:t>
            </a:r>
            <a:r>
              <a:rPr lang="en-US" dirty="0"/>
              <a:t> LIKE ‘D%’ , ‘%U%’ , ‘%Y’;</a:t>
            </a:r>
          </a:p>
          <a:p>
            <a:pPr marL="0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Distinct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Eliminate duplicate values in column</a:t>
            </a:r>
          </a:p>
          <a:p>
            <a:pPr marL="889000" lvl="2" indent="0" hangingPunct="1">
              <a:buNone/>
            </a:pPr>
            <a:r>
              <a:rPr lang="en-US" dirty="0"/>
              <a:t>SELECT DISTINCT </a:t>
            </a:r>
            <a:r>
              <a:rPr lang="en-US" dirty="0" err="1"/>
              <a:t>column_name</a:t>
            </a:r>
            <a:endParaRPr lang="en-US" dirty="0"/>
          </a:p>
          <a:p>
            <a:pPr marL="889000" lvl="2" indent="0" hangingPunct="1">
              <a:buNone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ORDER BY </a:t>
            </a:r>
          </a:p>
          <a:p>
            <a:pPr marL="889000" lvl="2" indent="0" hangingPunct="1">
              <a:buNone/>
            </a:pPr>
            <a:r>
              <a:rPr lang="en-US" dirty="0"/>
              <a:t>ORDER BY column_name_1, column_name_2 ASC/DESC </a:t>
            </a:r>
          </a:p>
          <a:p>
            <a:pPr marL="889000" lvl="2" indent="0" hangingPunct="1">
              <a:buNone/>
            </a:pPr>
            <a:r>
              <a:rPr lang="en-US" dirty="0"/>
              <a:t>Note: Default = ASC</a:t>
            </a:r>
          </a:p>
        </p:txBody>
      </p:sp>
    </p:spTree>
    <p:extLst>
      <p:ext uri="{BB962C8B-B14F-4D97-AF65-F5344CB8AC3E}">
        <p14:creationId xmlns:p14="http://schemas.microsoft.com/office/powerpoint/2010/main" val="418159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Aggregate functions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Includes:</a:t>
            </a:r>
          </a:p>
          <a:p>
            <a:pPr marL="889000" lvl="2" indent="0" hangingPunct="1">
              <a:buNone/>
            </a:pPr>
            <a:r>
              <a:rPr lang="en-US" dirty="0"/>
              <a:t>COUNT()</a:t>
            </a:r>
          </a:p>
          <a:p>
            <a:pPr marL="1333500" lvl="3" indent="0" hangingPunct="1">
              <a:buNone/>
            </a:pPr>
            <a:r>
              <a:rPr lang="en-US" dirty="0"/>
              <a:t>COUNT(</a:t>
            </a:r>
            <a:r>
              <a:rPr lang="en-US" dirty="0" err="1"/>
              <a:t>field_name</a:t>
            </a:r>
            <a:r>
              <a:rPr lang="en-US" dirty="0"/>
              <a:t>), COUNT(DISTINCT </a:t>
            </a:r>
            <a:r>
              <a:rPr lang="en-US" dirty="0" err="1"/>
              <a:t>field_name</a:t>
            </a:r>
            <a:r>
              <a:rPr lang="en-US" dirty="0"/>
              <a:t>), COUNT(*), COUNT(1)</a:t>
            </a:r>
          </a:p>
          <a:p>
            <a:pPr marL="889000" lvl="2" indent="0" hangingPunct="1">
              <a:buNone/>
            </a:pPr>
            <a:r>
              <a:rPr lang="en-US" dirty="0"/>
              <a:t>SUM(),  </a:t>
            </a:r>
          </a:p>
          <a:p>
            <a:pPr marL="889000" lvl="2" indent="0" hangingPunct="1">
              <a:buNone/>
            </a:pPr>
            <a:r>
              <a:rPr lang="en-US" dirty="0"/>
              <a:t>MIN(), </a:t>
            </a:r>
          </a:p>
          <a:p>
            <a:pPr marL="889000" lvl="2" indent="0" hangingPunct="1">
              <a:buNone/>
            </a:pPr>
            <a:r>
              <a:rPr lang="en-US" dirty="0"/>
              <a:t>MAX(), </a:t>
            </a:r>
          </a:p>
          <a:p>
            <a:pPr marL="889000" lvl="2" indent="0" hangingPunct="1">
              <a:buNone/>
            </a:pPr>
            <a:r>
              <a:rPr lang="en-US" dirty="0"/>
              <a:t>AVG()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Note: Applies only to # null values</a:t>
            </a:r>
          </a:p>
          <a:p>
            <a:pPr marL="889000" lvl="2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37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GROUP BY/ HAVING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9526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To group values together (group) then perform calculations with Aggregate Functions (count, sum, min, max, </a:t>
            </a:r>
            <a:r>
              <a:rPr lang="en-US" dirty="0" err="1"/>
              <a:t>avg</a:t>
            </a:r>
            <a:r>
              <a:rPr lang="en-US" dirty="0"/>
              <a:t>)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Group by can apply to multiple columns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If you want to have conditions in ‘Group by’ then use HAVING</a:t>
            </a:r>
          </a:p>
          <a:p>
            <a:pPr marL="889000" lvl="2" indent="0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4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LIMIT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Limit the number of records that return results</a:t>
            </a:r>
          </a:p>
        </p:txBody>
      </p:sp>
    </p:spTree>
    <p:extLst>
      <p:ext uri="{BB962C8B-B14F-4D97-AF65-F5344CB8AC3E}">
        <p14:creationId xmlns:p14="http://schemas.microsoft.com/office/powerpoint/2010/main" val="120751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Alias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Use to rename the field or table</a:t>
            </a:r>
          </a:p>
        </p:txBody>
      </p:sp>
    </p:spTree>
    <p:extLst>
      <p:ext uri="{BB962C8B-B14F-4D97-AF65-F5344CB8AC3E}">
        <p14:creationId xmlns:p14="http://schemas.microsoft.com/office/powerpoint/2010/main" val="401626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0398951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MODIFY DATA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6675719" cy="452881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Insert Statement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Update Statement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Delete Statement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00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INSERT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Method 1: Insert each record </a:t>
            </a:r>
          </a:p>
          <a:p>
            <a:pPr marL="889000" lvl="2" indent="0" hangingPunct="1">
              <a:buNone/>
            </a:pPr>
            <a:r>
              <a:rPr lang="en-US" sz="3800" dirty="0"/>
              <a:t>INSERT INTO </a:t>
            </a:r>
            <a:r>
              <a:rPr lang="en-US" sz="3800" dirty="0" err="1"/>
              <a:t>table_name</a:t>
            </a:r>
            <a:r>
              <a:rPr lang="en-US" sz="3800" dirty="0"/>
              <a:t> (column1, column2, column3, ...)</a:t>
            </a:r>
          </a:p>
          <a:p>
            <a:pPr marL="889000" lvl="2" indent="0" hangingPunct="1">
              <a:buNone/>
            </a:pPr>
            <a:r>
              <a:rPr lang="en-US" sz="3800" dirty="0"/>
              <a:t>VALUES (value1, value2, value3, ...);</a:t>
            </a:r>
          </a:p>
          <a:p>
            <a:pPr marL="889000" lvl="2" indent="0" hangingPunct="1">
              <a:buNone/>
            </a:pPr>
            <a:endParaRPr lang="en-US" sz="38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 Method 2: Insert multiple records at once (recommended)</a:t>
            </a:r>
          </a:p>
          <a:p>
            <a:pPr marL="889000" lvl="2" indent="0" hangingPunct="1">
              <a:buNone/>
            </a:pPr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  (column1, column2, column3, ...)</a:t>
            </a:r>
          </a:p>
          <a:p>
            <a:pPr marL="889000" lvl="2" indent="0" hangingPunct="1">
              <a:buNone/>
            </a:pPr>
            <a:r>
              <a:rPr lang="en-US" dirty="0"/>
              <a:t>VALUES 	(value1.1, value1.2, value1.3, ...),</a:t>
            </a:r>
          </a:p>
          <a:p>
            <a:pPr marL="889000" lvl="2" indent="0" hangingPunct="1">
              <a:buNone/>
            </a:pPr>
            <a:r>
              <a:rPr lang="en-US" dirty="0"/>
              <a:t>			(value2.1, value2.2, value2.3, ...),</a:t>
            </a:r>
          </a:p>
          <a:p>
            <a:pPr marL="889000" lvl="2" indent="0" hangingPunct="1">
              <a:buNone/>
            </a:pPr>
            <a:r>
              <a:rPr lang="en-US" dirty="0"/>
              <a:t>			(value3.1, value3.2, value3.3, ...);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81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UPDATE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Syntax:</a:t>
            </a:r>
          </a:p>
          <a:p>
            <a:pPr marL="889000" lvl="2" indent="0" hangingPunct="1">
              <a:buNone/>
            </a:pPr>
            <a:r>
              <a:rPr lang="en-US" dirty="0"/>
              <a:t>UPDATE 	</a:t>
            </a:r>
            <a:r>
              <a:rPr lang="en-US" dirty="0" err="1"/>
              <a:t>table_name</a:t>
            </a:r>
            <a:endParaRPr lang="en-US" dirty="0"/>
          </a:p>
          <a:p>
            <a:pPr marL="889000" lvl="2" indent="0" hangingPunct="1">
              <a:buNone/>
            </a:pPr>
            <a:r>
              <a:rPr lang="en-US" dirty="0"/>
              <a:t>SET 			column_name_1 = value_1,</a:t>
            </a:r>
          </a:p>
          <a:p>
            <a:pPr marL="889000" lvl="2" indent="0" hangingPunct="1">
              <a:buNone/>
            </a:pPr>
            <a:r>
              <a:rPr lang="en-US" dirty="0"/>
              <a:t>				column_name_2 = value_2,</a:t>
            </a:r>
          </a:p>
          <a:p>
            <a:pPr marL="889000" lvl="2" indent="0" hangingPunct="1">
              <a:buNone/>
            </a:pPr>
            <a:r>
              <a:rPr lang="en-US" dirty="0"/>
              <a:t>				...</a:t>
            </a:r>
          </a:p>
          <a:p>
            <a:pPr marL="889000" lvl="2" indent="0" hangingPunct="1">
              <a:buNone/>
            </a:pPr>
            <a:r>
              <a:rPr lang="en-US" dirty="0"/>
              <a:t>WHERE 	condition;</a:t>
            </a:r>
          </a:p>
        </p:txBody>
      </p:sp>
    </p:spTree>
    <p:extLst>
      <p:ext uri="{BB962C8B-B14F-4D97-AF65-F5344CB8AC3E}">
        <p14:creationId xmlns:p14="http://schemas.microsoft.com/office/powerpoint/2010/main" val="297612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DELETE STATEMENT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Syntax:</a:t>
            </a:r>
          </a:p>
          <a:p>
            <a:pPr marL="889000" lvl="2" indent="0" hangingPunct="1">
              <a:buNone/>
            </a:pPr>
            <a:r>
              <a:rPr lang="en-US" dirty="0"/>
              <a:t>DELETE </a:t>
            </a:r>
          </a:p>
          <a:p>
            <a:pPr marL="889000" lvl="2" indent="0" hangingPunct="1">
              <a:buNone/>
            </a:pPr>
            <a:r>
              <a:rPr lang="en-US" dirty="0"/>
              <a:t>FROM 	</a:t>
            </a:r>
            <a:r>
              <a:rPr lang="en-US" dirty="0" err="1"/>
              <a:t>table_name</a:t>
            </a:r>
            <a:endParaRPr lang="en-US" dirty="0"/>
          </a:p>
          <a:p>
            <a:pPr marL="889000" lvl="2" indent="0" hangingPunct="1">
              <a:buNone/>
            </a:pPr>
            <a:r>
              <a:rPr lang="en-US" dirty="0"/>
              <a:t>WHERE 	condition;</a:t>
            </a:r>
          </a:p>
        </p:txBody>
      </p:sp>
    </p:spTree>
    <p:extLst>
      <p:ext uri="{BB962C8B-B14F-4D97-AF65-F5344CB8AC3E}">
        <p14:creationId xmlns:p14="http://schemas.microsoft.com/office/powerpoint/2010/main" val="2599050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670" y="1667614"/>
            <a:ext cx="11584129" cy="103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Assignment 2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22029</TotalTime>
  <Words>525</Words>
  <Application>Microsoft Office PowerPoint</Application>
  <PresentationFormat>Custom</PresentationFormat>
  <Paragraphs>95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Meiryo</vt:lpstr>
      <vt:lpstr> Arial (Headings)</vt:lpstr>
      <vt:lpstr>Arial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1485</cp:revision>
  <cp:lastPrinted>2019-09-17T11:00:25Z</cp:lastPrinted>
  <dcterms:modified xsi:type="dcterms:W3CDTF">2023-12-14T02:07:03Z</dcterms:modified>
  <cp:category/>
</cp:coreProperties>
</file>