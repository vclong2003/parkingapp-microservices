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514" r:id="rId2"/>
    <p:sldId id="515" r:id="rId3"/>
    <p:sldId id="419" r:id="rId4"/>
    <p:sldId id="420" r:id="rId5"/>
    <p:sldId id="502" r:id="rId6"/>
    <p:sldId id="505" r:id="rId7"/>
    <p:sldId id="506" r:id="rId8"/>
    <p:sldId id="496" r:id="rId9"/>
    <p:sldId id="503" r:id="rId10"/>
    <p:sldId id="504" r:id="rId11"/>
    <p:sldId id="507" r:id="rId12"/>
    <p:sldId id="508" r:id="rId13"/>
    <p:sldId id="509" r:id="rId14"/>
    <p:sldId id="513" r:id="rId15"/>
    <p:sldId id="510" r:id="rId16"/>
    <p:sldId id="511" r:id="rId17"/>
    <p:sldId id="512" r:id="rId18"/>
    <p:sldId id="421" r:id="rId19"/>
    <p:sldId id="501" r:id="rId20"/>
    <p:sldId id="342" r:id="rId21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89" autoAdjust="0"/>
    <p:restoredTop sz="93979" autoAdjust="0"/>
  </p:normalViewPr>
  <p:slideViewPr>
    <p:cSldViewPr snapToGrid="0" snapToObjects="1">
      <p:cViewPr varScale="1">
        <p:scale>
          <a:sx n="22" d="100"/>
          <a:sy n="22" d="100"/>
        </p:scale>
        <p:origin x="106" y="93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okhanatil.com/2010/10/minus-and-intersect-in-mysql.html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okhanatil.com/2010/10/minus-and-intersect-in-mysql.htm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okhanatil.com/2010/10/minus-and-intersect-in-mysql.html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okhanatil.com/2010/10/minus-and-intersect-in-mysql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okhanatil.com/2010/10/minus-and-intersect-in-mysql.html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okhanatil.com/2010/10/minus-and-intersect-in-mysql.html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okhanatil.com/2010/10/minus-and-intersect-in-mysql.html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okhanatil.com/2010/10/minus-and-intersect-in-mysql.html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74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https://gokhanatil.com/2010/10/minus-and-intersect-in-mysql.html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829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https://gokhanatil.com/2010/10/minus-and-intersect-in-mysql.html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236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https://gokhanatil.com/2010/10/minus-and-intersect-in-mysql.html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124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https://gokhanatil.com/2010/10/minus-and-intersect-in-mysql.html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447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https://gokhanatil.com/2010/10/minus-and-intersect-in-mysql.html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100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https://gokhanatil.com/2010/10/minus-and-intersect-in-mysql.html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977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https://gokhanatil.com/2010/10/minus-and-intersect-in-mysql.html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436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https://gokhanatil.com/2010/10/minus-and-intersect-in-mysql.html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1392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20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12/14/2023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Pakage 1: Database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Lesson 5</a:t>
            </a:r>
          </a:p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4435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Subquery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View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CTE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Subquery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Return a table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Return a value</a:t>
            </a:r>
          </a:p>
        </p:txBody>
      </p:sp>
    </p:spTree>
    <p:extLst>
      <p:ext uri="{BB962C8B-B14F-4D97-AF65-F5344CB8AC3E}">
        <p14:creationId xmlns:p14="http://schemas.microsoft.com/office/powerpoint/2010/main" val="419055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Syntax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0" y="3387852"/>
            <a:ext cx="11879771" cy="506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9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372" y="1873057"/>
            <a:ext cx="9240238" cy="36608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7689" y="7541243"/>
            <a:ext cx="5258714" cy="11393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6646" y="9250325"/>
            <a:ext cx="4390600" cy="14395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520" y="9604016"/>
            <a:ext cx="6350259" cy="21937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2831" y="7498983"/>
            <a:ext cx="9064638" cy="1751342"/>
          </a:xfrm>
          <a:prstGeom prst="rect">
            <a:avLst/>
          </a:prstGeom>
        </p:spPr>
      </p:pic>
      <p:sp>
        <p:nvSpPr>
          <p:cNvPr id="9" name="Text Placeholder 1"/>
          <p:cNvSpPr txBox="1">
            <a:spLocks/>
          </p:cNvSpPr>
          <p:nvPr/>
        </p:nvSpPr>
        <p:spPr>
          <a:xfrm>
            <a:off x="2783835" y="6009292"/>
            <a:ext cx="15774310" cy="110722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Find students with mark greater than those with id = ‘V002'</a:t>
            </a:r>
          </a:p>
        </p:txBody>
      </p:sp>
    </p:spTree>
    <p:extLst>
      <p:ext uri="{BB962C8B-B14F-4D97-AF65-F5344CB8AC3E}">
        <p14:creationId xmlns:p14="http://schemas.microsoft.com/office/powerpoint/2010/main" val="3547875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931" y="3386469"/>
            <a:ext cx="18598942" cy="22009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920" y="6885303"/>
            <a:ext cx="7321150" cy="241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82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Operator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ALL, ANY (SOME)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SOME, = ANY similar IN operator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!= SOME, != ANY similar NOT IN operator</a:t>
            </a:r>
          </a:p>
        </p:txBody>
      </p:sp>
    </p:spTree>
    <p:extLst>
      <p:ext uri="{BB962C8B-B14F-4D97-AF65-F5344CB8AC3E}">
        <p14:creationId xmlns:p14="http://schemas.microsoft.com/office/powerpoint/2010/main" val="4187646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2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900" y="4622800"/>
            <a:ext cx="10751820" cy="42234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53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View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342900" lvl="0" indent="-34290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view can be considered as the logic of the table whose content is determined from a query</a:t>
            </a:r>
          </a:p>
          <a:p>
            <a:pPr marL="342900" lvl="0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View does not save data directly in Database 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è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changing data of tables related to View, after that accessing to View, data will be up to date</a:t>
            </a:r>
          </a:p>
          <a:p>
            <a:pPr marL="285750" lvl="0" indent="-28575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è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View should only be used for Selecting and should not be used for Updating, Inserting, Deleting Record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Actually, the Update, Insert, Delete Record statement is called to the original table and update on it</a:t>
            </a:r>
          </a:p>
        </p:txBody>
      </p:sp>
    </p:spTree>
    <p:extLst>
      <p:ext uri="{BB962C8B-B14F-4D97-AF65-F5344CB8AC3E}">
        <p14:creationId xmlns:p14="http://schemas.microsoft.com/office/powerpoint/2010/main" val="4181592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View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65" y="2112804"/>
            <a:ext cx="22972965" cy="93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58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Syntax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Create View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Select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Drop View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394" y="3262311"/>
            <a:ext cx="10856214" cy="20294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393" y="7380821"/>
            <a:ext cx="8254647" cy="9125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2393" y="10172928"/>
            <a:ext cx="6273427" cy="65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37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163" y="2138318"/>
            <a:ext cx="15934154" cy="2986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498" y="5636415"/>
            <a:ext cx="9611833" cy="599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33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2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081" y="2559009"/>
            <a:ext cx="15055749" cy="791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48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2665976" cy="5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CTE (Common Table Expression)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00150" y="2672750"/>
            <a:ext cx="1886043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4400" b="0" kern="1200" dirty="0">
                <a:solidFill>
                  <a:schemeClr val="tx1"/>
                </a:solidFill>
                <a:latin typeface="Open Sans Light"/>
                <a:ea typeface="+mn-ea"/>
                <a:cs typeface="+mn-cs"/>
              </a:rPr>
              <a:t> Simplify complex query which has multiple Join, Subquery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4400" b="0" kern="1200" dirty="0">
              <a:solidFill>
                <a:schemeClr val="tx1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4400" b="0" kern="1200" dirty="0">
                <a:solidFill>
                  <a:schemeClr val="tx1"/>
                </a:solidFill>
                <a:latin typeface="Open Sans Light"/>
                <a:ea typeface="+mn-ea"/>
                <a:cs typeface="+mn-cs"/>
              </a:rPr>
              <a:t> CTE be considered temporary table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4400" b="0" kern="1200" dirty="0">
              <a:solidFill>
                <a:schemeClr val="tx1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4400" b="0" kern="1200" dirty="0">
                <a:solidFill>
                  <a:schemeClr val="tx1"/>
                </a:solidFill>
                <a:latin typeface="Open Sans Light"/>
                <a:ea typeface="+mn-ea"/>
                <a:cs typeface="+mn-cs"/>
              </a:rPr>
              <a:t> Using for Recursive Queries 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4400" b="0" kern="1200" dirty="0">
              <a:solidFill>
                <a:schemeClr val="tx1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4400" b="0" kern="1200" dirty="0">
                <a:solidFill>
                  <a:schemeClr val="tx1"/>
                </a:solidFill>
                <a:latin typeface="Open Sans Light"/>
                <a:ea typeface="+mn-ea"/>
                <a:cs typeface="+mn-cs"/>
              </a:rPr>
              <a:t> Replacing View, Temporary 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4400" b="0" kern="1200" dirty="0">
              <a:solidFill>
                <a:schemeClr val="tx1"/>
              </a:solidFill>
              <a:latin typeface="Open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108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Syntax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652" y="2619426"/>
            <a:ext cx="19307731" cy="575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566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933" y="2364380"/>
            <a:ext cx="18091736" cy="80129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1342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6" y="1669782"/>
            <a:ext cx="12871425" cy="90265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8647" y="1869836"/>
            <a:ext cx="10745277" cy="716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64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2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/>
              <a:t>Assignments for Testing System</a:t>
            </a:r>
          </a:p>
        </p:txBody>
      </p:sp>
    </p:spTree>
    <p:extLst>
      <p:ext uri="{BB962C8B-B14F-4D97-AF65-F5344CB8AC3E}">
        <p14:creationId xmlns:p14="http://schemas.microsoft.com/office/powerpoint/2010/main" val="3358299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21245</TotalTime>
  <Words>330</Words>
  <Application>Microsoft Office PowerPoint</Application>
  <PresentationFormat>Custom</PresentationFormat>
  <Paragraphs>68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Meiryo</vt:lpstr>
      <vt:lpstr> Arial (Headings)</vt:lpstr>
      <vt:lpstr>Arial</vt:lpstr>
      <vt:lpstr>Arial (Body)</vt:lpstr>
      <vt:lpstr>Calibri</vt:lpstr>
      <vt:lpstr>Courier New</vt:lpstr>
      <vt:lpstr>Helvetica Neue</vt:lpstr>
      <vt:lpstr>Helvetica Neue Light</vt:lpstr>
      <vt:lpstr>Helvetica Neue Medium</vt:lpstr>
      <vt:lpstr>Open Sans Light</vt:lpstr>
      <vt:lpstr>Symbol</vt:lpstr>
      <vt:lpstr>Times New Roman</vt:lpstr>
      <vt:lpstr>Wingdings</vt:lpstr>
      <vt:lpstr>White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1517</cp:revision>
  <cp:lastPrinted>2019-09-17T11:00:25Z</cp:lastPrinted>
  <dcterms:modified xsi:type="dcterms:W3CDTF">2023-12-14T02:08:18Z</dcterms:modified>
  <cp:category/>
</cp:coreProperties>
</file>