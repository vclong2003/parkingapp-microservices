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3716000" cx="24384000"/>
  <p:notesSz cx="6797675" cy="9929800"/>
  <p:embeddedFontLst>
    <p:embeddedFont>
      <p:font typeface="Roboto Condensed"/>
      <p:regular r:id="rId28"/>
      <p:bold r:id="rId29"/>
      <p:italic r:id="rId30"/>
      <p:boldItalic r:id="rId31"/>
    </p:embeddedFont>
    <p:embeddedFont>
      <p:font typeface="Helvetica Neue"/>
      <p:regular r:id="rId32"/>
      <p:bold r:id="rId33"/>
      <p:italic r:id="rId34"/>
      <p:boldItalic r:id="rId35"/>
    </p:embeddedFont>
    <p:embeddedFont>
      <p:font typeface="Helvetica Neue Light"/>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40" roundtripDataSignature="AMtx7mhx5+PMAQ0HXoBLPi4rgtQDf1fF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Condensed-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Condensed-boldItalic.fntdata"/><Relationship Id="rId30" Type="http://schemas.openxmlformats.org/officeDocument/2006/relationships/font" Target="fonts/RobotoCondensed-italic.fntdata"/><Relationship Id="rId11" Type="http://schemas.openxmlformats.org/officeDocument/2006/relationships/slide" Target="slides/slide6.xml"/><Relationship Id="rId33" Type="http://schemas.openxmlformats.org/officeDocument/2006/relationships/font" Target="fonts/HelveticaNeue-bold.fntdata"/><Relationship Id="rId10" Type="http://schemas.openxmlformats.org/officeDocument/2006/relationships/slide" Target="slides/slide5.xml"/><Relationship Id="rId32" Type="http://schemas.openxmlformats.org/officeDocument/2006/relationships/font" Target="fonts/HelveticaNeue-regular.fntdata"/><Relationship Id="rId13" Type="http://schemas.openxmlformats.org/officeDocument/2006/relationships/slide" Target="slides/slide8.xml"/><Relationship Id="rId35" Type="http://schemas.openxmlformats.org/officeDocument/2006/relationships/font" Target="fonts/HelveticaNeue-boldItalic.fntdata"/><Relationship Id="rId12" Type="http://schemas.openxmlformats.org/officeDocument/2006/relationships/slide" Target="slides/slide7.xml"/><Relationship Id="rId34" Type="http://schemas.openxmlformats.org/officeDocument/2006/relationships/font" Target="fonts/HelveticaNeue-italic.fntdata"/><Relationship Id="rId15" Type="http://schemas.openxmlformats.org/officeDocument/2006/relationships/slide" Target="slides/slide10.xml"/><Relationship Id="rId37" Type="http://schemas.openxmlformats.org/officeDocument/2006/relationships/font" Target="fonts/HelveticaNeueLight-bold.fntdata"/><Relationship Id="rId14" Type="http://schemas.openxmlformats.org/officeDocument/2006/relationships/slide" Target="slides/slide9.xml"/><Relationship Id="rId36" Type="http://schemas.openxmlformats.org/officeDocument/2006/relationships/font" Target="fonts/HelveticaNeueLight-regular.fntdata"/><Relationship Id="rId17" Type="http://schemas.openxmlformats.org/officeDocument/2006/relationships/slide" Target="slides/slide12.xml"/><Relationship Id="rId39" Type="http://schemas.openxmlformats.org/officeDocument/2006/relationships/font" Target="fonts/HelveticaNeueLight-boldItalic.fntdata"/><Relationship Id="rId16" Type="http://schemas.openxmlformats.org/officeDocument/2006/relationships/slide" Target="slides/slide11.xml"/><Relationship Id="rId38" Type="http://schemas.openxmlformats.org/officeDocument/2006/relationships/font" Target="fonts/HelveticaNeueLigh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5" name="Google Shape;55;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2" name="Google Shape;62;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8" name="Google Shape;68;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4" name="Google Shape;74;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 name="Google Shape;80;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6" name="Google Shape;86;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4" name="Google Shape;94;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0" name="Google Shape;100;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3" name="Google Shape;113;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1" name="Google Shape;121;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0" name="Google Shape;130;p3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9" name="Google Shape;139;p3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5" name="Google Shape;145;p3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4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8" name="Google Shape;158;p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6" name="Google Shape;166;p4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4" name="Google Shape;174;p4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1" name="Google Shape;181;p4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DevOps Overview</a:t>
            </a:r>
            <a:endParaRPr b="0" i="0" sz="10000" u="none" cap="none" strike="noStrike">
              <a:solidFill>
                <a:srgbClr val="0079BF"/>
              </a:solidFill>
              <a:latin typeface="Helvetica Neue"/>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3116480"/>
            <a:ext cx="21401314" cy="5990944"/>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DevOps Overview</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Basic network protocols concepts</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Popular web servers: Apache, Nginx</a:t>
            </a:r>
            <a:endParaRPr/>
          </a:p>
          <a:p>
            <a:pPr indent="0" lvl="0" marL="457200" marR="0" rtl="0" algn="l">
              <a:lnSpc>
                <a:spcPct val="100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A picture containing drawing&#10;&#10;Description automatically generated" id="50" name="Google Shape;50;p18"/>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51" name="Google Shape;51;p18"/>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52" name="Google Shape;52;p18"/>
          <p:cNvSpPr txBox="1"/>
          <p:nvPr/>
        </p:nvSpPr>
        <p:spPr>
          <a:xfrm>
            <a:off x="948815" y="5847518"/>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About DevOps</a:t>
            </a:r>
            <a:endParaRPr b="0" i="0" sz="10000" u="none" cap="none" strike="noStrike">
              <a:solidFill>
                <a:srgbClr val="0079BF"/>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Software Development is shifting</a:t>
            </a:r>
            <a:endParaRPr b="1" i="0" sz="6000" u="none" cap="none" strike="noStrike">
              <a:solidFill>
                <a:srgbClr val="4F81BD"/>
              </a:solidFill>
              <a:latin typeface="Arial"/>
              <a:ea typeface="Arial"/>
              <a:cs typeface="Arial"/>
              <a:sym typeface="Arial"/>
            </a:endParaRPr>
          </a:p>
        </p:txBody>
      </p:sp>
      <p:sp>
        <p:nvSpPr>
          <p:cNvPr id="58" name="Google Shape;58;p4"/>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59" name="Google Shape;59;p4"/>
          <p:cNvPicPr preferRelativeResize="0"/>
          <p:nvPr/>
        </p:nvPicPr>
        <p:blipFill rotWithShape="1">
          <a:blip r:embed="rId3">
            <a:alphaModFix/>
          </a:blip>
          <a:srcRect b="0" l="0" r="0" t="0"/>
          <a:stretch/>
        </p:blipFill>
        <p:spPr>
          <a:xfrm>
            <a:off x="1200149" y="1659575"/>
            <a:ext cx="22785958" cy="107762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9"/>
          <p:cNvSpPr txBox="1"/>
          <p:nvPr/>
        </p:nvSpPr>
        <p:spPr>
          <a:xfrm>
            <a:off x="1200149" y="571498"/>
            <a:ext cx="16063723"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Challenges in Application Development</a:t>
            </a:r>
            <a:endParaRPr b="1" i="0" sz="6000" u="none" cap="none" strike="noStrike">
              <a:solidFill>
                <a:srgbClr val="4F81BD"/>
              </a:solidFill>
              <a:latin typeface="Arial"/>
              <a:ea typeface="Arial"/>
              <a:cs typeface="Arial"/>
              <a:sym typeface="Arial"/>
            </a:endParaRPr>
          </a:p>
        </p:txBody>
      </p:sp>
      <p:pic>
        <p:nvPicPr>
          <p:cNvPr id="65" name="Google Shape;65;p19"/>
          <p:cNvPicPr preferRelativeResize="0"/>
          <p:nvPr/>
        </p:nvPicPr>
        <p:blipFill rotWithShape="1">
          <a:blip r:embed="rId3">
            <a:alphaModFix/>
          </a:blip>
          <a:srcRect b="0" l="0" r="0" t="0"/>
          <a:stretch/>
        </p:blipFill>
        <p:spPr>
          <a:xfrm>
            <a:off x="2645664" y="1814514"/>
            <a:ext cx="19092672" cy="10542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0"/>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Shifting To DevOps Is Key</a:t>
            </a:r>
            <a:endParaRPr b="1" i="0" sz="6000" u="none" cap="none" strike="noStrike">
              <a:solidFill>
                <a:srgbClr val="4F81BD"/>
              </a:solidFill>
              <a:latin typeface="Arial"/>
              <a:ea typeface="Arial"/>
              <a:cs typeface="Arial"/>
              <a:sym typeface="Arial"/>
            </a:endParaRPr>
          </a:p>
        </p:txBody>
      </p:sp>
      <p:pic>
        <p:nvPicPr>
          <p:cNvPr id="71" name="Google Shape;71;p20"/>
          <p:cNvPicPr preferRelativeResize="0"/>
          <p:nvPr/>
        </p:nvPicPr>
        <p:blipFill rotWithShape="1">
          <a:blip r:embed="rId3">
            <a:alphaModFix/>
          </a:blip>
          <a:srcRect b="0" l="0" r="0" t="0"/>
          <a:stretch/>
        </p:blipFill>
        <p:spPr>
          <a:xfrm>
            <a:off x="2508661" y="3182112"/>
            <a:ext cx="19270329" cy="7315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21"/>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What Is DevOps?</a:t>
            </a:r>
            <a:endParaRPr b="1" i="0" sz="6000" u="none" cap="none" strike="noStrike">
              <a:solidFill>
                <a:srgbClr val="4F81BD"/>
              </a:solidFill>
              <a:latin typeface="Arial"/>
              <a:ea typeface="Arial"/>
              <a:cs typeface="Arial"/>
              <a:sym typeface="Arial"/>
            </a:endParaRPr>
          </a:p>
        </p:txBody>
      </p:sp>
      <p:pic>
        <p:nvPicPr>
          <p:cNvPr id="77" name="Google Shape;77;p21"/>
          <p:cNvPicPr preferRelativeResize="0"/>
          <p:nvPr/>
        </p:nvPicPr>
        <p:blipFill rotWithShape="1">
          <a:blip r:embed="rId3">
            <a:alphaModFix/>
          </a:blip>
          <a:srcRect b="0" l="0" r="0" t="0"/>
          <a:stretch/>
        </p:blipFill>
        <p:spPr>
          <a:xfrm>
            <a:off x="2112734" y="1917117"/>
            <a:ext cx="20660100" cy="98817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2"/>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DevOps Culture</a:t>
            </a:r>
            <a:endParaRPr b="1" i="0" sz="6000" u="none" cap="none" strike="noStrike">
              <a:solidFill>
                <a:srgbClr val="4F81BD"/>
              </a:solidFill>
              <a:latin typeface="Arial"/>
              <a:ea typeface="Arial"/>
              <a:cs typeface="Arial"/>
              <a:sym typeface="Arial"/>
            </a:endParaRPr>
          </a:p>
        </p:txBody>
      </p:sp>
      <p:pic>
        <p:nvPicPr>
          <p:cNvPr id="83" name="Google Shape;83;p22"/>
          <p:cNvPicPr preferRelativeResize="0"/>
          <p:nvPr/>
        </p:nvPicPr>
        <p:blipFill rotWithShape="1">
          <a:blip r:embed="rId3">
            <a:alphaModFix/>
          </a:blip>
          <a:srcRect b="0" l="0" r="0" t="0"/>
          <a:stretch/>
        </p:blipFill>
        <p:spPr>
          <a:xfrm>
            <a:off x="4188715" y="1828312"/>
            <a:ext cx="16006569" cy="10059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3"/>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DevOps Lifecycle</a:t>
            </a:r>
            <a:endParaRPr b="1" i="0" sz="6000" u="none" cap="none" strike="noStrike">
              <a:solidFill>
                <a:srgbClr val="4F81BD"/>
              </a:solidFill>
              <a:latin typeface="Arial"/>
              <a:ea typeface="Arial"/>
              <a:cs typeface="Arial"/>
              <a:sym typeface="Arial"/>
            </a:endParaRPr>
          </a:p>
        </p:txBody>
      </p:sp>
      <p:sp>
        <p:nvSpPr>
          <p:cNvPr id="89" name="Google Shape;89;p23"/>
          <p:cNvSpPr txBox="1"/>
          <p:nvPr/>
        </p:nvSpPr>
        <p:spPr>
          <a:xfrm>
            <a:off x="1054690" y="8809087"/>
            <a:ext cx="12613710"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Plan</a:t>
            </a:r>
            <a:r>
              <a:rPr b="0" i="0" lang="en-US" sz="4000" u="none" cap="none" strike="noStrike">
                <a:solidFill>
                  <a:srgbClr val="000000"/>
                </a:solidFill>
                <a:latin typeface="Arial"/>
                <a:ea typeface="Arial"/>
                <a:cs typeface="Arial"/>
                <a:sym typeface="Arial"/>
              </a:rPr>
              <a:t>: task and schedules management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Code</a:t>
            </a:r>
            <a:r>
              <a:rPr b="0" i="0" lang="en-US" sz="4000" u="none" cap="none" strike="noStrike">
                <a:solidFill>
                  <a:srgbClr val="000000"/>
                </a:solidFill>
                <a:latin typeface="Arial"/>
                <a:ea typeface="Arial"/>
                <a:cs typeface="Arial"/>
                <a:sym typeface="Arial"/>
              </a:rPr>
              <a:t>: version control, code review and scan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Build</a:t>
            </a:r>
            <a:r>
              <a:rPr b="0" i="0" lang="en-US" sz="4000" u="none" cap="none" strike="noStrike">
                <a:solidFill>
                  <a:srgbClr val="000000"/>
                </a:solidFill>
                <a:latin typeface="Arial"/>
                <a:ea typeface="Arial"/>
                <a:cs typeface="Arial"/>
                <a:sym typeface="Arial"/>
              </a:rPr>
              <a:t>: build status, packing and artifact repository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Test</a:t>
            </a:r>
            <a:r>
              <a:rPr b="0" i="0" lang="en-US" sz="4000" u="none" cap="none" strike="noStrike">
                <a:solidFill>
                  <a:srgbClr val="000000"/>
                </a:solidFill>
                <a:latin typeface="Arial"/>
                <a:ea typeface="Arial"/>
                <a:cs typeface="Arial"/>
                <a:sym typeface="Arial"/>
              </a:rPr>
              <a:t>: quality assurance of development through testing</a:t>
            </a:r>
            <a:endParaRPr/>
          </a:p>
        </p:txBody>
      </p:sp>
      <p:sp>
        <p:nvSpPr>
          <p:cNvPr id="90" name="Google Shape;90;p23"/>
          <p:cNvSpPr txBox="1"/>
          <p:nvPr/>
        </p:nvSpPr>
        <p:spPr>
          <a:xfrm>
            <a:off x="14519422" y="2607822"/>
            <a:ext cx="8809888" cy="80945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Release</a:t>
            </a:r>
            <a:r>
              <a:rPr b="0" i="0" lang="en-US" sz="4000" u="none" cap="none" strike="noStrike">
                <a:solidFill>
                  <a:srgbClr val="000000"/>
                </a:solidFill>
                <a:latin typeface="Arial"/>
                <a:ea typeface="Arial"/>
                <a:cs typeface="Arial"/>
                <a:sym typeface="Arial"/>
              </a:rPr>
              <a:t>: change management, release approvals and move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Deploy</a:t>
            </a:r>
            <a:r>
              <a:rPr b="0" i="0" lang="en-US" sz="4000" u="none" cap="none" strike="noStrike">
                <a:solidFill>
                  <a:srgbClr val="000000"/>
                </a:solidFill>
                <a:latin typeface="Arial"/>
                <a:ea typeface="Arial"/>
                <a:cs typeface="Arial"/>
                <a:sym typeface="Arial"/>
              </a:rPr>
              <a:t>: infrastructure installation, app deployment, infrastructure/app configuration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Operate</a:t>
            </a:r>
            <a:r>
              <a:rPr b="0" i="0" lang="en-US" sz="4000" u="none" cap="none" strike="noStrike">
                <a:solidFill>
                  <a:srgbClr val="000000"/>
                </a:solidFill>
                <a:latin typeface="Arial"/>
                <a:ea typeface="Arial"/>
                <a:cs typeface="Arial"/>
                <a:sym typeface="Arial"/>
              </a:rPr>
              <a:t>: infrastructure/app management, high availability (HA), log/backup management, database management…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 </a:t>
            </a:r>
            <a:r>
              <a:rPr b="1" i="0" lang="en-US" sz="4000" u="none" cap="none" strike="noStrike">
                <a:solidFill>
                  <a:srgbClr val="000000"/>
                </a:solidFill>
                <a:latin typeface="Arial"/>
                <a:ea typeface="Arial"/>
                <a:cs typeface="Arial"/>
                <a:sym typeface="Arial"/>
              </a:rPr>
              <a:t>Monitor</a:t>
            </a:r>
            <a:r>
              <a:rPr b="0" i="0" lang="en-US" sz="4000" u="none" cap="none" strike="noStrike">
                <a:solidFill>
                  <a:srgbClr val="000000"/>
                </a:solidFill>
                <a:latin typeface="Arial"/>
                <a:ea typeface="Arial"/>
                <a:cs typeface="Arial"/>
                <a:sym typeface="Arial"/>
              </a:rPr>
              <a:t>: service performance monitoring, log monitoring, incident management and customer feedback. 13 </a:t>
            </a:r>
            <a:endParaRPr b="0" i="0" sz="2000" u="none" cap="none" strike="noStrike">
              <a:solidFill>
                <a:srgbClr val="000000"/>
              </a:solidFill>
              <a:latin typeface="Arial"/>
              <a:ea typeface="Arial"/>
              <a:cs typeface="Arial"/>
              <a:sym typeface="Arial"/>
            </a:endParaRPr>
          </a:p>
        </p:txBody>
      </p:sp>
      <p:pic>
        <p:nvPicPr>
          <p:cNvPr id="91" name="Google Shape;91;p23"/>
          <p:cNvPicPr preferRelativeResize="0"/>
          <p:nvPr/>
        </p:nvPicPr>
        <p:blipFill rotWithShape="1">
          <a:blip r:embed="rId3">
            <a:alphaModFix/>
          </a:blip>
          <a:srcRect b="0" l="0" r="0" t="0"/>
          <a:stretch/>
        </p:blipFill>
        <p:spPr>
          <a:xfrm>
            <a:off x="707218" y="2607822"/>
            <a:ext cx="10582909" cy="47856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4"/>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Pipelines in DevOps Lifecycle</a:t>
            </a:r>
            <a:endParaRPr b="1" i="0" sz="6000" u="none" cap="none" strike="noStrike">
              <a:solidFill>
                <a:srgbClr val="4F81BD"/>
              </a:solidFill>
              <a:latin typeface="Arial"/>
              <a:ea typeface="Arial"/>
              <a:cs typeface="Arial"/>
              <a:sym typeface="Arial"/>
            </a:endParaRPr>
          </a:p>
        </p:txBody>
      </p:sp>
      <p:pic>
        <p:nvPicPr>
          <p:cNvPr id="97" name="Google Shape;97;p24"/>
          <p:cNvPicPr preferRelativeResize="0"/>
          <p:nvPr/>
        </p:nvPicPr>
        <p:blipFill rotWithShape="1">
          <a:blip r:embed="rId3">
            <a:alphaModFix/>
          </a:blip>
          <a:srcRect b="0" l="0" r="0" t="0"/>
          <a:stretch/>
        </p:blipFill>
        <p:spPr>
          <a:xfrm>
            <a:off x="2565785" y="2478024"/>
            <a:ext cx="19252429" cy="87599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5"/>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DevOps Toolchains</a:t>
            </a:r>
            <a:endParaRPr b="1" i="0" sz="6000" u="none" cap="none" strike="noStrike">
              <a:solidFill>
                <a:srgbClr val="4F81BD"/>
              </a:solidFill>
              <a:latin typeface="Arial"/>
              <a:ea typeface="Arial"/>
              <a:cs typeface="Arial"/>
              <a:sym typeface="Arial"/>
            </a:endParaRPr>
          </a:p>
        </p:txBody>
      </p:sp>
      <p:pic>
        <p:nvPicPr>
          <p:cNvPr id="103" name="Google Shape;103;p25"/>
          <p:cNvPicPr preferRelativeResize="0"/>
          <p:nvPr/>
        </p:nvPicPr>
        <p:blipFill rotWithShape="1">
          <a:blip r:embed="rId3">
            <a:alphaModFix/>
          </a:blip>
          <a:srcRect b="0" l="0" r="0" t="0"/>
          <a:stretch/>
        </p:blipFill>
        <p:spPr>
          <a:xfrm>
            <a:off x="1485906" y="1728462"/>
            <a:ext cx="21412188" cy="10259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A picture containing drawing&#10;&#10;Description automatically generated" id="108" name="Google Shape;108;p34"/>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109" name="Google Shape;109;p34"/>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110" name="Google Shape;110;p34"/>
          <p:cNvSpPr txBox="1"/>
          <p:nvPr/>
        </p:nvSpPr>
        <p:spPr>
          <a:xfrm>
            <a:off x="1467778" y="4374109"/>
            <a:ext cx="12309985" cy="621792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Basic network protocols concepts</a:t>
            </a:r>
            <a:endParaRPr b="0" i="0" sz="10000" u="none" cap="none" strike="noStrike">
              <a:solidFill>
                <a:srgbClr val="0079BF"/>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5"/>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DNS (Domain Name System)</a:t>
            </a:r>
            <a:endParaRPr b="1" i="0" sz="6000" u="none" cap="none" strike="noStrike">
              <a:solidFill>
                <a:srgbClr val="4F81BD"/>
              </a:solidFill>
              <a:latin typeface="Arial"/>
              <a:ea typeface="Arial"/>
              <a:cs typeface="Arial"/>
              <a:sym typeface="Arial"/>
            </a:endParaRPr>
          </a:p>
        </p:txBody>
      </p:sp>
      <p:sp>
        <p:nvSpPr>
          <p:cNvPr id="116" name="Google Shape;116;p35"/>
          <p:cNvSpPr txBox="1"/>
          <p:nvPr/>
        </p:nvSpPr>
        <p:spPr>
          <a:xfrm>
            <a:off x="1200147" y="8020017"/>
            <a:ext cx="10155854" cy="40318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DNS Records: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A Record: Maps domain to an IPv4 address.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AAAA Record: Maps domain to an IPv6 address.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CNAME Record: Alias for another domain.</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MX Record: Specifies mail servers.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TXT Record: Holds text data for verification and security.</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p:txBody>
      </p:sp>
      <p:sp>
        <p:nvSpPr>
          <p:cNvPr id="117" name="Google Shape;117;p35"/>
          <p:cNvSpPr txBox="1"/>
          <p:nvPr/>
        </p:nvSpPr>
        <p:spPr>
          <a:xfrm>
            <a:off x="1200149" y="2589511"/>
            <a:ext cx="10668763"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Introduction</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The Domain Name System (DNS) is the Internet's "phonebook," translating user-friendly domain names (like www.example.com) into IP addresses (like 192.0.2.1). This process is essential for navigating and communicating on the web.</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p:txBody>
      </p:sp>
      <p:sp>
        <p:nvSpPr>
          <p:cNvPr id="118" name="Google Shape;118;p35"/>
          <p:cNvSpPr txBox="1"/>
          <p:nvPr/>
        </p:nvSpPr>
        <p:spPr>
          <a:xfrm>
            <a:off x="12515090" y="5210791"/>
            <a:ext cx="10668763" cy="40318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Types of DNS Servers: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Recursive DNS Resolver: Handles query process and caching.</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Authoritative DNS Server: Holds and serves domain-specific records.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Root Servers: The first step in the resolution, pointing to TLD servers.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TLD Servers: Manage domains within specific TLDs.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6"/>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How DNS works</a:t>
            </a:r>
            <a:endParaRPr b="1" i="0" sz="6000" u="none" cap="none" strike="noStrike">
              <a:solidFill>
                <a:srgbClr val="4F81BD"/>
              </a:solidFill>
              <a:latin typeface="Arial"/>
              <a:ea typeface="Arial"/>
              <a:cs typeface="Arial"/>
              <a:sym typeface="Arial"/>
            </a:endParaRPr>
          </a:p>
        </p:txBody>
      </p:sp>
      <p:sp>
        <p:nvSpPr>
          <p:cNvPr id="124" name="Google Shape;124;p36"/>
          <p:cNvSpPr txBox="1"/>
          <p:nvPr/>
        </p:nvSpPr>
        <p:spPr>
          <a:xfrm>
            <a:off x="3986785" y="10388005"/>
            <a:ext cx="43891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Roboto Condensed"/>
                <a:ea typeface="Roboto Condensed"/>
                <a:cs typeface="Roboto Condensed"/>
                <a:sym typeface="Roboto Condensed"/>
              </a:rPr>
              <a:t>Using Forwarders</a:t>
            </a:r>
            <a:endParaRPr b="0" i="0" sz="2000" u="none" cap="none" strike="noStrike">
              <a:solidFill>
                <a:srgbClr val="000000"/>
              </a:solidFill>
              <a:latin typeface="Roboto Condensed"/>
              <a:ea typeface="Roboto Condensed"/>
              <a:cs typeface="Roboto Condensed"/>
              <a:sym typeface="Roboto Condensed"/>
            </a:endParaRPr>
          </a:p>
        </p:txBody>
      </p:sp>
      <p:pic>
        <p:nvPicPr>
          <p:cNvPr descr="img" id="125" name="Google Shape;125;p36"/>
          <p:cNvPicPr preferRelativeResize="0"/>
          <p:nvPr/>
        </p:nvPicPr>
        <p:blipFill rotWithShape="1">
          <a:blip r:embed="rId3">
            <a:alphaModFix/>
          </a:blip>
          <a:srcRect b="0" l="0" r="0" t="0"/>
          <a:stretch/>
        </p:blipFill>
        <p:spPr>
          <a:xfrm>
            <a:off x="958747" y="2013485"/>
            <a:ext cx="10637556" cy="7020787"/>
          </a:xfrm>
          <a:prstGeom prst="rect">
            <a:avLst/>
          </a:prstGeom>
          <a:noFill/>
          <a:ln>
            <a:noFill/>
          </a:ln>
        </p:spPr>
      </p:pic>
      <p:pic>
        <p:nvPicPr>
          <p:cNvPr id="126" name="Google Shape;126;p36"/>
          <p:cNvPicPr preferRelativeResize="0"/>
          <p:nvPr/>
        </p:nvPicPr>
        <p:blipFill rotWithShape="1">
          <a:blip r:embed="rId4">
            <a:alphaModFix/>
          </a:blip>
          <a:srcRect b="0" l="0" r="0" t="0"/>
          <a:stretch/>
        </p:blipFill>
        <p:spPr>
          <a:xfrm>
            <a:off x="12453188" y="2228316"/>
            <a:ext cx="10972065" cy="6367603"/>
          </a:xfrm>
          <a:prstGeom prst="rect">
            <a:avLst/>
          </a:prstGeom>
          <a:noFill/>
          <a:ln>
            <a:noFill/>
          </a:ln>
        </p:spPr>
      </p:pic>
      <p:sp>
        <p:nvSpPr>
          <p:cNvPr id="127" name="Google Shape;127;p36"/>
          <p:cNvSpPr txBox="1"/>
          <p:nvPr/>
        </p:nvSpPr>
        <p:spPr>
          <a:xfrm>
            <a:off x="17037557" y="10388005"/>
            <a:ext cx="421919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Roboto Condensed"/>
                <a:ea typeface="Roboto Condensed"/>
                <a:cs typeface="Roboto Condensed"/>
                <a:sym typeface="Roboto Condensed"/>
              </a:rPr>
              <a:t>Using Root Hints</a:t>
            </a:r>
            <a:endParaRPr b="0" i="0" sz="2000" u="none" cap="none" strike="noStrike">
              <a:solidFill>
                <a:srgbClr val="000000"/>
              </a:solidFill>
              <a:latin typeface="Roboto Condensed"/>
              <a:ea typeface="Roboto Condensed"/>
              <a:cs typeface="Roboto Condensed"/>
              <a:sym typeface="Roboto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7"/>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HTTP &amp; HTTPS</a:t>
            </a:r>
            <a:endParaRPr b="1" i="0" sz="6000" u="none" cap="none" strike="noStrike">
              <a:solidFill>
                <a:srgbClr val="4F81BD"/>
              </a:solidFill>
              <a:latin typeface="Arial"/>
              <a:ea typeface="Arial"/>
              <a:cs typeface="Arial"/>
              <a:sym typeface="Arial"/>
            </a:endParaRPr>
          </a:p>
        </p:txBody>
      </p:sp>
      <p:sp>
        <p:nvSpPr>
          <p:cNvPr id="133" name="Google Shape;133;p37"/>
          <p:cNvSpPr txBox="1"/>
          <p:nvPr/>
        </p:nvSpPr>
        <p:spPr>
          <a:xfrm>
            <a:off x="1523237" y="7965153"/>
            <a:ext cx="1015585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HTTPS (HTTP Secure)</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Purpose: Secure version of HTTP that encrypts data to protect the integrity and confidentiality of the communication between the client and server.</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Key Features: Utilizes SSL/TLS for encryption, ensuring data cannot be intercepted or tampered with.</a:t>
            </a:r>
            <a:endParaRPr/>
          </a:p>
        </p:txBody>
      </p:sp>
      <p:sp>
        <p:nvSpPr>
          <p:cNvPr id="134" name="Google Shape;134;p37"/>
          <p:cNvSpPr txBox="1"/>
          <p:nvPr/>
        </p:nvSpPr>
        <p:spPr>
          <a:xfrm>
            <a:off x="1523237" y="3010135"/>
            <a:ext cx="10668763"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HTTP (HyperText Transfer Protocol)</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Purpose: The foundational protocol for transferring data on the web.</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Key Features: Stateless, request-response model where clients send requests to servers which then respond with the appropriate resources (HTML, images, etc.).</a:t>
            </a:r>
            <a:endParaRPr/>
          </a:p>
        </p:txBody>
      </p:sp>
      <p:pic>
        <p:nvPicPr>
          <p:cNvPr id="135" name="Google Shape;135;p37"/>
          <p:cNvPicPr preferRelativeResize="0"/>
          <p:nvPr/>
        </p:nvPicPr>
        <p:blipFill rotWithShape="1">
          <a:blip r:embed="rId3">
            <a:alphaModFix/>
          </a:blip>
          <a:srcRect b="0" l="0" r="0" t="0"/>
          <a:stretch/>
        </p:blipFill>
        <p:spPr>
          <a:xfrm>
            <a:off x="12704911" y="5257648"/>
            <a:ext cx="10848665" cy="3539430"/>
          </a:xfrm>
          <a:prstGeom prst="rect">
            <a:avLst/>
          </a:prstGeom>
          <a:noFill/>
          <a:ln>
            <a:noFill/>
          </a:ln>
        </p:spPr>
      </p:pic>
      <p:sp>
        <p:nvSpPr>
          <p:cNvPr id="136" name="Google Shape;136;p37"/>
          <p:cNvSpPr txBox="1"/>
          <p:nvPr/>
        </p:nvSpPr>
        <p:spPr>
          <a:xfrm>
            <a:off x="16341245" y="9473258"/>
            <a:ext cx="534832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Roboto Condensed"/>
                <a:ea typeface="Roboto Condensed"/>
                <a:cs typeface="Roboto Condensed"/>
                <a:sym typeface="Roboto Condensed"/>
              </a:rPr>
              <a:t>Comparing HTTP and HTTPS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8"/>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When to Use HTTP vs. HTTPS</a:t>
            </a:r>
            <a:endParaRPr b="1" i="0" sz="6000" u="none" cap="none" strike="noStrike">
              <a:solidFill>
                <a:srgbClr val="4F81BD"/>
              </a:solidFill>
              <a:latin typeface="Arial"/>
              <a:ea typeface="Arial"/>
              <a:cs typeface="Arial"/>
              <a:sym typeface="Arial"/>
            </a:endParaRPr>
          </a:p>
        </p:txBody>
      </p:sp>
      <p:sp>
        <p:nvSpPr>
          <p:cNvPr id="142" name="Google Shape;142;p38"/>
          <p:cNvSpPr txBox="1"/>
          <p:nvPr/>
        </p:nvSpPr>
        <p:spPr>
          <a:xfrm>
            <a:off x="2737570" y="3705079"/>
            <a:ext cx="19410427" cy="60016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HTTP:</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Suitable for non-sensitive data transfer, like delivering public content on websites where security is not a concern.</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However, its use is increasingly discouraged as modern best practices favor secure communication for all web traffic.</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HTTPS: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Essential for any website handling sensitive information, such as user logins, personal data, or financial transactions.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Recommended for all websites to enhance security, user trust, and potentially improve SEO rankings.</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9"/>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FTP &amp; SSL</a:t>
            </a:r>
            <a:endParaRPr b="1" i="0" sz="6000" u="none" cap="none" strike="noStrike">
              <a:solidFill>
                <a:srgbClr val="4F81BD"/>
              </a:solidFill>
              <a:latin typeface="Arial"/>
              <a:ea typeface="Arial"/>
              <a:cs typeface="Arial"/>
              <a:sym typeface="Arial"/>
            </a:endParaRPr>
          </a:p>
        </p:txBody>
      </p:sp>
      <p:sp>
        <p:nvSpPr>
          <p:cNvPr id="148" name="Google Shape;148;p39"/>
          <p:cNvSpPr txBox="1"/>
          <p:nvPr/>
        </p:nvSpPr>
        <p:spPr>
          <a:xfrm>
            <a:off x="3561588" y="4349621"/>
            <a:ext cx="17260824"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FTP (File Transfer Protocol)</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Purpose: Standard protocol for transferring files between computers over a network.</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Key Features: Supports simple file upload/download operations; can be less secure compared to newer protocols like SFTP (Secure FTP).</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SSL (Secure Sockets Layer) / TLS (Transport Layer Security)</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Purpose: Protocols for establishing secure communication channels over a network.</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Key Features: SSL/TLS encrypts data in transit, ensuring privacy and data integrity. TLS is the successor to SSL and is more secure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A picture containing drawing&#10;&#10;Description automatically generated" id="153" name="Google Shape;153;p40"/>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154" name="Google Shape;154;p40"/>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155" name="Google Shape;155;p40"/>
          <p:cNvSpPr txBox="1"/>
          <p:nvPr/>
        </p:nvSpPr>
        <p:spPr>
          <a:xfrm>
            <a:off x="1467778" y="4374109"/>
            <a:ext cx="12309985" cy="621792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Popular web servers: Apache, Nginx</a:t>
            </a:r>
            <a:endParaRPr b="0" i="0" sz="10000" u="none" cap="none" strike="noStrike">
              <a:solidFill>
                <a:srgbClr val="0079BF"/>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Apache HTTP Server</a:t>
            </a:r>
            <a:endParaRPr b="1" i="0" sz="6000" u="none" cap="none" strike="noStrike">
              <a:solidFill>
                <a:srgbClr val="4F81BD"/>
              </a:solidFill>
              <a:latin typeface="Arial"/>
              <a:ea typeface="Arial"/>
              <a:cs typeface="Arial"/>
              <a:sym typeface="Arial"/>
            </a:endParaRPr>
          </a:p>
        </p:txBody>
      </p:sp>
      <p:sp>
        <p:nvSpPr>
          <p:cNvPr id="161" name="Google Shape;161;p5"/>
          <p:cNvSpPr txBox="1"/>
          <p:nvPr/>
        </p:nvSpPr>
        <p:spPr>
          <a:xfrm>
            <a:off x="4645193" y="2976816"/>
            <a:ext cx="15093614"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Intro</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The Apache HTTP Server serves as the backbone for many websites and web applications, delivering content over the Internet. Apache is known for its flexibility, power, and extensive module support, making it a preferred choice for many developers and administrators.</a:t>
            </a:r>
            <a:endParaRPr/>
          </a:p>
        </p:txBody>
      </p:sp>
      <p:sp>
        <p:nvSpPr>
          <p:cNvPr id="162" name="Google Shape;162;p5"/>
          <p:cNvSpPr txBox="1"/>
          <p:nvPr/>
        </p:nvSpPr>
        <p:spPr>
          <a:xfrm>
            <a:off x="2237314" y="7223756"/>
            <a:ext cx="9954686" cy="4093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Installing:</a:t>
            </a:r>
            <a:endParaRPr b="0" i="0" sz="3200" u="none" cap="none" strike="noStrike">
              <a:solidFill>
                <a:srgbClr val="00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apt update</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apt install apache2</a:t>
            </a:r>
            <a:endParaRPr b="0" i="1" sz="28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start apache2     # Ubuntu/Debian</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start httpd       # CentOS/RHEL</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stop apache2</a:t>
            </a:r>
            <a:endParaRPr b="0" i="1" sz="2800" u="none" cap="none" strike="noStrike">
              <a:solidFill>
                <a:srgbClr val="FF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restart apache2</a:t>
            </a:r>
            <a:endParaRPr b="0" i="1" sz="2800" u="none" cap="none" strike="noStrike">
              <a:solidFill>
                <a:srgbClr val="FF0000"/>
              </a:solidFill>
              <a:latin typeface="Roboto Condensed"/>
              <a:ea typeface="Roboto Condensed"/>
              <a:cs typeface="Roboto Condensed"/>
              <a:sym typeface="Roboto Condensed"/>
            </a:endParaRPr>
          </a:p>
          <a:p>
            <a:pPr indent="-205740" lvl="0" marL="457200" marR="0" rtl="0" algn="l">
              <a:lnSpc>
                <a:spcPct val="100000"/>
              </a:lnSpc>
              <a:spcBef>
                <a:spcPts val="0"/>
              </a:spcBef>
              <a:spcAft>
                <a:spcPts val="0"/>
              </a:spcAft>
              <a:buClr>
                <a:srgbClr val="000000"/>
              </a:buClr>
              <a:buSzPts val="3960"/>
              <a:buFont typeface="Arial"/>
              <a:buNone/>
            </a:pPr>
            <a:r>
              <a:t/>
            </a:r>
            <a:endParaRPr b="0" i="0" sz="3200" u="none" cap="none" strike="noStrike">
              <a:solidFill>
                <a:srgbClr val="000000"/>
              </a:solidFill>
              <a:latin typeface="Roboto Condensed"/>
              <a:ea typeface="Roboto Condensed"/>
              <a:cs typeface="Roboto Condensed"/>
              <a:sym typeface="Roboto Condensed"/>
            </a:endParaRPr>
          </a:p>
        </p:txBody>
      </p:sp>
      <p:sp>
        <p:nvSpPr>
          <p:cNvPr id="163" name="Google Shape;163;p5"/>
          <p:cNvSpPr txBox="1"/>
          <p:nvPr/>
        </p:nvSpPr>
        <p:spPr>
          <a:xfrm>
            <a:off x="12831317" y="7278620"/>
            <a:ext cx="9954686"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Configuration File</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The main configuration file for Apache is </a:t>
            </a:r>
            <a:r>
              <a:rPr b="0" i="1" lang="en-US" sz="3200" u="sng" cap="none" strike="noStrike">
                <a:solidFill>
                  <a:srgbClr val="000000"/>
                </a:solidFill>
                <a:latin typeface="Roboto Condensed"/>
                <a:ea typeface="Roboto Condensed"/>
                <a:cs typeface="Roboto Condensed"/>
                <a:sym typeface="Roboto Condensed"/>
              </a:rPr>
              <a:t>httpd.conf</a:t>
            </a:r>
            <a:r>
              <a:rPr b="0" i="0" lang="en-US" sz="3200" u="none" cap="none" strike="noStrike">
                <a:solidFill>
                  <a:srgbClr val="000000"/>
                </a:solidFill>
                <a:latin typeface="Roboto Condensed"/>
                <a:ea typeface="Roboto Condensed"/>
                <a:cs typeface="Roboto Condensed"/>
                <a:sym typeface="Roboto Condensed"/>
              </a:rPr>
              <a:t>, usually located in </a:t>
            </a:r>
            <a:r>
              <a:rPr b="0" i="1" lang="en-US" sz="3200" u="sng" cap="none" strike="noStrike">
                <a:solidFill>
                  <a:srgbClr val="000000"/>
                </a:solidFill>
                <a:latin typeface="Roboto Condensed"/>
                <a:ea typeface="Roboto Condensed"/>
                <a:cs typeface="Roboto Condensed"/>
                <a:sym typeface="Roboto Condensed"/>
              </a:rPr>
              <a:t>/etc/httpd/conf </a:t>
            </a:r>
            <a:r>
              <a:rPr b="0" i="0" lang="en-US" sz="3200" u="none" cap="none" strike="noStrike">
                <a:solidFill>
                  <a:srgbClr val="000000"/>
                </a:solidFill>
                <a:latin typeface="Roboto Condensed"/>
                <a:ea typeface="Roboto Condensed"/>
                <a:cs typeface="Roboto Condensed"/>
                <a:sym typeface="Roboto Condensed"/>
              </a:rPr>
              <a:t>or </a:t>
            </a:r>
            <a:r>
              <a:rPr b="0" i="1" lang="en-US" sz="3200" u="sng" cap="none" strike="noStrike">
                <a:solidFill>
                  <a:srgbClr val="000000"/>
                </a:solidFill>
                <a:latin typeface="Roboto Condensed"/>
                <a:ea typeface="Roboto Condensed"/>
                <a:cs typeface="Roboto Condensed"/>
                <a:sym typeface="Roboto Condensed"/>
              </a:rPr>
              <a:t>/etc/apache2 </a:t>
            </a:r>
            <a:r>
              <a:rPr b="0" i="0" lang="en-US" sz="3200" u="none" cap="none" strike="noStrike">
                <a:solidFill>
                  <a:srgbClr val="000000"/>
                </a:solidFill>
                <a:latin typeface="Roboto Condensed"/>
                <a:ea typeface="Roboto Condensed"/>
                <a:cs typeface="Roboto Condensed"/>
                <a:sym typeface="Roboto Condensed"/>
              </a:rPr>
              <a:t>on Linux.</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1"/>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Nginx</a:t>
            </a:r>
            <a:endParaRPr/>
          </a:p>
        </p:txBody>
      </p:sp>
      <p:sp>
        <p:nvSpPr>
          <p:cNvPr id="169" name="Google Shape;169;p41"/>
          <p:cNvSpPr txBox="1"/>
          <p:nvPr/>
        </p:nvSpPr>
        <p:spPr>
          <a:xfrm>
            <a:off x="2691658" y="6970842"/>
            <a:ext cx="9954686" cy="4462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Installing and Using:</a:t>
            </a:r>
            <a:endParaRPr b="0" i="0" sz="3200" u="none" cap="none" strike="noStrike">
              <a:solidFill>
                <a:srgbClr val="00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apt update</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apt install nginx</a:t>
            </a:r>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start nginx</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stop nginx</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sudo systemctl restart nginx</a:t>
            </a:r>
            <a:endParaRPr/>
          </a:p>
          <a:p>
            <a:pPr indent="-205740" lvl="0" marL="457200" marR="0" rtl="0" algn="l">
              <a:lnSpc>
                <a:spcPct val="100000"/>
              </a:lnSpc>
              <a:spcBef>
                <a:spcPts val="0"/>
              </a:spcBef>
              <a:spcAft>
                <a:spcPts val="0"/>
              </a:spcAft>
              <a:buClr>
                <a:srgbClr val="000000"/>
              </a:buClr>
              <a:buSzPts val="3960"/>
              <a:buFont typeface="Arial"/>
              <a:buNone/>
            </a:pPr>
            <a:r>
              <a:t/>
            </a:r>
            <a:endParaRPr b="0" i="1" sz="2800" u="none" cap="none" strike="noStrike">
              <a:solidFill>
                <a:srgbClr val="FF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nginx –t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2800" u="none" cap="none" strike="noStrike">
                <a:solidFill>
                  <a:srgbClr val="FF0000"/>
                </a:solidFill>
                <a:latin typeface="Roboto Condensed"/>
                <a:ea typeface="Roboto Condensed"/>
                <a:cs typeface="Roboto Condensed"/>
                <a:sym typeface="Roboto Condensed"/>
              </a:rPr>
              <a:t>nginx –s reload</a:t>
            </a:r>
            <a:endParaRPr b="0" i="1" sz="2800" u="none" cap="none" strike="noStrike">
              <a:solidFill>
                <a:srgbClr val="FF0000"/>
              </a:solidFill>
              <a:latin typeface="Roboto Condensed"/>
              <a:ea typeface="Roboto Condensed"/>
              <a:cs typeface="Roboto Condensed"/>
              <a:sym typeface="Roboto Condensed"/>
            </a:endParaRPr>
          </a:p>
        </p:txBody>
      </p:sp>
      <p:sp>
        <p:nvSpPr>
          <p:cNvPr id="170" name="Google Shape;170;p41"/>
          <p:cNvSpPr txBox="1"/>
          <p:nvPr/>
        </p:nvSpPr>
        <p:spPr>
          <a:xfrm>
            <a:off x="12831317" y="7278620"/>
            <a:ext cx="9954686"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Configuration File</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The main configuration file for Nginx is </a:t>
            </a:r>
            <a:r>
              <a:rPr b="0" i="1" lang="en-US" sz="3200" u="sng" cap="none" strike="noStrike">
                <a:solidFill>
                  <a:srgbClr val="000000"/>
                </a:solidFill>
                <a:latin typeface="Roboto Condensed"/>
                <a:ea typeface="Roboto Condensed"/>
                <a:cs typeface="Roboto Condensed"/>
                <a:sym typeface="Roboto Condensed"/>
              </a:rPr>
              <a:t>nginx.conf</a:t>
            </a:r>
            <a:r>
              <a:rPr b="0" i="0" lang="en-US" sz="3200" u="none" cap="none" strike="noStrike">
                <a:solidFill>
                  <a:srgbClr val="000000"/>
                </a:solidFill>
                <a:latin typeface="Roboto Condensed"/>
                <a:ea typeface="Roboto Condensed"/>
                <a:cs typeface="Roboto Condensed"/>
                <a:sym typeface="Roboto Condensed"/>
              </a:rPr>
              <a:t>, typically located in </a:t>
            </a:r>
            <a:r>
              <a:rPr b="0" i="1" lang="en-US" sz="3200" u="sng" cap="none" strike="noStrike">
                <a:solidFill>
                  <a:srgbClr val="000000"/>
                </a:solidFill>
                <a:latin typeface="Roboto Condensed"/>
                <a:ea typeface="Roboto Condensed"/>
                <a:cs typeface="Roboto Condensed"/>
                <a:sym typeface="Roboto Condensed"/>
              </a:rPr>
              <a:t>/etc/nginx/nginx.conf </a:t>
            </a:r>
            <a:r>
              <a:rPr b="0" i="0" lang="en-US" sz="3200" u="none" cap="none" strike="noStrike">
                <a:solidFill>
                  <a:srgbClr val="000000"/>
                </a:solidFill>
                <a:latin typeface="Roboto Condensed"/>
                <a:ea typeface="Roboto Condensed"/>
                <a:cs typeface="Roboto Condensed"/>
                <a:sym typeface="Roboto Condensed"/>
              </a:rPr>
              <a:t>on Linux systems. Additional configuration files can be included and are usually located </a:t>
            </a:r>
            <a:r>
              <a:rPr b="0" i="1" lang="en-US" sz="3200" u="sng" cap="none" strike="noStrike">
                <a:solidFill>
                  <a:srgbClr val="000000"/>
                </a:solidFill>
                <a:latin typeface="Roboto Condensed"/>
                <a:ea typeface="Roboto Condensed"/>
                <a:cs typeface="Roboto Condensed"/>
                <a:sym typeface="Roboto Condensed"/>
              </a:rPr>
              <a:t>in /etc/nginx/conf.d/</a:t>
            </a:r>
            <a:endParaRPr/>
          </a:p>
        </p:txBody>
      </p:sp>
      <p:sp>
        <p:nvSpPr>
          <p:cNvPr id="171" name="Google Shape;171;p41"/>
          <p:cNvSpPr txBox="1"/>
          <p:nvPr/>
        </p:nvSpPr>
        <p:spPr>
          <a:xfrm>
            <a:off x="2691658" y="2398816"/>
            <a:ext cx="2027931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Introduction</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Nginx is a high-performance, open-source web server and reverse proxy server known for its efficiency, scalability, and low resource consumption.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2"/>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Basic Directives in Nginx</a:t>
            </a:r>
            <a:endParaRPr/>
          </a:p>
        </p:txBody>
      </p:sp>
      <p:sp>
        <p:nvSpPr>
          <p:cNvPr id="177" name="Google Shape;177;p42"/>
          <p:cNvSpPr txBox="1"/>
          <p:nvPr/>
        </p:nvSpPr>
        <p:spPr>
          <a:xfrm>
            <a:off x="872638" y="2920363"/>
            <a:ext cx="11104076" cy="65556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Roboto Condensed"/>
                <a:ea typeface="Roboto Condensed"/>
                <a:cs typeface="Roboto Condensed"/>
                <a:sym typeface="Roboto Condensed"/>
              </a:rPr>
              <a:t>server: </a:t>
            </a:r>
            <a:r>
              <a:rPr b="0" i="0" lang="en-US" sz="2800" u="none" cap="none" strike="noStrike">
                <a:solidFill>
                  <a:srgbClr val="000000"/>
                </a:solidFill>
                <a:latin typeface="Roboto Condensed"/>
                <a:ea typeface="Roboto Condensed"/>
                <a:cs typeface="Roboto Condensed"/>
                <a:sym typeface="Roboto Condensed"/>
              </a:rPr>
              <a:t>Defines a virtual server block to handle requests</a:t>
            </a:r>
            <a:endParaRPr/>
          </a:p>
          <a:p>
            <a:pPr indent="0" lvl="0" marL="0" marR="0" rtl="0" algn="l">
              <a:lnSpc>
                <a:spcPct val="100000"/>
              </a:lnSpc>
              <a:spcBef>
                <a:spcPts val="0"/>
              </a:spcBef>
              <a:spcAft>
                <a:spcPts val="0"/>
              </a:spcAft>
              <a:buNone/>
            </a:pPr>
            <a:r>
              <a:rPr b="1" i="0" lang="en-US" sz="2800" u="none" cap="none" strike="noStrike">
                <a:solidFill>
                  <a:srgbClr val="000000"/>
                </a:solidFill>
                <a:latin typeface="Roboto Condensed"/>
                <a:ea typeface="Roboto Condensed"/>
                <a:cs typeface="Roboto Condensed"/>
                <a:sym typeface="Roboto Condensed"/>
              </a:rPr>
              <a:t>location</a:t>
            </a:r>
            <a:r>
              <a:rPr b="0" i="0" lang="en-US" sz="2800" u="none" cap="none" strike="noStrike">
                <a:solidFill>
                  <a:srgbClr val="000000"/>
                </a:solidFill>
                <a:latin typeface="Roboto Condensed"/>
                <a:ea typeface="Roboto Condensed"/>
                <a:cs typeface="Roboto Condensed"/>
                <a:sym typeface="Roboto Condensed"/>
              </a:rPr>
              <a:t>: Sets up rules to process specific URL patterns.</a:t>
            </a:r>
            <a:endParaRPr/>
          </a:p>
          <a:p>
            <a:pPr indent="0" lvl="0" marL="0" marR="0" rtl="0" algn="l">
              <a:lnSpc>
                <a:spcPct val="100000"/>
              </a:lnSpc>
              <a:spcBef>
                <a:spcPts val="0"/>
              </a:spcBef>
              <a:spcAft>
                <a:spcPts val="0"/>
              </a:spcAft>
              <a:buNone/>
            </a:pPr>
            <a:r>
              <a:rPr b="1" i="0" lang="en-US" sz="2800" u="none" cap="none" strike="noStrike">
                <a:solidFill>
                  <a:srgbClr val="000000"/>
                </a:solidFill>
                <a:latin typeface="Roboto Condensed"/>
                <a:ea typeface="Roboto Condensed"/>
                <a:cs typeface="Roboto Condensed"/>
                <a:sym typeface="Roboto Condensed"/>
              </a:rPr>
              <a:t>listen</a:t>
            </a:r>
            <a:r>
              <a:rPr b="0" i="0" lang="en-US" sz="2800" u="none" cap="none" strike="noStrike">
                <a:solidFill>
                  <a:srgbClr val="000000"/>
                </a:solidFill>
                <a:latin typeface="Roboto Condensed"/>
                <a:ea typeface="Roboto Condensed"/>
                <a:cs typeface="Roboto Condensed"/>
                <a:sym typeface="Roboto Condensed"/>
              </a:rPr>
              <a:t>: Configures the port and IP address for the server to listen on</a:t>
            </a:r>
            <a:endParaRPr b="0" i="0" sz="28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0" lang="en-US" sz="2800" u="none" cap="none" strike="noStrike">
                <a:solidFill>
                  <a:srgbClr val="000000"/>
                </a:solidFill>
                <a:latin typeface="Roboto Condensed"/>
                <a:ea typeface="Roboto Condensed"/>
                <a:cs typeface="Roboto Condensed"/>
                <a:sym typeface="Roboto Condensed"/>
              </a:rPr>
              <a:t>Example:</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server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listen 80;</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server_name example.com www.example.com;</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root /var/www/html;</a:t>
            </a:r>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location /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try_files $uri $uri/ =404;</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Roboto Condensed"/>
              <a:ea typeface="Roboto Condensed"/>
              <a:cs typeface="Roboto Condensed"/>
              <a:sym typeface="Roboto Condensed"/>
            </a:endParaRPr>
          </a:p>
        </p:txBody>
      </p:sp>
      <p:sp>
        <p:nvSpPr>
          <p:cNvPr id="178" name="Google Shape;178;p42"/>
          <p:cNvSpPr txBox="1"/>
          <p:nvPr/>
        </p:nvSpPr>
        <p:spPr>
          <a:xfrm>
            <a:off x="12857374" y="2920363"/>
            <a:ext cx="11104076" cy="74174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Roboto Condensed"/>
                <a:ea typeface="Roboto Condensed"/>
                <a:cs typeface="Roboto Condensed"/>
                <a:sym typeface="Roboto Condensed"/>
              </a:rPr>
              <a:t>Security Configurations: </a:t>
            </a:r>
            <a:r>
              <a:rPr b="0" i="0" lang="en-US" sz="2800" u="none" cap="none" strike="noStrike">
                <a:solidFill>
                  <a:srgbClr val="000000"/>
                </a:solidFill>
                <a:latin typeface="Roboto Condensed"/>
                <a:ea typeface="Roboto Condensed"/>
                <a:cs typeface="Roboto Condensed"/>
                <a:sym typeface="Roboto Condensed"/>
              </a:rPr>
              <a:t>Enable SSL with SSL/TLS configuration for secure HTTPS connections</a:t>
            </a:r>
            <a:endParaRPr/>
          </a:p>
          <a:p>
            <a:pPr indent="0" lvl="0" marL="0" marR="0" rtl="0" algn="l">
              <a:lnSpc>
                <a:spcPct val="100000"/>
              </a:lnSpc>
              <a:spcBef>
                <a:spcPts val="0"/>
              </a:spcBef>
              <a:spcAft>
                <a:spcPts val="0"/>
              </a:spcAft>
              <a:buNone/>
            </a:pPr>
            <a:r>
              <a:rPr b="0" i="0" lang="en-US" sz="2800" u="none" cap="none" strike="noStrike">
                <a:solidFill>
                  <a:srgbClr val="000000"/>
                </a:solidFill>
                <a:latin typeface="Roboto Condensed"/>
                <a:ea typeface="Roboto Condensed"/>
                <a:cs typeface="Roboto Condensed"/>
                <a:sym typeface="Roboto Condensed"/>
              </a:rPr>
              <a:t>Example:</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server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listen 443 ssl;</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server_name example.com;</a:t>
            </a:r>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ssl_certificate /etc/nginx/ssl/example.com.crt;</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ssl_certificate_key /etc/nginx/ssl/example.com.key;</a:t>
            </a:r>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location /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root /var/www/html;</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index index.html;</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Roboto Condensed"/>
              <a:ea typeface="Roboto Condensed"/>
              <a:cs typeface="Roboto Condensed"/>
              <a:sym typeface="Roboto Condense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3"/>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Basic Directives in Nginx</a:t>
            </a:r>
            <a:endParaRPr/>
          </a:p>
        </p:txBody>
      </p:sp>
      <p:sp>
        <p:nvSpPr>
          <p:cNvPr id="184" name="Google Shape;184;p43"/>
          <p:cNvSpPr txBox="1"/>
          <p:nvPr/>
        </p:nvSpPr>
        <p:spPr>
          <a:xfrm>
            <a:off x="872638" y="2920363"/>
            <a:ext cx="8966306" cy="82791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Roboto Condensed"/>
                <a:ea typeface="Roboto Condensed"/>
                <a:cs typeface="Roboto Condensed"/>
                <a:sym typeface="Roboto Condensed"/>
              </a:rPr>
              <a:t>Reverse Proxy Configuration: </a:t>
            </a:r>
            <a:r>
              <a:rPr b="0" i="0" lang="en-US" sz="2800" u="none" cap="none" strike="noStrike">
                <a:solidFill>
                  <a:srgbClr val="000000"/>
                </a:solidFill>
                <a:latin typeface="Roboto Condensed"/>
                <a:ea typeface="Roboto Condensed"/>
                <a:cs typeface="Roboto Condensed"/>
                <a:sym typeface="Roboto Condensed"/>
              </a:rPr>
              <a:t>Nginx can forward client requests to backend servers, acting as a reverse proxy.</a:t>
            </a:r>
            <a:endParaRPr/>
          </a:p>
          <a:p>
            <a:pPr indent="0" lvl="0" marL="0" marR="0" rtl="0" algn="l">
              <a:lnSpc>
                <a:spcPct val="100000"/>
              </a:lnSpc>
              <a:spcBef>
                <a:spcPts val="0"/>
              </a:spcBef>
              <a:spcAft>
                <a:spcPts val="0"/>
              </a:spcAft>
              <a:buNone/>
            </a:pPr>
            <a:r>
              <a:rPr b="0" i="0" lang="en-US" sz="2800" u="none" cap="none" strike="noStrike">
                <a:solidFill>
                  <a:srgbClr val="000000"/>
                </a:solidFill>
                <a:latin typeface="Roboto Condensed"/>
                <a:ea typeface="Roboto Condensed"/>
                <a:cs typeface="Roboto Condensed"/>
                <a:sym typeface="Roboto Condensed"/>
              </a:rPr>
              <a:t>Example:	</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server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listen 80;</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server_name proxy.example.com;</a:t>
            </a:r>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location /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proxy_pass http://backend_server;</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Host $host;</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X-Real-IP $remote_addr;</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X-Forwarded-For $proxy_add_x_forwarded_for;</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X-Forwarded-Proto $scheme;</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Roboto Condensed"/>
              <a:ea typeface="Roboto Condensed"/>
              <a:cs typeface="Roboto Condensed"/>
              <a:sym typeface="Roboto Condensed"/>
            </a:endParaRPr>
          </a:p>
        </p:txBody>
      </p:sp>
      <p:sp>
        <p:nvSpPr>
          <p:cNvPr id="185" name="Google Shape;185;p43"/>
          <p:cNvSpPr txBox="1"/>
          <p:nvPr/>
        </p:nvSpPr>
        <p:spPr>
          <a:xfrm>
            <a:off x="11649204" y="1412258"/>
            <a:ext cx="12181734" cy="1129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Roboto Condensed"/>
                <a:ea typeface="Roboto Condensed"/>
                <a:cs typeface="Roboto Condensed"/>
                <a:sym typeface="Roboto Condensed"/>
              </a:rPr>
              <a:t>Initial example: Using cert-bot to get SSL cert. The file below is stored in /etc/nginx/conf</a:t>
            </a:r>
            <a:endParaRPr b="0" i="0" sz="28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server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server_name home.example.com;</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client_max_body_size 0;</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location /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Host              $http_host;</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X-Real-IP         $remote_addr;</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X-Forwarded-For   $proxy_add_x_forwarded_for;</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proxy_set_header  X-Forwarded-Proto $scheme;</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proxy_pass http://10.1.1.193:88;</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proxy_redirect off;</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proxy_pass_request_headers on;</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listen 443 ssl;</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ssl_certificate /etc/letsencrypt/live/ home.example.com /fullchain.pem;</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ssl_certificate_key /etc/letsencrypt/live/ home.example.com /privkey.pem;</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t/>
            </a:r>
            <a:endParaRPr b="0" i="1" sz="28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server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server_name home.example.com;</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listen 80;</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location /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return 301 https://$server_name$request_uri;</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  }</a:t>
            </a:r>
            <a:endParaRPr/>
          </a:p>
          <a:p>
            <a:pPr indent="0" lvl="0" marL="0" marR="0" rtl="0" algn="l">
              <a:lnSpc>
                <a:spcPct val="100000"/>
              </a:lnSpc>
              <a:spcBef>
                <a:spcPts val="0"/>
              </a:spcBef>
              <a:spcAft>
                <a:spcPts val="0"/>
              </a:spcAft>
              <a:buNone/>
            </a:pPr>
            <a:r>
              <a:rPr b="0" i="1" lang="en-US" sz="2800" u="none" cap="none" strike="noStrike">
                <a:solidFill>
                  <a:srgbClr val="FF0000"/>
                </a:solidFill>
                <a:latin typeface="Roboto Condensed"/>
                <a:ea typeface="Roboto Condensed"/>
                <a:cs typeface="Roboto Condensed"/>
                <a:sym typeface="Roboto Condensed"/>
              </a:rPr>
              <a:t>}</a:t>
            </a:r>
            <a:endParaRPr b="0" i="0" sz="2800" u="none" cap="none" strike="noStrike">
              <a:solidFill>
                <a:srgbClr val="000000"/>
              </a:solidFill>
              <a:latin typeface="Roboto Condensed"/>
              <a:ea typeface="Roboto Condensed"/>
              <a:cs typeface="Roboto Condensed"/>
              <a:sym typeface="Roboto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