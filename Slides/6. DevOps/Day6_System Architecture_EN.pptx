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12192000"/>
  <p:notesSz cx="6858000" cy="9144000"/>
  <p:embeddedFontLst>
    <p:embeddedFont>
      <p:font typeface="Tahoma"/>
      <p:regular r:id="rId29"/>
      <p:bold r:id="rId30"/>
    </p:embeddedFont>
    <p:embeddedFont>
      <p:font typeface="Helvetica Neue"/>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5" roundtripDataSignature="AMtx7midigP/uV9VAnbTTLbJA3Noh/j3f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Tahoma-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elveticaNeue-regular.fntdata"/><Relationship Id="rId30" Type="http://schemas.openxmlformats.org/officeDocument/2006/relationships/font" Target="fonts/Tahoma-bold.fntdata"/><Relationship Id="rId11" Type="http://schemas.openxmlformats.org/officeDocument/2006/relationships/slide" Target="slides/slide5.xml"/><Relationship Id="rId33" Type="http://schemas.openxmlformats.org/officeDocument/2006/relationships/font" Target="fonts/HelveticaNeue-italic.fntdata"/><Relationship Id="rId10" Type="http://schemas.openxmlformats.org/officeDocument/2006/relationships/slide" Target="slides/slide4.xml"/><Relationship Id="rId32" Type="http://schemas.openxmlformats.org/officeDocument/2006/relationships/font" Target="fonts/HelveticaNeue-bold.fntdata"/><Relationship Id="rId13" Type="http://schemas.openxmlformats.org/officeDocument/2006/relationships/slide" Target="slides/slide7.xml"/><Relationship Id="rId35" Type="http://customschemas.google.com/relationships/presentationmetadata" Target="metadata"/><Relationship Id="rId12" Type="http://schemas.openxmlformats.org/officeDocument/2006/relationships/slide" Target="slides/slide6.xml"/><Relationship Id="rId34" Type="http://schemas.openxmlformats.org/officeDocument/2006/relationships/font" Target="fonts/HelveticaNeue-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vi-V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2" name="Google Shape;132;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Calibri"/>
              <a:ea typeface="Calibri"/>
              <a:cs typeface="Calibri"/>
              <a:sym typeface="Calibri"/>
            </a:endParaRPr>
          </a:p>
        </p:txBody>
      </p:sp>
      <p:sp>
        <p:nvSpPr>
          <p:cNvPr id="133" name="Google Shape;133;p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vi-V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40" name="Google Shape;14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47" name="Google Shape;147;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rPr lang="vi-VN"/>
              <a:t>Khái niệm về 3-Tier architecture (kiến trúc 3 tầng) là một cách tổ chức và phân chia ứng dụng thành ba tầng khác nhau để tạo ra một hệ thống phân tán. Các tầng này bao gồm:</a:t>
            </a:r>
            <a:endParaRPr/>
          </a:p>
          <a:p>
            <a:pPr indent="-228600" lvl="0" marL="457200" rtl="0" algn="l">
              <a:lnSpc>
                <a:spcPct val="100000"/>
              </a:lnSpc>
              <a:spcBef>
                <a:spcPts val="360"/>
              </a:spcBef>
              <a:spcAft>
                <a:spcPts val="0"/>
              </a:spcAft>
              <a:buSzPts val="1400"/>
              <a:buFont typeface="Arial"/>
              <a:buAutoNum type="arabicPeriod"/>
            </a:pPr>
            <a:r>
              <a:rPr b="1" lang="vi-VN"/>
              <a:t>Tầng Presentation (Giao diện):</a:t>
            </a:r>
            <a:r>
              <a:rPr lang="vi-VN"/>
              <a:t> Đây là tầng giao diện người dùng, nơi mà người dùng tương tác trực tiếp với ứng dụng thông qua các giao diện đồ họa, trang web, hoặc ứng dụng di động. Tầng này chịu trách nhiệm hiển thị dữ liệu và giao tiếp với người dùng.</a:t>
            </a:r>
            <a:endParaRPr/>
          </a:p>
          <a:p>
            <a:pPr indent="-228600" lvl="0" marL="457200" rtl="0" algn="l">
              <a:lnSpc>
                <a:spcPct val="100000"/>
              </a:lnSpc>
              <a:spcBef>
                <a:spcPts val="360"/>
              </a:spcBef>
              <a:spcAft>
                <a:spcPts val="0"/>
              </a:spcAft>
              <a:buSzPts val="1400"/>
              <a:buFont typeface="Arial"/>
              <a:buAutoNum type="arabicPeriod"/>
            </a:pPr>
            <a:r>
              <a:rPr b="1" lang="vi-VN"/>
              <a:t>Tầng Logic (Logic):</a:t>
            </a:r>
            <a:r>
              <a:rPr lang="vi-VN"/>
              <a:t> Tầng này chứa các quy tắc và logic xử lý dữ liệu của ứng dụng. Nó xử lý yêu cầu từ tầng giao diện, thực hiện các phép toán, xử lý dữ liệu và chuẩn bị dữ liệu để hiển thị cho người dùng.</a:t>
            </a:r>
            <a:endParaRPr/>
          </a:p>
          <a:p>
            <a:pPr indent="-228600" lvl="0" marL="457200" rtl="0" algn="l">
              <a:lnSpc>
                <a:spcPct val="100000"/>
              </a:lnSpc>
              <a:spcBef>
                <a:spcPts val="360"/>
              </a:spcBef>
              <a:spcAft>
                <a:spcPts val="0"/>
              </a:spcAft>
              <a:buSzPts val="1400"/>
              <a:buFont typeface="Arial"/>
              <a:buAutoNum type="arabicPeriod"/>
            </a:pPr>
            <a:r>
              <a:rPr b="1" lang="vi-VN"/>
              <a:t>Tầng Data (Dữ liệu):</a:t>
            </a:r>
            <a:r>
              <a:rPr lang="vi-VN"/>
              <a:t> Đây là nơi lưu trữ dữ liệu của ứng dụng, bao gồm cơ sở dữ liệu và bất kỳ hệ thống lưu trữ nào khác. Tầng này chịu trách nhiệm lấy và lưu trữ dữ liệu mà ứng dụng cần xử lý.</a:t>
            </a:r>
            <a:endParaRPr/>
          </a:p>
          <a:p>
            <a:pPr indent="-228600" lvl="0" marL="457200" marR="0" rtl="0" algn="l">
              <a:lnSpc>
                <a:spcPct val="100000"/>
              </a:lnSpc>
              <a:spcBef>
                <a:spcPts val="360"/>
              </a:spcBef>
              <a:spcAft>
                <a:spcPts val="0"/>
              </a:spcAft>
              <a:buSzPts val="1400"/>
              <a:buNone/>
            </a:pPr>
            <a:r>
              <a:rPr lang="vi-VN"/>
              <a:t>Sử dụng kiến trúc 3-Tier giúp phân chia ứng dụng thành các phần nhỏ hơn, dễ quản lý và phát triển hơn.</a:t>
            </a:r>
            <a:endParaRPr/>
          </a:p>
          <a:p>
            <a:pPr indent="-228600" lvl="0" marL="457200" marR="0" rtl="0" algn="l">
              <a:lnSpc>
                <a:spcPct val="100000"/>
              </a:lnSpc>
              <a:spcBef>
                <a:spcPts val="360"/>
              </a:spcBef>
              <a:spcAft>
                <a:spcPts val="0"/>
              </a:spcAft>
              <a:buSzPts val="1400"/>
              <a:buNone/>
            </a:pPr>
            <a:r>
              <a:rPr lang="vi-VN"/>
              <a:t> Nó cũng tạo điều kiện cho việc tái sử dụng và mở rộng ứng dụng một cách hiệu quả bằng cách cho phép thay đổi hoặc nâng cấp một phần của hệ thống mà không ảnh hưởng đến các phần khác.</a:t>
            </a:r>
            <a:endParaRPr/>
          </a:p>
          <a:p>
            <a:pPr indent="-228600" lvl="0" marL="457200" marR="0" rtl="0" algn="l">
              <a:lnSpc>
                <a:spcPct val="100000"/>
              </a:lnSpc>
              <a:spcBef>
                <a:spcPts val="360"/>
              </a:spcBef>
              <a:spcAft>
                <a:spcPts val="0"/>
              </a:spcAft>
              <a:buSzPts val="1400"/>
              <a:buNone/>
            </a:pPr>
            <a:br>
              <a:rPr b="0" i="0" lang="vi-VN">
                <a:solidFill>
                  <a:srgbClr val="000000"/>
                </a:solidFill>
                <a:latin typeface="Arial"/>
                <a:ea typeface="Arial"/>
                <a:cs typeface="Arial"/>
                <a:sym typeface="Arial"/>
              </a:rPr>
            </a:br>
            <a:endParaRPr/>
          </a:p>
        </p:txBody>
      </p:sp>
      <p:sp>
        <p:nvSpPr>
          <p:cNvPr id="154" name="Google Shape;15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SzPts val="1400"/>
              <a:buNone/>
            </a:pPr>
            <a:r>
              <a:rPr b="1" i="0" lang="vi-VN" sz="1600">
                <a:solidFill>
                  <a:srgbClr val="0D0D0D"/>
                </a:solidFill>
                <a:latin typeface="Arial"/>
                <a:ea typeface="Arial"/>
                <a:cs typeface="Arial"/>
                <a:sym typeface="Arial"/>
              </a:rPr>
              <a:t>Tầng Presentation (Giao diện)</a:t>
            </a:r>
            <a:endParaRPr/>
          </a:p>
          <a:p>
            <a:pPr indent="-228600" lvl="0" marL="457200" rtl="0" algn="l">
              <a:lnSpc>
                <a:spcPct val="100000"/>
              </a:lnSpc>
              <a:spcBef>
                <a:spcPts val="360"/>
              </a:spcBef>
              <a:spcAft>
                <a:spcPts val="0"/>
              </a:spcAft>
              <a:buSzPts val="1400"/>
              <a:buNone/>
            </a:pPr>
            <a:r>
              <a:rPr b="1" i="0" lang="vi-VN" sz="1600">
                <a:solidFill>
                  <a:srgbClr val="0D0D0D"/>
                </a:solidFill>
                <a:latin typeface="Arial"/>
                <a:ea typeface="Arial"/>
                <a:cs typeface="Arial"/>
                <a:sym typeface="Arial"/>
              </a:rPr>
              <a:t>Mục đích của tầng Presentation:</a:t>
            </a:r>
            <a:endParaRPr b="0" i="0" sz="160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Char char="•"/>
            </a:pPr>
            <a:r>
              <a:rPr b="0" i="0" lang="vi-VN" sz="1600">
                <a:solidFill>
                  <a:srgbClr val="0D0D0D"/>
                </a:solidFill>
                <a:latin typeface="Arial"/>
                <a:ea typeface="Arial"/>
                <a:cs typeface="Arial"/>
                <a:sym typeface="Arial"/>
              </a:rPr>
              <a:t>Tầng Presentation có mục đích chính là hiển thị dữ liệu và tương tác với người dùng cuối thông qua các giao diện người dùng thân thiện như trang web, ứng dụng di động, hoặc giao diện đồ họa.</a:t>
            </a:r>
            <a:endParaRPr/>
          </a:p>
          <a:p>
            <a:pPr indent="-228600" lvl="0" marL="457200" rtl="0" algn="l">
              <a:lnSpc>
                <a:spcPct val="100000"/>
              </a:lnSpc>
              <a:spcBef>
                <a:spcPts val="360"/>
              </a:spcBef>
              <a:spcAft>
                <a:spcPts val="0"/>
              </a:spcAft>
              <a:buSzPts val="1400"/>
              <a:buNone/>
            </a:pPr>
            <a:r>
              <a:rPr b="1" i="0" lang="vi-VN" sz="1600">
                <a:solidFill>
                  <a:srgbClr val="0D0D0D"/>
                </a:solidFill>
                <a:latin typeface="Arial"/>
                <a:ea typeface="Arial"/>
                <a:cs typeface="Arial"/>
                <a:sym typeface="Arial"/>
              </a:rPr>
              <a:t>Các thành phần của tầng Presentation:</a:t>
            </a:r>
            <a:endParaRPr b="0" i="0" sz="160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AutoNum type="arabicPeriod"/>
            </a:pPr>
            <a:r>
              <a:rPr b="1" i="0" lang="vi-VN" sz="1600">
                <a:solidFill>
                  <a:srgbClr val="0D0D0D"/>
                </a:solidFill>
                <a:latin typeface="Arial"/>
                <a:ea typeface="Arial"/>
                <a:cs typeface="Arial"/>
                <a:sym typeface="Arial"/>
              </a:rPr>
              <a:t>Giao diện Người dùng (User Interface - UI):</a:t>
            </a:r>
            <a:r>
              <a:rPr b="0" i="0" lang="vi-VN" sz="1600">
                <a:solidFill>
                  <a:srgbClr val="0D0D0D"/>
                </a:solidFill>
                <a:latin typeface="Arial"/>
                <a:ea typeface="Arial"/>
                <a:cs typeface="Arial"/>
                <a:sym typeface="Arial"/>
              </a:rPr>
              <a:t> Là phần giao diện mà người dùng cuối sử dụng để tương tác với ứng dụng.</a:t>
            </a:r>
            <a:endParaRPr/>
          </a:p>
          <a:p>
            <a:pPr indent="-228600" lvl="0" marL="457200" rtl="0" algn="l">
              <a:lnSpc>
                <a:spcPct val="100000"/>
              </a:lnSpc>
              <a:spcBef>
                <a:spcPts val="360"/>
              </a:spcBef>
              <a:spcAft>
                <a:spcPts val="0"/>
              </a:spcAft>
              <a:buSzPts val="1400"/>
              <a:buFont typeface="Arial"/>
              <a:buAutoNum type="arabicPeriod"/>
            </a:pPr>
            <a:r>
              <a:rPr b="1" i="0" lang="vi-VN" sz="1600">
                <a:solidFill>
                  <a:srgbClr val="0D0D0D"/>
                </a:solidFill>
                <a:latin typeface="Arial"/>
                <a:ea typeface="Arial"/>
                <a:cs typeface="Arial"/>
                <a:sym typeface="Arial"/>
              </a:rPr>
              <a:t>Các thành phần UI (User Interface Components):</a:t>
            </a:r>
            <a:r>
              <a:rPr b="0" i="0" lang="vi-VN" sz="1600">
                <a:solidFill>
                  <a:srgbClr val="0D0D0D"/>
                </a:solidFill>
                <a:latin typeface="Arial"/>
                <a:ea typeface="Arial"/>
                <a:cs typeface="Arial"/>
                <a:sym typeface="Arial"/>
              </a:rPr>
              <a:t> Bao gồm các phần tử như nút bấm, hộp văn bản, hình ảnh, biểu đồ và các thành phần khác giúp người dùng tương tác với ứng dụng.</a:t>
            </a:r>
            <a:endParaRPr/>
          </a:p>
          <a:p>
            <a:pPr indent="-228600" lvl="0" marL="457200" rtl="0" algn="l">
              <a:lnSpc>
                <a:spcPct val="100000"/>
              </a:lnSpc>
              <a:spcBef>
                <a:spcPts val="360"/>
              </a:spcBef>
              <a:spcAft>
                <a:spcPts val="0"/>
              </a:spcAft>
              <a:buSzPts val="1400"/>
              <a:buFont typeface="Arial"/>
              <a:buAutoNum type="arabicPeriod"/>
            </a:pPr>
            <a:r>
              <a:rPr b="1" i="0" lang="vi-VN" sz="1600">
                <a:solidFill>
                  <a:srgbClr val="0D0D0D"/>
                </a:solidFill>
                <a:latin typeface="Arial"/>
                <a:ea typeface="Arial"/>
                <a:cs typeface="Arial"/>
                <a:sym typeface="Arial"/>
              </a:rPr>
              <a:t>Trình Duyệt (Browser) hoặc Ứng dụng di động (Mobile App):</a:t>
            </a:r>
            <a:r>
              <a:rPr b="0" i="0" lang="vi-VN" sz="1600">
                <a:solidFill>
                  <a:srgbClr val="0D0D0D"/>
                </a:solidFill>
                <a:latin typeface="Arial"/>
                <a:ea typeface="Arial"/>
                <a:cs typeface="Arial"/>
                <a:sym typeface="Arial"/>
              </a:rPr>
              <a:t> Là nơi mà người dùng truy cập và tương tác với ứng dụng thông qua các thiết bị.</a:t>
            </a:r>
            <a:endParaRPr/>
          </a:p>
          <a:p>
            <a:pPr indent="-228600" lvl="0" marL="457200" rtl="0" algn="l">
              <a:lnSpc>
                <a:spcPct val="100000"/>
              </a:lnSpc>
              <a:spcBef>
                <a:spcPts val="360"/>
              </a:spcBef>
              <a:spcAft>
                <a:spcPts val="0"/>
              </a:spcAft>
              <a:buSzPts val="1400"/>
              <a:buNone/>
            </a:pPr>
            <a:r>
              <a:rPr b="1" i="0" lang="vi-VN" sz="1600">
                <a:solidFill>
                  <a:srgbClr val="0D0D0D"/>
                </a:solidFill>
                <a:latin typeface="Arial"/>
                <a:ea typeface="Arial"/>
                <a:cs typeface="Arial"/>
                <a:sym typeface="Arial"/>
              </a:rPr>
              <a:t>Cách thức hoạt động của tầng Presentation:</a:t>
            </a:r>
            <a:endParaRPr b="0" i="0" sz="160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Char char="•"/>
            </a:pPr>
            <a:r>
              <a:rPr b="0" i="0" lang="vi-VN" sz="1600">
                <a:solidFill>
                  <a:srgbClr val="0D0D0D"/>
                </a:solidFill>
                <a:latin typeface="Arial"/>
                <a:ea typeface="Arial"/>
                <a:cs typeface="Arial"/>
                <a:sym typeface="Arial"/>
              </a:rPr>
              <a:t>Tầng Presentation nhận yêu cầu từ người dùng thông qua giao diện người dùng.</a:t>
            </a:r>
            <a:endParaRPr/>
          </a:p>
          <a:p>
            <a:pPr indent="-228600" lvl="0" marL="457200" rtl="0" algn="l">
              <a:lnSpc>
                <a:spcPct val="100000"/>
              </a:lnSpc>
              <a:spcBef>
                <a:spcPts val="360"/>
              </a:spcBef>
              <a:spcAft>
                <a:spcPts val="0"/>
              </a:spcAft>
              <a:buSzPts val="1400"/>
              <a:buFont typeface="Arial"/>
              <a:buChar char="•"/>
            </a:pPr>
            <a:r>
              <a:rPr b="0" i="0" lang="vi-VN" sz="1600">
                <a:solidFill>
                  <a:srgbClr val="0D0D0D"/>
                </a:solidFill>
                <a:latin typeface="Arial"/>
                <a:ea typeface="Arial"/>
                <a:cs typeface="Arial"/>
                <a:sym typeface="Arial"/>
              </a:rPr>
              <a:t>Sau đó, nó gửi yêu cầu này đến Tầng Logic để xử lý.</a:t>
            </a:r>
            <a:endParaRPr/>
          </a:p>
          <a:p>
            <a:pPr indent="-228600" lvl="0" marL="457200" rtl="0" algn="l">
              <a:lnSpc>
                <a:spcPct val="100000"/>
              </a:lnSpc>
              <a:spcBef>
                <a:spcPts val="360"/>
              </a:spcBef>
              <a:spcAft>
                <a:spcPts val="0"/>
              </a:spcAft>
              <a:buSzPts val="1400"/>
              <a:buFont typeface="Arial"/>
              <a:buChar char="•"/>
            </a:pPr>
            <a:r>
              <a:rPr b="0" i="0" lang="vi-VN" sz="1600">
                <a:solidFill>
                  <a:srgbClr val="0D0D0D"/>
                </a:solidFill>
                <a:latin typeface="Arial"/>
                <a:ea typeface="Arial"/>
                <a:cs typeface="Arial"/>
                <a:sym typeface="Arial"/>
              </a:rPr>
              <a:t>Khi nhận được kết quả từ Tầng Logic, Tầng Presentation sẽ hiển thị dữ liệu tương ứng lên giao diện người dùng để người dùng có thể thấy và tương tác.</a:t>
            </a:r>
            <a:endParaRPr/>
          </a:p>
          <a:p>
            <a:pPr indent="-228600" lvl="0" marL="457200" rtl="0" algn="l">
              <a:lnSpc>
                <a:spcPct val="100000"/>
              </a:lnSpc>
              <a:spcBef>
                <a:spcPts val="360"/>
              </a:spcBef>
              <a:spcAft>
                <a:spcPts val="0"/>
              </a:spcAft>
              <a:buSzPts val="1400"/>
              <a:buNone/>
            </a:pPr>
            <a:r>
              <a:rPr b="1" i="0" lang="vi-VN" sz="1600">
                <a:solidFill>
                  <a:srgbClr val="0D0D0D"/>
                </a:solidFill>
                <a:latin typeface="Arial"/>
                <a:ea typeface="Arial"/>
                <a:cs typeface="Arial"/>
                <a:sym typeface="Arial"/>
              </a:rPr>
              <a:t>Các ứng dụng hoạt động tại tầng Presentation:</a:t>
            </a:r>
            <a:endParaRPr b="0" i="0" sz="160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Char char="•"/>
            </a:pPr>
            <a:r>
              <a:rPr b="0" i="0" lang="vi-VN" sz="1600">
                <a:solidFill>
                  <a:srgbClr val="0D0D0D"/>
                </a:solidFill>
                <a:latin typeface="Arial"/>
                <a:ea typeface="Arial"/>
                <a:cs typeface="Arial"/>
                <a:sym typeface="Arial"/>
              </a:rPr>
              <a:t>Trang web, ứng dụng di động, ứng dụng desktop, ứng dụng game, các công cụ biểu đồ và visualizations, các ứng dụng giao tiếp, v.v.</a:t>
            </a:r>
            <a:endParaRPr/>
          </a:p>
        </p:txBody>
      </p:sp>
      <p:sp>
        <p:nvSpPr>
          <p:cNvPr id="162" name="Google Shape;16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Tầng Logic (Logic)</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Mục đích của Tầng Logic:</a:t>
            </a:r>
            <a:endParaRPr b="0" i="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Tầng Logic (Logic) có mục đích chính là xử lý dữ liệu và quyết định logic của ứng dụng dựa trên yêu cầu từ người dùng và dữ liệu từ Tầng Data.</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Các thành phần của Tầng Logic:</a:t>
            </a:r>
            <a:endParaRPr b="0" i="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Xử lý Logic (Business Logic):</a:t>
            </a:r>
            <a:r>
              <a:rPr b="0" i="0" lang="vi-VN">
                <a:solidFill>
                  <a:srgbClr val="0D0D0D"/>
                </a:solidFill>
                <a:latin typeface="Arial"/>
                <a:ea typeface="Arial"/>
                <a:cs typeface="Arial"/>
                <a:sym typeface="Arial"/>
              </a:rPr>
              <a:t> Bao gồm các quy tắc logic, thuật toán và quy trình xử lý dữ liệu để đáp ứng các yêu cầu cụ thể của ứng dụng.</a:t>
            </a:r>
            <a:endParaRPr/>
          </a:p>
          <a:p>
            <a:pPr indent="-228600" lvl="0" marL="45720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Service Layer:</a:t>
            </a:r>
            <a:r>
              <a:rPr b="0" i="0" lang="vi-VN">
                <a:solidFill>
                  <a:srgbClr val="0D0D0D"/>
                </a:solidFill>
                <a:latin typeface="Arial"/>
                <a:ea typeface="Arial"/>
                <a:cs typeface="Arial"/>
                <a:sym typeface="Arial"/>
              </a:rPr>
              <a:t> Là các thành phần chứa các dịch vụ (services) cụ thể như quản lý người dùng, xử lý thanh toán, kiểm soát quyền truy cập, v.v.</a:t>
            </a:r>
            <a:endParaRPr/>
          </a:p>
          <a:p>
            <a:pPr indent="-228600" lvl="0" marL="45720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Controller hoặc API Layer:</a:t>
            </a:r>
            <a:r>
              <a:rPr b="0" i="0" lang="vi-VN">
                <a:solidFill>
                  <a:srgbClr val="0D0D0D"/>
                </a:solidFill>
                <a:latin typeface="Arial"/>
                <a:ea typeface="Arial"/>
                <a:cs typeface="Arial"/>
                <a:sym typeface="Arial"/>
              </a:rPr>
              <a:t> Là các thành phần tiếp nhận yêu cầu từ Tầng Presentation và điều phối chúng đến các dịch vụ và xử lý logic tương ứng.</a:t>
            </a:r>
            <a:endParaRPr/>
          </a:p>
          <a:p>
            <a:pPr indent="-228600" lvl="0" marL="45720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Model Layer:</a:t>
            </a:r>
            <a:r>
              <a:rPr b="0" i="0" lang="vi-VN">
                <a:solidFill>
                  <a:srgbClr val="0D0D0D"/>
                </a:solidFill>
                <a:latin typeface="Arial"/>
                <a:ea typeface="Arial"/>
                <a:cs typeface="Arial"/>
                <a:sym typeface="Arial"/>
              </a:rPr>
              <a:t> Định nghĩa cấu trúc dữ liệu và quan hệ giữa chúng để lưu trữ và truy xuất dữ liệu từ Tầng Data.</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Cách thức hoạt động của Tầng Logic:</a:t>
            </a:r>
            <a:endParaRPr b="0" i="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Tầng Logic nhận các yêu cầu từ Tầng Presentation thông qua Controller hoặc API Layer.</a:t>
            </a:r>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Sau đó, nó sẽ gọi các dịch vụ (services) và xử lý logic tương ứng để thực hiện các yêu cầu.</a:t>
            </a:r>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Dữ liệu được truy xuất từ Tầng Data và sau đó được xử lý và chuẩn bị để trả về kết quả cho Tầng Presentation.</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Các ứng dụng hoạt động tại Tầng Logic:</a:t>
            </a:r>
            <a:endParaRPr b="0" i="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Xử lý giao dịch thanh toán, quản lý người dùng và phiên đăng nhập, tính toán và xử lý dữ liệu, kiểm soát quyền truy cập và phân quyền, v.v.</a:t>
            </a:r>
            <a:endParaRPr/>
          </a:p>
        </p:txBody>
      </p:sp>
      <p:sp>
        <p:nvSpPr>
          <p:cNvPr id="170" name="Google Shape;17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360"/>
              </a:spcBef>
              <a:spcAft>
                <a:spcPts val="0"/>
              </a:spcAft>
              <a:buSzPts val="1400"/>
              <a:buNone/>
            </a:pPr>
            <a:r>
              <a:rPr b="1" lang="vi-VN"/>
              <a:t>Tầng Data (Dữ liệu)</a:t>
            </a:r>
            <a:endParaRPr/>
          </a:p>
          <a:p>
            <a:pPr indent="-228600" lvl="0" marL="457200" marR="0" rtl="0" algn="l">
              <a:lnSpc>
                <a:spcPct val="100000"/>
              </a:lnSpc>
              <a:spcBef>
                <a:spcPts val="360"/>
              </a:spcBef>
              <a:spcAft>
                <a:spcPts val="0"/>
              </a:spcAft>
              <a:buSzPts val="1400"/>
              <a:buNone/>
            </a:pPr>
            <a:r>
              <a:rPr b="1" lang="vi-VN"/>
              <a:t>Mục đích của Tầng Data:</a:t>
            </a:r>
            <a:endParaRPr/>
          </a:p>
          <a:p>
            <a:pPr indent="-228600" lvl="0" marL="457200" rtl="0" algn="l">
              <a:lnSpc>
                <a:spcPct val="100000"/>
              </a:lnSpc>
              <a:spcBef>
                <a:spcPts val="360"/>
              </a:spcBef>
              <a:spcAft>
                <a:spcPts val="0"/>
              </a:spcAft>
              <a:buSzPts val="1400"/>
              <a:buFont typeface="Arial"/>
              <a:buChar char="•"/>
            </a:pPr>
            <a:r>
              <a:rPr lang="vi-VN"/>
              <a:t>Tầng Data (Dữ liệu) có mục đích chính là quản lý và lưu trữ dữ liệu của hệ thống, cung cấp cơ sở dữ liệu cho Tầng Logic và Tầng Presentation.</a:t>
            </a:r>
            <a:endParaRPr/>
          </a:p>
          <a:p>
            <a:pPr indent="-228600" lvl="0" marL="457200" marR="0" rtl="0" algn="l">
              <a:lnSpc>
                <a:spcPct val="100000"/>
              </a:lnSpc>
              <a:spcBef>
                <a:spcPts val="360"/>
              </a:spcBef>
              <a:spcAft>
                <a:spcPts val="0"/>
              </a:spcAft>
              <a:buSzPts val="1400"/>
              <a:buNone/>
            </a:pPr>
            <a:r>
              <a:rPr b="1" lang="vi-VN"/>
              <a:t>Các thành phần của Tầng Data:</a:t>
            </a:r>
            <a:endParaRPr/>
          </a:p>
          <a:p>
            <a:pPr indent="-228600" lvl="0" marL="457200" rtl="0" algn="l">
              <a:lnSpc>
                <a:spcPct val="100000"/>
              </a:lnSpc>
              <a:spcBef>
                <a:spcPts val="360"/>
              </a:spcBef>
              <a:spcAft>
                <a:spcPts val="0"/>
              </a:spcAft>
              <a:buSzPts val="1400"/>
              <a:buFont typeface="Arial"/>
              <a:buAutoNum type="arabicPeriod"/>
            </a:pPr>
            <a:r>
              <a:rPr b="1" lang="vi-VN"/>
              <a:t>Cơ sở dữ liệu (Database):</a:t>
            </a:r>
            <a:r>
              <a:rPr lang="vi-VN"/>
              <a:t> Là nơi lưu trữ dữ liệu của hệ thống. Có thể là các loại cơ sở dữ liệu quan hệ như MySQL, PostgreSQL, hoặc các loại cơ sở dữ liệu NoSQL như MongoDB, Redis.</a:t>
            </a:r>
            <a:endParaRPr/>
          </a:p>
          <a:p>
            <a:pPr indent="-228600" lvl="0" marL="457200" rtl="0" algn="l">
              <a:lnSpc>
                <a:spcPct val="100000"/>
              </a:lnSpc>
              <a:spcBef>
                <a:spcPts val="360"/>
              </a:spcBef>
              <a:spcAft>
                <a:spcPts val="0"/>
              </a:spcAft>
              <a:buSzPts val="1400"/>
              <a:buFont typeface="Arial"/>
              <a:buAutoNum type="arabicPeriod"/>
            </a:pPr>
            <a:r>
              <a:rPr b="1" lang="vi-VN"/>
              <a:t>Data Access Layer (DAL):</a:t>
            </a:r>
            <a:r>
              <a:rPr lang="vi-VN"/>
              <a:t> Là thành phần tương tác trực tiếp với cơ sở dữ liệu để thực hiện các thao tác CRUD (Create, Read, Update, Delete) và truy xuất dữ liệu.</a:t>
            </a:r>
            <a:endParaRPr/>
          </a:p>
          <a:p>
            <a:pPr indent="-228600" lvl="0" marL="457200" marR="0" rtl="0" algn="l">
              <a:lnSpc>
                <a:spcPct val="100000"/>
              </a:lnSpc>
              <a:spcBef>
                <a:spcPts val="360"/>
              </a:spcBef>
              <a:spcAft>
                <a:spcPts val="0"/>
              </a:spcAft>
              <a:buSzPts val="1400"/>
              <a:buNone/>
            </a:pPr>
            <a:r>
              <a:rPr b="1" lang="vi-VN"/>
              <a:t>Cách thức hoạt động của Tầng Data:</a:t>
            </a:r>
            <a:endParaRPr/>
          </a:p>
          <a:p>
            <a:pPr indent="-228600" lvl="0" marL="457200" rtl="0" algn="l">
              <a:lnSpc>
                <a:spcPct val="100000"/>
              </a:lnSpc>
              <a:spcBef>
                <a:spcPts val="360"/>
              </a:spcBef>
              <a:spcAft>
                <a:spcPts val="0"/>
              </a:spcAft>
              <a:buSzPts val="1400"/>
              <a:buFont typeface="Arial"/>
              <a:buChar char="•"/>
            </a:pPr>
            <a:r>
              <a:rPr lang="vi-VN"/>
              <a:t>Tầng Data nhận yêu cầu từ Tầng Logic để thực hiện các thao tác truy xuất dữ liệu, cập nhật hoặc xóa dữ liệu từ cơ sở dữ liệu.</a:t>
            </a:r>
            <a:endParaRPr/>
          </a:p>
          <a:p>
            <a:pPr indent="-228600" lvl="0" marL="457200" rtl="0" algn="l">
              <a:lnSpc>
                <a:spcPct val="100000"/>
              </a:lnSpc>
              <a:spcBef>
                <a:spcPts val="360"/>
              </a:spcBef>
              <a:spcAft>
                <a:spcPts val="0"/>
              </a:spcAft>
              <a:buSzPts val="1400"/>
              <a:buFont typeface="Arial"/>
              <a:buChar char="•"/>
            </a:pPr>
            <a:r>
              <a:rPr lang="vi-VN"/>
              <a:t>Data Access Layer thực hiện các thao tác trực tiếp trên cơ sở dữ liệu và trả về kết quả cho Tầng Logic.</a:t>
            </a:r>
            <a:endParaRPr/>
          </a:p>
          <a:p>
            <a:pPr indent="-228600" lvl="0" marL="457200" rtl="0" algn="l">
              <a:lnSpc>
                <a:spcPct val="100000"/>
              </a:lnSpc>
              <a:spcBef>
                <a:spcPts val="360"/>
              </a:spcBef>
              <a:spcAft>
                <a:spcPts val="0"/>
              </a:spcAft>
              <a:buSzPts val="1400"/>
              <a:buFont typeface="Arial"/>
              <a:buChar char="•"/>
            </a:pPr>
            <a:r>
              <a:rPr lang="vi-VN"/>
              <a:t>Cơ sở dữ liệu lưu trữ và quản lý dữ liệu theo các quy tắc và cấu trúc được định nghĩa trước.</a:t>
            </a:r>
            <a:endParaRPr/>
          </a:p>
          <a:p>
            <a:pPr indent="-228600" lvl="0" marL="457200" marR="0" rtl="0" algn="l">
              <a:lnSpc>
                <a:spcPct val="100000"/>
              </a:lnSpc>
              <a:spcBef>
                <a:spcPts val="360"/>
              </a:spcBef>
              <a:spcAft>
                <a:spcPts val="0"/>
              </a:spcAft>
              <a:buSzPts val="1400"/>
              <a:buNone/>
            </a:pPr>
            <a:r>
              <a:rPr b="1" lang="vi-VN"/>
              <a:t>Các ứng dụng hoạt động tại Tầng Data:</a:t>
            </a:r>
            <a:endParaRPr/>
          </a:p>
          <a:p>
            <a:pPr indent="-228600" lvl="0" marL="457200" rtl="0" algn="l">
              <a:lnSpc>
                <a:spcPct val="100000"/>
              </a:lnSpc>
              <a:spcBef>
                <a:spcPts val="360"/>
              </a:spcBef>
              <a:spcAft>
                <a:spcPts val="0"/>
              </a:spcAft>
              <a:buSzPts val="1400"/>
              <a:buFont typeface="Arial"/>
              <a:buChar char="•"/>
            </a:pPr>
            <a:r>
              <a:rPr lang="vi-VN"/>
              <a:t>Lưu trữ thông tin người dùng, dữ liệu sản phẩm, thông tin giao dịch, bản ghi nhật ký, v.v.</a:t>
            </a:r>
            <a:endParaRPr/>
          </a:p>
          <a:p>
            <a:pPr indent="-228600" lvl="0" marL="457200" rtl="0" algn="l">
              <a:lnSpc>
                <a:spcPct val="100000"/>
              </a:lnSpc>
              <a:spcBef>
                <a:spcPts val="360"/>
              </a:spcBef>
              <a:spcAft>
                <a:spcPts val="0"/>
              </a:spcAft>
              <a:buSzPts val="1400"/>
              <a:buFont typeface="Arial"/>
              <a:buChar char="•"/>
            </a:pPr>
            <a:r>
              <a:rPr lang="vi-VN"/>
              <a:t>Thực hiện các thao tác truy xuất dữ liệu để phục vụ cho các chức năng và yêu cầu của hệ thống.</a:t>
            </a:r>
            <a:endParaRPr/>
          </a:p>
          <a:p>
            <a:pPr indent="-228600" lvl="0" marL="457200" marR="0" rtl="0" algn="l">
              <a:lnSpc>
                <a:spcPct val="100000"/>
              </a:lnSpc>
              <a:spcBef>
                <a:spcPts val="360"/>
              </a:spcBef>
              <a:spcAft>
                <a:spcPts val="0"/>
              </a:spcAft>
              <a:buSzPts val="1400"/>
              <a:buNone/>
            </a:pPr>
            <a:br>
              <a:rPr b="0" i="0" lang="vi-VN">
                <a:solidFill>
                  <a:srgbClr val="000000"/>
                </a:solidFill>
                <a:latin typeface="Arial"/>
                <a:ea typeface="Arial"/>
                <a:cs typeface="Arial"/>
                <a:sym typeface="Arial"/>
              </a:rPr>
            </a:br>
            <a:endParaRPr/>
          </a:p>
        </p:txBody>
      </p:sp>
      <p:sp>
        <p:nvSpPr>
          <p:cNvPr id="178" name="Google Shape;17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6" name="Google Shape;186;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Kiến trúc Triển khai (Deployment Architecture)</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Kiến trúc Triển khai (Deployment Architecture)</a:t>
            </a:r>
            <a:r>
              <a:rPr b="0" i="0" lang="vi-VN">
                <a:solidFill>
                  <a:srgbClr val="0D0D0D"/>
                </a:solidFill>
                <a:latin typeface="Arial"/>
                <a:ea typeface="Arial"/>
                <a:cs typeface="Arial"/>
                <a:sym typeface="Arial"/>
              </a:rPr>
              <a:t> là cách thức tổ chức và triển khai các thành phần của một ứng dụng hoặc hệ thống trên môi trường sản xuất. Nó bao gồm việc định nghĩa cách các thành phần của hệ thống được triển khai, cách chúng tương tác với nhau và với các nguồn tài nguyên khác như cơ sở dữ liệu, hệ thống bên ngoài, v.v.</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Các loại Deployment Architecture:</a:t>
            </a:r>
            <a:endParaRPr/>
          </a:p>
          <a:p>
            <a:pPr indent="-228600" lvl="0" marL="45720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Kiến trúc Monolithic (Monolithic Architecture):</a:t>
            </a:r>
            <a:endParaRPr b="0" i="0">
              <a:solidFill>
                <a:srgbClr val="0D0D0D"/>
              </a:solidFill>
              <a:latin typeface="Arial"/>
              <a:ea typeface="Arial"/>
              <a:cs typeface="Arial"/>
              <a:sym typeface="Arial"/>
            </a:endParaRPr>
          </a:p>
          <a:p>
            <a:pPr indent="-285750" lvl="1" marL="74295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Mô tả:</a:t>
            </a:r>
            <a:r>
              <a:rPr b="0" i="0" lang="vi-VN">
                <a:solidFill>
                  <a:srgbClr val="0D0D0D"/>
                </a:solidFill>
                <a:latin typeface="Arial"/>
                <a:ea typeface="Arial"/>
                <a:cs typeface="Arial"/>
                <a:sym typeface="Arial"/>
              </a:rPr>
              <a:t> Trong kiến trúc Monolithic, toàn bộ ứng dụng hoặc hệ thống được phát triển và triển khai như một đơn vị lớn, đóng gói trong một ứng dụng duy nhất.</a:t>
            </a:r>
            <a:endParaRPr/>
          </a:p>
          <a:p>
            <a:pPr indent="-285750" lvl="1" marL="74295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Ưu điểm:</a:t>
            </a:r>
            <a:r>
              <a:rPr b="0" i="0" lang="vi-VN">
                <a:solidFill>
                  <a:srgbClr val="0D0D0D"/>
                </a:solidFill>
                <a:latin typeface="Arial"/>
                <a:ea typeface="Arial"/>
                <a:cs typeface="Arial"/>
                <a:sym typeface="Arial"/>
              </a:rPr>
              <a:t> Dễ dàng triển khai và quản lý, ít đòi hỏi về cơ sở hạ tầng.</a:t>
            </a:r>
            <a:endParaRPr/>
          </a:p>
          <a:p>
            <a:pPr indent="-285750" lvl="1" marL="74295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Nhược điểm:</a:t>
            </a:r>
            <a:r>
              <a:rPr b="0" i="0" lang="vi-VN">
                <a:solidFill>
                  <a:srgbClr val="0D0D0D"/>
                </a:solidFill>
                <a:latin typeface="Arial"/>
                <a:ea typeface="Arial"/>
                <a:cs typeface="Arial"/>
                <a:sym typeface="Arial"/>
              </a:rPr>
              <a:t> Khó mở rộng và bảo trì khi hệ thống phát triển, khó tái sử dụng và cập nhật các phần riêng lẻ của ứng dụng.</a:t>
            </a:r>
            <a:endParaRPr/>
          </a:p>
          <a:p>
            <a:pPr indent="-228600" lvl="0" marL="45720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Kiến trúc Microservices (Microservices Architecture):</a:t>
            </a:r>
            <a:endParaRPr b="0" i="0">
              <a:solidFill>
                <a:srgbClr val="0D0D0D"/>
              </a:solidFill>
              <a:latin typeface="Arial"/>
              <a:ea typeface="Arial"/>
              <a:cs typeface="Arial"/>
              <a:sym typeface="Arial"/>
            </a:endParaRPr>
          </a:p>
          <a:p>
            <a:pPr indent="-285750" lvl="1" marL="74295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Mô tả:</a:t>
            </a:r>
            <a:r>
              <a:rPr b="0" i="0" lang="vi-VN">
                <a:solidFill>
                  <a:srgbClr val="0D0D0D"/>
                </a:solidFill>
                <a:latin typeface="Arial"/>
                <a:ea typeface="Arial"/>
                <a:cs typeface="Arial"/>
                <a:sym typeface="Arial"/>
              </a:rPr>
              <a:t> Trong kiến trúc Microservices, ứng dụng được chia thành các dịch vụ nhỏ độc lập và có thể triển khai, mỗi dịch vụ có thể được phát triển, triển khai và mở rộng một cách độc lập.</a:t>
            </a:r>
            <a:endParaRPr/>
          </a:p>
          <a:p>
            <a:pPr indent="-285750" lvl="1" marL="74295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Ưu điểm:</a:t>
            </a:r>
            <a:r>
              <a:rPr b="0" i="0" lang="vi-VN">
                <a:solidFill>
                  <a:srgbClr val="0D0D0D"/>
                </a:solidFill>
                <a:latin typeface="Arial"/>
                <a:ea typeface="Arial"/>
                <a:cs typeface="Arial"/>
                <a:sym typeface="Arial"/>
              </a:rPr>
              <a:t> Dễ mở rộng, linh hoạt, có khả năng tái sử dụng, dễ bảo trì và phát triển một cách độc lập.</a:t>
            </a:r>
            <a:endParaRPr/>
          </a:p>
          <a:p>
            <a:pPr indent="-285750" lvl="1" marL="74295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Nhược điểm:</a:t>
            </a:r>
            <a:r>
              <a:rPr b="0" i="0" lang="vi-VN">
                <a:solidFill>
                  <a:srgbClr val="0D0D0D"/>
                </a:solidFill>
                <a:latin typeface="Arial"/>
                <a:ea typeface="Arial"/>
                <a:cs typeface="Arial"/>
                <a:sym typeface="Arial"/>
              </a:rPr>
              <a:t> Phức tạp hơn trong việc quản lý và triển khai nhiều dịch vụ, đòi hỏi sự đầu tư lớn về cơ sở hạ tầng và quản lý.</a:t>
            </a:r>
            <a:endParaRPr/>
          </a:p>
          <a:p>
            <a:pPr indent="-228600" lvl="0" marL="45720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Kiến trúc Serverless (Serverless Architecture):</a:t>
            </a:r>
            <a:endParaRPr b="0" i="0">
              <a:solidFill>
                <a:srgbClr val="0D0D0D"/>
              </a:solidFill>
              <a:latin typeface="Arial"/>
              <a:ea typeface="Arial"/>
              <a:cs typeface="Arial"/>
              <a:sym typeface="Arial"/>
            </a:endParaRPr>
          </a:p>
          <a:p>
            <a:pPr indent="-285750" lvl="1" marL="74295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Mô tả:</a:t>
            </a:r>
            <a:r>
              <a:rPr b="0" i="0" lang="vi-VN">
                <a:solidFill>
                  <a:srgbClr val="0D0D0D"/>
                </a:solidFill>
                <a:latin typeface="Arial"/>
                <a:ea typeface="Arial"/>
                <a:cs typeface="Arial"/>
                <a:sym typeface="Arial"/>
              </a:rPr>
              <a:t> Trong kiến trúc Serverless, các hàm hoặc dịch vụ được thực thi trong một môi trường serverless mà không cần quản lý cụ thể về máy chủ hoặc cơ sở hạ tầng.</a:t>
            </a:r>
            <a:endParaRPr/>
          </a:p>
          <a:p>
            <a:pPr indent="-285750" lvl="1" marL="74295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Ưu điểm:</a:t>
            </a:r>
            <a:r>
              <a:rPr b="0" i="0" lang="vi-VN">
                <a:solidFill>
                  <a:srgbClr val="0D0D0D"/>
                </a:solidFill>
                <a:latin typeface="Arial"/>
                <a:ea typeface="Arial"/>
                <a:cs typeface="Arial"/>
                <a:sym typeface="Arial"/>
              </a:rPr>
              <a:t> Giảm chi phí hoạt động, tự động mở rộng, không cần quản lý cơ sở hạ tầng.</a:t>
            </a:r>
            <a:endParaRPr/>
          </a:p>
          <a:p>
            <a:pPr indent="-285750" lvl="1" marL="742950" rtl="0" algn="l">
              <a:lnSpc>
                <a:spcPct val="100000"/>
              </a:lnSpc>
              <a:spcBef>
                <a:spcPts val="360"/>
              </a:spcBef>
              <a:spcAft>
                <a:spcPts val="0"/>
              </a:spcAft>
              <a:buSzPts val="1400"/>
              <a:buFont typeface="Arial"/>
              <a:buAutoNum type="arabicPeriod"/>
            </a:pPr>
            <a:r>
              <a:rPr b="1" i="0" lang="vi-VN">
                <a:solidFill>
                  <a:srgbClr val="0D0D0D"/>
                </a:solidFill>
                <a:latin typeface="Arial"/>
                <a:ea typeface="Arial"/>
                <a:cs typeface="Arial"/>
                <a:sym typeface="Arial"/>
              </a:rPr>
              <a:t>Nhược điểm:</a:t>
            </a:r>
            <a:r>
              <a:rPr b="0" i="0" lang="vi-VN">
                <a:solidFill>
                  <a:srgbClr val="0D0D0D"/>
                </a:solidFill>
                <a:latin typeface="Arial"/>
                <a:ea typeface="Arial"/>
                <a:cs typeface="Arial"/>
                <a:sym typeface="Arial"/>
              </a:rPr>
              <a:t> Hạn chế trong việc điều khiển và tùy chỉnh môi trường, có thể gặp vấn đề về hiệu suất và giới hạn về ngôn ngữ và framework hỗ trợ.</a:t>
            </a:r>
            <a:endParaRPr/>
          </a:p>
        </p:txBody>
      </p:sp>
      <p:sp>
        <p:nvSpPr>
          <p:cNvPr id="193" name="Google Shape;19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Mô hình Kiến trúc Monolithic (Monolithic Architecture)</a:t>
            </a:r>
            <a:endParaRPr/>
          </a:p>
          <a:p>
            <a:pPr indent="-228600" lvl="0" marL="457200" rtl="0" algn="l">
              <a:lnSpc>
                <a:spcPct val="100000"/>
              </a:lnSpc>
              <a:spcBef>
                <a:spcPts val="360"/>
              </a:spcBef>
              <a:spcAft>
                <a:spcPts val="0"/>
              </a:spcAft>
              <a:buSzPts val="1400"/>
              <a:buNone/>
            </a:pPr>
            <a:r>
              <a:rPr b="0" i="0" lang="vi-VN">
                <a:solidFill>
                  <a:srgbClr val="0D0D0D"/>
                </a:solidFill>
                <a:latin typeface="Arial"/>
                <a:ea typeface="Arial"/>
                <a:cs typeface="Arial"/>
                <a:sym typeface="Arial"/>
              </a:rPr>
              <a:t>Định nghĩa:</a:t>
            </a:r>
            <a:endParaRPr/>
          </a:p>
          <a:p>
            <a:pPr indent="-228600" lvl="0" marL="457200" rtl="0" algn="l">
              <a:lnSpc>
                <a:spcPct val="100000"/>
              </a:lnSpc>
              <a:spcBef>
                <a:spcPts val="360"/>
              </a:spcBef>
              <a:spcAft>
                <a:spcPts val="0"/>
              </a:spcAft>
              <a:buSzPts val="1400"/>
              <a:buNone/>
            </a:pPr>
            <a:r>
              <a:rPr b="0" i="0" lang="vi-VN">
                <a:solidFill>
                  <a:srgbClr val="0D0D0D"/>
                </a:solidFill>
                <a:latin typeface="Arial"/>
                <a:ea typeface="Arial"/>
                <a:cs typeface="Arial"/>
                <a:sym typeface="Arial"/>
              </a:rPr>
              <a:t>Kiến trúc Monolithic là một phương pháp phát triển phần mềm trong đó toàn bộ ứng dụng được xây dựng và triển khai như một đơn vị độc lập. Trong kiến trúc này, tất cả các thành phần của ứng dụng, bao gồm cả giao diện người dùng, logic kinh doanh và cơ sở dữ liệu, đều tích hợp và hoạt động trong một ứng dụng duy nhất.</a:t>
            </a:r>
            <a:endParaRPr/>
          </a:p>
          <a:p>
            <a:pPr indent="-228600" lvl="0" marL="457200" rtl="0" algn="l">
              <a:lnSpc>
                <a:spcPct val="100000"/>
              </a:lnSpc>
              <a:spcBef>
                <a:spcPts val="360"/>
              </a:spcBef>
              <a:spcAft>
                <a:spcPts val="0"/>
              </a:spcAft>
              <a:buSzPts val="1400"/>
              <a:buNone/>
            </a:pPr>
            <a:r>
              <a:rPr b="0" i="0" lang="vi-VN">
                <a:solidFill>
                  <a:srgbClr val="0D0D0D"/>
                </a:solidFill>
                <a:latin typeface="Arial"/>
                <a:ea typeface="Arial"/>
                <a:cs typeface="Arial"/>
                <a:sym typeface="Arial"/>
              </a:rPr>
              <a:t>Cách thức triển khai:</a:t>
            </a:r>
            <a:endParaRPr/>
          </a:p>
          <a:p>
            <a:pPr indent="-228600" lvl="0" marL="457200" rtl="0" algn="l">
              <a:lnSpc>
                <a:spcPct val="100000"/>
              </a:lnSpc>
              <a:spcBef>
                <a:spcPts val="360"/>
              </a:spcBef>
              <a:spcAft>
                <a:spcPts val="0"/>
              </a:spcAft>
              <a:buSzPts val="1400"/>
              <a:buNone/>
            </a:pPr>
            <a:r>
              <a:rPr b="0" i="0" lang="vi-VN">
                <a:solidFill>
                  <a:srgbClr val="0D0D0D"/>
                </a:solidFill>
                <a:latin typeface="Arial"/>
                <a:ea typeface="Arial"/>
                <a:cs typeface="Arial"/>
                <a:sym typeface="Arial"/>
              </a:rPr>
              <a:t>Ứng dụng được phát triển và triển khai như một đơn vị lớn duy nhất. Các thành phần khác nhau của ứng dụng, như front-end, back-end và cơ sở dữ liệu, được xây dựng và tích hợp vào cùng một mã nguồn và cùng một cơ sở dữ liệu.</a:t>
            </a:r>
            <a:endParaRPr/>
          </a:p>
          <a:p>
            <a:pPr indent="-228600" lvl="0" marL="457200" rtl="0" algn="l">
              <a:lnSpc>
                <a:spcPct val="100000"/>
              </a:lnSpc>
              <a:spcBef>
                <a:spcPts val="360"/>
              </a:spcBef>
              <a:spcAft>
                <a:spcPts val="0"/>
              </a:spcAft>
              <a:buSzPts val="1400"/>
              <a:buNone/>
            </a:pPr>
            <a:r>
              <a:rPr b="0" i="0" lang="vi-VN">
                <a:solidFill>
                  <a:srgbClr val="0D0D0D"/>
                </a:solidFill>
                <a:latin typeface="Arial"/>
                <a:ea typeface="Arial"/>
                <a:cs typeface="Arial"/>
                <a:sym typeface="Arial"/>
              </a:rPr>
              <a:t>Ưu điểm và nhược điểm:</a:t>
            </a:r>
            <a:endParaRPr/>
          </a:p>
          <a:p>
            <a:pPr indent="-228600" lvl="0" marL="45720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Ưu điểm:</a:t>
            </a:r>
            <a:endParaRPr b="0" i="0">
              <a:solidFill>
                <a:srgbClr val="0D0D0D"/>
              </a:solidFill>
              <a:latin typeface="Arial"/>
              <a:ea typeface="Arial"/>
              <a:cs typeface="Arial"/>
              <a:sym typeface="Arial"/>
            </a:endParaRPr>
          </a:p>
          <a:p>
            <a:pPr indent="-285750" lvl="1" marL="74295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Dễ quản lý và triển khai:</a:t>
            </a:r>
            <a:r>
              <a:rPr b="0" i="0" lang="vi-VN">
                <a:solidFill>
                  <a:srgbClr val="0D0D0D"/>
                </a:solidFill>
                <a:latin typeface="Arial"/>
                <a:ea typeface="Arial"/>
                <a:cs typeface="Arial"/>
                <a:sym typeface="Arial"/>
              </a:rPr>
              <a:t> Vì tất cả các thành phần đều tích hợp trong một ứng dụng duy nhất, việc quản lý và triển khai trở nên đơn giản hơn.</a:t>
            </a:r>
            <a:endParaRPr/>
          </a:p>
          <a:p>
            <a:pPr indent="-285750" lvl="1" marL="74295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Dễ mở rộng ban đầu:</a:t>
            </a:r>
            <a:r>
              <a:rPr b="0" i="0" lang="vi-VN">
                <a:solidFill>
                  <a:srgbClr val="0D0D0D"/>
                </a:solidFill>
                <a:latin typeface="Arial"/>
                <a:ea typeface="Arial"/>
                <a:cs typeface="Arial"/>
                <a:sym typeface="Arial"/>
              </a:rPr>
              <a:t> Ban đầu, khi ứng dụng còn nhỏ và không phức tạp, kiến trúc Monolithic có thể đủ để đáp ứng nhu cầu.</a:t>
            </a:r>
            <a:endParaRPr/>
          </a:p>
          <a:p>
            <a:pPr indent="-285750" lvl="1" marL="74295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Dễ hợp nhất:</a:t>
            </a:r>
            <a:r>
              <a:rPr b="0" i="0" lang="vi-VN">
                <a:solidFill>
                  <a:srgbClr val="0D0D0D"/>
                </a:solidFill>
                <a:latin typeface="Arial"/>
                <a:ea typeface="Arial"/>
                <a:cs typeface="Arial"/>
                <a:sym typeface="Arial"/>
              </a:rPr>
              <a:t> Một số dự án nhỏ hoặc ứng dụng khởi đầu có thể tận dụng kiến trúc này để tối ưu quy trình phát triển và triển khai.</a:t>
            </a:r>
            <a:endParaRPr/>
          </a:p>
          <a:p>
            <a:pPr indent="-228600" lvl="0" marL="45720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Nhược điểm:</a:t>
            </a:r>
            <a:endParaRPr b="0" i="0">
              <a:solidFill>
                <a:srgbClr val="0D0D0D"/>
              </a:solidFill>
              <a:latin typeface="Arial"/>
              <a:ea typeface="Arial"/>
              <a:cs typeface="Arial"/>
              <a:sym typeface="Arial"/>
            </a:endParaRPr>
          </a:p>
          <a:p>
            <a:pPr indent="-285750" lvl="1" marL="74295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Khó mở rộng:</a:t>
            </a:r>
            <a:r>
              <a:rPr b="0" i="0" lang="vi-VN">
                <a:solidFill>
                  <a:srgbClr val="0D0D0D"/>
                </a:solidFill>
                <a:latin typeface="Arial"/>
                <a:ea typeface="Arial"/>
                <a:cs typeface="Arial"/>
                <a:sym typeface="Arial"/>
              </a:rPr>
              <a:t> Khi ứng dụng phát triển lớn hơn, việc mở rộng trở nên khó khăn. Mỗi lần cập nhật hoặc thêm chức năng mới đều đòi hỏi phải triển khai lại toàn bộ ứng dụng.</a:t>
            </a:r>
            <a:endParaRPr/>
          </a:p>
          <a:p>
            <a:pPr indent="-285750" lvl="1" marL="74295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Khó bảo trì:</a:t>
            </a:r>
            <a:r>
              <a:rPr b="0" i="0" lang="vi-VN">
                <a:solidFill>
                  <a:srgbClr val="0D0D0D"/>
                </a:solidFill>
                <a:latin typeface="Arial"/>
                <a:ea typeface="Arial"/>
                <a:cs typeface="Arial"/>
                <a:sym typeface="Arial"/>
              </a:rPr>
              <a:t> Việc bảo trì và debug trong môi trường Monolithic có thể phức tạp vì tất cả các thành phần đều liên kết với nhau.</a:t>
            </a:r>
            <a:endParaRPr/>
          </a:p>
          <a:p>
            <a:pPr indent="-285750" lvl="1" marL="74295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Khó tái sử dụng:</a:t>
            </a:r>
            <a:r>
              <a:rPr b="0" i="0" lang="vi-VN">
                <a:solidFill>
                  <a:srgbClr val="0D0D0D"/>
                </a:solidFill>
                <a:latin typeface="Arial"/>
                <a:ea typeface="Arial"/>
                <a:cs typeface="Arial"/>
                <a:sym typeface="Arial"/>
              </a:rPr>
              <a:t> Các thành phần của ứng dụng không được phân chia rõ ràng, do đó việc tái sử dụng code không hiệu quả.</a:t>
            </a:r>
            <a:endParaRPr/>
          </a:p>
          <a:p>
            <a:pPr indent="-228600" lvl="0" marL="457200" rtl="0" algn="l">
              <a:lnSpc>
                <a:spcPct val="100000"/>
              </a:lnSpc>
              <a:spcBef>
                <a:spcPts val="360"/>
              </a:spcBef>
              <a:spcAft>
                <a:spcPts val="0"/>
              </a:spcAft>
              <a:buSzPts val="1400"/>
              <a:buNone/>
            </a:pPr>
            <a:r>
              <a:rPr b="0" i="0" lang="vi-VN">
                <a:solidFill>
                  <a:srgbClr val="0D0D0D"/>
                </a:solidFill>
                <a:latin typeface="Arial"/>
                <a:ea typeface="Arial"/>
                <a:cs typeface="Arial"/>
                <a:sym typeface="Arial"/>
              </a:rPr>
              <a:t>Các trường hợp sẽ sử dụng Kiến trúc Monolithic:</a:t>
            </a:r>
            <a:endParaRPr/>
          </a:p>
          <a:p>
            <a:pPr indent="-228600" lvl="0" marL="45720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Ứng dụng đơn giản và nhỏ:</a:t>
            </a:r>
            <a:r>
              <a:rPr b="0" i="0" lang="vi-VN">
                <a:solidFill>
                  <a:srgbClr val="0D0D0D"/>
                </a:solidFill>
                <a:latin typeface="Arial"/>
                <a:ea typeface="Arial"/>
                <a:cs typeface="Arial"/>
                <a:sym typeface="Arial"/>
              </a:rPr>
              <a:t> Trong các trường hợp mà ứng dụng không quá lớn và phức tạp, kiến trúc Monolithic có thể là lựa chọn tốt để giảm bớt độ phức tạp và chi phí ban đầu.</a:t>
            </a:r>
            <a:endParaRPr/>
          </a:p>
          <a:p>
            <a:pPr indent="-228600" lvl="0" marL="45720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Yêu cầu triển khai nhanh chóng:</a:t>
            </a:r>
            <a:r>
              <a:rPr b="0" i="0" lang="vi-VN">
                <a:solidFill>
                  <a:srgbClr val="0D0D0D"/>
                </a:solidFill>
                <a:latin typeface="Arial"/>
                <a:ea typeface="Arial"/>
                <a:cs typeface="Arial"/>
                <a:sym typeface="Arial"/>
              </a:rPr>
              <a:t> Khi yêu cầu triển khai ứng dụng nhanh chóng và không cần sự phân tán hoặc mở rộng lớn, kiến trúc Monolithic có thể phù hợp với dự án.</a:t>
            </a:r>
            <a:endParaRPr b="0" i="0">
              <a:solidFill>
                <a:srgbClr val="0D0D0D"/>
              </a:solidFill>
              <a:latin typeface="Arial"/>
              <a:ea typeface="Arial"/>
              <a:cs typeface="Arial"/>
              <a:sym typeface="Arial"/>
            </a:endParaRPr>
          </a:p>
          <a:p>
            <a:pPr indent="0" lvl="0" marL="228600" rtl="0" algn="l">
              <a:lnSpc>
                <a:spcPct val="100000"/>
              </a:lnSpc>
              <a:spcBef>
                <a:spcPts val="360"/>
              </a:spcBef>
              <a:spcAft>
                <a:spcPts val="0"/>
              </a:spcAft>
              <a:buSzPts val="1400"/>
              <a:buFont typeface="Arial"/>
              <a:buNone/>
            </a:pPr>
            <a:r>
              <a:t/>
            </a:r>
            <a:endParaRPr b="0" i="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None/>
            </a:pPr>
            <a:r>
              <a:rPr b="0" i="0" lang="vi-VN">
                <a:solidFill>
                  <a:srgbClr val="0D0D0D"/>
                </a:solidFill>
                <a:latin typeface="Arial"/>
                <a:ea typeface="Arial"/>
                <a:cs typeface="Arial"/>
                <a:sym typeface="Arial"/>
              </a:rPr>
              <a:t>Một ví dụ cụ thể của kiến trúc Monolithic là một ứng dụng blog đơn giản. Trong ví dụ này, toàn bộ ứng dụng blog được xây dựng và triển khai như một đơn vị lớn duy nhất.</a:t>
            </a:r>
            <a:endParaRPr/>
          </a:p>
          <a:p>
            <a:pPr indent="-228600" lvl="0" marL="45720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Front-end:</a:t>
            </a:r>
            <a:r>
              <a:rPr b="0" i="0" lang="vi-VN">
                <a:solidFill>
                  <a:srgbClr val="0D0D0D"/>
                </a:solidFill>
                <a:latin typeface="Arial"/>
                <a:ea typeface="Arial"/>
                <a:cs typeface="Arial"/>
                <a:sym typeface="Arial"/>
              </a:rPr>
              <a:t> Giao diện người dùng (UI) của blog được xây dựng bằng HTML, CSS và JavaScript. Tất cả các trang web, bài viết, hình ảnh và phản hồi từ người dùng đều được hiển thị trên giao diện này.</a:t>
            </a:r>
            <a:endParaRPr/>
          </a:p>
          <a:p>
            <a:pPr indent="-228600" lvl="0" marL="45720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Back-end:</a:t>
            </a:r>
            <a:r>
              <a:rPr b="0" i="0" lang="vi-VN">
                <a:solidFill>
                  <a:srgbClr val="0D0D0D"/>
                </a:solidFill>
                <a:latin typeface="Arial"/>
                <a:ea typeface="Arial"/>
                <a:cs typeface="Arial"/>
                <a:sym typeface="Arial"/>
              </a:rPr>
              <a:t> Phần logic kinh doanh của ứng dụng, bao gồm xử lý yêu cầu từ người dùng, tạo, đọc, cập nhật và xóa bài viết, được tích hợp trong một ứng dụng server-side framework như Ruby on Rails hoặc Django. Các tác vụ như quản lý người dùng, quản lý phiên đăng nhập và xác thực cũng được thực hiện ở phía server.</a:t>
            </a:r>
            <a:endParaRPr/>
          </a:p>
          <a:p>
            <a:pPr indent="-228600" lvl="0" marL="45720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Database:</a:t>
            </a:r>
            <a:r>
              <a:rPr b="0" i="0" lang="vi-VN">
                <a:solidFill>
                  <a:srgbClr val="0D0D0D"/>
                </a:solidFill>
                <a:latin typeface="Arial"/>
                <a:ea typeface="Arial"/>
                <a:cs typeface="Arial"/>
                <a:sym typeface="Arial"/>
              </a:rPr>
              <a:t> Tất cả dữ liệu của blog, bao gồm bài viết, người dùng và phản hồi, được lưu trữ trong cùng một cơ sở dữ liệu SQL như MySQL hoặc PostgreSQL. Dữ liệu được truy xuất và cập nhật thông qua các truy vấn SQL từ phía back-end.</a:t>
            </a:r>
            <a:endParaRPr/>
          </a:p>
          <a:p>
            <a:pPr indent="-228600" lvl="0" marL="45720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Deployment:</a:t>
            </a:r>
            <a:r>
              <a:rPr b="0" i="0" lang="vi-VN">
                <a:solidFill>
                  <a:srgbClr val="0D0D0D"/>
                </a:solidFill>
                <a:latin typeface="Arial"/>
                <a:ea typeface="Arial"/>
                <a:cs typeface="Arial"/>
                <a:sym typeface="Arial"/>
              </a:rPr>
              <a:t> Toàn bộ ứng dụng được đóng gói và triển khai như một đơn vị duy nhất. Mỗi lần cập nhật hoặc thêm chức năng mới đều đòi hỏi việc triển khai lại toàn bộ ứng dụng.</a:t>
            </a:r>
            <a:endParaRPr/>
          </a:p>
          <a:p>
            <a:pPr indent="-228600" lvl="0" marL="457200" rtl="0" algn="l">
              <a:lnSpc>
                <a:spcPct val="100000"/>
              </a:lnSpc>
              <a:spcBef>
                <a:spcPts val="360"/>
              </a:spcBef>
              <a:spcAft>
                <a:spcPts val="0"/>
              </a:spcAft>
              <a:buSzPts val="1400"/>
              <a:buNone/>
            </a:pPr>
            <a:r>
              <a:rPr b="0" i="0" lang="vi-VN">
                <a:solidFill>
                  <a:srgbClr val="0D0D0D"/>
                </a:solidFill>
                <a:latin typeface="Arial"/>
                <a:ea typeface="Arial"/>
                <a:cs typeface="Arial"/>
                <a:sym typeface="Arial"/>
              </a:rPr>
              <a:t>Trong ví dụ này, mọi thành phần của ứng dụng blog, từ giao diện người dùng đến logic kinh doanh và cơ sở dữ liệu, đều được tích hợp và hoạt động trong một ứng dụng duy nhất. Điều này giúp đơn giản hóa quá trình phát triển, triển khai và quản lý ứng dụng, nhưng cũng gặp hạn chế trong việc mở rộng và bảo trì khi ứng dụng trở nên lớn hơn và phức tạp hơn.</a:t>
            </a:r>
            <a:endParaRPr/>
          </a:p>
          <a:p>
            <a:pPr indent="0" lvl="0" marL="228600" rtl="0" algn="l">
              <a:lnSpc>
                <a:spcPct val="100000"/>
              </a:lnSpc>
              <a:spcBef>
                <a:spcPts val="360"/>
              </a:spcBef>
              <a:spcAft>
                <a:spcPts val="0"/>
              </a:spcAft>
              <a:buSzPts val="1400"/>
              <a:buFont typeface="Arial"/>
              <a:buNone/>
            </a:pPr>
            <a:r>
              <a:t/>
            </a:r>
            <a:endParaRPr b="0" i="0">
              <a:solidFill>
                <a:srgbClr val="0D0D0D"/>
              </a:solidFill>
              <a:latin typeface="Arial"/>
              <a:ea typeface="Arial"/>
              <a:cs typeface="Arial"/>
              <a:sym typeface="Arial"/>
            </a:endParaRPr>
          </a:p>
        </p:txBody>
      </p:sp>
      <p:sp>
        <p:nvSpPr>
          <p:cNvPr id="200" name="Google Shape;20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Kiến trúc Microservices</a:t>
            </a:r>
            <a:r>
              <a:rPr b="0" i="0" lang="vi-VN">
                <a:solidFill>
                  <a:srgbClr val="0D0D0D"/>
                </a:solidFill>
                <a:latin typeface="Arial"/>
                <a:ea typeface="Arial"/>
                <a:cs typeface="Arial"/>
                <a:sym typeface="Arial"/>
              </a:rPr>
              <a:t> là một mô hình phát triển phần mềm trong đó ứng dụng được phân chia thành các dịch vụ nhỏ, độc lập và có thể triển khai độc lập. Mỗi dịch vụ chịu trách nhiệm thực hiện một chức năng cụ thể của ứng dụng và giao tiếp với các dịch vụ khác thông qua giao diện API. Dịch vụ Microservices được xây dựng, triển khai và quản lý một cách độc lập, cho phép các nhóm phát triển tập trung vào việc phát triển và duy trì các dịch vụ cụ thể mà mình quản lý.</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Cách thức triển khai:</a:t>
            </a:r>
            <a:endParaRPr b="0" i="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Mỗi dịch vụ Microservices có thể được đóng gói và triển khai độc lập sử dụng các công nghệ container như Docker.</a:t>
            </a:r>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Các dịch vụ có thể triển khai trên cơ sở hạ tầng đám mây hoặc trên cơ sở hạ tầng của doanh nghiệp.</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Ưu điểm và nhược điểm:</a:t>
            </a:r>
            <a:endParaRPr b="0" i="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Ưu điểm:</a:t>
            </a:r>
            <a:endParaRPr b="0" i="0">
              <a:solidFill>
                <a:srgbClr val="0D0D0D"/>
              </a:solidFill>
              <a:latin typeface="Arial"/>
              <a:ea typeface="Arial"/>
              <a:cs typeface="Arial"/>
              <a:sym typeface="Arial"/>
            </a:endParaRPr>
          </a:p>
          <a:p>
            <a:pPr indent="-285750" lvl="1" marL="74295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Dễ dàng mở rộng: Các dịch vụ có thể được mở rộng một cách độc lập với nhau, cho phép mở rộng linh hoạt và hiệu quả.</a:t>
            </a:r>
            <a:endParaRPr/>
          </a:p>
          <a:p>
            <a:pPr indent="-285750" lvl="1" marL="74295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Dễ dàng triển khai: Triển khai các dịch vụ độc lập giúp giảm thiểu rủi ro và thời gian triển khai.</a:t>
            </a:r>
            <a:endParaRPr/>
          </a:p>
          <a:p>
            <a:pPr indent="-285750" lvl="1" marL="74295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Linh hoạt và dễ bảo trì: Mỗi dịch vụ có thể được phát triển, triển khai và bảo trì một cách độc lập, giúp giảm thiểu ảnh hưởng khi có lỗi xảy ra và tăng khả năng mở rộng và cải thiện chất lượng.</a:t>
            </a:r>
            <a:endParaRPr/>
          </a:p>
          <a:p>
            <a:pPr indent="-228600" lvl="0" marL="45720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Nhược điểm:</a:t>
            </a:r>
            <a:endParaRPr b="0" i="0">
              <a:solidFill>
                <a:srgbClr val="0D0D0D"/>
              </a:solidFill>
              <a:latin typeface="Arial"/>
              <a:ea typeface="Arial"/>
              <a:cs typeface="Arial"/>
              <a:sym typeface="Arial"/>
            </a:endParaRPr>
          </a:p>
          <a:p>
            <a:pPr indent="-285750" lvl="1" marL="74295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Phức tạp hóa quản lý: Quản lý nhiều dịch vụ độc lập có thể đòi hỏi sự quản lý phức tạp hơn so với kiến trúc Monolithic.</a:t>
            </a:r>
            <a:endParaRPr/>
          </a:p>
          <a:p>
            <a:pPr indent="-285750" lvl="1" marL="74295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Chi phí triển khai và vận hành: Việc triển khai và vận hành nhiều dịch vụ có thể tăng chi phí và đòi hỏi các kỹ năng quản trị hệ thống cao.</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Các trường hợp sẽ sử dụng Kiến trúc Microservices:</a:t>
            </a:r>
            <a:endParaRPr b="0" i="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Các ứng dụng lớn và phức tạp: Kiến trúc Microservices thích hợp cho các ứng dụng có quy mô lớn và yêu cầu tính linh hoạt cao.</a:t>
            </a:r>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Sản phẩm hoặc dự án đòi hỏi mở rộng và cập nhật thường xuyên.</a:t>
            </a:r>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Đội ngũ phát triển phân chia thành các nhóm nhỏ độc lập.</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Ví dụ cụ thể:</a:t>
            </a:r>
            <a:r>
              <a:rPr b="0" i="0" lang="vi-VN">
                <a:solidFill>
                  <a:srgbClr val="0D0D0D"/>
                </a:solidFill>
                <a:latin typeface="Arial"/>
                <a:ea typeface="Arial"/>
                <a:cs typeface="Arial"/>
                <a:sym typeface="Arial"/>
              </a:rPr>
              <a:t> Một ví dụ cụ thể của kiến trúc Microservices là ứng dụng thương mại điện tử như Amazon. Trong kiến trúc này, các dịch vụ như xử lý đơn hàng, quản lý người dùng, tìm kiếm sản phẩm, thanh toán và đề xuất sản phẩm đều được triển khai dưới dạng các dịch vụ độc lập. Các dịch vụ này giao tiếp với nhau thông qua giao diện API và có thể được mở rộng một cách độc lập tùy thuộc vào nhu cầu.</a:t>
            </a:r>
            <a:endParaRPr/>
          </a:p>
        </p:txBody>
      </p:sp>
      <p:sp>
        <p:nvSpPr>
          <p:cNvPr id="208" name="Google Shape;20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Kiến trúc Serverless (Serverless Architecture)</a:t>
            </a:r>
            <a:r>
              <a:rPr b="0" i="0" lang="vi-VN">
                <a:solidFill>
                  <a:srgbClr val="0D0D0D"/>
                </a:solidFill>
                <a:latin typeface="Arial"/>
                <a:ea typeface="Arial"/>
                <a:cs typeface="Arial"/>
                <a:sym typeface="Arial"/>
              </a:rPr>
              <a:t> là một mô hình phát triển ứng dụng trong đó các ứng dụng được xây dựng và triển khai mà không cần quản lý hoặc triển khai cơ sở hạ tầng máy chủ. Thay vì phải quản lý các máy chủ vật lý hoặc ảo, các ứng dụng chạy trên các dịch vụ điện toán đám mây được quản lý bởi nhà cung cấp.</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Cách thức triển khai:</a:t>
            </a:r>
            <a:endParaRPr b="0" i="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Các ứng dụng được phát triển và triển khai bằng cách sử dụng các dịch vụ điện toán đám mây như AWS Lambda, Google Cloud Functions, hoặc Azure Functions.</a:t>
            </a:r>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Các hàm hoặc chức năng được viết bằng các ngôn ngữ lập trình như JavaScript, Python, hoặc Java và được triển khai trên dịch vụ Function-as-a-Service (FaaS).</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Ưu điểm và nhược điểm:</a:t>
            </a:r>
            <a:endParaRPr b="0" i="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Ưu điểm:</a:t>
            </a:r>
            <a:endParaRPr b="0" i="0">
              <a:solidFill>
                <a:srgbClr val="0D0D0D"/>
              </a:solidFill>
              <a:latin typeface="Arial"/>
              <a:ea typeface="Arial"/>
              <a:cs typeface="Arial"/>
              <a:sym typeface="Arial"/>
            </a:endParaRPr>
          </a:p>
          <a:p>
            <a:pPr indent="-285750" lvl="1" marL="74295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Giảm chi phí: Bởi vì không cần phải quản lý cơ sở hạ tầng máy chủ, kiến trúc Serverless giúp giảm chi phí vận hành.</a:t>
            </a:r>
            <a:endParaRPr/>
          </a:p>
          <a:p>
            <a:pPr indent="-285750" lvl="1" marL="74295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Linh hoạt và mở rộng dễ dàng: Các dịch vụ Serverless có thể tự động mở rộng và thu hồi tài nguyên, giúp ứng dụng chịu được tải cao mà không cần phải can thiệp thủ công.</a:t>
            </a:r>
            <a:endParaRPr/>
          </a:p>
          <a:p>
            <a:pPr indent="-285750" lvl="1" marL="74295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Tăng tốc độ phát triển: Phát triển và triển khai ứng dụng nhanh chóng và dễ dàng hơn do không cần phải quản lý cơ sở hạ tầng.</a:t>
            </a:r>
            <a:endParaRPr/>
          </a:p>
          <a:p>
            <a:pPr indent="-228600" lvl="0" marL="457200" rtl="0" algn="l">
              <a:lnSpc>
                <a:spcPct val="100000"/>
              </a:lnSpc>
              <a:spcBef>
                <a:spcPts val="360"/>
              </a:spcBef>
              <a:spcAft>
                <a:spcPts val="0"/>
              </a:spcAft>
              <a:buSzPts val="1400"/>
              <a:buFont typeface="Arial"/>
              <a:buChar char="•"/>
            </a:pPr>
            <a:r>
              <a:rPr b="1" i="0" lang="vi-VN">
                <a:solidFill>
                  <a:srgbClr val="0D0D0D"/>
                </a:solidFill>
                <a:latin typeface="Arial"/>
                <a:ea typeface="Arial"/>
                <a:cs typeface="Arial"/>
                <a:sym typeface="Arial"/>
              </a:rPr>
              <a:t>Nhược điểm:</a:t>
            </a:r>
            <a:endParaRPr b="0" i="0">
              <a:solidFill>
                <a:srgbClr val="0D0D0D"/>
              </a:solidFill>
              <a:latin typeface="Arial"/>
              <a:ea typeface="Arial"/>
              <a:cs typeface="Arial"/>
              <a:sym typeface="Arial"/>
            </a:endParaRPr>
          </a:p>
          <a:p>
            <a:pPr indent="-285750" lvl="1" marL="74295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Hạn chế về tự do: Các dịch vụ Serverless có thể giới hạn sự linh hoạt của ứng dụng do các hạn chế về môi trường thực thi và tài nguyên.</a:t>
            </a:r>
            <a:endParaRPr/>
          </a:p>
          <a:p>
            <a:pPr indent="-285750" lvl="1" marL="74295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Phản hồi trễ: Do việc khởi động hàm có thể mất thời gian, nên ứng dụng có thể gặp phải độ trễ trong phản hồi.</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Các trường hợp sẽ sử dụng Kiến trúc Serverless:</a:t>
            </a:r>
            <a:endParaRPr b="0" i="0">
              <a:solidFill>
                <a:srgbClr val="0D0D0D"/>
              </a:solidFill>
              <a:latin typeface="Arial"/>
              <a:ea typeface="Arial"/>
              <a:cs typeface="Arial"/>
              <a:sym typeface="Arial"/>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Ứng dụng web có yêu cầu tính linh hoạt cao và biến động lớn về lưu lượng.</a:t>
            </a:r>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Các ứng dụng xử lý sự kiện theo thời gian thực như xử lý dữ liệu sensor hoặc logs.</a:t>
            </a:r>
            <a:endParaRPr/>
          </a:p>
          <a:p>
            <a:pPr indent="-228600" lvl="0" marL="457200" rtl="0" algn="l">
              <a:lnSpc>
                <a:spcPct val="100000"/>
              </a:lnSpc>
              <a:spcBef>
                <a:spcPts val="360"/>
              </a:spcBef>
              <a:spcAft>
                <a:spcPts val="0"/>
              </a:spcAft>
              <a:buSzPts val="1400"/>
              <a:buFont typeface="Arial"/>
              <a:buChar char="•"/>
            </a:pPr>
            <a:r>
              <a:rPr b="0" i="0" lang="vi-VN">
                <a:solidFill>
                  <a:srgbClr val="0D0D0D"/>
                </a:solidFill>
                <a:latin typeface="Arial"/>
                <a:ea typeface="Arial"/>
                <a:cs typeface="Arial"/>
                <a:sym typeface="Arial"/>
              </a:rPr>
              <a:t>Các ứng dụng đòi hỏi tính linh hoạt và mở rộng để đáp ứng các yêu cầu biến đổi nhanh chóng.</a:t>
            </a:r>
            <a:endParaRPr/>
          </a:p>
          <a:p>
            <a:pPr indent="-228600" lvl="0" marL="457200" rtl="0" algn="l">
              <a:lnSpc>
                <a:spcPct val="100000"/>
              </a:lnSpc>
              <a:spcBef>
                <a:spcPts val="360"/>
              </a:spcBef>
              <a:spcAft>
                <a:spcPts val="0"/>
              </a:spcAft>
              <a:buSzPts val="1400"/>
              <a:buNone/>
            </a:pPr>
            <a:r>
              <a:rPr b="1" i="0" lang="vi-VN">
                <a:solidFill>
                  <a:srgbClr val="0D0D0D"/>
                </a:solidFill>
                <a:latin typeface="Arial"/>
                <a:ea typeface="Arial"/>
                <a:cs typeface="Arial"/>
                <a:sym typeface="Arial"/>
              </a:rPr>
              <a:t>Ví dụ cụ thể:</a:t>
            </a:r>
            <a:r>
              <a:rPr b="0" i="0" lang="vi-VN">
                <a:solidFill>
                  <a:srgbClr val="0D0D0D"/>
                </a:solidFill>
                <a:latin typeface="Arial"/>
                <a:ea typeface="Arial"/>
                <a:cs typeface="Arial"/>
                <a:sym typeface="Arial"/>
              </a:rPr>
              <a:t> Một ví dụ cụ thể của kiến trúc Serverless là việc xử lý hình ảnh trên một ứng dụng web. Thay vì triển khai một máy chủ dành riêng cho việc xử lý hình ảnh, bạn có thể sử dụng dịch vụ Serverless như AWS Lambda để triển khai các hàm xử lý hình ảnh. Khi một hình ảnh được tải lên, Lambda sẽ kích hoạt hàm xử lý để thực hiện các thao tác xử lý như cắt, xoay hoặc chuyển đổi định dạng hình ảnh mà không cần phải quản lý máy chủ.</a:t>
            </a:r>
            <a:endParaRPr/>
          </a:p>
        </p:txBody>
      </p:sp>
      <p:sp>
        <p:nvSpPr>
          <p:cNvPr id="216" name="Google Shape;216;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24" name="Google Shape;22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1" name="Google Shape;23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9" name="Google Shape;239;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46" name="Google Shape;24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3" name="Google Shape;25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1" name="Google Shape;261;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9" name="Google Shape;26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7" name="Google Shape;27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5" name="Google Shape;28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2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24"/>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 name="Google Shape;21;p24"/>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25"/>
          <p:cNvSpPr txBox="1"/>
          <p:nvPr>
            <p:ph type="title"/>
          </p:nvPr>
        </p:nvSpPr>
        <p:spPr>
          <a:xfrm>
            <a:off x="228600" y="194392"/>
            <a:ext cx="10515600" cy="54451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 name="Google Shape;25;p25"/>
          <p:cNvSpPr txBox="1"/>
          <p:nvPr>
            <p:ph idx="1" type="body"/>
          </p:nvPr>
        </p:nvSpPr>
        <p:spPr>
          <a:xfrm>
            <a:off x="457200" y="1066800"/>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5"/>
          <p:cNvSpPr txBox="1"/>
          <p:nvPr>
            <p:ph idx="2" type="body"/>
          </p:nvPr>
        </p:nvSpPr>
        <p:spPr>
          <a:xfrm>
            <a:off x="6209071" y="1102954"/>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8" name="Shape 28"/>
        <p:cNvGrpSpPr/>
        <p:nvPr/>
      </p:nvGrpSpPr>
      <p:grpSpPr>
        <a:xfrm>
          <a:off x="0" y="0"/>
          <a:ext cx="0" cy="0"/>
          <a:chOff x="0" y="0"/>
          <a:chExt cx="0" cy="0"/>
        </a:xfrm>
      </p:grpSpPr>
      <p:sp>
        <p:nvSpPr>
          <p:cNvPr id="29" name="Google Shape;29;p26"/>
          <p:cNvSpPr txBox="1"/>
          <p:nvPr>
            <p:ph type="title"/>
          </p:nvPr>
        </p:nvSpPr>
        <p:spPr>
          <a:xfrm>
            <a:off x="228600" y="125413"/>
            <a:ext cx="10390716" cy="70167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0" name="Google Shape;30;p26"/>
          <p:cNvSpPr txBox="1"/>
          <p:nvPr>
            <p:ph idx="1" type="body"/>
          </p:nvPr>
        </p:nvSpPr>
        <p:spPr>
          <a:xfrm>
            <a:off x="457200" y="1124743"/>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6"/>
          <p:cNvSpPr txBox="1"/>
          <p:nvPr>
            <p:ph idx="2" type="body"/>
          </p:nvPr>
        </p:nvSpPr>
        <p:spPr>
          <a:xfrm>
            <a:off x="6858000" y="1124743"/>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Over Content" type="txOverObj">
  <p:cSld name="TEXT_OVER_OBJECT">
    <p:spTree>
      <p:nvGrpSpPr>
        <p:cNvPr id="33" name="Shape 33"/>
        <p:cNvGrpSpPr/>
        <p:nvPr/>
      </p:nvGrpSpPr>
      <p:grpSpPr>
        <a:xfrm>
          <a:off x="0" y="0"/>
          <a:ext cx="0" cy="0"/>
          <a:chOff x="0" y="0"/>
          <a:chExt cx="0" cy="0"/>
        </a:xfrm>
      </p:grpSpPr>
      <p:sp>
        <p:nvSpPr>
          <p:cNvPr id="34" name="Google Shape;34;p27"/>
          <p:cNvSpPr txBox="1"/>
          <p:nvPr>
            <p:ph type="title"/>
          </p:nvPr>
        </p:nvSpPr>
        <p:spPr>
          <a:xfrm>
            <a:off x="228600" y="210344"/>
            <a:ext cx="10390716" cy="56038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27"/>
          <p:cNvSpPr txBox="1"/>
          <p:nvPr>
            <p:ph idx="1" type="body"/>
          </p:nvPr>
        </p:nvSpPr>
        <p:spPr>
          <a:xfrm>
            <a:off x="457200" y="990600"/>
            <a:ext cx="10363200" cy="222726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7"/>
          <p:cNvSpPr txBox="1"/>
          <p:nvPr>
            <p:ph idx="2" type="body"/>
          </p:nvPr>
        </p:nvSpPr>
        <p:spPr>
          <a:xfrm>
            <a:off x="518652" y="3429000"/>
            <a:ext cx="10363200" cy="222885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38" name="Shape 38"/>
        <p:cNvGrpSpPr/>
        <p:nvPr/>
      </p:nvGrpSpPr>
      <p:grpSpPr>
        <a:xfrm>
          <a:off x="0" y="0"/>
          <a:ext cx="0" cy="0"/>
          <a:chOff x="0" y="0"/>
          <a:chExt cx="0" cy="0"/>
        </a:xfrm>
      </p:grpSpPr>
      <p:sp>
        <p:nvSpPr>
          <p:cNvPr id="39" name="Google Shape;39;p28"/>
          <p:cNvSpPr txBox="1"/>
          <p:nvPr>
            <p:ph type="title"/>
          </p:nvPr>
        </p:nvSpPr>
        <p:spPr>
          <a:xfrm>
            <a:off x="304800" y="136525"/>
            <a:ext cx="10390716" cy="63658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0" name="Google Shape;40;p28"/>
          <p:cNvSpPr txBox="1"/>
          <p:nvPr>
            <p:ph idx="1" type="body"/>
          </p:nvPr>
        </p:nvSpPr>
        <p:spPr>
          <a:xfrm>
            <a:off x="437364" y="990600"/>
            <a:ext cx="5080000" cy="460851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8"/>
          <p:cNvSpPr txBox="1"/>
          <p:nvPr>
            <p:ph idx="2" type="body"/>
          </p:nvPr>
        </p:nvSpPr>
        <p:spPr>
          <a:xfrm>
            <a:off x="6674638" y="1025013"/>
            <a:ext cx="5080000" cy="222726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8"/>
          <p:cNvSpPr txBox="1"/>
          <p:nvPr>
            <p:ph idx="3" type="body"/>
          </p:nvPr>
        </p:nvSpPr>
        <p:spPr>
          <a:xfrm>
            <a:off x="6674638" y="3396739"/>
            <a:ext cx="5080000" cy="222885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ề Bản chiếu" type="title">
  <p:cSld name="TITLE">
    <p:spTree>
      <p:nvGrpSpPr>
        <p:cNvPr id="50" name="Shape 50"/>
        <p:cNvGrpSpPr/>
        <p:nvPr/>
      </p:nvGrpSpPr>
      <p:grpSpPr>
        <a:xfrm>
          <a:off x="0" y="0"/>
          <a:ext cx="0" cy="0"/>
          <a:chOff x="0" y="0"/>
          <a:chExt cx="0" cy="0"/>
        </a:xfrm>
      </p:grpSpPr>
      <p:sp>
        <p:nvSpPr>
          <p:cNvPr id="51" name="Google Shape;51;p3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53" name="Google Shape;53;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ề và Nội dung" type="obj">
  <p:cSld name="OBJECT">
    <p:spTree>
      <p:nvGrpSpPr>
        <p:cNvPr id="56" name="Shape 56"/>
        <p:cNvGrpSpPr/>
        <p:nvPr/>
      </p:nvGrpSpPr>
      <p:grpSpPr>
        <a:xfrm>
          <a:off x="0" y="0"/>
          <a:ext cx="0" cy="0"/>
          <a:chOff x="0" y="0"/>
          <a:chExt cx="0" cy="0"/>
        </a:xfrm>
      </p:grpSpPr>
      <p:sp>
        <p:nvSpPr>
          <p:cNvPr id="57" name="Google Shape;57;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Đầu trang của Phần" type="secHead">
  <p:cSld name="SECTION_HEADER">
    <p:spTree>
      <p:nvGrpSpPr>
        <p:cNvPr id="62" name="Shape 62"/>
        <p:cNvGrpSpPr/>
        <p:nvPr/>
      </p:nvGrpSpPr>
      <p:grpSpPr>
        <a:xfrm>
          <a:off x="0" y="0"/>
          <a:ext cx="0" cy="0"/>
          <a:chOff x="0" y="0"/>
          <a:chExt cx="0" cy="0"/>
        </a:xfrm>
      </p:grpSpPr>
      <p:sp>
        <p:nvSpPr>
          <p:cNvPr id="63" name="Google Shape;63;p3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5" name="Google Shape;65;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i Nội dung" type="twoObj">
  <p:cSld name="TWO_OBJECTS">
    <p:spTree>
      <p:nvGrpSpPr>
        <p:cNvPr id="68" name="Shape 68"/>
        <p:cNvGrpSpPr/>
        <p:nvPr/>
      </p:nvGrpSpPr>
      <p:grpSpPr>
        <a:xfrm>
          <a:off x="0" y="0"/>
          <a:ext cx="0" cy="0"/>
          <a:chOff x="0" y="0"/>
          <a:chExt cx="0" cy="0"/>
        </a:xfrm>
      </p:grpSpPr>
      <p:sp>
        <p:nvSpPr>
          <p:cNvPr id="69" name="Google Shape;69;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ép so sánh" type="twoTxTwoObj">
  <p:cSld name="TWO_OBJECTS_WITH_TEXT">
    <p:spTree>
      <p:nvGrpSpPr>
        <p:cNvPr id="75" name="Shape 75"/>
        <p:cNvGrpSpPr/>
        <p:nvPr/>
      </p:nvGrpSpPr>
      <p:grpSpPr>
        <a:xfrm>
          <a:off x="0" y="0"/>
          <a:ext cx="0" cy="0"/>
          <a:chOff x="0" y="0"/>
          <a:chExt cx="0" cy="0"/>
        </a:xfrm>
      </p:grpSpPr>
      <p:sp>
        <p:nvSpPr>
          <p:cNvPr id="76" name="Google Shape;76;p3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8" name="Google Shape;78;p3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3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0" name="Google Shape;80;p3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ỉ Tiêu đề" type="titleOnly">
  <p:cSld name="TITLE_ONLY">
    <p:spTree>
      <p:nvGrpSpPr>
        <p:cNvPr id="84" name="Shape 84"/>
        <p:cNvGrpSpPr/>
        <p:nvPr/>
      </p:nvGrpSpPr>
      <p:grpSpPr>
        <a:xfrm>
          <a:off x="0" y="0"/>
          <a:ext cx="0" cy="0"/>
          <a:chOff x="0" y="0"/>
          <a:chExt cx="0" cy="0"/>
        </a:xfrm>
      </p:grpSpPr>
      <p:sp>
        <p:nvSpPr>
          <p:cNvPr id="85" name="Google Shape;85;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ống" type="blank">
  <p:cSld name="BLANK">
    <p:spTree>
      <p:nvGrpSpPr>
        <p:cNvPr id="89" name="Shape 89"/>
        <p:cNvGrpSpPr/>
        <p:nvPr/>
      </p:nvGrpSpPr>
      <p:grpSpPr>
        <a:xfrm>
          <a:off x="0" y="0"/>
          <a:ext cx="0" cy="0"/>
          <a:chOff x="0" y="0"/>
          <a:chExt cx="0" cy="0"/>
        </a:xfrm>
      </p:grpSpPr>
      <p:sp>
        <p:nvSpPr>
          <p:cNvPr id="90" name="Google Shape;90;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ội dung với Phụ đề" type="objTx">
  <p:cSld name="OBJECT_WITH_CAPTION_TEXT">
    <p:spTree>
      <p:nvGrpSpPr>
        <p:cNvPr id="93" name="Shape 93"/>
        <p:cNvGrpSpPr/>
        <p:nvPr/>
      </p:nvGrpSpPr>
      <p:grpSpPr>
        <a:xfrm>
          <a:off x="0" y="0"/>
          <a:ext cx="0" cy="0"/>
          <a:chOff x="0" y="0"/>
          <a:chExt cx="0" cy="0"/>
        </a:xfrm>
      </p:grpSpPr>
      <p:sp>
        <p:nvSpPr>
          <p:cNvPr id="94" name="Google Shape;94;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6" name="Google Shape;96;p3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7" name="Google Shape;97;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nh với Phụ đề" type="picTx">
  <p:cSld name="PICTURE_WITH_CAPTION_TEXT">
    <p:spTree>
      <p:nvGrpSpPr>
        <p:cNvPr id="100" name="Shape 100"/>
        <p:cNvGrpSpPr/>
        <p:nvPr/>
      </p:nvGrpSpPr>
      <p:grpSpPr>
        <a:xfrm>
          <a:off x="0" y="0"/>
          <a:ext cx="0" cy="0"/>
          <a:chOff x="0" y="0"/>
          <a:chExt cx="0" cy="0"/>
        </a:xfrm>
      </p:grpSpPr>
      <p:sp>
        <p:nvSpPr>
          <p:cNvPr id="101" name="Google Shape;101;p3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8"/>
          <p:cNvSpPr/>
          <p:nvPr>
            <p:ph idx="2" type="pic"/>
          </p:nvPr>
        </p:nvSpPr>
        <p:spPr>
          <a:xfrm>
            <a:off x="5183188" y="987425"/>
            <a:ext cx="6172200" cy="4873625"/>
          </a:xfrm>
          <a:prstGeom prst="rect">
            <a:avLst/>
          </a:prstGeom>
          <a:noFill/>
          <a:ln>
            <a:noFill/>
          </a:ln>
        </p:spPr>
      </p:sp>
      <p:sp>
        <p:nvSpPr>
          <p:cNvPr id="103" name="Google Shape;103;p3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4" name="Google Shape;104;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ề và Văn bản Dọc" type="vertTx">
  <p:cSld name="VERTICAL_TEXT">
    <p:spTree>
      <p:nvGrpSpPr>
        <p:cNvPr id="107" name="Shape 107"/>
        <p:cNvGrpSpPr/>
        <p:nvPr/>
      </p:nvGrpSpPr>
      <p:grpSpPr>
        <a:xfrm>
          <a:off x="0" y="0"/>
          <a:ext cx="0" cy="0"/>
          <a:chOff x="0" y="0"/>
          <a:chExt cx="0" cy="0"/>
        </a:xfrm>
      </p:grpSpPr>
      <p:sp>
        <p:nvSpPr>
          <p:cNvPr id="108" name="Google Shape;108;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3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0" name="Google Shape;110;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êu đề Dọc và Văn bản" type="vertTitleAndTx">
  <p:cSld name="VERTICAL_TITLE_AND_VERTICAL_TEXT">
    <p:spTree>
      <p:nvGrpSpPr>
        <p:cNvPr id="113" name="Shape 113"/>
        <p:cNvGrpSpPr/>
        <p:nvPr/>
      </p:nvGrpSpPr>
      <p:grpSpPr>
        <a:xfrm>
          <a:off x="0" y="0"/>
          <a:ext cx="0" cy="0"/>
          <a:chOff x="0" y="0"/>
          <a:chExt cx="0" cy="0"/>
        </a:xfrm>
      </p:grpSpPr>
      <p:sp>
        <p:nvSpPr>
          <p:cNvPr id="114" name="Google Shape;114;p4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4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6" name="Google Shape;116;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11" Type="http://schemas.openxmlformats.org/officeDocument/2006/relationships/slideLayout" Target="../slideLayouts/slideLayout17.xml"/><Relationship Id="rId10" Type="http://schemas.openxmlformats.org/officeDocument/2006/relationships/slideLayout" Target="../slideLayouts/slideLayout16.xml"/><Relationship Id="rId12" Type="http://schemas.openxmlformats.org/officeDocument/2006/relationships/theme" Target="../theme/theme1.xml"/><Relationship Id="rId9" Type="http://schemas.openxmlformats.org/officeDocument/2006/relationships/slideLayout" Target="../slideLayouts/slideLayout15.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Graphical user interface, text, application, email&#10;&#10;Description automatically generated" id="10" name="Google Shape;10;p22"/>
          <p:cNvPicPr preferRelativeResize="0"/>
          <p:nvPr/>
        </p:nvPicPr>
        <p:blipFill rotWithShape="1">
          <a:blip r:embed="rId1">
            <a:alphaModFix/>
          </a:blip>
          <a:srcRect b="0" l="0" r="0" t="0"/>
          <a:stretch/>
        </p:blipFill>
        <p:spPr>
          <a:xfrm>
            <a:off x="0" y="6350"/>
            <a:ext cx="12192000" cy="6845300"/>
          </a:xfrm>
          <a:prstGeom prst="rect">
            <a:avLst/>
          </a:prstGeom>
          <a:noFill/>
          <a:ln>
            <a:noFill/>
          </a:ln>
        </p:spPr>
      </p:pic>
      <p:sp>
        <p:nvSpPr>
          <p:cNvPr id="11" name="Google Shape;11;p22"/>
          <p:cNvSpPr txBox="1"/>
          <p:nvPr>
            <p:ph type="title"/>
          </p:nvPr>
        </p:nvSpPr>
        <p:spPr>
          <a:xfrm>
            <a:off x="228600" y="136525"/>
            <a:ext cx="10515600" cy="54451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1pPr>
            <a:lvl2pPr lvl="1"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2pPr>
            <a:lvl3pPr lvl="2"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3pPr>
            <a:lvl4pPr lvl="3"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4pPr>
            <a:lvl5pPr lvl="4"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5pPr>
            <a:lvl6pPr lvl="5"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6pPr>
            <a:lvl7pPr lvl="6"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7pPr>
            <a:lvl8pPr lvl="7"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8pPr>
            <a:lvl9pPr lvl="8" marR="0" rtl="0" algn="l">
              <a:lnSpc>
                <a:spcPct val="90000"/>
              </a:lnSpc>
              <a:spcBef>
                <a:spcPts val="0"/>
              </a:spcBef>
              <a:spcAft>
                <a:spcPts val="0"/>
              </a:spcAft>
              <a:buClr>
                <a:srgbClr val="000000"/>
              </a:buClr>
              <a:buSzPts val="1400"/>
              <a:buFont typeface="Arial"/>
              <a:buNone/>
              <a:defRPr b="1" i="0" sz="3200" u="none" cap="none" strike="noStrike">
                <a:solidFill>
                  <a:srgbClr val="007ABF"/>
                </a:solidFill>
                <a:latin typeface="Arial"/>
                <a:ea typeface="Arial"/>
                <a:cs typeface="Arial"/>
                <a:sym typeface="Arial"/>
              </a:defRPr>
            </a:lvl9pPr>
          </a:lstStyle>
          <a:p/>
        </p:txBody>
      </p:sp>
      <p:sp>
        <p:nvSpPr>
          <p:cNvPr id="12" name="Google Shape;12;p22"/>
          <p:cNvSpPr txBox="1"/>
          <p:nvPr>
            <p:ph idx="1" type="body"/>
          </p:nvPr>
        </p:nvSpPr>
        <p:spPr>
          <a:xfrm>
            <a:off x="341313" y="1252538"/>
            <a:ext cx="105156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3" name="Google Shape;1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
        <p:nvSpPr>
          <p:cNvPr id="14" name="Google Shape;14;p22"/>
          <p:cNvSpPr txBox="1"/>
          <p:nvPr/>
        </p:nvSpPr>
        <p:spPr>
          <a:xfrm>
            <a:off x="317500" y="6356350"/>
            <a:ext cx="1422400" cy="3540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00"/>
              <a:buFont typeface="Arial"/>
              <a:buNone/>
            </a:pPr>
            <a:r>
              <a:rPr b="1" i="0" lang="vi-VN" sz="1700" u="none" cap="none" strike="noStrike">
                <a:solidFill>
                  <a:schemeClr val="lt1"/>
                </a:solidFill>
                <a:latin typeface="Arial"/>
                <a:ea typeface="Arial"/>
                <a:cs typeface="Arial"/>
                <a:sym typeface="Arial"/>
              </a:rPr>
              <a:t>FE Program</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 name="Shape 44"/>
        <p:cNvGrpSpPr/>
        <p:nvPr/>
      </p:nvGrpSpPr>
      <p:grpSpPr>
        <a:xfrm>
          <a:off x="0" y="0"/>
          <a:ext cx="0" cy="0"/>
          <a:chOff x="0" y="0"/>
          <a:chExt cx="0" cy="0"/>
        </a:xfrm>
      </p:grpSpPr>
      <p:sp>
        <p:nvSpPr>
          <p:cNvPr id="45" name="Google Shape;45;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6" name="Google Shape;46;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7" name="Google Shape;4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8" name="Google Shape;4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9" name="Google Shape;4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vi-VN"/>
              <a:t>‹#›</a:t>
            </a:fld>
            <a:endParaRPr/>
          </a:p>
        </p:txBody>
      </p:sp>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app.diagrams.net/" TargetMode="Externa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4" name="Google Shape;124;p1"/>
          <p:cNvSpPr txBox="1"/>
          <p:nvPr/>
        </p:nvSpPr>
        <p:spPr>
          <a:xfrm>
            <a:off x="83820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E7E6E6"/>
              </a:buClr>
              <a:buSzPts val="1400"/>
              <a:buFont typeface="Arial"/>
              <a:buNone/>
            </a:pPr>
            <a:fld id="{00000000-1234-1234-1234-123412341234}" type="slidenum">
              <a:rPr b="0" i="0" lang="vi-VN" sz="1800" u="none" cap="none" strike="noStrike">
                <a:solidFill>
                  <a:srgbClr val="E7E6E6"/>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pic>
        <p:nvPicPr>
          <p:cNvPr descr="A picture containing drawing&#10;&#10;Description automatically generated" id="125" name="Google Shape;125;p1"/>
          <p:cNvPicPr preferRelativeResize="0"/>
          <p:nvPr/>
        </p:nvPicPr>
        <p:blipFill rotWithShape="1">
          <a:blip r:embed="rId4">
            <a:alphaModFix/>
          </a:blip>
          <a:srcRect b="16351" l="5000" r="5000" t="13557"/>
          <a:stretch/>
        </p:blipFill>
        <p:spPr>
          <a:xfrm>
            <a:off x="504825" y="258763"/>
            <a:ext cx="3989388" cy="838200"/>
          </a:xfrm>
          <a:prstGeom prst="rect">
            <a:avLst/>
          </a:prstGeom>
          <a:noFill/>
          <a:ln>
            <a:noFill/>
          </a:ln>
        </p:spPr>
      </p:pic>
      <p:sp>
        <p:nvSpPr>
          <p:cNvPr id="126" name="Google Shape;126;p1"/>
          <p:cNvSpPr/>
          <p:nvPr/>
        </p:nvSpPr>
        <p:spPr>
          <a:xfrm>
            <a:off x="5978525" y="3275013"/>
            <a:ext cx="234950"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vi-VN" sz="1800" u="none" cap="none" strike="noStrike">
                <a:solidFill>
                  <a:schemeClr val="dk1"/>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27" name="Google Shape;127;p1"/>
          <p:cNvSpPr/>
          <p:nvPr/>
        </p:nvSpPr>
        <p:spPr>
          <a:xfrm>
            <a:off x="760413" y="1231900"/>
            <a:ext cx="5637212" cy="476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ABF"/>
              </a:buClr>
              <a:buSzPts val="2500"/>
              <a:buFont typeface="Arial"/>
              <a:buNone/>
            </a:pPr>
            <a:r>
              <a:rPr b="1" i="0" lang="vi-VN" sz="2500" u="none" cap="none" strike="noStrike">
                <a:solidFill>
                  <a:srgbClr val="007A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128" name="Google Shape;128;p1"/>
          <p:cNvSpPr txBox="1"/>
          <p:nvPr/>
        </p:nvSpPr>
        <p:spPr>
          <a:xfrm>
            <a:off x="1216025" y="2770188"/>
            <a:ext cx="9070975" cy="1317625"/>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A2FF"/>
              </a:buClr>
              <a:buSzPts val="4900"/>
              <a:buFont typeface="Arial"/>
              <a:buNone/>
            </a:pPr>
            <a:r>
              <a:rPr b="1" i="0" lang="vi-VN" sz="4900" u="none" cap="none" strike="noStrike">
                <a:solidFill>
                  <a:srgbClr val="00A2FF"/>
                </a:solidFill>
                <a:latin typeface="Arial"/>
                <a:ea typeface="Arial"/>
                <a:cs typeface="Arial"/>
                <a:sym typeface="Arial"/>
              </a:rPr>
              <a:t>System Architecture – Day 2 </a:t>
            </a:r>
            <a:endParaRPr b="0" i="0" sz="11200" u="none" cap="none" strike="noStrike">
              <a:solidFill>
                <a:srgbClr val="000000"/>
              </a:solidFill>
              <a:latin typeface="Calibri"/>
              <a:ea typeface="Calibri"/>
              <a:cs typeface="Calibri"/>
              <a:sym typeface="Calibri"/>
            </a:endParaRPr>
          </a:p>
        </p:txBody>
      </p:sp>
      <p:sp>
        <p:nvSpPr>
          <p:cNvPr id="129" name="Google Shape;129;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b="0" i="0" lang="vi-VN"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t>Lesson purpose</a:t>
            </a:r>
            <a:endParaRPr/>
          </a:p>
        </p:txBody>
      </p:sp>
      <p:sp>
        <p:nvSpPr>
          <p:cNvPr id="136" name="Google Shape;136;p2"/>
          <p:cNvSpPr txBox="1"/>
          <p:nvPr>
            <p:ph idx="1" type="body"/>
          </p:nvPr>
        </p:nvSpPr>
        <p:spPr>
          <a:xfrm>
            <a:off x="366713" y="1066800"/>
            <a:ext cx="11293946" cy="4608513"/>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400"/>
              <a:buChar char="•"/>
            </a:pPr>
            <a:r>
              <a:rPr lang="vi-VN" sz="2400"/>
              <a:t>Practice designing system architecture drawings</a:t>
            </a:r>
            <a:r>
              <a:rPr lang="vi-VN" sz="2400">
                <a:latin typeface="Arial"/>
                <a:ea typeface="Arial"/>
                <a:cs typeface="Arial"/>
                <a:sym typeface="Arial"/>
              </a:rPr>
              <a:t> ( sử dụng app.diagrams.net )</a:t>
            </a:r>
            <a:endParaRPr sz="2400"/>
          </a:p>
        </p:txBody>
      </p:sp>
      <p:sp>
        <p:nvSpPr>
          <p:cNvPr id="137" name="Google Shape;137;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vi-VN"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 calcmode="lin" valueType="num">
                                      <p:cBhvr additive="base">
                                        <p:cTn dur="500"/>
                                        <p:tgtEl>
                                          <p:spTgt spid="13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t>Contents</a:t>
            </a:r>
            <a:endParaRPr/>
          </a:p>
        </p:txBody>
      </p:sp>
      <p:sp>
        <p:nvSpPr>
          <p:cNvPr id="143" name="Google Shape;143;p3"/>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000000"/>
              </a:buClr>
              <a:buSzPts val="2400"/>
              <a:buChar char="•"/>
            </a:pPr>
            <a:r>
              <a:rPr lang="vi-VN" sz="2400">
                <a:solidFill>
                  <a:srgbClr val="000000"/>
                </a:solidFill>
                <a:latin typeface="Arial"/>
                <a:ea typeface="Arial"/>
                <a:cs typeface="Arial"/>
                <a:sym typeface="Arial"/>
              </a:rPr>
              <a:t>Web Application Architectures</a:t>
            </a:r>
            <a:endParaRPr/>
          </a:p>
          <a:p>
            <a:pPr indent="-342900" lvl="0" marL="342900" rtl="0" algn="l">
              <a:lnSpc>
                <a:spcPct val="90000"/>
              </a:lnSpc>
              <a:spcBef>
                <a:spcPts val="1000"/>
              </a:spcBef>
              <a:spcAft>
                <a:spcPts val="0"/>
              </a:spcAft>
              <a:buClr>
                <a:srgbClr val="000000"/>
              </a:buClr>
              <a:buSzPts val="2400"/>
              <a:buChar char="•"/>
            </a:pPr>
            <a:r>
              <a:rPr lang="vi-VN" sz="2400">
                <a:solidFill>
                  <a:srgbClr val="000000"/>
                </a:solidFill>
                <a:latin typeface="Arial"/>
                <a:ea typeface="Arial"/>
                <a:cs typeface="Arial"/>
                <a:sym typeface="Arial"/>
              </a:rPr>
              <a:t>Deployment Architecture</a:t>
            </a:r>
            <a:endParaRPr/>
          </a:p>
          <a:p>
            <a:pPr indent="-342900" lvl="0" marL="342900" rtl="0" algn="l">
              <a:lnSpc>
                <a:spcPct val="90000"/>
              </a:lnSpc>
              <a:spcBef>
                <a:spcPts val="1000"/>
              </a:spcBef>
              <a:spcAft>
                <a:spcPts val="0"/>
              </a:spcAft>
              <a:buClr>
                <a:srgbClr val="000000"/>
              </a:buClr>
              <a:buSzPts val="2400"/>
              <a:buChar char="•"/>
            </a:pPr>
            <a:r>
              <a:rPr lang="vi-VN" sz="2400">
                <a:solidFill>
                  <a:srgbClr val="000000"/>
                </a:solidFill>
                <a:latin typeface="Arial"/>
                <a:ea typeface="Arial"/>
                <a:cs typeface="Arial"/>
                <a:sym typeface="Arial"/>
              </a:rPr>
              <a:t>System Architecture (in Lab)</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144" name="Google Shape;144;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4"/>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400"/>
              <a:buNone/>
            </a:pPr>
            <a:r>
              <a:rPr lang="vi-VN"/>
              <a:t>Contents</a:t>
            </a:r>
            <a:endParaRPr/>
          </a:p>
        </p:txBody>
      </p:sp>
      <p:sp>
        <p:nvSpPr>
          <p:cNvPr id="150" name="Google Shape;150;p4"/>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007ABF"/>
              </a:buClr>
              <a:buSzPts val="2400"/>
              <a:buChar char="•"/>
            </a:pPr>
            <a:r>
              <a:rPr lang="vi-VN" sz="2400">
                <a:solidFill>
                  <a:srgbClr val="007ABF"/>
                </a:solidFill>
                <a:latin typeface="Arial"/>
                <a:ea typeface="Arial"/>
                <a:cs typeface="Arial"/>
                <a:sym typeface="Arial"/>
              </a:rPr>
              <a:t>Web Application Architectures</a:t>
            </a:r>
            <a:endParaRPr>
              <a:solidFill>
                <a:srgbClr val="007ABF"/>
              </a:solidFill>
            </a:endParaRPr>
          </a:p>
          <a:p>
            <a:pPr indent="-342900" lvl="0" marL="342900" rtl="0" algn="l">
              <a:lnSpc>
                <a:spcPct val="90000"/>
              </a:lnSpc>
              <a:spcBef>
                <a:spcPts val="1000"/>
              </a:spcBef>
              <a:spcAft>
                <a:spcPts val="0"/>
              </a:spcAft>
              <a:buSzPts val="2400"/>
              <a:buChar char="•"/>
            </a:pPr>
            <a:r>
              <a:rPr lang="vi-VN" sz="2400">
                <a:latin typeface="Arial"/>
                <a:ea typeface="Arial"/>
                <a:cs typeface="Arial"/>
                <a:sym typeface="Arial"/>
              </a:rPr>
              <a:t>Deployment Architecture</a:t>
            </a:r>
            <a:endParaRPr/>
          </a:p>
          <a:p>
            <a:pPr indent="-342900" lvl="0" marL="342900" rtl="0" algn="l">
              <a:lnSpc>
                <a:spcPct val="90000"/>
              </a:lnSpc>
              <a:spcBef>
                <a:spcPts val="1000"/>
              </a:spcBef>
              <a:spcAft>
                <a:spcPts val="0"/>
              </a:spcAft>
              <a:buClr>
                <a:srgbClr val="000000"/>
              </a:buClr>
              <a:buSzPts val="2400"/>
              <a:buChar char="•"/>
            </a:pPr>
            <a:r>
              <a:rPr lang="vi-VN" sz="2400">
                <a:solidFill>
                  <a:srgbClr val="000000"/>
                </a:solidFill>
                <a:latin typeface="Arial"/>
                <a:ea typeface="Arial"/>
                <a:cs typeface="Arial"/>
                <a:sym typeface="Arial"/>
              </a:rPr>
              <a:t>System Architecture (in Lab)</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151" name="Google Shape;15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6"/>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Web Application Architecture</a:t>
            </a:r>
            <a:endParaRPr/>
          </a:p>
        </p:txBody>
      </p:sp>
      <p:sp>
        <p:nvSpPr>
          <p:cNvPr id="157" name="Google Shape;157;p6"/>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vi-VN">
                <a:latin typeface="Arial"/>
                <a:ea typeface="Arial"/>
                <a:cs typeface="Arial"/>
                <a:sym typeface="Arial"/>
              </a:rPr>
              <a:t>There are three layers of a 3-Tier architecture:</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Presentation layer / Client Layer (FrontEnd)</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Application Layer / Business Layer (BackEnd)</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Data Layer (Database)</a:t>
            </a:r>
            <a:endParaRPr/>
          </a:p>
        </p:txBody>
      </p:sp>
      <p:sp>
        <p:nvSpPr>
          <p:cNvPr id="158" name="Google Shape;15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pic>
        <p:nvPicPr>
          <p:cNvPr descr="Ảnh có chứa văn bản, ảnh chụp màn hình, biểu đồ, Phông chữ&#10;&#10;Mô tả được tự động tạo" id="159" name="Google Shape;159;p6"/>
          <p:cNvPicPr preferRelativeResize="0"/>
          <p:nvPr/>
        </p:nvPicPr>
        <p:blipFill rotWithShape="1">
          <a:blip r:embed="rId3">
            <a:alphaModFix/>
          </a:blip>
          <a:srcRect b="0" l="0" r="0" t="0"/>
          <a:stretch/>
        </p:blipFill>
        <p:spPr>
          <a:xfrm>
            <a:off x="5280434" y="2380177"/>
            <a:ext cx="6660331" cy="34110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5"/>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Web Application Architecture</a:t>
            </a:r>
            <a:endParaRPr/>
          </a:p>
        </p:txBody>
      </p:sp>
      <p:sp>
        <p:nvSpPr>
          <p:cNvPr id="165" name="Google Shape;165;p5"/>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vi-VN">
                <a:latin typeface="Arial"/>
                <a:ea typeface="Arial"/>
                <a:cs typeface="Arial"/>
                <a:sym typeface="Arial"/>
              </a:rPr>
              <a:t>There are three layers of a 3-Tier architecture:</a:t>
            </a:r>
            <a:endParaRPr/>
          </a:p>
          <a:p>
            <a:pPr indent="-228600" lvl="1" marL="685800" rtl="0" algn="l">
              <a:lnSpc>
                <a:spcPct val="90000"/>
              </a:lnSpc>
              <a:spcBef>
                <a:spcPts val="500"/>
              </a:spcBef>
              <a:spcAft>
                <a:spcPts val="0"/>
              </a:spcAft>
              <a:buClr>
                <a:srgbClr val="007ABF"/>
              </a:buClr>
              <a:buSzPts val="2400"/>
              <a:buChar char="•"/>
            </a:pPr>
            <a:r>
              <a:rPr lang="vi-VN">
                <a:solidFill>
                  <a:srgbClr val="007ABF"/>
                </a:solidFill>
                <a:latin typeface="Arial"/>
                <a:ea typeface="Arial"/>
                <a:cs typeface="Arial"/>
                <a:sym typeface="Arial"/>
              </a:rPr>
              <a:t>Presentation layer / Client Layer</a:t>
            </a:r>
            <a:endParaRPr>
              <a:solidFill>
                <a:srgbClr val="007ABF"/>
              </a:solidFill>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Application Layer / Business Layer</a:t>
            </a:r>
            <a:endParaRPr>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Data Layer</a:t>
            </a:r>
            <a:endParaRPr>
              <a:latin typeface="Arial"/>
              <a:ea typeface="Arial"/>
              <a:cs typeface="Arial"/>
              <a:sym typeface="Arial"/>
            </a:endParaRPr>
          </a:p>
        </p:txBody>
      </p:sp>
      <p:sp>
        <p:nvSpPr>
          <p:cNvPr id="166" name="Google Shape;16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pic>
        <p:nvPicPr>
          <p:cNvPr descr="Ảnh có chứa văn bản, ảnh chụp màn hình, thiết kế&#10;&#10;Mô tả được tự động tạo" id="167" name="Google Shape;167;p5"/>
          <p:cNvPicPr preferRelativeResize="0"/>
          <p:nvPr/>
        </p:nvPicPr>
        <p:blipFill rotWithShape="1">
          <a:blip r:embed="rId3">
            <a:alphaModFix/>
          </a:blip>
          <a:srcRect b="0" l="0" r="0" t="0"/>
          <a:stretch/>
        </p:blipFill>
        <p:spPr>
          <a:xfrm>
            <a:off x="5070977" y="2364377"/>
            <a:ext cx="6740023" cy="3215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Web Application Architecture</a:t>
            </a:r>
            <a:endParaRPr/>
          </a:p>
        </p:txBody>
      </p:sp>
      <p:sp>
        <p:nvSpPr>
          <p:cNvPr id="173" name="Google Shape;173;p7"/>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vi-VN">
                <a:latin typeface="Arial"/>
                <a:ea typeface="Arial"/>
                <a:cs typeface="Arial"/>
                <a:sym typeface="Arial"/>
              </a:rPr>
              <a:t>There are three layers of a 3-Tier architecture:</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Presentation layer / Client Layer</a:t>
            </a:r>
            <a:endParaRPr/>
          </a:p>
          <a:p>
            <a:pPr indent="-228600" lvl="1" marL="685800" rtl="0" algn="l">
              <a:lnSpc>
                <a:spcPct val="90000"/>
              </a:lnSpc>
              <a:spcBef>
                <a:spcPts val="500"/>
              </a:spcBef>
              <a:spcAft>
                <a:spcPts val="0"/>
              </a:spcAft>
              <a:buClr>
                <a:srgbClr val="007ABF"/>
              </a:buClr>
              <a:buSzPts val="2400"/>
              <a:buChar char="•"/>
            </a:pPr>
            <a:r>
              <a:rPr lang="vi-VN">
                <a:solidFill>
                  <a:srgbClr val="007ABF"/>
                </a:solidFill>
                <a:latin typeface="Arial"/>
                <a:ea typeface="Arial"/>
                <a:cs typeface="Arial"/>
                <a:sym typeface="Arial"/>
              </a:rPr>
              <a:t>Application Layer / Business Layer</a:t>
            </a:r>
            <a:endParaRPr>
              <a:solidFill>
                <a:srgbClr val="007ABF"/>
              </a:solidFill>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Data Layer</a:t>
            </a:r>
            <a:endParaRPr>
              <a:latin typeface="Arial"/>
              <a:ea typeface="Arial"/>
              <a:cs typeface="Arial"/>
              <a:sym typeface="Arial"/>
            </a:endParaRPr>
          </a:p>
        </p:txBody>
      </p:sp>
      <p:sp>
        <p:nvSpPr>
          <p:cNvPr id="174" name="Google Shape;17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pic>
        <p:nvPicPr>
          <p:cNvPr descr="Ảnh có chứa văn bản, ảnh chụp màn hình, phần mềm&#10;&#10;Mô tả được tự động tạo" id="175" name="Google Shape;175;p7"/>
          <p:cNvPicPr preferRelativeResize="0"/>
          <p:nvPr/>
        </p:nvPicPr>
        <p:blipFill rotWithShape="1">
          <a:blip r:embed="rId3">
            <a:alphaModFix/>
          </a:blip>
          <a:srcRect b="0" l="0" r="0" t="0"/>
          <a:stretch/>
        </p:blipFill>
        <p:spPr>
          <a:xfrm>
            <a:off x="4465608" y="2261721"/>
            <a:ext cx="7602747" cy="403108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8"/>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Web Application Architecture</a:t>
            </a:r>
            <a:endParaRPr/>
          </a:p>
        </p:txBody>
      </p:sp>
      <p:sp>
        <p:nvSpPr>
          <p:cNvPr id="181" name="Google Shape;181;p8"/>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vi-VN">
                <a:latin typeface="Arial"/>
                <a:ea typeface="Arial"/>
                <a:cs typeface="Arial"/>
                <a:sym typeface="Arial"/>
              </a:rPr>
              <a:t>There are three layers of a 3-Tier architecture:</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Presentation layer / Client Layer</a:t>
            </a:r>
            <a:endParaRPr>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Application Layer / Business Layer</a:t>
            </a:r>
            <a:endParaRPr>
              <a:latin typeface="Arial"/>
              <a:ea typeface="Arial"/>
              <a:cs typeface="Arial"/>
              <a:sym typeface="Arial"/>
            </a:endParaRPr>
          </a:p>
          <a:p>
            <a:pPr indent="-228600" lvl="1" marL="685800" rtl="0" algn="l">
              <a:lnSpc>
                <a:spcPct val="90000"/>
              </a:lnSpc>
              <a:spcBef>
                <a:spcPts val="500"/>
              </a:spcBef>
              <a:spcAft>
                <a:spcPts val="0"/>
              </a:spcAft>
              <a:buClr>
                <a:srgbClr val="007ABF"/>
              </a:buClr>
              <a:buSzPts val="2400"/>
              <a:buChar char="•"/>
            </a:pPr>
            <a:r>
              <a:rPr lang="vi-VN">
                <a:solidFill>
                  <a:srgbClr val="007ABF"/>
                </a:solidFill>
                <a:latin typeface="Arial"/>
                <a:ea typeface="Arial"/>
                <a:cs typeface="Arial"/>
                <a:sym typeface="Arial"/>
              </a:rPr>
              <a:t>Data Layer</a:t>
            </a:r>
            <a:endParaRPr>
              <a:solidFill>
                <a:srgbClr val="007ABF"/>
              </a:solidFill>
              <a:latin typeface="Arial"/>
              <a:ea typeface="Arial"/>
              <a:cs typeface="Arial"/>
              <a:sym typeface="Arial"/>
            </a:endParaRPr>
          </a:p>
        </p:txBody>
      </p:sp>
      <p:sp>
        <p:nvSpPr>
          <p:cNvPr id="182" name="Google Shape;182;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pic>
        <p:nvPicPr>
          <p:cNvPr descr="Ảnh có chứa văn bản, ảnh chụp màn hình, biểu đồ, thiết kế&#10;&#10;Mô tả được tự động tạo" id="183" name="Google Shape;183;p8"/>
          <p:cNvPicPr preferRelativeResize="0"/>
          <p:nvPr/>
        </p:nvPicPr>
        <p:blipFill rotWithShape="1">
          <a:blip r:embed="rId3">
            <a:alphaModFix/>
          </a:blip>
          <a:srcRect b="0" l="0" r="0" t="0"/>
          <a:stretch/>
        </p:blipFill>
        <p:spPr>
          <a:xfrm>
            <a:off x="6090250" y="2502314"/>
            <a:ext cx="5819954" cy="36936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9"/>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SzPts val="1400"/>
              <a:buNone/>
            </a:pPr>
            <a:r>
              <a:rPr lang="vi-VN"/>
              <a:t>Contents</a:t>
            </a:r>
            <a:endParaRPr/>
          </a:p>
        </p:txBody>
      </p:sp>
      <p:sp>
        <p:nvSpPr>
          <p:cNvPr id="189" name="Google Shape;189;p9"/>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000000"/>
              </a:buClr>
              <a:buSzPts val="2400"/>
              <a:buChar char="•"/>
            </a:pPr>
            <a:r>
              <a:rPr lang="vi-VN" sz="2400">
                <a:solidFill>
                  <a:srgbClr val="000000"/>
                </a:solidFill>
                <a:latin typeface="Arial"/>
                <a:ea typeface="Arial"/>
                <a:cs typeface="Arial"/>
                <a:sym typeface="Arial"/>
              </a:rPr>
              <a:t>Web Application Architectures</a:t>
            </a:r>
            <a:endParaRPr/>
          </a:p>
          <a:p>
            <a:pPr indent="-342900" lvl="0" marL="342900" rtl="0" algn="l">
              <a:lnSpc>
                <a:spcPct val="90000"/>
              </a:lnSpc>
              <a:spcBef>
                <a:spcPts val="1000"/>
              </a:spcBef>
              <a:spcAft>
                <a:spcPts val="0"/>
              </a:spcAft>
              <a:buClr>
                <a:srgbClr val="007ABF"/>
              </a:buClr>
              <a:buSzPts val="2400"/>
              <a:buChar char="•"/>
            </a:pPr>
            <a:r>
              <a:rPr lang="vi-VN" sz="2400">
                <a:solidFill>
                  <a:srgbClr val="007ABF"/>
                </a:solidFill>
                <a:latin typeface="Arial"/>
                <a:ea typeface="Arial"/>
                <a:cs typeface="Arial"/>
                <a:sym typeface="Arial"/>
              </a:rPr>
              <a:t>Deployment Architecture</a:t>
            </a:r>
            <a:endParaRPr/>
          </a:p>
          <a:p>
            <a:pPr indent="-342900" lvl="0" marL="342900" rtl="0" algn="l">
              <a:lnSpc>
                <a:spcPct val="90000"/>
              </a:lnSpc>
              <a:spcBef>
                <a:spcPts val="1000"/>
              </a:spcBef>
              <a:spcAft>
                <a:spcPts val="0"/>
              </a:spcAft>
              <a:buClr>
                <a:srgbClr val="000000"/>
              </a:buClr>
              <a:buSzPts val="2400"/>
              <a:buChar char="•"/>
            </a:pPr>
            <a:r>
              <a:rPr lang="vi-VN" sz="2400">
                <a:solidFill>
                  <a:srgbClr val="000000"/>
                </a:solidFill>
                <a:latin typeface="Arial"/>
                <a:ea typeface="Arial"/>
                <a:cs typeface="Arial"/>
                <a:sym typeface="Arial"/>
              </a:rPr>
              <a:t>System Architecture (in Lab)</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190" name="Google Shape;19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0"/>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Deployment Architecture </a:t>
            </a:r>
            <a:endParaRPr/>
          </a:p>
        </p:txBody>
      </p:sp>
      <p:sp>
        <p:nvSpPr>
          <p:cNvPr id="196" name="Google Shape;196;p10"/>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vi-VN">
                <a:latin typeface="Arial"/>
                <a:ea typeface="Arial"/>
                <a:cs typeface="Arial"/>
                <a:sym typeface="Arial"/>
              </a:rPr>
              <a:t>Deployment Architecture (Kiến trúc triển khai):</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Monolithic Architecture</a:t>
            </a:r>
            <a:endParaRPr>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Microservices Architecture</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Serverless Architecture</a:t>
            </a:r>
            <a:endParaRPr/>
          </a:p>
        </p:txBody>
      </p:sp>
      <p:sp>
        <p:nvSpPr>
          <p:cNvPr id="197" name="Google Shape;19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1"/>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Deployment Architecture </a:t>
            </a:r>
            <a:endParaRPr/>
          </a:p>
        </p:txBody>
      </p:sp>
      <p:sp>
        <p:nvSpPr>
          <p:cNvPr id="203" name="Google Shape;203;p11"/>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vi-VN">
                <a:latin typeface="Arial"/>
                <a:ea typeface="Arial"/>
                <a:cs typeface="Arial"/>
                <a:sym typeface="Arial"/>
              </a:rPr>
              <a:t>Deployment Architecture (Kiến trúc triển khai):</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Monolithic Architecture</a:t>
            </a:r>
            <a:endParaRPr>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Microservices Architecture</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Serverless Architecture</a:t>
            </a:r>
            <a:endParaRPr/>
          </a:p>
        </p:txBody>
      </p:sp>
      <p:sp>
        <p:nvSpPr>
          <p:cNvPr id="204" name="Google Shape;20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pic>
        <p:nvPicPr>
          <p:cNvPr descr="Ảnh có chứa văn bản, ảnh chụp màn hình, vòng tròn, biểu đồ&#10;&#10;Mô tả được tự động tạo" id="205" name="Google Shape;205;p11"/>
          <p:cNvPicPr preferRelativeResize="0"/>
          <p:nvPr/>
        </p:nvPicPr>
        <p:blipFill rotWithShape="1">
          <a:blip r:embed="rId3">
            <a:alphaModFix/>
          </a:blip>
          <a:srcRect b="0" l="0" r="0" t="0"/>
          <a:stretch/>
        </p:blipFill>
        <p:spPr>
          <a:xfrm>
            <a:off x="4491926" y="2388031"/>
            <a:ext cx="7528301" cy="376092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41"/>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Deployment Architecture </a:t>
            </a:r>
            <a:endParaRPr/>
          </a:p>
        </p:txBody>
      </p:sp>
      <p:sp>
        <p:nvSpPr>
          <p:cNvPr id="211" name="Google Shape;211;p41"/>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vi-VN">
                <a:latin typeface="Arial"/>
                <a:ea typeface="Arial"/>
                <a:cs typeface="Arial"/>
                <a:sym typeface="Arial"/>
              </a:rPr>
              <a:t>Deployment Architecture (Kiến trúc triển khai):</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Monolithic Architecture</a:t>
            </a:r>
            <a:endParaRPr>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Microservices Architecture</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Serverless Architecture</a:t>
            </a:r>
            <a:endParaRPr/>
          </a:p>
        </p:txBody>
      </p:sp>
      <p:sp>
        <p:nvSpPr>
          <p:cNvPr id="212" name="Google Shape;212;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pic>
        <p:nvPicPr>
          <p:cNvPr descr="Ảnh có chứa văn bản, ảnh chụp màn hình, vòng tròn, biểu đồ&#10;&#10;Mô tả được tự động tạo" id="213" name="Google Shape;213;p41"/>
          <p:cNvPicPr preferRelativeResize="0"/>
          <p:nvPr/>
        </p:nvPicPr>
        <p:blipFill rotWithShape="1">
          <a:blip r:embed="rId3">
            <a:alphaModFix/>
          </a:blip>
          <a:srcRect b="0" l="0" r="0" t="0"/>
          <a:stretch/>
        </p:blipFill>
        <p:spPr>
          <a:xfrm>
            <a:off x="4491926" y="2388031"/>
            <a:ext cx="7528301" cy="376092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2"/>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Deployment Architecture </a:t>
            </a:r>
            <a:endParaRPr/>
          </a:p>
        </p:txBody>
      </p:sp>
      <p:sp>
        <p:nvSpPr>
          <p:cNvPr id="219" name="Google Shape;219;p12"/>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vi-VN">
                <a:latin typeface="Arial"/>
                <a:ea typeface="Arial"/>
                <a:cs typeface="Arial"/>
                <a:sym typeface="Arial"/>
              </a:rPr>
              <a:t>Deployment Architecture (Kiến trúc triển khai):</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Monolithic Architecture</a:t>
            </a:r>
            <a:endParaRPr>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Microservices Architecture</a:t>
            </a:r>
            <a:endParaRPr/>
          </a:p>
          <a:p>
            <a:pPr indent="-228600" lvl="1" marL="685800" rtl="0" algn="l">
              <a:lnSpc>
                <a:spcPct val="90000"/>
              </a:lnSpc>
              <a:spcBef>
                <a:spcPts val="500"/>
              </a:spcBef>
              <a:spcAft>
                <a:spcPts val="0"/>
              </a:spcAft>
              <a:buClr>
                <a:srgbClr val="007ABF"/>
              </a:buClr>
              <a:buSzPts val="2400"/>
              <a:buChar char="•"/>
            </a:pPr>
            <a:r>
              <a:rPr lang="vi-VN">
                <a:solidFill>
                  <a:srgbClr val="007ABF"/>
                </a:solidFill>
                <a:latin typeface="Arial"/>
                <a:ea typeface="Arial"/>
                <a:cs typeface="Arial"/>
                <a:sym typeface="Arial"/>
              </a:rPr>
              <a:t>Serverless Architecture</a:t>
            </a:r>
            <a:endParaRPr>
              <a:solidFill>
                <a:srgbClr val="007ABF"/>
              </a:solidFill>
            </a:endParaRPr>
          </a:p>
        </p:txBody>
      </p:sp>
      <p:sp>
        <p:nvSpPr>
          <p:cNvPr id="220" name="Google Shape;22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pic>
        <p:nvPicPr>
          <p:cNvPr descr="Ảnh có chứa văn bản, ảnh chụp màn hình, màn hình&#10;&#10;Mô tả được tự động tạo" id="221" name="Google Shape;221;p12"/>
          <p:cNvPicPr preferRelativeResize="0"/>
          <p:nvPr/>
        </p:nvPicPr>
        <p:blipFill rotWithShape="1">
          <a:blip r:embed="rId3">
            <a:alphaModFix/>
          </a:blip>
          <a:srcRect b="0" l="0" r="0" t="0"/>
          <a:stretch/>
        </p:blipFill>
        <p:spPr>
          <a:xfrm>
            <a:off x="3000214" y="1807273"/>
            <a:ext cx="8845657" cy="41281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3"/>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400"/>
              <a:buFont typeface="Arial"/>
              <a:buNone/>
            </a:pPr>
            <a:r>
              <a:rPr lang="vi-VN"/>
              <a:t>Contents</a:t>
            </a:r>
            <a:endParaRPr/>
          </a:p>
        </p:txBody>
      </p:sp>
      <p:sp>
        <p:nvSpPr>
          <p:cNvPr id="227" name="Google Shape;227;p13"/>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rgbClr val="000000"/>
              </a:buClr>
              <a:buSzPts val="2400"/>
              <a:buChar char="•"/>
            </a:pPr>
            <a:r>
              <a:rPr lang="vi-VN" sz="2400">
                <a:solidFill>
                  <a:srgbClr val="000000"/>
                </a:solidFill>
                <a:latin typeface="Arial"/>
                <a:ea typeface="Arial"/>
                <a:cs typeface="Arial"/>
                <a:sym typeface="Arial"/>
              </a:rPr>
              <a:t>Web Application Architectures</a:t>
            </a:r>
            <a:endParaRPr/>
          </a:p>
          <a:p>
            <a:pPr indent="-342900" lvl="0" marL="342900" rtl="0" algn="l">
              <a:lnSpc>
                <a:spcPct val="90000"/>
              </a:lnSpc>
              <a:spcBef>
                <a:spcPts val="1000"/>
              </a:spcBef>
              <a:spcAft>
                <a:spcPts val="0"/>
              </a:spcAft>
              <a:buClr>
                <a:srgbClr val="000000"/>
              </a:buClr>
              <a:buSzPts val="2400"/>
              <a:buChar char="•"/>
            </a:pPr>
            <a:r>
              <a:rPr lang="vi-VN" sz="2400">
                <a:solidFill>
                  <a:srgbClr val="000000"/>
                </a:solidFill>
                <a:latin typeface="Arial"/>
                <a:ea typeface="Arial"/>
                <a:cs typeface="Arial"/>
                <a:sym typeface="Arial"/>
              </a:rPr>
              <a:t>Deployment Architecture</a:t>
            </a:r>
            <a:endParaRPr/>
          </a:p>
          <a:p>
            <a:pPr indent="-342900" lvl="0" marL="342900" rtl="0" algn="l">
              <a:lnSpc>
                <a:spcPct val="90000"/>
              </a:lnSpc>
              <a:spcBef>
                <a:spcPts val="1000"/>
              </a:spcBef>
              <a:spcAft>
                <a:spcPts val="0"/>
              </a:spcAft>
              <a:buClr>
                <a:srgbClr val="007ABF"/>
              </a:buClr>
              <a:buSzPts val="2400"/>
              <a:buChar char="•"/>
            </a:pPr>
            <a:r>
              <a:rPr lang="vi-VN" sz="2400">
                <a:solidFill>
                  <a:srgbClr val="007ABF"/>
                </a:solidFill>
                <a:latin typeface="Arial"/>
                <a:ea typeface="Arial"/>
                <a:cs typeface="Arial"/>
                <a:sym typeface="Arial"/>
              </a:rPr>
              <a:t>System Architecture (in Lab)</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228" name="Google Shape;22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4"/>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Server</a:t>
            </a:r>
            <a:endParaRPr/>
          </a:p>
        </p:txBody>
      </p:sp>
      <p:sp>
        <p:nvSpPr>
          <p:cNvPr id="234" name="Google Shape;234;p14"/>
          <p:cNvSpPr txBox="1"/>
          <p:nvPr>
            <p:ph idx="1" type="body"/>
          </p:nvPr>
        </p:nvSpPr>
        <p:spPr>
          <a:xfrm>
            <a:off x="381000" y="1066800"/>
            <a:ext cx="4448355"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vi-VN"/>
              <a:t>Practice drawing VM server architecture + services to be installed (as shown)</a:t>
            </a:r>
            <a:endParaRPr/>
          </a:p>
          <a:p>
            <a:pPr indent="-228600" lvl="0" marL="228600" rtl="0" algn="l">
              <a:lnSpc>
                <a:spcPct val="90000"/>
              </a:lnSpc>
              <a:spcBef>
                <a:spcPts val="1000"/>
              </a:spcBef>
              <a:spcAft>
                <a:spcPts val="0"/>
              </a:spcAft>
              <a:buClr>
                <a:schemeClr val="dk1"/>
              </a:buClr>
              <a:buSzPts val="2800"/>
              <a:buChar char="•"/>
            </a:pPr>
            <a:r>
              <a:rPr lang="vi-VN"/>
              <a:t>Tool</a:t>
            </a:r>
            <a:r>
              <a:rPr lang="vi-VN">
                <a:latin typeface="Arial"/>
                <a:ea typeface="Arial"/>
                <a:cs typeface="Arial"/>
                <a:sym typeface="Arial"/>
              </a:rPr>
              <a:t>:   </a:t>
            </a:r>
            <a:r>
              <a:rPr lang="vi-VN" u="sng">
                <a:solidFill>
                  <a:schemeClr val="hlink"/>
                </a:solidFill>
                <a:latin typeface="Arial"/>
                <a:ea typeface="Arial"/>
                <a:cs typeface="Arial"/>
                <a:sym typeface="Arial"/>
                <a:hlinkClick r:id="rId3"/>
              </a:rPr>
              <a:t>https://app.diagrams.net/</a:t>
            </a:r>
            <a:r>
              <a:rPr lang="vi-VN">
                <a:latin typeface="Arial"/>
                <a:ea typeface="Arial"/>
                <a:cs typeface="Arial"/>
                <a:sym typeface="Arial"/>
              </a:rPr>
              <a:t>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35" name="Google Shape;235;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pic>
        <p:nvPicPr>
          <p:cNvPr descr="Ảnh có chứa văn bản, ảnh chụp màn hình, Phông chữ, số&#10;&#10;Mô tả được tự động tạo" id="236" name="Google Shape;236;p14"/>
          <p:cNvPicPr preferRelativeResize="0"/>
          <p:nvPr/>
        </p:nvPicPr>
        <p:blipFill rotWithShape="1">
          <a:blip r:embed="rId4">
            <a:alphaModFix/>
          </a:blip>
          <a:srcRect b="0" l="0" r="0" t="0"/>
          <a:stretch/>
        </p:blipFill>
        <p:spPr>
          <a:xfrm>
            <a:off x="4839419" y="949479"/>
            <a:ext cx="7056407" cy="523221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5"/>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app.diagrams.net</a:t>
            </a:r>
            <a:endParaRPr/>
          </a:p>
        </p:txBody>
      </p:sp>
      <p:pic>
        <p:nvPicPr>
          <p:cNvPr descr="Ảnh có chứa văn bản, ảnh chụp màn hình, số, biểu đồ&#10;&#10;Mô tả được tự động tạo" id="242" name="Google Shape;242;p15"/>
          <p:cNvPicPr preferRelativeResize="0"/>
          <p:nvPr>
            <p:ph idx="1" type="body"/>
          </p:nvPr>
        </p:nvPicPr>
        <p:blipFill rotWithShape="1">
          <a:blip r:embed="rId3">
            <a:alphaModFix/>
          </a:blip>
          <a:srcRect b="0" l="0" r="0" t="0"/>
          <a:stretch/>
        </p:blipFill>
        <p:spPr>
          <a:xfrm>
            <a:off x="709970" y="885985"/>
            <a:ext cx="10645488" cy="5391015"/>
          </a:xfrm>
          <a:prstGeom prst="rect">
            <a:avLst/>
          </a:prstGeom>
          <a:noFill/>
          <a:ln>
            <a:noFill/>
          </a:ln>
        </p:spPr>
      </p:pic>
      <p:sp>
        <p:nvSpPr>
          <p:cNvPr id="243" name="Google Shape;243;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Server : </a:t>
            </a:r>
            <a:r>
              <a:rPr lang="vi-VN"/>
              <a:t>Install and configure</a:t>
            </a:r>
            <a:endParaRPr/>
          </a:p>
        </p:txBody>
      </p:sp>
      <p:sp>
        <p:nvSpPr>
          <p:cNvPr id="249" name="Google Shape;249;p16"/>
          <p:cNvSpPr txBox="1"/>
          <p:nvPr>
            <p:ph idx="1" type="body"/>
          </p:nvPr>
        </p:nvSpPr>
        <p:spPr>
          <a:xfrm>
            <a:off x="381000" y="1066800"/>
            <a:ext cx="11105072"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vi-VN"/>
              <a:t>Install</a:t>
            </a:r>
            <a:r>
              <a:rPr lang="vi-V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6 x VM ( Centos 7.9 64bit/1 core CPU/ 1G RAM/ 20G HDD)</a:t>
            </a:r>
            <a:r>
              <a:rPr lang="vi-VN"/>
              <a:t>.</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VM-LB-01; VM-LB-02: </a:t>
            </a:r>
            <a:r>
              <a:rPr lang="vi-VN"/>
              <a:t>Install</a:t>
            </a:r>
            <a:r>
              <a:rPr lang="vi-VN">
                <a:latin typeface="Arial"/>
                <a:ea typeface="Arial"/>
                <a:cs typeface="Arial"/>
                <a:sym typeface="Arial"/>
              </a:rPr>
              <a:t> Haproxy, </a:t>
            </a:r>
            <a:r>
              <a:rPr lang="vi-VN"/>
              <a:t>K</a:t>
            </a:r>
            <a:r>
              <a:rPr lang="vi-VN">
                <a:latin typeface="Arial"/>
                <a:ea typeface="Arial"/>
                <a:cs typeface="Arial"/>
                <a:sym typeface="Arial"/>
              </a:rPr>
              <a:t>eepalived, </a:t>
            </a:r>
            <a:r>
              <a:rPr lang="vi-VN"/>
              <a:t>and</a:t>
            </a:r>
            <a:r>
              <a:rPr lang="vi-VN">
                <a:latin typeface="Arial"/>
                <a:ea typeface="Arial"/>
                <a:cs typeface="Arial"/>
                <a:sym typeface="Arial"/>
              </a:rPr>
              <a:t> SSL c</a:t>
            </a:r>
            <a:r>
              <a:rPr lang="vi-VN"/>
              <a:t>ertificate.</a:t>
            </a:r>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VM-WebApp-01; VM-WebApp-02: </a:t>
            </a:r>
            <a:r>
              <a:rPr lang="vi-VN"/>
              <a:t>Install</a:t>
            </a:r>
            <a:r>
              <a:rPr lang="vi-VN">
                <a:latin typeface="Arial"/>
                <a:ea typeface="Arial"/>
                <a:cs typeface="Arial"/>
                <a:sym typeface="Arial"/>
              </a:rPr>
              <a:t> </a:t>
            </a:r>
            <a:r>
              <a:rPr lang="vi-VN"/>
              <a:t>W</a:t>
            </a:r>
            <a:r>
              <a:rPr lang="vi-VN">
                <a:latin typeface="Arial"/>
                <a:ea typeface="Arial"/>
                <a:cs typeface="Arial"/>
                <a:sym typeface="Arial"/>
              </a:rPr>
              <a:t>eb </a:t>
            </a:r>
            <a:r>
              <a:rPr lang="vi-VN"/>
              <a:t>A</a:t>
            </a:r>
            <a:r>
              <a:rPr lang="vi-VN">
                <a:latin typeface="Arial"/>
                <a:ea typeface="Arial"/>
                <a:cs typeface="Arial"/>
                <a:sym typeface="Arial"/>
              </a:rPr>
              <a:t>pp.</a:t>
            </a:r>
            <a:endParaRPr>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lang="vi-VN">
                <a:latin typeface="Arial"/>
                <a:ea typeface="Arial"/>
                <a:cs typeface="Arial"/>
                <a:sym typeface="Arial"/>
              </a:rPr>
              <a:t>VM-DB-01; VM-DB-02: </a:t>
            </a:r>
            <a:r>
              <a:rPr lang="vi-VN"/>
              <a:t>Install</a:t>
            </a:r>
            <a:r>
              <a:rPr lang="vi-VN">
                <a:latin typeface="Arial"/>
                <a:ea typeface="Arial"/>
                <a:cs typeface="Arial"/>
                <a:sym typeface="Arial"/>
              </a:rPr>
              <a:t> MySQL Server.</a:t>
            </a:r>
            <a:endParaRPr/>
          </a:p>
          <a:p>
            <a:pPr indent="-228600" lvl="0" marL="228600" rtl="0" algn="l">
              <a:lnSpc>
                <a:spcPct val="90000"/>
              </a:lnSpc>
              <a:spcBef>
                <a:spcPts val="1000"/>
              </a:spcBef>
              <a:spcAft>
                <a:spcPts val="0"/>
              </a:spcAft>
              <a:buClr>
                <a:schemeClr val="dk1"/>
              </a:buClr>
              <a:buSzPts val="2800"/>
              <a:buChar char="•"/>
            </a:pPr>
            <a:r>
              <a:rPr lang="vi-VN"/>
              <a:t>Configure</a:t>
            </a:r>
            <a:r>
              <a:rPr lang="vi-VN">
                <a:latin typeface="Arial"/>
                <a:ea typeface="Arial"/>
                <a:cs typeface="Arial"/>
                <a:sym typeface="Arial"/>
              </a:rPr>
              <a:t>:</a:t>
            </a:r>
            <a:endParaRPr/>
          </a:p>
          <a:p>
            <a:pPr indent="-228600" lvl="1" marL="685800" rtl="0" algn="l">
              <a:lnSpc>
                <a:spcPct val="90000"/>
              </a:lnSpc>
              <a:spcBef>
                <a:spcPts val="500"/>
              </a:spcBef>
              <a:spcAft>
                <a:spcPts val="0"/>
              </a:spcAft>
              <a:buClr>
                <a:schemeClr val="dk1"/>
              </a:buClr>
              <a:buSzPts val="2400"/>
              <a:buChar char="•"/>
            </a:pPr>
            <a:r>
              <a:rPr lang="vi-VN"/>
              <a:t>Configure</a:t>
            </a:r>
            <a:r>
              <a:rPr lang="vi-VN">
                <a:latin typeface="Arial"/>
                <a:ea typeface="Arial"/>
                <a:cs typeface="Arial"/>
                <a:sym typeface="Arial"/>
              </a:rPr>
              <a:t> </a:t>
            </a:r>
            <a:r>
              <a:rPr lang="vi-VN"/>
              <a:t>K</a:t>
            </a:r>
            <a:r>
              <a:rPr lang="vi-VN">
                <a:latin typeface="Arial"/>
                <a:ea typeface="Arial"/>
                <a:cs typeface="Arial"/>
                <a:sym typeface="Arial"/>
              </a:rPr>
              <a:t>eepalived </a:t>
            </a:r>
            <a:r>
              <a:rPr lang="vi-VN"/>
              <a:t>and</a:t>
            </a:r>
            <a:r>
              <a:rPr lang="vi-VN">
                <a:latin typeface="Arial"/>
                <a:ea typeface="Arial"/>
                <a:cs typeface="Arial"/>
                <a:sym typeface="Arial"/>
              </a:rPr>
              <a:t> haproxy </a:t>
            </a:r>
            <a:r>
              <a:rPr lang="vi-VN"/>
              <a:t>connect to</a:t>
            </a:r>
            <a:r>
              <a:rPr lang="vi-VN">
                <a:latin typeface="Arial"/>
                <a:ea typeface="Arial"/>
                <a:cs typeface="Arial"/>
                <a:sym typeface="Arial"/>
              </a:rPr>
              <a:t> 2 VM WebApp.</a:t>
            </a:r>
            <a:endParaRPr>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lang="vi-VN"/>
              <a:t>Configure</a:t>
            </a:r>
            <a:r>
              <a:rPr lang="vi-VN">
                <a:latin typeface="Arial"/>
                <a:ea typeface="Arial"/>
                <a:cs typeface="Arial"/>
                <a:sym typeface="Arial"/>
              </a:rPr>
              <a:t> WebApp </a:t>
            </a:r>
            <a:r>
              <a:rPr lang="vi-VN"/>
              <a:t>connect to</a:t>
            </a:r>
            <a:r>
              <a:rPr lang="vi-VN">
                <a:latin typeface="Arial"/>
                <a:ea typeface="Arial"/>
                <a:cs typeface="Arial"/>
                <a:sym typeface="Arial"/>
              </a:rPr>
              <a:t> VM-DB-01(master).</a:t>
            </a:r>
            <a:endParaRPr/>
          </a:p>
          <a:p>
            <a:pPr indent="-228600" lvl="1" marL="685800" rtl="0" algn="l">
              <a:lnSpc>
                <a:spcPct val="90000"/>
              </a:lnSpc>
              <a:spcBef>
                <a:spcPts val="500"/>
              </a:spcBef>
              <a:spcAft>
                <a:spcPts val="0"/>
              </a:spcAft>
              <a:buClr>
                <a:schemeClr val="dk1"/>
              </a:buClr>
              <a:buSzPts val="2400"/>
              <a:buChar char="•"/>
            </a:pPr>
            <a:r>
              <a:rPr lang="vi-VN"/>
              <a:t>Configure</a:t>
            </a:r>
            <a:r>
              <a:rPr lang="vi-VN">
                <a:latin typeface="Arial"/>
                <a:ea typeface="Arial"/>
                <a:cs typeface="Arial"/>
                <a:sym typeface="Arial"/>
              </a:rPr>
              <a:t> DB MySQL </a:t>
            </a:r>
            <a:r>
              <a:rPr lang="vi-VN"/>
              <a:t>to use</a:t>
            </a:r>
            <a:r>
              <a:rPr lang="vi-VN">
                <a:latin typeface="Arial"/>
                <a:ea typeface="Arial"/>
                <a:cs typeface="Arial"/>
                <a:sym typeface="Arial"/>
              </a:rPr>
              <a:t> Master-Slave model.</a:t>
            </a:r>
            <a:endParaRPr>
              <a:latin typeface="Arial"/>
              <a:ea typeface="Arial"/>
              <a:cs typeface="Arial"/>
              <a:sym typeface="Arial"/>
            </a:endParaRPr>
          </a:p>
          <a:p>
            <a:pPr indent="-228600" lvl="1" marL="685800" rtl="0" algn="l">
              <a:lnSpc>
                <a:spcPct val="90000"/>
              </a:lnSpc>
              <a:spcBef>
                <a:spcPts val="500"/>
              </a:spcBef>
              <a:spcAft>
                <a:spcPts val="0"/>
              </a:spcAft>
              <a:buClr>
                <a:schemeClr val="dk1"/>
              </a:buClr>
              <a:buSzPts val="2400"/>
              <a:buChar char="•"/>
            </a:pPr>
            <a:r>
              <a:rPr lang="vi-VN"/>
              <a:t>Configure</a:t>
            </a:r>
            <a:r>
              <a:rPr lang="vi-VN">
                <a:latin typeface="Arial"/>
                <a:ea typeface="Arial"/>
                <a:cs typeface="Arial"/>
                <a:sym typeface="Arial"/>
              </a:rPr>
              <a:t> VM-DB </a:t>
            </a:r>
            <a:r>
              <a:rPr lang="vi-VN"/>
              <a:t>allow connect from</a:t>
            </a:r>
            <a:r>
              <a:rPr lang="vi-VN">
                <a:latin typeface="Arial"/>
                <a:ea typeface="Arial"/>
                <a:cs typeface="Arial"/>
                <a:sym typeface="Arial"/>
              </a:rPr>
              <a:t> VM-WebApp</a:t>
            </a:r>
            <a:endParaRPr>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sp>
        <p:nvSpPr>
          <p:cNvPr id="250" name="Google Shape;25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7"/>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System Architecture</a:t>
            </a:r>
            <a:endParaRPr/>
          </a:p>
        </p:txBody>
      </p:sp>
      <p:sp>
        <p:nvSpPr>
          <p:cNvPr id="256" name="Google Shape;256;p17"/>
          <p:cNvSpPr txBox="1"/>
          <p:nvPr>
            <p:ph idx="1" type="body"/>
          </p:nvPr>
        </p:nvSpPr>
        <p:spPr>
          <a:xfrm>
            <a:off x="381000" y="106680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800"/>
              <a:buChar char="•"/>
            </a:pPr>
            <a:r>
              <a:rPr lang="vi-VN"/>
              <a:t>Practice drawing architectural drawings as shown. Refer to the draw.io file.</a:t>
            </a:r>
            <a:endParaRPr/>
          </a:p>
          <a:p>
            <a:pPr indent="-228600" lvl="0" marL="228600" rtl="0" algn="l">
              <a:lnSpc>
                <a:spcPct val="90000"/>
              </a:lnSpc>
              <a:spcBef>
                <a:spcPts val="1000"/>
              </a:spcBef>
              <a:spcAft>
                <a:spcPts val="0"/>
              </a:spcAft>
              <a:buClr>
                <a:schemeClr val="dk1"/>
              </a:buClr>
              <a:buSzPts val="2800"/>
              <a:buChar char="•"/>
            </a:pPr>
            <a:r>
              <a:rPr lang="vi-VN"/>
              <a:t>Analyze architectural features of drawings.</a:t>
            </a:r>
            <a:endParaRPr/>
          </a:p>
        </p:txBody>
      </p:sp>
      <p:sp>
        <p:nvSpPr>
          <p:cNvPr id="257" name="Google Shape;257;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pic>
        <p:nvPicPr>
          <p:cNvPr descr="Ảnh có chứa văn bản, biểu đồ, ảnh chụp màn hình&#10;&#10;Mô tả được tự động tạo" id="258" name="Google Shape;258;p17"/>
          <p:cNvPicPr preferRelativeResize="0"/>
          <p:nvPr/>
        </p:nvPicPr>
        <p:blipFill rotWithShape="1">
          <a:blip r:embed="rId3">
            <a:alphaModFix/>
          </a:blip>
          <a:srcRect b="0" l="0" r="0" t="0"/>
          <a:stretch/>
        </p:blipFill>
        <p:spPr>
          <a:xfrm>
            <a:off x="275095" y="3206885"/>
            <a:ext cx="11628894" cy="307248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8"/>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Scenario 1</a:t>
            </a:r>
            <a:endParaRPr/>
          </a:p>
        </p:txBody>
      </p:sp>
      <p:sp>
        <p:nvSpPr>
          <p:cNvPr id="264" name="Google Shape;264;p18"/>
          <p:cNvSpPr txBox="1"/>
          <p:nvPr>
            <p:ph idx="1" type="body"/>
          </p:nvPr>
        </p:nvSpPr>
        <p:spPr>
          <a:xfrm>
            <a:off x="381000" y="1066800"/>
            <a:ext cx="11622656"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vi-VN">
                <a:latin typeface="Arial"/>
                <a:ea typeface="Arial"/>
                <a:cs typeface="Arial"/>
                <a:sym typeface="Arial"/>
              </a:rPr>
              <a:t>1. </a:t>
            </a:r>
            <a:r>
              <a:rPr lang="vi-VN"/>
              <a:t>Haproxy Active Server has error &gt; Keepalived service will check and automatically transfer Virtual IP to Haproxy Backup Server.</a:t>
            </a:r>
            <a:endParaRPr/>
          </a:p>
          <a:p>
            <a:pPr indent="0" lvl="0" marL="0" rtl="0" algn="l">
              <a:lnSpc>
                <a:spcPct val="90000"/>
              </a:lnSpc>
              <a:spcBef>
                <a:spcPts val="1000"/>
              </a:spcBef>
              <a:spcAft>
                <a:spcPts val="0"/>
              </a:spcAft>
              <a:buNone/>
            </a:pPr>
            <a:r>
              <a:rPr lang="vi-VN">
                <a:latin typeface="Arial"/>
                <a:ea typeface="Arial"/>
                <a:cs typeface="Arial"/>
                <a:sym typeface="Arial"/>
              </a:rPr>
              <a:t>2. </a:t>
            </a:r>
            <a:r>
              <a:rPr lang="vi-VN"/>
              <a:t>When the Haproxy Active Server is back up and running &gt; Keepalived service will check and automatically switch the Virtual IP from Haporxy Backup to the Haproxy Active server.</a:t>
            </a:r>
            <a:r>
              <a:rPr lang="vi-VN">
                <a:latin typeface="Arial"/>
                <a:ea typeface="Arial"/>
                <a:cs typeface="Arial"/>
                <a:sym typeface="Arial"/>
              </a:rPr>
              <a:t> </a:t>
            </a:r>
            <a:endParaRPr/>
          </a:p>
          <a:p>
            <a:pPr indent="-50800" lvl="0" marL="228600" rtl="0" algn="l">
              <a:lnSpc>
                <a:spcPct val="90000"/>
              </a:lnSpc>
              <a:spcBef>
                <a:spcPts val="1000"/>
              </a:spcBef>
              <a:spcAft>
                <a:spcPts val="0"/>
              </a:spcAft>
              <a:buClr>
                <a:schemeClr val="dk1"/>
              </a:buClr>
              <a:buSzPts val="2800"/>
              <a:buNone/>
            </a:pPr>
            <a:r>
              <a:t/>
            </a:r>
            <a:endParaRPr>
              <a:latin typeface="Arial"/>
              <a:ea typeface="Arial"/>
              <a:cs typeface="Arial"/>
              <a:sym typeface="Arial"/>
            </a:endParaRPr>
          </a:p>
        </p:txBody>
      </p:sp>
      <p:sp>
        <p:nvSpPr>
          <p:cNvPr id="265" name="Google Shape;265;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pic>
        <p:nvPicPr>
          <p:cNvPr descr="Ảnh có chứa văn bản, ảnh chụp màn hình, biểu đồ, thiết kế&#10;&#10;Mô tả được tự động tạo" id="266" name="Google Shape;266;p18"/>
          <p:cNvPicPr preferRelativeResize="0"/>
          <p:nvPr/>
        </p:nvPicPr>
        <p:blipFill rotWithShape="1">
          <a:blip r:embed="rId3">
            <a:alphaModFix/>
          </a:blip>
          <a:srcRect b="0" l="0" r="0" t="0"/>
          <a:stretch/>
        </p:blipFill>
        <p:spPr>
          <a:xfrm>
            <a:off x="688383" y="3152949"/>
            <a:ext cx="11054166" cy="30253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9"/>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Scenario 2 </a:t>
            </a:r>
            <a:endParaRPr/>
          </a:p>
        </p:txBody>
      </p:sp>
      <p:sp>
        <p:nvSpPr>
          <p:cNvPr id="272" name="Google Shape;272;p19"/>
          <p:cNvSpPr txBox="1"/>
          <p:nvPr>
            <p:ph idx="1" type="body"/>
          </p:nvPr>
        </p:nvSpPr>
        <p:spPr>
          <a:xfrm>
            <a:off x="381000" y="1066800"/>
            <a:ext cx="11451955"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vi-VN">
                <a:latin typeface="Arial"/>
                <a:ea typeface="Arial"/>
                <a:cs typeface="Arial"/>
                <a:sym typeface="Arial"/>
              </a:rPr>
              <a:t>1. </a:t>
            </a:r>
            <a:r>
              <a:rPr lang="vi-VN"/>
              <a:t>Service WebApp 01 has an error, check false on port 80; Haproxy service will detect and remove connection to WebApp 01.</a:t>
            </a:r>
            <a:endParaRPr/>
          </a:p>
          <a:p>
            <a:pPr indent="0" lvl="0" marL="0" rtl="0" algn="l">
              <a:lnSpc>
                <a:spcPct val="90000"/>
              </a:lnSpc>
              <a:spcBef>
                <a:spcPts val="1000"/>
              </a:spcBef>
              <a:spcAft>
                <a:spcPts val="0"/>
              </a:spcAft>
              <a:buNone/>
            </a:pPr>
            <a:r>
              <a:rPr lang="vi-VN">
                <a:latin typeface="Arial"/>
                <a:ea typeface="Arial"/>
                <a:cs typeface="Arial"/>
                <a:sym typeface="Arial"/>
              </a:rPr>
              <a:t>2. </a:t>
            </a:r>
            <a:r>
              <a:rPr lang="vi-VN"/>
              <a:t>When WebApp 01 check port 80 works again. The connection will be restored.</a:t>
            </a:r>
            <a:endParaRPr/>
          </a:p>
          <a:p>
            <a:pPr indent="-50800" lvl="0" marL="228600" rtl="0" algn="l">
              <a:lnSpc>
                <a:spcPct val="90000"/>
              </a:lnSpc>
              <a:spcBef>
                <a:spcPts val="1000"/>
              </a:spcBef>
              <a:spcAft>
                <a:spcPts val="0"/>
              </a:spcAft>
              <a:buClr>
                <a:schemeClr val="dk1"/>
              </a:buClr>
              <a:buSzPts val="2800"/>
              <a:buNone/>
            </a:pPr>
            <a:r>
              <a:t/>
            </a:r>
            <a:endParaRPr>
              <a:latin typeface="Arial"/>
              <a:ea typeface="Arial"/>
              <a:cs typeface="Arial"/>
              <a:sym typeface="Arial"/>
            </a:endParaRPr>
          </a:p>
        </p:txBody>
      </p:sp>
      <p:sp>
        <p:nvSpPr>
          <p:cNvPr id="273" name="Google Shape;27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pic>
        <p:nvPicPr>
          <p:cNvPr descr="Ảnh có chứa văn bản, ảnh chụp màn hình, biểu đồ&#10;&#10;Mô tả được tự động tạo" id="274" name="Google Shape;274;p19"/>
          <p:cNvPicPr preferRelativeResize="0"/>
          <p:nvPr/>
        </p:nvPicPr>
        <p:blipFill rotWithShape="1">
          <a:blip r:embed="rId3">
            <a:alphaModFix/>
          </a:blip>
          <a:srcRect b="0" l="0" r="0" t="0"/>
          <a:stretch/>
        </p:blipFill>
        <p:spPr>
          <a:xfrm>
            <a:off x="307383" y="2961621"/>
            <a:ext cx="11454538" cy="303348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0"/>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vi-VN">
                <a:latin typeface="Arial"/>
                <a:ea typeface="Arial"/>
                <a:cs typeface="Arial"/>
                <a:sym typeface="Arial"/>
              </a:rPr>
              <a:t>Scenario 3</a:t>
            </a:r>
            <a:endParaRPr/>
          </a:p>
        </p:txBody>
      </p:sp>
      <p:sp>
        <p:nvSpPr>
          <p:cNvPr id="280" name="Google Shape;280;p20"/>
          <p:cNvSpPr txBox="1"/>
          <p:nvPr>
            <p:ph idx="1" type="body"/>
          </p:nvPr>
        </p:nvSpPr>
        <p:spPr>
          <a:xfrm>
            <a:off x="381000" y="1066800"/>
            <a:ext cx="11581108"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vi-VN" sz="2600">
                <a:latin typeface="Arial"/>
                <a:ea typeface="Arial"/>
                <a:cs typeface="Arial"/>
                <a:sym typeface="Arial"/>
              </a:rPr>
              <a:t>1. </a:t>
            </a:r>
            <a:r>
              <a:rPr lang="vi-VN" sz="2600"/>
              <a:t>DB Master is corrupted (excel. Corrupt DB). Need to convert from DB Slave (RO) to DB Master (R/W).</a:t>
            </a:r>
            <a:endParaRPr sz="2600"/>
          </a:p>
          <a:p>
            <a:pPr indent="0" lvl="0" marL="0" rtl="0" algn="l">
              <a:lnSpc>
                <a:spcPct val="90000"/>
              </a:lnSpc>
              <a:spcBef>
                <a:spcPts val="1000"/>
              </a:spcBef>
              <a:spcAft>
                <a:spcPts val="0"/>
              </a:spcAft>
              <a:buNone/>
            </a:pPr>
            <a:r>
              <a:rPr lang="vi-VN" sz="2600">
                <a:latin typeface="Arial"/>
                <a:ea typeface="Arial"/>
                <a:cs typeface="Arial"/>
                <a:sym typeface="Arial"/>
              </a:rPr>
              <a:t>2. </a:t>
            </a:r>
            <a:r>
              <a:rPr lang="vi-VN" sz="2600"/>
              <a:t>Declare to convert the WebApp application connection from the old DB Master to the new DB Master. There are 2 ways:</a:t>
            </a:r>
            <a:r>
              <a:rPr lang="vi-VN" sz="2600">
                <a:latin typeface="Arial"/>
                <a:ea typeface="Arial"/>
                <a:cs typeface="Arial"/>
                <a:sym typeface="Arial"/>
              </a:rPr>
              <a:t> </a:t>
            </a:r>
            <a:endParaRPr sz="2600"/>
          </a:p>
          <a:p>
            <a:pPr indent="-393700" lvl="0" marL="457200" rtl="0" algn="l">
              <a:lnSpc>
                <a:spcPct val="90000"/>
              </a:lnSpc>
              <a:spcBef>
                <a:spcPts val="500"/>
              </a:spcBef>
              <a:spcAft>
                <a:spcPts val="0"/>
              </a:spcAft>
              <a:buSzPts val="2600"/>
              <a:buChar char="•"/>
            </a:pPr>
            <a:r>
              <a:rPr lang="vi-VN" sz="2600"/>
              <a:t>Update the new IP DB in the declaration from the application.</a:t>
            </a:r>
            <a:endParaRPr sz="2600"/>
          </a:p>
          <a:p>
            <a:pPr indent="-393700" lvl="0" marL="457200" rtl="0" algn="l">
              <a:lnSpc>
                <a:spcPct val="90000"/>
              </a:lnSpc>
              <a:spcBef>
                <a:spcPts val="0"/>
              </a:spcBef>
              <a:spcAft>
                <a:spcPts val="0"/>
              </a:spcAft>
              <a:buSzPts val="2600"/>
              <a:buChar char="•"/>
            </a:pPr>
            <a:r>
              <a:rPr lang="vi-VN" sz="2600"/>
              <a:t>Update DNS records (If declared by Domain).</a:t>
            </a:r>
            <a:endParaRPr sz="2600">
              <a:latin typeface="Arial"/>
              <a:ea typeface="Arial"/>
              <a:cs typeface="Arial"/>
              <a:sym typeface="Arial"/>
            </a:endParaRPr>
          </a:p>
        </p:txBody>
      </p:sp>
      <p:sp>
        <p:nvSpPr>
          <p:cNvPr id="281" name="Google Shape;28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800"/>
              <a:buNone/>
            </a:pPr>
            <a:fld id="{00000000-1234-1234-1234-123412341234}" type="slidenum">
              <a:rPr lang="vi-VN"/>
              <a:t>‹#›</a:t>
            </a:fld>
            <a:endParaRPr/>
          </a:p>
        </p:txBody>
      </p:sp>
      <p:pic>
        <p:nvPicPr>
          <p:cNvPr descr="Ảnh có chứa văn bản, ảnh chụp màn hình, biểu đồ, thiết kế&#10;&#10;Mô tả được tự động tạo" id="282" name="Google Shape;282;p20"/>
          <p:cNvPicPr preferRelativeResize="0"/>
          <p:nvPr/>
        </p:nvPicPr>
        <p:blipFill rotWithShape="1">
          <a:blip r:embed="rId3">
            <a:alphaModFix/>
          </a:blip>
          <a:srcRect b="0" l="0" r="0" t="0"/>
          <a:stretch/>
        </p:blipFill>
        <p:spPr>
          <a:xfrm>
            <a:off x="740044" y="3552531"/>
            <a:ext cx="10266334" cy="275573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1"/>
          <p:cNvSpPr txBox="1"/>
          <p:nvPr>
            <p:ph type="title"/>
          </p:nvPr>
        </p:nvSpPr>
        <p:spPr>
          <a:xfrm>
            <a:off x="228600" y="228600"/>
            <a:ext cx="10515600" cy="54451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t/>
            </a:r>
            <a:endParaRPr/>
          </a:p>
        </p:txBody>
      </p:sp>
      <p:sp>
        <p:nvSpPr>
          <p:cNvPr id="288" name="Google Shape;288;p21"/>
          <p:cNvSpPr txBox="1"/>
          <p:nvPr>
            <p:ph idx="1" type="body"/>
          </p:nvPr>
        </p:nvSpPr>
        <p:spPr>
          <a:xfrm>
            <a:off x="381000" y="914400"/>
            <a:ext cx="10515600" cy="4351338"/>
          </a:xfrm>
          <a:prstGeom prst="rect">
            <a:avLst/>
          </a:prstGeom>
          <a:noFill/>
          <a:ln>
            <a:noFill/>
          </a:ln>
        </p:spPr>
        <p:txBody>
          <a:bodyPr anchorCtr="0" anchor="t" bIns="45700" lIns="91425" spcFirstLastPara="1" rIns="91425" wrap="square" tIns="45700">
            <a:noAutofit/>
          </a:bodyPr>
          <a:lstStyle/>
          <a:p>
            <a:pPr indent="0" lvl="0" marL="0" rtl="0" algn="ctr">
              <a:lnSpc>
                <a:spcPct val="150000"/>
              </a:lnSpc>
              <a:spcBef>
                <a:spcPts val="0"/>
              </a:spcBef>
              <a:spcAft>
                <a:spcPts val="0"/>
              </a:spcAft>
              <a:buClr>
                <a:schemeClr val="dk1"/>
              </a:buClr>
              <a:buSzPts val="2800"/>
              <a:buNone/>
            </a:pPr>
            <a:r>
              <a:rPr lang="vi-VN">
                <a:latin typeface="Arial"/>
                <a:ea typeface="Arial"/>
                <a:cs typeface="Arial"/>
                <a:sym typeface="Arial"/>
              </a:rPr>
              <a:t>Thank You</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Font typeface="Noto Sans Symbols"/>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89" name="Google Shape;28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1400"/>
              <a:buFont typeface="Arial"/>
              <a:buNone/>
            </a:pPr>
            <a:fld id="{00000000-1234-1234-1234-123412341234}" type="slidenum">
              <a:rPr b="0" i="0" lang="vi-VN" sz="1400" u="none" cap="none" strike="noStrike">
                <a:solidFill>
                  <a:schemeClr val="dk1"/>
                </a:solidFill>
                <a:latin typeface="Tahoma"/>
                <a:ea typeface="Tahoma"/>
                <a:cs typeface="Tahoma"/>
                <a:sym typeface="Tahoma"/>
              </a:rPr>
              <a:t>‹#›</a:t>
            </a:fld>
            <a:endParaRPr b="0" i="0" sz="1400" u="none" cap="none" strike="noStrike">
              <a:solidFill>
                <a:schemeClr val="dk1"/>
              </a:solidFill>
              <a:latin typeface="Tahoma"/>
              <a:ea typeface="Tahoma"/>
              <a:cs typeface="Tahoma"/>
              <a:sym typeface="Tahoma"/>
            </a:endParaRPr>
          </a:p>
        </p:txBody>
      </p:sp>
    </p:spTree>
  </p:cSld>
  <p:clrMapOvr>
    <a:masterClrMapping/>
  </p:clrMapOvr>
</p:sld>
</file>

<file path=ppt/theme/theme1.xml><?xml version="1.0" encoding="utf-8"?>
<a:theme xmlns:a="http://schemas.openxmlformats.org/drawingml/2006/main" xmlns:r="http://schemas.openxmlformats.org/officeDocument/2006/relationships" name="Chủ đề của Office">
  <a:themeElements>
    <a:clrScheme name="Văn phòng">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lends">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2005-08-06T12:02:07Z</dcterms:created>
  <dc:creator>YWC</dc:creator>
</cp:coreProperties>
</file>