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419" r:id="rId3"/>
    <p:sldId id="618" r:id="rId4"/>
    <p:sldId id="635" r:id="rId5"/>
    <p:sldId id="636" r:id="rId6"/>
    <p:sldId id="637" r:id="rId7"/>
    <p:sldId id="638" r:id="rId8"/>
    <p:sldId id="619" r:id="rId9"/>
    <p:sldId id="633" r:id="rId10"/>
    <p:sldId id="634" r:id="rId11"/>
    <p:sldId id="639" r:id="rId12"/>
    <p:sldId id="644" r:id="rId13"/>
    <p:sldId id="645" r:id="rId14"/>
    <p:sldId id="640" r:id="rId15"/>
    <p:sldId id="642" r:id="rId16"/>
    <p:sldId id="646" r:id="rId17"/>
    <p:sldId id="641" r:id="rId18"/>
    <p:sldId id="648" r:id="rId19"/>
    <p:sldId id="649" r:id="rId20"/>
    <p:sldId id="643" r:id="rId21"/>
    <p:sldId id="612" r:id="rId22"/>
    <p:sldId id="342" r:id="rId23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82" autoAdjust="0"/>
    <p:restoredTop sz="93979" autoAdjust="0"/>
  </p:normalViewPr>
  <p:slideViewPr>
    <p:cSldViewPr snapToGrid="0" snapToObjects="1">
      <p:cViewPr varScale="1">
        <p:scale>
          <a:sx n="35" d="100"/>
          <a:sy n="35" d="100"/>
        </p:scale>
        <p:origin x="72" y="136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1/15/2024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baseline="0" dirty="0"/>
              <a:t> </a:t>
            </a:r>
            <a:r>
              <a:rPr lang="en-US" baseline="0" dirty="0" err="1"/>
              <a:t>dùng</a:t>
            </a:r>
            <a:r>
              <a:rPr lang="en-US" baseline="0" dirty="0"/>
              <a:t>: </a:t>
            </a:r>
            <a:r>
              <a:rPr lang="en-US" baseline="0" dirty="0" err="1"/>
              <a:t>khi</a:t>
            </a:r>
            <a:r>
              <a:rPr lang="en-US" baseline="0" dirty="0"/>
              <a:t> </a:t>
            </a:r>
            <a:r>
              <a:rPr lang="en-US" baseline="0" dirty="0" err="1"/>
              <a:t>chỉ</a:t>
            </a:r>
            <a:r>
              <a:rPr lang="en-US" baseline="0" dirty="0"/>
              <a:t> </a:t>
            </a:r>
            <a:r>
              <a:rPr lang="en-US" baseline="0" dirty="0" err="1"/>
              <a:t>có</a:t>
            </a:r>
            <a:r>
              <a:rPr lang="en-US" baseline="0" dirty="0"/>
              <a:t> class </a:t>
            </a:r>
            <a:r>
              <a:rPr lang="en-US" baseline="0" dirty="0" err="1"/>
              <a:t>đó</a:t>
            </a:r>
            <a:r>
              <a:rPr lang="en-US" baseline="0" dirty="0"/>
              <a:t> </a:t>
            </a:r>
            <a:r>
              <a:rPr lang="en-US" baseline="0" dirty="0" err="1"/>
              <a:t>sử</a:t>
            </a:r>
            <a:r>
              <a:rPr lang="en-US" baseline="0" dirty="0"/>
              <a:t> </a:t>
            </a:r>
            <a:r>
              <a:rPr lang="en-US" baseline="0" dirty="0" err="1"/>
              <a:t>dụng</a:t>
            </a:r>
            <a:r>
              <a:rPr lang="en-US" baseline="0" dirty="0"/>
              <a:t> inner class </a:t>
            </a:r>
            <a:r>
              <a:rPr lang="en-US" baseline="0" dirty="0">
                <a:sym typeface="Wingdings" panose="05000000000000000000" pitchFamily="2" charset="2"/>
              </a:rPr>
              <a:t> </a:t>
            </a:r>
            <a:r>
              <a:rPr lang="en-US" baseline="0" dirty="0" err="1">
                <a:sym typeface="Wingdings" panose="05000000000000000000" pitchFamily="2" charset="2"/>
              </a:rPr>
              <a:t>tăng</a:t>
            </a:r>
            <a:r>
              <a:rPr lang="en-US" baseline="0" dirty="0">
                <a:sym typeface="Wingdings" panose="05000000000000000000" pitchFamily="2" charset="2"/>
              </a:rPr>
              <a:t> </a:t>
            </a:r>
            <a:r>
              <a:rPr lang="en-US" baseline="0" dirty="0" err="1">
                <a:sym typeface="Wingdings" panose="05000000000000000000" pitchFamily="2" charset="2"/>
              </a:rPr>
              <a:t>tính</a:t>
            </a:r>
            <a:r>
              <a:rPr lang="en-US" baseline="0" dirty="0">
                <a:sym typeface="Wingdings" panose="05000000000000000000" pitchFamily="2" charset="2"/>
              </a:rPr>
              <a:t> encapsulation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433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22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1/15/2024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1093758" y="5868274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Java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Internationalization</a:t>
            </a:r>
          </a:p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Annotations</a:t>
            </a:r>
          </a:p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Inner class</a:t>
            </a:r>
          </a:p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</a:t>
            </a:r>
            <a:r>
              <a:rPr lang="vi-VN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Garbage Collector</a:t>
            </a:r>
            <a:endParaRPr lang="en-US" altLang="en-US" sz="6600" b="0" dirty="0">
              <a:solidFill>
                <a:sysClr val="windowText" lastClr="000000"/>
              </a:solidFill>
              <a:latin typeface="Arial (Body)"/>
              <a:cs typeface="Arial" panose="020B0604020202020204" pitchFamily="34" charset="0"/>
            </a:endParaRPr>
          </a:p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Java structure</a:t>
            </a:r>
          </a:p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Interview</a:t>
            </a:r>
          </a:p>
          <a:p>
            <a:pPr defTabSz="914400">
              <a:defRPr/>
            </a:pPr>
            <a:r>
              <a:rPr lang="en-US" altLang="en-US" sz="6600" b="0" noProof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Assignments</a:t>
            </a:r>
            <a:endParaRPr kumimoji="0" lang="en-US" altLang="en-US" sz="6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(Body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Internationalization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2021305" y="2089391"/>
            <a:ext cx="19325462" cy="101997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vi-VN" dirty="0"/>
              <a:t> I18N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Support language &amp; format number, money, … base on Locale</a:t>
            </a:r>
            <a:endParaRPr lang="vi-VN" dirty="0"/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vi-VN" dirty="0"/>
              <a:t> </a:t>
            </a:r>
            <a:r>
              <a:rPr lang="en-US" dirty="0" err="1"/>
              <a:t>NumberFormat</a:t>
            </a:r>
            <a:endParaRPr lang="en-US" dirty="0"/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err="1"/>
              <a:t>DateFormat</a:t>
            </a:r>
            <a:endParaRPr lang="en-US" dirty="0"/>
          </a:p>
          <a:p>
            <a:pPr marL="0" indent="0" hangingPunct="1">
              <a:buNone/>
            </a:pPr>
            <a:endParaRPr lang="en-US" dirty="0"/>
          </a:p>
          <a:p>
            <a:pPr marL="0" indent="0" hangingPunct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226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NumberFormat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841" y="2440193"/>
            <a:ext cx="6468429" cy="3045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862" y="6464991"/>
            <a:ext cx="9927287" cy="552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3512" y="6464991"/>
            <a:ext cx="9689410" cy="5521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0503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vi-VN" altLang="en-US" sz="6000" kern="120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DateFormat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8" name="Text Placeholder 1"/>
          <p:cNvSpPr txBox="1">
            <a:spLocks/>
          </p:cNvSpPr>
          <p:nvPr/>
        </p:nvSpPr>
        <p:spPr>
          <a:xfrm>
            <a:off x="1961671" y="6642410"/>
            <a:ext cx="19325462" cy="101997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vi-VN" dirty="0"/>
              <a:t> </a:t>
            </a:r>
            <a:r>
              <a:rPr lang="en-US" dirty="0" err="1"/>
              <a:t>DateFormat</a:t>
            </a:r>
            <a:endParaRPr lang="vi-VN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SimpleDateFormat</a:t>
            </a:r>
            <a:endParaRPr lang="en-US" dirty="0"/>
          </a:p>
          <a:p>
            <a:pPr marL="0" indent="0" hangingPunct="1">
              <a:buNone/>
            </a:pPr>
            <a:endParaRPr lang="en-US" dirty="0"/>
          </a:p>
        </p:txBody>
      </p:sp>
      <p:pic>
        <p:nvPicPr>
          <p:cNvPr id="9" name="Picture 8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1038" y="2217906"/>
            <a:ext cx="5953328" cy="39494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4986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vi-VN" altLang="en-US" sz="6000" kern="120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DateFormat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4950" y="1952349"/>
            <a:ext cx="13314571" cy="95571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3371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vi-VN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SimpleDateFormat</a:t>
            </a: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570193" y="2840002"/>
            <a:ext cx="7017381" cy="951982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vi-VN" dirty="0"/>
              <a:t> Convert Date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vi-VN" dirty="0"/>
              <a:t> String</a:t>
            </a:r>
            <a:endParaRPr lang="en-US" dirty="0"/>
          </a:p>
          <a:p>
            <a:pPr marL="0" indent="0" hangingPunct="1">
              <a:buNone/>
            </a:pPr>
            <a:endParaRPr lang="en-US" dirty="0"/>
          </a:p>
        </p:txBody>
      </p:sp>
      <p:sp>
        <p:nvSpPr>
          <p:cNvPr id="8" name="Text Placeholder 1"/>
          <p:cNvSpPr txBox="1">
            <a:spLocks/>
          </p:cNvSpPr>
          <p:nvPr/>
        </p:nvSpPr>
        <p:spPr>
          <a:xfrm>
            <a:off x="11922290" y="2840002"/>
            <a:ext cx="7123116" cy="951982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vi-VN" dirty="0"/>
              <a:t>Convert String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vi-VN" dirty="0"/>
              <a:t> Date</a:t>
            </a:r>
            <a:endParaRPr lang="en-US" dirty="0"/>
          </a:p>
        </p:txBody>
      </p:sp>
      <p:pic>
        <p:nvPicPr>
          <p:cNvPr id="9" name="Picture 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0249" y="4242008"/>
            <a:ext cx="11188160" cy="6361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693" y="4242008"/>
            <a:ext cx="11108987" cy="63611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8724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Annotations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937986" y="2068426"/>
            <a:ext cx="19325462" cy="101997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vi-VN" dirty="0"/>
              <a:t> </a:t>
            </a:r>
            <a:r>
              <a:rPr lang="en-US" dirty="0"/>
              <a:t>@Override</a:t>
            </a:r>
            <a:endParaRPr lang="vi-VN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@Deprecated</a:t>
            </a:r>
            <a:endParaRPr lang="vi-VN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vi-VN" dirty="0"/>
              <a:t> </a:t>
            </a:r>
            <a:r>
              <a:rPr lang="en-US" dirty="0"/>
              <a:t>@</a:t>
            </a:r>
            <a:r>
              <a:rPr lang="en-US" dirty="0" err="1"/>
              <a:t>SuppressWarnings</a:t>
            </a:r>
            <a:endParaRPr lang="en-US" dirty="0"/>
          </a:p>
          <a:p>
            <a:pPr marL="0" indent="0" hangingPunct="1">
              <a:buNone/>
            </a:pPr>
            <a:endParaRPr lang="en-US" dirty="0"/>
          </a:p>
          <a:p>
            <a:pPr marL="0" indent="0" hangingPunct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781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13231467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@Deprecated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230" y="1811067"/>
            <a:ext cx="11912736" cy="1024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721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13231467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@</a:t>
            </a: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SuppressWarnings</a:t>
            </a:r>
            <a:endParaRPr lang="en-US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 descr="http://o7planning.org/vi/10197/cache/images/i/18913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0" y="1643062"/>
            <a:ext cx="16840200" cy="108727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7556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13231467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Inner class</a:t>
            </a: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1937986" y="2068426"/>
            <a:ext cx="19325462" cy="101997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vi-VN" dirty="0"/>
              <a:t> </a:t>
            </a:r>
            <a:r>
              <a:rPr lang="en-US" dirty="0"/>
              <a:t>Static &amp; non-static, final, access modifier, inheritance, polymorphism, … similar to Class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Type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Object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Method</a:t>
            </a:r>
          </a:p>
        </p:txBody>
      </p:sp>
    </p:spTree>
    <p:extLst>
      <p:ext uri="{BB962C8B-B14F-4D97-AF65-F5344CB8AC3E}">
        <p14:creationId xmlns:p14="http://schemas.microsoft.com/office/powerpoint/2010/main" val="274998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13231467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Inner class (Object)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734" y="5058382"/>
            <a:ext cx="11834585" cy="28318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890" y="2712497"/>
            <a:ext cx="8617085" cy="774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956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13231467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Inner class (Method)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53" y="1900338"/>
            <a:ext cx="12456838" cy="103954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8178" y="5176073"/>
            <a:ext cx="9513651" cy="242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366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13231467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Garbage Collector </a:t>
            </a: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1937986" y="2068426"/>
            <a:ext cx="19325462" cy="101997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vi-VN" dirty="0"/>
              <a:t> </a:t>
            </a:r>
            <a:r>
              <a:rPr lang="en-US" dirty="0"/>
              <a:t>Collect "Garbage"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Garbage is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Object has null pointer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Parent of object has null pointer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Local variable</a:t>
            </a:r>
          </a:p>
          <a:p>
            <a:pPr marL="0" indent="0" hangingPunct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729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13231467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Garbage Collector </a:t>
            </a:r>
            <a:endParaRPr lang="en-US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95" y="4148217"/>
            <a:ext cx="22374304" cy="454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187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13231467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Garbage Collector </a:t>
            </a:r>
            <a:endParaRPr lang="en-US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1937986" y="2068426"/>
            <a:ext cx="19325462" cy="101997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vi-VN" dirty="0"/>
              <a:t> </a:t>
            </a:r>
            <a:r>
              <a:rPr lang="en-US" dirty="0"/>
              <a:t>Methods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err="1"/>
              <a:t>System.gc</a:t>
            </a:r>
            <a:r>
              <a:rPr lang="en-US" dirty="0"/>
              <a:t>()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finalize()</a:t>
            </a:r>
          </a:p>
          <a:p>
            <a:pPr marL="0" indent="0" hangingPunct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116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13231467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Java Structure</a:t>
            </a:r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437" y="1812478"/>
            <a:ext cx="19690406" cy="10619471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0982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13231467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JVM</a:t>
            </a:r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0" y="1678622"/>
            <a:ext cx="17735550" cy="1034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729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13231467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Memory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502" y="3231514"/>
            <a:ext cx="13327698" cy="7493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9160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13231467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Interview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937986" y="2068426"/>
            <a:ext cx="19325462" cy="101997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vi-VN" dirty="0"/>
              <a:t>Interpretion</a:t>
            </a:r>
            <a:r>
              <a:rPr lang="en-US" dirty="0"/>
              <a:t> &amp;</a:t>
            </a:r>
            <a:r>
              <a:rPr lang="vi-VN" dirty="0"/>
              <a:t> Compilation</a:t>
            </a:r>
            <a:endParaRPr lang="en-US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/>
              <a:t> Runtime </a:t>
            </a:r>
            <a:r>
              <a:rPr lang="en-US" dirty="0"/>
              <a:t>&amp; </a:t>
            </a:r>
            <a:r>
              <a:rPr lang="en-US" dirty="0" err="1"/>
              <a:t>CompileTime</a:t>
            </a:r>
            <a:endParaRPr lang="en-US" dirty="0"/>
          </a:p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998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937260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 err="1">
                <a:solidFill>
                  <a:srgbClr val="4F81BD"/>
                </a:solidFill>
                <a:ea typeface="+mn-ea"/>
                <a:cs typeface="Arial" panose="020B0604020202020204" pitchFamily="34" charset="0"/>
              </a:rPr>
              <a:t>Interpretion</a:t>
            </a: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Arial" panose="020B0604020202020204" pitchFamily="34" charset="0"/>
              </a:rPr>
              <a:t> &amp; Compilation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2677288" y="2068426"/>
            <a:ext cx="16481424" cy="286138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vi-VN" dirty="0"/>
              <a:t> Interpretion (Thông dịch)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vi-VN" dirty="0"/>
              <a:t> Compilation (Biên dịch)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5212" y="4929187"/>
            <a:ext cx="17083088" cy="62341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0562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82079886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25949</TotalTime>
  <Words>212</Words>
  <Application>Microsoft Office PowerPoint</Application>
  <PresentationFormat>Custom</PresentationFormat>
  <Paragraphs>61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Meiryo</vt:lpstr>
      <vt:lpstr>Arial (Body)</vt:lpstr>
      <vt:lpstr>Calibri</vt:lpstr>
      <vt:lpstr>Courier New</vt:lpstr>
      <vt:lpstr>Helvetica Neue</vt:lpstr>
      <vt:lpstr>Helvetica Neue Light</vt:lpstr>
      <vt:lpstr>Helvetica Neue Medium</vt:lpstr>
      <vt:lpstr>Wingdings</vt:lpstr>
      <vt:lpstr>White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2727</cp:revision>
  <cp:lastPrinted>2019-09-17T11:00:25Z</cp:lastPrinted>
  <dcterms:modified xsi:type="dcterms:W3CDTF">2024-01-15T04:11:25Z</dcterms:modified>
  <cp:category/>
</cp:coreProperties>
</file>