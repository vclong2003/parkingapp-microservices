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256" r:id="rId2"/>
    <p:sldId id="419" r:id="rId3"/>
    <p:sldId id="537" r:id="rId4"/>
    <p:sldId id="515" r:id="rId5"/>
    <p:sldId id="555" r:id="rId6"/>
    <p:sldId id="516" r:id="rId7"/>
    <p:sldId id="517" r:id="rId8"/>
    <p:sldId id="518" r:id="rId9"/>
    <p:sldId id="520" r:id="rId10"/>
    <p:sldId id="521" r:id="rId11"/>
    <p:sldId id="523" r:id="rId12"/>
    <p:sldId id="522" r:id="rId13"/>
    <p:sldId id="524" r:id="rId14"/>
    <p:sldId id="525" r:id="rId15"/>
    <p:sldId id="526" r:id="rId16"/>
    <p:sldId id="527" r:id="rId17"/>
    <p:sldId id="528" r:id="rId18"/>
    <p:sldId id="529" r:id="rId19"/>
    <p:sldId id="530" r:id="rId20"/>
    <p:sldId id="531" r:id="rId21"/>
    <p:sldId id="532" r:id="rId22"/>
    <p:sldId id="498" r:id="rId23"/>
    <p:sldId id="533" r:id="rId24"/>
    <p:sldId id="559" r:id="rId25"/>
    <p:sldId id="560" r:id="rId26"/>
    <p:sldId id="534" r:id="rId27"/>
    <p:sldId id="535" r:id="rId28"/>
    <p:sldId id="536" r:id="rId29"/>
    <p:sldId id="497" r:id="rId30"/>
    <p:sldId id="546" r:id="rId31"/>
    <p:sldId id="542" r:id="rId32"/>
    <p:sldId id="544" r:id="rId33"/>
    <p:sldId id="539" r:id="rId34"/>
    <p:sldId id="541" r:id="rId35"/>
    <p:sldId id="550" r:id="rId36"/>
    <p:sldId id="551" r:id="rId37"/>
    <p:sldId id="552" r:id="rId38"/>
    <p:sldId id="553" r:id="rId39"/>
    <p:sldId id="554" r:id="rId40"/>
    <p:sldId id="540" r:id="rId41"/>
    <p:sldId id="548" r:id="rId42"/>
    <p:sldId id="549" r:id="rId43"/>
    <p:sldId id="538" r:id="rId44"/>
    <p:sldId id="545" r:id="rId45"/>
    <p:sldId id="556" r:id="rId46"/>
    <p:sldId id="543" r:id="rId47"/>
    <p:sldId id="547" r:id="rId48"/>
    <p:sldId id="557" r:id="rId49"/>
    <p:sldId id="558" r:id="rId50"/>
    <p:sldId id="342" r:id="rId51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82" autoAdjust="0"/>
    <p:restoredTop sz="81806" autoAdjust="0"/>
  </p:normalViewPr>
  <p:slideViewPr>
    <p:cSldViewPr snapToGrid="0" snapToObjects="1">
      <p:cViewPr varScale="1">
        <p:scale>
          <a:sx n="30" d="100"/>
          <a:sy n="30" d="100"/>
        </p:scale>
        <p:origin x="461" y="45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Biểu thức điều kiện có giá trị là true hoặc false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Thực hiện từng trường hợp 1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Tối đa là 3 if </a:t>
            </a:r>
            <a:r>
              <a:rPr lang="en-US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else</a:t>
            </a:r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. Nếu 4 if </a:t>
            </a:r>
            <a:r>
              <a:rPr lang="en-US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else</a:t>
            </a:r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 thì dùng switch case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320622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Biểu thức điều kiện có giá trị là true hoặc false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Thực hiện từng trường hợp 1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Tối đa là 3 if </a:t>
            </a:r>
            <a:r>
              <a:rPr lang="en-US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else</a:t>
            </a:r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. Nếu 4 if </a:t>
            </a:r>
            <a:r>
              <a:rPr lang="en-US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else</a:t>
            </a:r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 thì dùng switch case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88526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Thực hiện tất cả case cùng lúc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Nhanh hơn, tốn hiệu năng nhiều hơn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17851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Tối thiểu không chạy lần nào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40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Tối thiểu không chạy lần nào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652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Trong khi mệnh đề điều kiện còn đúng thì còn thực hiện công việc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Lặp ít nhất 0 lần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429275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Thực hiện trước rồi kiểm tra điều kiện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Lặp ít nhất 1 lần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332984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Thực hiện trước rồi kiểm tra điều kiện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Lặp ít nhất 1 lần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522333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Thực hiện trước rồi kiểm tra điều kiện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Lặp ít nhất 1 lần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5772606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Thực hiện trước rồi kiểm tra điều kiện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Lặp ít nhất 1 lần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191241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Thực hiện trước rồi kiểm tra điều kiện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vi-VN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Lặp ít nhất 1 lần</a:t>
            </a:r>
            <a:endParaRPr lang="en-US" sz="220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5666097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5656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0694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4601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50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1/15/2024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aeldung.com/java-printstream-printf#time" TargetMode="Externa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8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Java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Flow control statements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Operator 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Comment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altLang="en-US" sz="6600" b="0" dirty="0" err="1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Util</a:t>
            </a: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functions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Method</a:t>
            </a:r>
          </a:p>
          <a:p>
            <a:pPr defTabSz="914400">
              <a:defRPr/>
            </a:pPr>
            <a:r>
              <a:rPr lang="en-US" altLang="en-US" sz="6600" b="0" noProof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Flow Control Statements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1026" name="Picture 2" descr="https://www.topperskills.com/images/tutorial/java/flow-control-statement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75" y="2359024"/>
            <a:ext cx="13965770" cy="825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463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If – Else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0657" y="2465646"/>
            <a:ext cx="6664386" cy="648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970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If – Else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 descr="if el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4529" y="1815623"/>
            <a:ext cx="8013297" cy="9294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842" y="1815623"/>
            <a:ext cx="6679565" cy="9822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17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578" y="3009854"/>
            <a:ext cx="20538879" cy="630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72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Ternary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2536207"/>
            <a:ext cx="19853480" cy="9398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26505"/>
            <a:ext cx="24384000" cy="4869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911" y="4191307"/>
            <a:ext cx="13660035" cy="273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338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Switch…case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825" y="1981200"/>
            <a:ext cx="6662564" cy="9408840"/>
          </a:xfrm>
          <a:prstGeom prst="rect">
            <a:avLst/>
          </a:prstGeom>
        </p:spPr>
      </p:pic>
      <p:pic>
        <p:nvPicPr>
          <p:cNvPr id="2050" name="Picture 2" descr="switch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7314" y="1981200"/>
            <a:ext cx="7136765" cy="9461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6901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194" y="2155773"/>
            <a:ext cx="20611983" cy="723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04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219" y="3006429"/>
            <a:ext cx="10639663" cy="308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409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287" y="1909762"/>
            <a:ext cx="6470819" cy="948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556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763954"/>
            <a:ext cx="20181246" cy="873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89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 each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877" y="1888010"/>
            <a:ext cx="7374901" cy="476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833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5" y="2052536"/>
            <a:ext cx="9323354" cy="739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372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While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718" y="2832888"/>
            <a:ext cx="5141720" cy="2437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650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972" y="2815043"/>
            <a:ext cx="11035975" cy="560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883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Do-While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465" y="2823768"/>
            <a:ext cx="7158780" cy="240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15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827" y="2865451"/>
            <a:ext cx="8616867" cy="354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19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Break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788" y="2274810"/>
            <a:ext cx="19086463" cy="564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198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Continue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61" y="2079912"/>
            <a:ext cx="22862175" cy="504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727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Return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508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Operator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7"/>
            <a:ext cx="16481424" cy="67326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ID" dirty="0" err="1"/>
              <a:t>i</a:t>
            </a:r>
            <a:r>
              <a:rPr lang="en-ID" dirty="0"/>
              <a:t>++ &amp; ++</a:t>
            </a:r>
            <a:r>
              <a:rPr lang="en-ID" dirty="0" err="1"/>
              <a:t>i</a:t>
            </a:r>
            <a:r>
              <a:rPr lang="en-ID" dirty="0"/>
              <a:t>  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Arithmetic Operators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Relational Operators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Logic Operators</a:t>
            </a:r>
          </a:p>
        </p:txBody>
      </p:sp>
    </p:spTree>
    <p:extLst>
      <p:ext uri="{BB962C8B-B14F-4D97-AF65-F5344CB8AC3E}">
        <p14:creationId xmlns:p14="http://schemas.microsoft.com/office/powerpoint/2010/main" val="2985309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I++ &amp; ++</a:t>
            </a: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956" y="1942147"/>
            <a:ext cx="3289935" cy="2010516"/>
          </a:xfrm>
          <a:prstGeom prst="rect">
            <a:avLst/>
          </a:prstGeom>
        </p:spPr>
      </p:pic>
      <p:sp>
        <p:nvSpPr>
          <p:cNvPr id="5" name="Text Placeholder 1"/>
          <p:cNvSpPr txBox="1">
            <a:spLocks/>
          </p:cNvSpPr>
          <p:nvPr/>
        </p:nvSpPr>
        <p:spPr>
          <a:xfrm>
            <a:off x="1857376" y="4621127"/>
            <a:ext cx="16481424" cy="67326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Ex: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50" y="6189325"/>
            <a:ext cx="3006109" cy="30852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0704" y="6569059"/>
            <a:ext cx="5707415" cy="2404515"/>
          </a:xfrm>
          <a:prstGeom prst="rect">
            <a:avLst/>
          </a:prstGeom>
        </p:spPr>
      </p:pic>
      <p:sp>
        <p:nvSpPr>
          <p:cNvPr id="8" name="Left-Right Arrow 7"/>
          <p:cNvSpPr/>
          <p:nvPr/>
        </p:nvSpPr>
        <p:spPr>
          <a:xfrm>
            <a:off x="9136371" y="7005506"/>
            <a:ext cx="3589020" cy="1531620"/>
          </a:xfrm>
          <a:prstGeom prst="left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34527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I++ &amp; ++</a:t>
            </a: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857376" y="4621127"/>
            <a:ext cx="16481424" cy="67326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Ex: </a:t>
            </a:r>
          </a:p>
        </p:txBody>
      </p:sp>
      <p:sp>
        <p:nvSpPr>
          <p:cNvPr id="8" name="Left-Right Arrow 7"/>
          <p:cNvSpPr/>
          <p:nvPr/>
        </p:nvSpPr>
        <p:spPr>
          <a:xfrm>
            <a:off x="9136371" y="7005506"/>
            <a:ext cx="3589020" cy="1531620"/>
          </a:xfrm>
          <a:prstGeom prst="left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7542" y="2069448"/>
            <a:ext cx="3299797" cy="211938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450" y="6476980"/>
            <a:ext cx="2790843" cy="301712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1384" y="6703010"/>
            <a:ext cx="5328955" cy="213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71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I++ &amp; ++</a:t>
            </a: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6410" y="4567957"/>
            <a:ext cx="3780819" cy="352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7464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Arithmetic Operators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259" y="1534436"/>
            <a:ext cx="9654094" cy="1071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09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Relational Operators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DC7603-4039-49D9-A1CE-2C25A03B5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246" y="1671392"/>
            <a:ext cx="18237392" cy="966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8885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Logic Operators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136093-AC2D-4466-BFB3-D5ABA3411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846" y="1945142"/>
            <a:ext cx="17707336" cy="774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7843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Comment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525" y="6060732"/>
            <a:ext cx="9801714" cy="3396632"/>
          </a:xfrm>
          <a:prstGeom prst="rect">
            <a:avLst/>
          </a:prstGeom>
        </p:spPr>
      </p:pic>
      <p:sp>
        <p:nvSpPr>
          <p:cNvPr id="7" name="Text Placeholder 1"/>
          <p:cNvSpPr txBox="1">
            <a:spLocks/>
          </p:cNvSpPr>
          <p:nvPr/>
        </p:nvSpPr>
        <p:spPr>
          <a:xfrm>
            <a:off x="1857376" y="2335126"/>
            <a:ext cx="16481424" cy="648883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1 line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Multiple line</a:t>
            </a:r>
          </a:p>
        </p:txBody>
      </p:sp>
    </p:spTree>
    <p:extLst>
      <p:ext uri="{BB962C8B-B14F-4D97-AF65-F5344CB8AC3E}">
        <p14:creationId xmlns:p14="http://schemas.microsoft.com/office/powerpoint/2010/main" val="39604679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Date Format By Country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206" y="8877568"/>
            <a:ext cx="9963608" cy="21866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197" y="2369133"/>
            <a:ext cx="16948943" cy="536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7331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Date Format by pattern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513" y="8669713"/>
            <a:ext cx="13903427" cy="225400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5220" y="2128473"/>
            <a:ext cx="16938760" cy="576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7702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Date Format pattern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30" y="1746768"/>
            <a:ext cx="12196769" cy="103004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9388" y="3879474"/>
            <a:ext cx="9475855" cy="426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7684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System out print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6"/>
            <a:ext cx="16481424" cy="648883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ID" dirty="0" err="1"/>
              <a:t>System.out.println</a:t>
            </a:r>
            <a:r>
              <a:rPr lang="en-ID" dirty="0"/>
              <a:t>()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ID" dirty="0" err="1"/>
              <a:t>System.out.print</a:t>
            </a:r>
            <a:r>
              <a:rPr lang="en-ID" dirty="0"/>
              <a:t>()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ID" dirty="0" err="1"/>
              <a:t>System.out.printf</a:t>
            </a:r>
            <a:r>
              <a:rPr lang="en-ID" dirty="0"/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524" y="6462994"/>
            <a:ext cx="12505152" cy="459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5862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249299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Print Vietnamese language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50" y="1749742"/>
            <a:ext cx="15985490" cy="99545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96839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printf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5" y="4971683"/>
            <a:ext cx="12129110" cy="35474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525" y="2007124"/>
            <a:ext cx="15470660" cy="1056115"/>
          </a:xfrm>
          <a:prstGeom prst="rect">
            <a:avLst/>
          </a:prstGeom>
        </p:spPr>
      </p:pic>
      <p:sp>
        <p:nvSpPr>
          <p:cNvPr id="8" name="Text Placeholder 1"/>
          <p:cNvSpPr txBox="1">
            <a:spLocks/>
          </p:cNvSpPr>
          <p:nvPr/>
        </p:nvSpPr>
        <p:spPr>
          <a:xfrm>
            <a:off x="2428876" y="3878152"/>
            <a:ext cx="16481424" cy="648883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Conversion-character</a:t>
            </a:r>
          </a:p>
        </p:txBody>
      </p:sp>
    </p:spTree>
    <p:extLst>
      <p:ext uri="{BB962C8B-B14F-4D97-AF65-F5344CB8AC3E}">
        <p14:creationId xmlns:p14="http://schemas.microsoft.com/office/powerpoint/2010/main" val="30732771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String 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3004173"/>
            <a:ext cx="12673329" cy="223076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79" y="3230901"/>
            <a:ext cx="5011413" cy="18249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6359513"/>
            <a:ext cx="13356718" cy="144907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45340" y="6359513"/>
            <a:ext cx="7501443" cy="14332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3113" y="8531205"/>
            <a:ext cx="11980249" cy="116205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45340" y="8612493"/>
            <a:ext cx="6288111" cy="108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4836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Int</a:t>
            </a: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 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2215506"/>
            <a:ext cx="14030794" cy="11449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6752" y="2215506"/>
            <a:ext cx="7027857" cy="102489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455" y="3918573"/>
            <a:ext cx="13073498" cy="147638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06752" y="4170413"/>
            <a:ext cx="2429343" cy="122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2578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Float 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969762"/>
            <a:ext cx="12566620" cy="120777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3640" y="2011673"/>
            <a:ext cx="4825386" cy="11658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" y="3955090"/>
            <a:ext cx="13147756" cy="11467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66062" y="3955090"/>
            <a:ext cx="3596638" cy="131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549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Date </a:t>
            </a: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11082" y="4462493"/>
            <a:ext cx="109520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https://www.baeldung.com/java-printstream-printf#time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9202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Random number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6"/>
            <a:ext cx="16481424" cy="648883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Methods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ID" dirty="0"/>
              <a:t> </a:t>
            </a:r>
            <a:r>
              <a:rPr lang="en-ID" dirty="0" err="1"/>
              <a:t>nextInt</a:t>
            </a:r>
            <a:r>
              <a:rPr lang="en-ID" dirty="0"/>
              <a:t>()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ID" dirty="0"/>
              <a:t> </a:t>
            </a:r>
            <a:r>
              <a:rPr lang="en-ID" dirty="0" err="1"/>
              <a:t>nextInt</a:t>
            </a:r>
            <a:r>
              <a:rPr lang="en-ID" dirty="0"/>
              <a:t>(n)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ID" dirty="0"/>
              <a:t> Random Date</a:t>
            </a:r>
          </a:p>
        </p:txBody>
      </p:sp>
    </p:spTree>
    <p:extLst>
      <p:ext uri="{BB962C8B-B14F-4D97-AF65-F5344CB8AC3E}">
        <p14:creationId xmlns:p14="http://schemas.microsoft.com/office/powerpoint/2010/main" val="4456867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76" y="3902685"/>
            <a:ext cx="9834963" cy="28265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560" y="1883962"/>
            <a:ext cx="10836360" cy="1042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3442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Random Date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1471" y="7175590"/>
            <a:ext cx="8770069" cy="185355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60" y="2697480"/>
            <a:ext cx="14044549" cy="81610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7540" y="2033620"/>
            <a:ext cx="13133227" cy="185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4904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Input from console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6"/>
            <a:ext cx="16481424" cy="1243243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US" b="1" dirty="0"/>
              <a:t>Scanner Object </a:t>
            </a:r>
            <a:r>
              <a:rPr lang="en-US" dirty="0"/>
              <a:t>allows input from the keyboard as </a:t>
            </a:r>
            <a:r>
              <a:rPr lang="en-US" dirty="0" err="1"/>
              <a:t>Int</a:t>
            </a:r>
            <a:r>
              <a:rPr lang="en-US" dirty="0"/>
              <a:t>, Long, Double, String, Float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Scanner’s Methods</a:t>
            </a:r>
          </a:p>
          <a:p>
            <a:pPr lvl="1" hangingPunct="1">
              <a:buFont typeface="Wingdings" panose="05000000000000000000" pitchFamily="2" charset="2"/>
              <a:buChar char="§"/>
            </a:pPr>
            <a:r>
              <a:rPr lang="en-ID" dirty="0"/>
              <a:t>String </a:t>
            </a:r>
            <a:r>
              <a:rPr lang="en-ID" dirty="0" err="1"/>
              <a:t>nextLine</a:t>
            </a:r>
            <a:r>
              <a:rPr lang="en-ID" dirty="0"/>
              <a:t>()</a:t>
            </a:r>
          </a:p>
          <a:p>
            <a:pPr lvl="1" hangingPunct="1">
              <a:buFont typeface="Wingdings" panose="05000000000000000000" pitchFamily="2" charset="2"/>
              <a:buChar char="§"/>
            </a:pPr>
            <a:r>
              <a:rPr lang="en-ID" dirty="0" err="1"/>
              <a:t>int</a:t>
            </a:r>
            <a:r>
              <a:rPr lang="en-ID" dirty="0"/>
              <a:t> </a:t>
            </a:r>
            <a:r>
              <a:rPr lang="en-ID" dirty="0" err="1"/>
              <a:t>nextInt</a:t>
            </a:r>
            <a:r>
              <a:rPr lang="en-ID" dirty="0"/>
              <a:t>()</a:t>
            </a:r>
          </a:p>
          <a:p>
            <a:pPr lvl="1" hangingPunct="1">
              <a:buFont typeface="Wingdings" panose="05000000000000000000" pitchFamily="2" charset="2"/>
              <a:buChar char="§"/>
            </a:pPr>
            <a:r>
              <a:rPr lang="en-US" dirty="0" err="1"/>
              <a:t>hasNextInt</a:t>
            </a:r>
            <a:r>
              <a:rPr lang="en-US" dirty="0"/>
              <a:t>()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808253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000" y="4108301"/>
            <a:ext cx="7083421" cy="353483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56" y="1982968"/>
            <a:ext cx="13745344" cy="1030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2385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2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3254" y="2788437"/>
            <a:ext cx="8064489" cy="20559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3254" y="5609714"/>
            <a:ext cx="7543554" cy="223077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88" y="1971473"/>
            <a:ext cx="13650814" cy="936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3032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Convert String to Date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327" y="1897380"/>
            <a:ext cx="14030873" cy="664778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202" y="9250333"/>
            <a:ext cx="12425822" cy="208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1218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Method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035" y="2957510"/>
            <a:ext cx="11309620" cy="670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2035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Method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795" y="2908178"/>
            <a:ext cx="8844610" cy="652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8481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98869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Method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997" y="2869508"/>
            <a:ext cx="11624205" cy="755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938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21497</TotalTime>
  <Words>411</Words>
  <Application>Microsoft Office PowerPoint</Application>
  <PresentationFormat>Custom</PresentationFormat>
  <Paragraphs>104</Paragraphs>
  <Slides>50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9" baseType="lpstr">
      <vt:lpstr>Meiryo</vt:lpstr>
      <vt:lpstr>Arial (Body)</vt:lpstr>
      <vt:lpstr>Calibri</vt:lpstr>
      <vt:lpstr>Courier New</vt:lpstr>
      <vt:lpstr>Helvetica Neue</vt:lpstr>
      <vt:lpstr>Helvetica Neue Light</vt:lpstr>
      <vt:lpstr>Helvetica Neue Medium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1740</cp:revision>
  <cp:lastPrinted>2019-09-17T11:00:25Z</cp:lastPrinted>
  <dcterms:modified xsi:type="dcterms:W3CDTF">2024-01-15T01:37:07Z</dcterms:modified>
  <cp:category/>
</cp:coreProperties>
</file>