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embeddedFontLst>
    <p:embeddedFont>
      <p:font typeface="Tahoma"/>
      <p:regular r:id="rId18"/>
      <p:bold r:id="rId19"/>
    </p:embeddedFont>
    <p:embeddedFont>
      <p:font typeface="Helvetica Neue"/>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4" roundtripDataSignature="AMtx7mjIUz3/2VMSTuxHqVVCxhfGpGaP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HelveticaNeue-regular.fntdata"/><Relationship Id="rId11" Type="http://schemas.openxmlformats.org/officeDocument/2006/relationships/slide" Target="slides/slide6.xml"/><Relationship Id="rId22" Type="http://schemas.openxmlformats.org/officeDocument/2006/relationships/font" Target="fonts/HelveticaNeue-italic.fntdata"/><Relationship Id="rId10" Type="http://schemas.openxmlformats.org/officeDocument/2006/relationships/slide" Target="slides/slide5.xml"/><Relationship Id="rId21" Type="http://schemas.openxmlformats.org/officeDocument/2006/relationships/font" Target="fonts/HelveticaNeue-bold.fntdata"/><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font" Target="fonts/HelveticaNeue-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Tahoma-bold.fntdata"/><Relationship Id="rId6" Type="http://schemas.openxmlformats.org/officeDocument/2006/relationships/slide" Target="slides/slide1.xml"/><Relationship Id="rId18" Type="http://schemas.openxmlformats.org/officeDocument/2006/relationships/font" Target="fonts/Tahoma-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7" name="Google Shape;57;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Thực hành trên project quản lý nhân viên từ học phần trước (quản lý account, department), sẽ export file jar từ project, kết hợp với sql schema để thực hành triển khai ứng dụng thực tế bao gồm backend và database</a:t>
            </a:r>
            <a:endParaRPr/>
          </a:p>
        </p:txBody>
      </p:sp>
      <p:sp>
        <p:nvSpPr>
          <p:cNvPr id="58" name="Google Shape;58;p2: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65" name="Google Shape;6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66" name="Google Shape;66;p3:notes"/>
          <p:cNvSpPr txBox="1"/>
          <p:nvPr>
            <p:ph idx="1" type="body"/>
          </p:nvPr>
        </p:nvSpPr>
        <p:spPr>
          <a:xfrm>
            <a:off x="685800" y="4343400"/>
            <a:ext cx="5486400" cy="4114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a:p>
            <a:pPr indent="0" lvl="0" marL="0" rtl="0" algn="l">
              <a:spcBef>
                <a:spcPts val="360"/>
              </a:spcBef>
              <a:spcAft>
                <a:spcPts val="0"/>
              </a:spcAft>
              <a:buNone/>
            </a:pPr>
            <a:r>
              <a:rPr lang="en-US"/>
              <a:t>Mô tả 1 số mô hình triển khai ứng dụng phổ biến:</a:t>
            </a:r>
            <a:endParaRPr/>
          </a:p>
          <a:p>
            <a:pPr indent="-317500" lvl="0" marL="457200" rtl="0" algn="l">
              <a:spcBef>
                <a:spcPts val="360"/>
              </a:spcBef>
              <a:spcAft>
                <a:spcPts val="0"/>
              </a:spcAft>
              <a:buSzPts val="1400"/>
              <a:buChar char="-"/>
            </a:pPr>
            <a:r>
              <a:rPr lang="en-US"/>
              <a:t>Từ đơn giản: như các ứng dụng 3 tier, lấy ví dụ cho học viên hiểu là phần học viên code ở học phần trước đóng vai trò Application tier, thành phần dữ liệu là Data tier. Lấy ví dụ trong thực tế các thành phần này sẽ triển khai ở các máy chủ khác nhau.</a:t>
            </a:r>
            <a:endParaRPr/>
          </a:p>
          <a:p>
            <a:pPr indent="-317500" lvl="0" marL="457200" rtl="0" algn="l">
              <a:spcBef>
                <a:spcPts val="0"/>
              </a:spcBef>
              <a:spcAft>
                <a:spcPts val="0"/>
              </a:spcAft>
              <a:buSzPts val="1400"/>
              <a:buChar char="-"/>
            </a:pPr>
            <a:r>
              <a:rPr lang="en-US"/>
              <a:t>Đến phức tạp: Mô tả sơ qua về mô hình phức tạp hơn, microservice. Không cần đi qúa sâu.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75" name="Google Shape;7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76" name="Google Shape;76;p4:notes"/>
          <p:cNvSpPr txBox="1"/>
          <p:nvPr>
            <p:ph idx="1" type="body"/>
          </p:nvPr>
        </p:nvSpPr>
        <p:spPr>
          <a:xfrm>
            <a:off x="685800" y="4343400"/>
            <a:ext cx="5486400" cy="4114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lnSpc>
                <a:spcPct val="115000"/>
              </a:lnSpc>
              <a:spcBef>
                <a:spcPts val="1400"/>
              </a:spcBef>
              <a:spcAft>
                <a:spcPts val="0"/>
              </a:spcAft>
              <a:buSzPts val="1100"/>
              <a:buNone/>
            </a:pPr>
            <a:r>
              <a:rPr b="1" lang="en-US" sz="1300"/>
              <a:t>Giải thích ý nghĩa từng yêu cầu, nhấn mạnh trong bài này sẽ đi sâu thực hành vào 4 yêu cầu đầu tiên</a:t>
            </a:r>
            <a:endParaRPr b="1" sz="1300"/>
          </a:p>
          <a:p>
            <a:pPr indent="0" lvl="0" marL="0" rtl="0" algn="l">
              <a:lnSpc>
                <a:spcPct val="115000"/>
              </a:lnSpc>
              <a:spcBef>
                <a:spcPts val="1400"/>
              </a:spcBef>
              <a:spcAft>
                <a:spcPts val="0"/>
              </a:spcAft>
              <a:buSzPts val="1100"/>
              <a:buNone/>
            </a:pPr>
            <a:r>
              <a:t/>
            </a:r>
            <a:endParaRPr b="1" sz="1300"/>
          </a:p>
          <a:p>
            <a:pPr indent="0" lvl="0" marL="0" rtl="0" algn="l">
              <a:lnSpc>
                <a:spcPct val="115000"/>
              </a:lnSpc>
              <a:spcBef>
                <a:spcPts val="1400"/>
              </a:spcBef>
              <a:spcAft>
                <a:spcPts val="0"/>
              </a:spcAft>
              <a:buClr>
                <a:schemeClr val="dk1"/>
              </a:buClr>
              <a:buSzPts val="1100"/>
              <a:buFont typeface="Arial"/>
              <a:buNone/>
            </a:pPr>
            <a:r>
              <a:rPr b="1" lang="en-US" sz="1300"/>
              <a:t>1. Phân quyền truy cập Database chính xác</a:t>
            </a:r>
            <a:endParaRPr b="1" sz="1300"/>
          </a:p>
          <a:p>
            <a:pPr indent="-298450" lvl="0" marL="457200" rtl="0" algn="l">
              <a:lnSpc>
                <a:spcPct val="115000"/>
              </a:lnSpc>
              <a:spcBef>
                <a:spcPts val="1200"/>
              </a:spcBef>
              <a:spcAft>
                <a:spcPts val="0"/>
              </a:spcAft>
              <a:buClr>
                <a:schemeClr val="dk1"/>
              </a:buClr>
              <a:buSzPts val="1100"/>
              <a:buChar char="●"/>
            </a:pPr>
            <a:r>
              <a:rPr b="1" lang="en-US" sz="1100"/>
              <a:t>Ý nghĩa:</a:t>
            </a:r>
            <a:r>
              <a:rPr lang="en-US" sz="1100"/>
              <a:t> Đảm bảo chỉ những tài khoản hoặc dịch vụ được phép mới có thể truy cập các dữ liệu cần thiết trong cơ sở dữ liệu.</a:t>
            </a:r>
            <a:endParaRPr sz="1100"/>
          </a:p>
          <a:p>
            <a:pPr indent="-298450" lvl="0" marL="457200" rtl="0" algn="l">
              <a:lnSpc>
                <a:spcPct val="115000"/>
              </a:lnSpc>
              <a:spcBef>
                <a:spcPts val="0"/>
              </a:spcBef>
              <a:spcAft>
                <a:spcPts val="0"/>
              </a:spcAft>
              <a:buClr>
                <a:schemeClr val="dk1"/>
              </a:buClr>
              <a:buSzPts val="1100"/>
              <a:buChar char="●"/>
            </a:pPr>
            <a:r>
              <a:rPr b="1" lang="en-US" sz="1100"/>
              <a:t>Tác dụng:</a:t>
            </a:r>
            <a:endParaRPr b="1" sz="1100"/>
          </a:p>
          <a:p>
            <a:pPr indent="-298450" lvl="1" marL="914400" rtl="0" algn="l">
              <a:lnSpc>
                <a:spcPct val="115000"/>
              </a:lnSpc>
              <a:spcBef>
                <a:spcPts val="0"/>
              </a:spcBef>
              <a:spcAft>
                <a:spcPts val="0"/>
              </a:spcAft>
              <a:buClr>
                <a:schemeClr val="dk1"/>
              </a:buClr>
              <a:buSzPts val="1100"/>
              <a:buChar char="○"/>
            </a:pPr>
            <a:r>
              <a:rPr lang="en-US" sz="1100"/>
              <a:t>Ngăn chặn truy cập trái phép vào dữ liệu quan trọng.</a:t>
            </a:r>
            <a:endParaRPr sz="1100"/>
          </a:p>
          <a:p>
            <a:pPr indent="-298450" lvl="1" marL="914400" rtl="0" algn="l">
              <a:lnSpc>
                <a:spcPct val="115000"/>
              </a:lnSpc>
              <a:spcBef>
                <a:spcPts val="0"/>
              </a:spcBef>
              <a:spcAft>
                <a:spcPts val="0"/>
              </a:spcAft>
              <a:buClr>
                <a:schemeClr val="dk1"/>
              </a:buClr>
              <a:buSzPts val="1100"/>
              <a:buChar char="○"/>
            </a:pPr>
            <a:r>
              <a:rPr lang="en-US" sz="1100"/>
              <a:t>Giảm nguy cơ rò rỉ dữ liệu hoặc thao tác sai làm hỏng dữ liệu.</a:t>
            </a:r>
            <a:endParaRPr sz="1100"/>
          </a:p>
          <a:p>
            <a:pPr indent="-298450" lvl="1" marL="914400" rtl="0" algn="l">
              <a:lnSpc>
                <a:spcPct val="115000"/>
              </a:lnSpc>
              <a:spcBef>
                <a:spcPts val="0"/>
              </a:spcBef>
              <a:spcAft>
                <a:spcPts val="0"/>
              </a:spcAft>
              <a:buClr>
                <a:schemeClr val="dk1"/>
              </a:buClr>
              <a:buSzPts val="1100"/>
              <a:buChar char="○"/>
            </a:pPr>
            <a:r>
              <a:rPr lang="en-US" sz="1100"/>
              <a:t>Dễ dàng kiểm soát và theo dõi quyền truy cập của từng thành phần trong hệ thống.</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lnSpc>
                <a:spcPct val="115000"/>
              </a:lnSpc>
              <a:spcBef>
                <a:spcPts val="1400"/>
              </a:spcBef>
              <a:spcAft>
                <a:spcPts val="0"/>
              </a:spcAft>
              <a:buClr>
                <a:schemeClr val="dk1"/>
              </a:buClr>
              <a:buSzPts val="1100"/>
              <a:buFont typeface="Arial"/>
              <a:buNone/>
            </a:pPr>
            <a:r>
              <a:rPr b="1" lang="en-US" sz="1300"/>
              <a:t>2. Backup dữ liệu thường xuyên</a:t>
            </a:r>
            <a:endParaRPr b="1" sz="1300"/>
          </a:p>
          <a:p>
            <a:pPr indent="-298450" lvl="0" marL="457200" rtl="0" algn="l">
              <a:lnSpc>
                <a:spcPct val="115000"/>
              </a:lnSpc>
              <a:spcBef>
                <a:spcPts val="1200"/>
              </a:spcBef>
              <a:spcAft>
                <a:spcPts val="0"/>
              </a:spcAft>
              <a:buClr>
                <a:schemeClr val="dk1"/>
              </a:buClr>
              <a:buSzPts val="1100"/>
              <a:buChar char="●"/>
            </a:pPr>
            <a:r>
              <a:rPr b="1" lang="en-US" sz="1100"/>
              <a:t>Ý nghĩa:</a:t>
            </a:r>
            <a:r>
              <a:rPr lang="en-US" sz="1100"/>
              <a:t> Thiết lập cơ chế sao lưu dữ liệu định kỳ để bảo vệ dữ liệu quan trọng trước các sự cố như lỗi phần cứng, phần mềm, hoặc tấn công mạng.</a:t>
            </a:r>
            <a:endParaRPr sz="1100"/>
          </a:p>
          <a:p>
            <a:pPr indent="-298450" lvl="0" marL="457200" rtl="0" algn="l">
              <a:lnSpc>
                <a:spcPct val="115000"/>
              </a:lnSpc>
              <a:spcBef>
                <a:spcPts val="0"/>
              </a:spcBef>
              <a:spcAft>
                <a:spcPts val="0"/>
              </a:spcAft>
              <a:buClr>
                <a:schemeClr val="dk1"/>
              </a:buClr>
              <a:buSzPts val="1100"/>
              <a:buChar char="●"/>
            </a:pPr>
            <a:r>
              <a:rPr b="1" lang="en-US" sz="1100"/>
              <a:t>Tác dụng:</a:t>
            </a:r>
            <a:endParaRPr b="1" sz="1100"/>
          </a:p>
          <a:p>
            <a:pPr indent="-298450" lvl="1" marL="914400" rtl="0" algn="l">
              <a:lnSpc>
                <a:spcPct val="115000"/>
              </a:lnSpc>
              <a:spcBef>
                <a:spcPts val="0"/>
              </a:spcBef>
              <a:spcAft>
                <a:spcPts val="0"/>
              </a:spcAft>
              <a:buClr>
                <a:schemeClr val="dk1"/>
              </a:buClr>
              <a:buSzPts val="1100"/>
              <a:buChar char="○"/>
            </a:pPr>
            <a:r>
              <a:rPr lang="en-US" sz="1100"/>
              <a:t>Đảm bảo khả năng phục hồi dữ liệu trong trường hợp xảy ra sự cố.</a:t>
            </a:r>
            <a:endParaRPr sz="1100"/>
          </a:p>
          <a:p>
            <a:pPr indent="-298450" lvl="1" marL="914400" rtl="0" algn="l">
              <a:lnSpc>
                <a:spcPct val="115000"/>
              </a:lnSpc>
              <a:spcBef>
                <a:spcPts val="0"/>
              </a:spcBef>
              <a:spcAft>
                <a:spcPts val="0"/>
              </a:spcAft>
              <a:buClr>
                <a:schemeClr val="dk1"/>
              </a:buClr>
              <a:buSzPts val="1100"/>
              <a:buChar char="○"/>
            </a:pPr>
            <a:r>
              <a:rPr lang="en-US" sz="1100"/>
              <a:t>Tăng độ tin cậy và tính liên tục của dịch vụ.</a:t>
            </a:r>
            <a:endParaRPr sz="1100"/>
          </a:p>
          <a:p>
            <a:pPr indent="-298450" lvl="1" marL="914400" rtl="0" algn="l">
              <a:lnSpc>
                <a:spcPct val="115000"/>
              </a:lnSpc>
              <a:spcBef>
                <a:spcPts val="0"/>
              </a:spcBef>
              <a:spcAft>
                <a:spcPts val="0"/>
              </a:spcAft>
              <a:buClr>
                <a:schemeClr val="dk1"/>
              </a:buClr>
              <a:buSzPts val="1100"/>
              <a:buChar char="○"/>
            </a:pPr>
            <a:r>
              <a:rPr lang="en-US" sz="1100"/>
              <a:t>Đáp ứng yêu cầu bảo mật và tuân thủ các tiêu chuẩn (nếu cần).</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lnSpc>
                <a:spcPct val="115000"/>
              </a:lnSpc>
              <a:spcBef>
                <a:spcPts val="1400"/>
              </a:spcBef>
              <a:spcAft>
                <a:spcPts val="0"/>
              </a:spcAft>
              <a:buClr>
                <a:schemeClr val="dk1"/>
              </a:buClr>
              <a:buSzPts val="1100"/>
              <a:buFont typeface="Arial"/>
              <a:buNone/>
            </a:pPr>
            <a:r>
              <a:rPr b="1" lang="en-US" sz="1300"/>
              <a:t>3. Ứng dụng được đóng gói dưới dạng dịch vụ (Service)</a:t>
            </a:r>
            <a:endParaRPr b="1" sz="1300"/>
          </a:p>
          <a:p>
            <a:pPr indent="-298450" lvl="0" marL="457200" rtl="0" algn="l">
              <a:lnSpc>
                <a:spcPct val="115000"/>
              </a:lnSpc>
              <a:spcBef>
                <a:spcPts val="1200"/>
              </a:spcBef>
              <a:spcAft>
                <a:spcPts val="0"/>
              </a:spcAft>
              <a:buClr>
                <a:schemeClr val="dk1"/>
              </a:buClr>
              <a:buSzPts val="1100"/>
              <a:buChar char="●"/>
            </a:pPr>
            <a:r>
              <a:rPr b="1" lang="en-US" sz="1100"/>
              <a:t>Ý nghĩa:</a:t>
            </a:r>
            <a:r>
              <a:rPr lang="en-US" sz="1100"/>
              <a:t> Triển khai ứng dụng dưới dạng dịch vụ (ví dụ: systemd trên Linux hoặc container hóa) để dễ dàng quản lý vòng đời ứng dụng.</a:t>
            </a:r>
            <a:endParaRPr sz="1100"/>
          </a:p>
          <a:p>
            <a:pPr indent="-298450" lvl="0" marL="457200" rtl="0" algn="l">
              <a:lnSpc>
                <a:spcPct val="115000"/>
              </a:lnSpc>
              <a:spcBef>
                <a:spcPts val="0"/>
              </a:spcBef>
              <a:spcAft>
                <a:spcPts val="0"/>
              </a:spcAft>
              <a:buClr>
                <a:schemeClr val="dk1"/>
              </a:buClr>
              <a:buSzPts val="1100"/>
              <a:buChar char="●"/>
            </a:pPr>
            <a:r>
              <a:rPr b="1" lang="en-US" sz="1100"/>
              <a:t>Tác dụng:</a:t>
            </a:r>
            <a:endParaRPr b="1" sz="1100"/>
          </a:p>
          <a:p>
            <a:pPr indent="-298450" lvl="1" marL="914400" rtl="0" algn="l">
              <a:lnSpc>
                <a:spcPct val="115000"/>
              </a:lnSpc>
              <a:spcBef>
                <a:spcPts val="0"/>
              </a:spcBef>
              <a:spcAft>
                <a:spcPts val="0"/>
              </a:spcAft>
              <a:buClr>
                <a:schemeClr val="dk1"/>
              </a:buClr>
              <a:buSzPts val="1100"/>
              <a:buChar char="○"/>
            </a:pPr>
            <a:r>
              <a:rPr lang="en-US" sz="1100"/>
              <a:t>Dễ dàng khởi động, dừng hoặc khởi động lại ứng dụng khi cần thiết.</a:t>
            </a:r>
            <a:endParaRPr sz="1100"/>
          </a:p>
          <a:p>
            <a:pPr indent="-298450" lvl="1" marL="914400" rtl="0" algn="l">
              <a:lnSpc>
                <a:spcPct val="115000"/>
              </a:lnSpc>
              <a:spcBef>
                <a:spcPts val="0"/>
              </a:spcBef>
              <a:spcAft>
                <a:spcPts val="0"/>
              </a:spcAft>
              <a:buClr>
                <a:schemeClr val="dk1"/>
              </a:buClr>
              <a:buSzPts val="1100"/>
              <a:buChar char="○"/>
            </a:pPr>
            <a:r>
              <a:rPr lang="en-US" sz="1100"/>
              <a:t>Tích hợp tốt với các công cụ giám sát và tự động hóa quản lý hệ thống.</a:t>
            </a:r>
            <a:endParaRPr sz="1100"/>
          </a:p>
          <a:p>
            <a:pPr indent="-298450" lvl="1" marL="914400" rtl="0" algn="l">
              <a:lnSpc>
                <a:spcPct val="115000"/>
              </a:lnSpc>
              <a:spcBef>
                <a:spcPts val="0"/>
              </a:spcBef>
              <a:spcAft>
                <a:spcPts val="0"/>
              </a:spcAft>
              <a:buClr>
                <a:schemeClr val="dk1"/>
              </a:buClr>
              <a:buSzPts val="1100"/>
              <a:buChar char="○"/>
            </a:pPr>
            <a:r>
              <a:rPr lang="en-US" sz="1100"/>
              <a:t>Đảm bảo ứng dụng luôn ở trạng thái sẵn sàng hoạt động.</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lnSpc>
                <a:spcPct val="115000"/>
              </a:lnSpc>
              <a:spcBef>
                <a:spcPts val="1400"/>
              </a:spcBef>
              <a:spcAft>
                <a:spcPts val="0"/>
              </a:spcAft>
              <a:buClr>
                <a:schemeClr val="dk1"/>
              </a:buClr>
              <a:buSzPts val="1100"/>
              <a:buFont typeface="Arial"/>
              <a:buNone/>
            </a:pPr>
            <a:r>
              <a:rPr b="1" lang="en-US" sz="1300"/>
              <a:t>4. Tự động chạy khi server khởi động lại</a:t>
            </a:r>
            <a:endParaRPr b="1" sz="1300"/>
          </a:p>
          <a:p>
            <a:pPr indent="-298450" lvl="0" marL="457200" rtl="0" algn="l">
              <a:lnSpc>
                <a:spcPct val="115000"/>
              </a:lnSpc>
              <a:spcBef>
                <a:spcPts val="1200"/>
              </a:spcBef>
              <a:spcAft>
                <a:spcPts val="0"/>
              </a:spcAft>
              <a:buClr>
                <a:schemeClr val="dk1"/>
              </a:buClr>
              <a:buSzPts val="1100"/>
              <a:buChar char="●"/>
            </a:pPr>
            <a:r>
              <a:rPr b="1" lang="en-US" sz="1100"/>
              <a:t>Ý nghĩa:</a:t>
            </a:r>
            <a:r>
              <a:rPr lang="en-US" sz="1100"/>
              <a:t> Cấu hình ứng dụng để tự khởi động khi server hoặc hệ thống được restart.</a:t>
            </a:r>
            <a:endParaRPr sz="1100"/>
          </a:p>
          <a:p>
            <a:pPr indent="-298450" lvl="0" marL="457200" rtl="0" algn="l">
              <a:lnSpc>
                <a:spcPct val="115000"/>
              </a:lnSpc>
              <a:spcBef>
                <a:spcPts val="0"/>
              </a:spcBef>
              <a:spcAft>
                <a:spcPts val="0"/>
              </a:spcAft>
              <a:buClr>
                <a:schemeClr val="dk1"/>
              </a:buClr>
              <a:buSzPts val="1100"/>
              <a:buChar char="●"/>
            </a:pPr>
            <a:r>
              <a:rPr b="1" lang="en-US" sz="1100"/>
              <a:t>Tác dụng:</a:t>
            </a:r>
            <a:endParaRPr b="1" sz="1100"/>
          </a:p>
          <a:p>
            <a:pPr indent="-298450" lvl="1" marL="914400" rtl="0" algn="l">
              <a:lnSpc>
                <a:spcPct val="115000"/>
              </a:lnSpc>
              <a:spcBef>
                <a:spcPts val="0"/>
              </a:spcBef>
              <a:spcAft>
                <a:spcPts val="0"/>
              </a:spcAft>
              <a:buClr>
                <a:schemeClr val="dk1"/>
              </a:buClr>
              <a:buSzPts val="1100"/>
              <a:buChar char="○"/>
            </a:pPr>
            <a:r>
              <a:rPr lang="en-US" sz="1100"/>
              <a:t>Tăng khả năng sẵn sàng của hệ thống mà không cần sự can thiệp thủ công.</a:t>
            </a:r>
            <a:endParaRPr sz="1100"/>
          </a:p>
          <a:p>
            <a:pPr indent="-298450" lvl="1" marL="914400" rtl="0" algn="l">
              <a:lnSpc>
                <a:spcPct val="115000"/>
              </a:lnSpc>
              <a:spcBef>
                <a:spcPts val="0"/>
              </a:spcBef>
              <a:spcAft>
                <a:spcPts val="0"/>
              </a:spcAft>
              <a:buClr>
                <a:schemeClr val="dk1"/>
              </a:buClr>
              <a:buSzPts val="1100"/>
              <a:buChar char="○"/>
            </a:pPr>
            <a:r>
              <a:rPr lang="en-US" sz="1100"/>
              <a:t>Giảm thiểu thời gian gián đoạn dịch vụ do quá trình khởi động lại hệ thống.</a:t>
            </a:r>
            <a:endParaRPr sz="1100"/>
          </a:p>
          <a:p>
            <a:pPr indent="-298450" lvl="1" marL="914400" rtl="0" algn="l">
              <a:lnSpc>
                <a:spcPct val="115000"/>
              </a:lnSpc>
              <a:spcBef>
                <a:spcPts val="0"/>
              </a:spcBef>
              <a:spcAft>
                <a:spcPts val="0"/>
              </a:spcAft>
              <a:buClr>
                <a:schemeClr val="dk1"/>
              </a:buClr>
              <a:buSzPts val="1100"/>
              <a:buChar char="○"/>
            </a:pPr>
            <a:r>
              <a:rPr lang="en-US" sz="1100"/>
              <a:t>Tối ưu hóa quản lý vận hành trong môi trường production.</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lnSpc>
                <a:spcPct val="115000"/>
              </a:lnSpc>
              <a:spcBef>
                <a:spcPts val="1400"/>
              </a:spcBef>
              <a:spcAft>
                <a:spcPts val="0"/>
              </a:spcAft>
              <a:buClr>
                <a:schemeClr val="dk1"/>
              </a:buClr>
              <a:buSzPts val="1100"/>
              <a:buFont typeface="Arial"/>
              <a:buNone/>
            </a:pPr>
            <a:r>
              <a:rPr b="1" lang="en-US" sz="1300"/>
              <a:t>5. Giám sát và ghi log chi tiết</a:t>
            </a:r>
            <a:endParaRPr b="1" sz="1300"/>
          </a:p>
          <a:p>
            <a:pPr indent="-298450" lvl="0" marL="457200" rtl="0" algn="l">
              <a:lnSpc>
                <a:spcPct val="115000"/>
              </a:lnSpc>
              <a:spcBef>
                <a:spcPts val="1200"/>
              </a:spcBef>
              <a:spcAft>
                <a:spcPts val="0"/>
              </a:spcAft>
              <a:buClr>
                <a:schemeClr val="dk1"/>
              </a:buClr>
              <a:buSzPts val="1100"/>
              <a:buChar char="●"/>
            </a:pPr>
            <a:r>
              <a:rPr b="1" lang="en-US" sz="1100"/>
              <a:t>Ý nghĩa:</a:t>
            </a:r>
            <a:r>
              <a:rPr lang="en-US" sz="1100"/>
              <a:t> Cấu hình hệ thống để ghi lại toàn bộ log ứng dụng và giám sát hoạt động thông qua các công cụ phù hợp.</a:t>
            </a:r>
            <a:endParaRPr sz="1100"/>
          </a:p>
          <a:p>
            <a:pPr indent="-298450" lvl="0" marL="457200" rtl="0" algn="l">
              <a:lnSpc>
                <a:spcPct val="115000"/>
              </a:lnSpc>
              <a:spcBef>
                <a:spcPts val="0"/>
              </a:spcBef>
              <a:spcAft>
                <a:spcPts val="0"/>
              </a:spcAft>
              <a:buClr>
                <a:schemeClr val="dk1"/>
              </a:buClr>
              <a:buSzPts val="1100"/>
              <a:buChar char="●"/>
            </a:pPr>
            <a:r>
              <a:rPr b="1" lang="en-US" sz="1100"/>
              <a:t>Tác dụng:</a:t>
            </a:r>
            <a:endParaRPr b="1" sz="1100"/>
          </a:p>
          <a:p>
            <a:pPr indent="-298450" lvl="1" marL="914400" rtl="0" algn="l">
              <a:lnSpc>
                <a:spcPct val="115000"/>
              </a:lnSpc>
              <a:spcBef>
                <a:spcPts val="0"/>
              </a:spcBef>
              <a:spcAft>
                <a:spcPts val="0"/>
              </a:spcAft>
              <a:buClr>
                <a:schemeClr val="dk1"/>
              </a:buClr>
              <a:buSzPts val="1100"/>
              <a:buChar char="○"/>
            </a:pPr>
            <a:r>
              <a:rPr lang="en-US" sz="1100"/>
              <a:t>Phát hiện sớm các sự cố và xử lý nhanh chóng.</a:t>
            </a:r>
            <a:endParaRPr sz="1100"/>
          </a:p>
          <a:p>
            <a:pPr indent="-298450" lvl="1" marL="914400" rtl="0" algn="l">
              <a:lnSpc>
                <a:spcPct val="115000"/>
              </a:lnSpc>
              <a:spcBef>
                <a:spcPts val="0"/>
              </a:spcBef>
              <a:spcAft>
                <a:spcPts val="0"/>
              </a:spcAft>
              <a:buClr>
                <a:schemeClr val="dk1"/>
              </a:buClr>
              <a:buSzPts val="1100"/>
              <a:buChar char="○"/>
            </a:pPr>
            <a:r>
              <a:rPr lang="en-US" sz="1100"/>
              <a:t>Hỗ trợ phân tích nguyên nhân khi xảy ra lỗi hoặc sự cố.</a:t>
            </a:r>
            <a:endParaRPr sz="1100"/>
          </a:p>
          <a:p>
            <a:pPr indent="-298450" lvl="1" marL="914400" rtl="0" algn="l">
              <a:lnSpc>
                <a:spcPct val="115000"/>
              </a:lnSpc>
              <a:spcBef>
                <a:spcPts val="0"/>
              </a:spcBef>
              <a:spcAft>
                <a:spcPts val="0"/>
              </a:spcAft>
              <a:buClr>
                <a:schemeClr val="dk1"/>
              </a:buClr>
              <a:buSzPts val="1100"/>
              <a:buChar char="○"/>
            </a:pPr>
            <a:r>
              <a:rPr lang="en-US" sz="1100"/>
              <a:t>Cung cấp dữ liệu để cải thiện hiệu suất và tối ưu hóa hệ thống.</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lnSpc>
                <a:spcPct val="115000"/>
              </a:lnSpc>
              <a:spcBef>
                <a:spcPts val="1400"/>
              </a:spcBef>
              <a:spcAft>
                <a:spcPts val="0"/>
              </a:spcAft>
              <a:buClr>
                <a:schemeClr val="dk1"/>
              </a:buClr>
              <a:buSzPts val="1100"/>
              <a:buFont typeface="Arial"/>
              <a:buNone/>
            </a:pPr>
            <a:r>
              <a:rPr b="1" lang="en-US" sz="1300"/>
              <a:t>6. Cơ chế bảo mật mạnh mẽ</a:t>
            </a:r>
            <a:endParaRPr b="1" sz="1300"/>
          </a:p>
          <a:p>
            <a:pPr indent="-298450" lvl="0" marL="457200" rtl="0" algn="l">
              <a:lnSpc>
                <a:spcPct val="115000"/>
              </a:lnSpc>
              <a:spcBef>
                <a:spcPts val="1200"/>
              </a:spcBef>
              <a:spcAft>
                <a:spcPts val="0"/>
              </a:spcAft>
              <a:buClr>
                <a:schemeClr val="dk1"/>
              </a:buClr>
              <a:buSzPts val="1100"/>
              <a:buChar char="●"/>
            </a:pPr>
            <a:r>
              <a:rPr b="1" lang="en-US" sz="1100"/>
              <a:t>Ý nghĩa:</a:t>
            </a:r>
            <a:r>
              <a:rPr lang="en-US" sz="1100"/>
              <a:t> Đảm bảo ứng dụng được triển khai với các cơ chế bảo mật như HTTPS, thiết lập  firewall, và cập nhật thường xuyên để tránh lỗ hổng bảo mật.</a:t>
            </a:r>
            <a:endParaRPr sz="1100"/>
          </a:p>
          <a:p>
            <a:pPr indent="-298450" lvl="0" marL="457200" rtl="0" algn="l">
              <a:lnSpc>
                <a:spcPct val="115000"/>
              </a:lnSpc>
              <a:spcBef>
                <a:spcPts val="0"/>
              </a:spcBef>
              <a:spcAft>
                <a:spcPts val="0"/>
              </a:spcAft>
              <a:buClr>
                <a:schemeClr val="dk1"/>
              </a:buClr>
              <a:buSzPts val="1100"/>
              <a:buChar char="●"/>
            </a:pPr>
            <a:r>
              <a:rPr b="1" lang="en-US" sz="1100"/>
              <a:t>Tác dụng:</a:t>
            </a:r>
            <a:endParaRPr b="1" sz="1100"/>
          </a:p>
          <a:p>
            <a:pPr indent="-298450" lvl="1" marL="914400" rtl="0" algn="l">
              <a:lnSpc>
                <a:spcPct val="115000"/>
              </a:lnSpc>
              <a:spcBef>
                <a:spcPts val="0"/>
              </a:spcBef>
              <a:spcAft>
                <a:spcPts val="0"/>
              </a:spcAft>
              <a:buClr>
                <a:schemeClr val="dk1"/>
              </a:buClr>
              <a:buSzPts val="1100"/>
              <a:buChar char="○"/>
            </a:pPr>
            <a:r>
              <a:rPr lang="en-US" sz="1100"/>
              <a:t>Ngăn chặn các cuộc tấn công mạng và bảo vệ dữ liệu người dùng.</a:t>
            </a:r>
            <a:endParaRPr sz="1100"/>
          </a:p>
          <a:p>
            <a:pPr indent="-298450" lvl="1" marL="914400" rtl="0" algn="l">
              <a:lnSpc>
                <a:spcPct val="115000"/>
              </a:lnSpc>
              <a:spcBef>
                <a:spcPts val="0"/>
              </a:spcBef>
              <a:spcAft>
                <a:spcPts val="0"/>
              </a:spcAft>
              <a:buClr>
                <a:schemeClr val="dk1"/>
              </a:buClr>
              <a:buSzPts val="1100"/>
              <a:buChar char="○"/>
            </a:pPr>
            <a:r>
              <a:rPr lang="en-US" sz="1100"/>
              <a:t>Tăng uy tín của hệ thống và đáp ứng các tiêu chuẩn bảo mật (nếu có).</a:t>
            </a:r>
            <a:endParaRPr sz="1100"/>
          </a:p>
          <a:p>
            <a:pPr indent="-298450" lvl="1" marL="914400" rtl="0" algn="l">
              <a:lnSpc>
                <a:spcPct val="115000"/>
              </a:lnSpc>
              <a:spcBef>
                <a:spcPts val="0"/>
              </a:spcBef>
              <a:spcAft>
                <a:spcPts val="0"/>
              </a:spcAft>
              <a:buClr>
                <a:schemeClr val="dk1"/>
              </a:buClr>
              <a:buSzPts val="1100"/>
              <a:buChar char="○"/>
            </a:pPr>
            <a:r>
              <a:rPr lang="en-US" sz="1100"/>
              <a:t>Đảm bảo tính toàn vẹn và an toàn của hệ thống trong môi trường production.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a51275799c_1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a51275799c_1_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Hướng dẫn học viên xuất file jar từ bài tập của học phần trước, tuy nhiên sửa file applications.properties để chấp nhận giá trị từ biến môi trường.</a:t>
            </a:r>
            <a:endParaRPr/>
          </a:p>
          <a:p>
            <a:pPr indent="0" lvl="0" marL="0" rtl="0" algn="l">
              <a:spcBef>
                <a:spcPts val="360"/>
              </a:spcBef>
              <a:spcAft>
                <a:spcPts val="0"/>
              </a:spcAft>
              <a:buNone/>
            </a:pPr>
            <a:r>
              <a:rPr lang="en-US"/>
              <a:t>Dùng mvn clean package để build ứng dụng ra file jar trong phần target</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Lưu ý nếu import project vào thì cần edit jdk cho chính xác với file pom.xml (Đang để là 8) thì mới run và build được ứng dụng</a:t>
            </a:r>
            <a:endParaRPr/>
          </a:p>
          <a:p>
            <a:pPr indent="0" lvl="0" marL="0" rtl="0" algn="l">
              <a:spcBef>
                <a:spcPts val="360"/>
              </a:spcBef>
              <a:spcAft>
                <a:spcPts val="0"/>
              </a:spcAft>
              <a:buNone/>
            </a:pPr>
            <a:r>
              <a:rPr lang="en-US"/>
              <a:t>File TestingSystem.sql đã có sẵn trong file nén</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Nếu học viên chưa có thì share file nén bao gồm: code + file sql</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Hướng dẫn học viên copy file .jar và .sql lên máy ảo linux (bằng scp)</a:t>
            </a:r>
            <a:endParaRPr/>
          </a:p>
        </p:txBody>
      </p:sp>
      <p:sp>
        <p:nvSpPr>
          <p:cNvPr id="84" name="Google Shape;84;g2a51275799c_1_3: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a51275799c_1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a51275799c_1_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Ôn qua với học viên các cách cài đặt phần mềm trên Linux.</a:t>
            </a:r>
            <a:endParaRPr/>
          </a:p>
          <a:p>
            <a:pPr indent="0" lvl="0" marL="0" rtl="0" algn="l">
              <a:spcBef>
                <a:spcPts val="360"/>
              </a:spcBef>
              <a:spcAft>
                <a:spcPts val="0"/>
              </a:spcAft>
              <a:buNone/>
            </a:pPr>
            <a:r>
              <a:rPr lang="en-US"/>
              <a:t>H</a:t>
            </a:r>
            <a:r>
              <a:rPr lang="en-US"/>
              <a:t>ướng dẫn học viên cài đặt mysql server, bật và enable lúc khởi động.</a:t>
            </a:r>
            <a:endParaRPr/>
          </a:p>
          <a:p>
            <a:pPr indent="0" lvl="0" marL="0" rtl="0" algn="l">
              <a:spcBef>
                <a:spcPts val="360"/>
              </a:spcBef>
              <a:spcAft>
                <a:spcPts val="0"/>
              </a:spcAft>
              <a:buNone/>
            </a:pPr>
            <a:r>
              <a:rPr lang="en-US"/>
              <a:t>Thiết lập 1 số security options mặc định (xóa các db, tài khoản mặc định, không cho root login từ xa, mật khẩu mạnh, …)</a:t>
            </a:r>
            <a:endParaRPr/>
          </a:p>
          <a:p>
            <a:pPr indent="0" lvl="0" marL="0" rtl="0" algn="l">
              <a:spcBef>
                <a:spcPts val="360"/>
              </a:spcBef>
              <a:spcAft>
                <a:spcPts val="0"/>
              </a:spcAft>
              <a:buNone/>
            </a:pPr>
            <a:r>
              <a:t/>
            </a:r>
            <a:endParaRPr/>
          </a:p>
        </p:txBody>
      </p:sp>
      <p:sp>
        <p:nvSpPr>
          <p:cNvPr id="95" name="Google Shape;95;g2a51275799c_1_1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a51275799c_1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a51275799c_1_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Hướng dẫn cách tạo database (Đã học ở học phần 1)</a:t>
            </a:r>
            <a:endParaRPr/>
          </a:p>
          <a:p>
            <a:pPr indent="0" lvl="0" marL="0" rtl="0" algn="l">
              <a:spcBef>
                <a:spcPts val="360"/>
              </a:spcBef>
              <a:spcAft>
                <a:spcPts val="0"/>
              </a:spcAft>
              <a:buNone/>
            </a:pPr>
            <a:r>
              <a:rPr lang="en-US"/>
              <a:t>Hướng dẫn cách tạo user, giải thích ý nghĩa ‘%’, mật khẩu mạnh</a:t>
            </a:r>
            <a:endParaRPr/>
          </a:p>
          <a:p>
            <a:pPr indent="0" lvl="0" marL="0" rtl="0" algn="l">
              <a:spcBef>
                <a:spcPts val="360"/>
              </a:spcBef>
              <a:spcAft>
                <a:spcPts val="0"/>
              </a:spcAft>
              <a:buClr>
                <a:schemeClr val="dk1"/>
              </a:buClr>
              <a:buSzPts val="1100"/>
              <a:buFont typeface="Arial"/>
              <a:buNone/>
            </a:pPr>
            <a:r>
              <a:rPr lang="en-US"/>
              <a:t>Hướng dẫn gán quyền cho user, giải thích ngoài grant ALL PRIVILEGES thì có thể GRANT quyền cụ thể hơn như SELECT, INSERT, UPDATE, DELETE, …</a:t>
            </a:r>
            <a:endParaRPr/>
          </a:p>
          <a:p>
            <a:pPr indent="0" lvl="0" marL="0" rtl="0" algn="l">
              <a:spcBef>
                <a:spcPts val="360"/>
              </a:spcBef>
              <a:spcAft>
                <a:spcPts val="0"/>
              </a:spcAft>
              <a:buClr>
                <a:schemeClr val="dk1"/>
              </a:buClr>
              <a:buSzPts val="1100"/>
              <a:buFont typeface="Arial"/>
              <a:buNone/>
            </a:pPr>
            <a:r>
              <a:rPr lang="en-US"/>
              <a:t>Hướng dẫn trỏ đến file schema.sql trên server để tạo bảng, import dữ liệu hoặc hướng dẫn học viên copy nội dung file schema vào terminal sql</a:t>
            </a:r>
            <a:endParaRPr/>
          </a:p>
          <a:p>
            <a:pPr indent="0" lvl="0" marL="0" rtl="0" algn="l">
              <a:spcBef>
                <a:spcPts val="360"/>
              </a:spcBef>
              <a:spcAft>
                <a:spcPts val="0"/>
              </a:spcAft>
              <a:buNone/>
            </a:pPr>
            <a:r>
              <a:t/>
            </a:r>
            <a:endParaRPr/>
          </a:p>
        </p:txBody>
      </p:sp>
      <p:sp>
        <p:nvSpPr>
          <p:cNvPr id="103" name="Google Shape;103;g2a51275799c_1_17: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a51275799c_1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a51275799c_1_2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Hướng dẫn học viên cài môi trường jre để chạy ứng dụng java</a:t>
            </a:r>
            <a:endParaRPr/>
          </a:p>
          <a:p>
            <a:pPr indent="0" lvl="0" marL="0" rtl="0" algn="l">
              <a:spcBef>
                <a:spcPts val="360"/>
              </a:spcBef>
              <a:spcAft>
                <a:spcPts val="0"/>
              </a:spcAft>
              <a:buNone/>
            </a:pPr>
            <a:r>
              <a:rPr lang="en-US"/>
              <a:t>Hướng dẫn học viên chạy file jar đã có, lần đầu tiên sẽ lỗi vì tài khoản, mật khẩu mặc định không còn chính xác nữa</a:t>
            </a:r>
            <a:endParaRPr/>
          </a:p>
          <a:p>
            <a:pPr indent="0" lvl="0" marL="0" rtl="0" algn="l">
              <a:spcBef>
                <a:spcPts val="360"/>
              </a:spcBef>
              <a:spcAft>
                <a:spcPts val="0"/>
              </a:spcAft>
              <a:buNone/>
            </a:pPr>
            <a:r>
              <a:rPr lang="en-US"/>
              <a:t>Hướng dẫn học viên chạy lại file jar với biến môi trường cho username, password đã tạo ở bước trước, khi đấy ứng dụng chạy thành công</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Giải thích ý nghĩa biến môi trường cho học viên</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Kiểm tra lại bằng trình duyệt, curl hoặc postman</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112" name="Google Shape;112;g2a51275799c_1_24: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a51275799c_1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a51275799c_1_3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Hướng dẫn học viên tạo file service cho ứng dụng, lưu ý các thông số Environment, ExecStart phải chỉ đến đường dẫn chính xác</a:t>
            </a:r>
            <a:endParaRPr/>
          </a:p>
          <a:p>
            <a:pPr indent="0" lvl="0" marL="0" rtl="0" algn="l">
              <a:spcBef>
                <a:spcPts val="360"/>
              </a:spcBef>
              <a:spcAft>
                <a:spcPts val="0"/>
              </a:spcAft>
              <a:buNone/>
            </a:pPr>
            <a:r>
              <a:rPr lang="en-US"/>
              <a:t>Sau đó thử bật, tắt service, kiểm tra log của service</a:t>
            </a:r>
            <a:endParaRPr/>
          </a:p>
          <a:p>
            <a:pPr indent="0" lvl="0" marL="0" rtl="0" algn="l">
              <a:spcBef>
                <a:spcPts val="360"/>
              </a:spcBef>
              <a:spcAft>
                <a:spcPts val="0"/>
              </a:spcAft>
              <a:buNone/>
            </a:pPr>
            <a:r>
              <a:rPr lang="en-US"/>
              <a:t>Nếu tất cả đều hoạt động thì khởi động lại máy ảo =&gt; cả ứng dụng lẫn database đều phải tự bật và hoạt động bình thường</a:t>
            </a:r>
            <a:endParaRPr/>
          </a:p>
          <a:p>
            <a:pPr indent="0" lvl="0" marL="0" rtl="0" algn="l">
              <a:spcBef>
                <a:spcPts val="360"/>
              </a:spcBef>
              <a:spcAft>
                <a:spcPts val="0"/>
              </a:spcAft>
              <a:buNone/>
            </a:pPr>
            <a:r>
              <a:t/>
            </a:r>
            <a:endParaRPr/>
          </a:p>
        </p:txBody>
      </p:sp>
      <p:sp>
        <p:nvSpPr>
          <p:cNvPr id="120" name="Google Shape;120;g2a51275799c_1_31: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a51275799c_1_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a51275799c_1_3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H</a:t>
            </a:r>
            <a:r>
              <a:rPr lang="en-US"/>
              <a:t>ướng dẫn học viên viết script backup database </a:t>
            </a:r>
            <a:endParaRPr/>
          </a:p>
          <a:p>
            <a:pPr indent="0" lvl="0" marL="0" rtl="0" algn="l">
              <a:spcBef>
                <a:spcPts val="360"/>
              </a:spcBef>
              <a:spcAft>
                <a:spcPts val="0"/>
              </a:spcAft>
              <a:buNone/>
            </a:pPr>
            <a:r>
              <a:rPr lang="en-US"/>
              <a:t>Phân quyền thực thi, kiểm tra bằng cách chạy script bằng  tay.</a:t>
            </a:r>
            <a:endParaRPr/>
          </a:p>
          <a:p>
            <a:pPr indent="0" lvl="0" marL="0" rtl="0" algn="l">
              <a:spcBef>
                <a:spcPts val="360"/>
              </a:spcBef>
              <a:spcAft>
                <a:spcPts val="0"/>
              </a:spcAft>
              <a:buClr>
                <a:schemeClr val="dk1"/>
              </a:buClr>
              <a:buSzPts val="1100"/>
              <a:buFont typeface="Arial"/>
              <a:buNone/>
            </a:pPr>
            <a:r>
              <a:rPr lang="en-US"/>
              <a:t>Thiết lập script</a:t>
            </a:r>
            <a:r>
              <a:rPr lang="en-US"/>
              <a:t> chạy hàng ngày bằng crontab</a:t>
            </a:r>
            <a:endParaRPr/>
          </a:p>
          <a:p>
            <a:pPr indent="0" lvl="0" marL="0" rtl="0" algn="l">
              <a:spcBef>
                <a:spcPts val="360"/>
              </a:spcBef>
              <a:spcAft>
                <a:spcPts val="0"/>
              </a:spcAft>
              <a:buNone/>
            </a:pPr>
            <a:r>
              <a:rPr lang="en-US"/>
              <a:t>Kiểm tra kết quả sau khi thiết lập crontab</a:t>
            </a:r>
            <a:endParaRPr/>
          </a:p>
        </p:txBody>
      </p:sp>
      <p:sp>
        <p:nvSpPr>
          <p:cNvPr id="129" name="Google Shape;129;g2a51275799c_1_38: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a51275799c_1_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a51275799c_1_5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Review lại các mục tiêu với học viên, lưu ý 2 mục tiêu sau về giám sát và bảo mật sẽ được học thêm và thực hành ở học phần Devops</a:t>
            </a:r>
            <a:endParaRPr/>
          </a:p>
          <a:p>
            <a:pPr indent="0" lvl="0" marL="0" rtl="0" algn="l">
              <a:spcBef>
                <a:spcPts val="360"/>
              </a:spcBef>
              <a:spcAft>
                <a:spcPts val="0"/>
              </a:spcAft>
              <a:buNone/>
            </a:pPr>
            <a:r>
              <a:rPr lang="en-US"/>
              <a:t>Review lại các kiến thức đã học ở các bài trước để áp dụng ở bài này:</a:t>
            </a:r>
            <a:endParaRPr/>
          </a:p>
          <a:p>
            <a:pPr indent="-317500" lvl="0" marL="457200" rtl="0" algn="l">
              <a:spcBef>
                <a:spcPts val="360"/>
              </a:spcBef>
              <a:spcAft>
                <a:spcPts val="0"/>
              </a:spcAft>
              <a:buSzPts val="1400"/>
              <a:buChar char="-"/>
            </a:pPr>
            <a:r>
              <a:rPr lang="en-US"/>
              <a:t>Cài đặt phần mềm trên máy chủ Linux</a:t>
            </a:r>
            <a:endParaRPr/>
          </a:p>
          <a:p>
            <a:pPr indent="-317500" lvl="0" marL="457200" rtl="0" algn="l">
              <a:spcBef>
                <a:spcPts val="0"/>
              </a:spcBef>
              <a:spcAft>
                <a:spcPts val="0"/>
              </a:spcAft>
              <a:buSzPts val="1400"/>
              <a:buChar char="-"/>
            </a:pPr>
            <a:r>
              <a:rPr lang="en-US"/>
              <a:t>Câu lệnh chỉnh sửa file, chỉnh sửa quyền</a:t>
            </a:r>
            <a:endParaRPr/>
          </a:p>
          <a:p>
            <a:pPr indent="-317500" lvl="0" marL="457200" rtl="0" algn="l">
              <a:spcBef>
                <a:spcPts val="0"/>
              </a:spcBef>
              <a:spcAft>
                <a:spcPts val="0"/>
              </a:spcAft>
              <a:buSzPts val="1400"/>
              <a:buChar char="-"/>
            </a:pPr>
            <a:r>
              <a:rPr lang="en-US"/>
              <a:t>Câu lệnh kiểm tra IP, mạng, các cổng lắng nghe</a:t>
            </a:r>
            <a:endParaRPr/>
          </a:p>
          <a:p>
            <a:pPr indent="-317500" lvl="0" marL="457200" rtl="0" algn="l">
              <a:spcBef>
                <a:spcPts val="0"/>
              </a:spcBef>
              <a:spcAft>
                <a:spcPts val="0"/>
              </a:spcAft>
              <a:buSzPts val="1400"/>
              <a:buChar char="-"/>
            </a:pPr>
            <a:r>
              <a:rPr lang="en-US"/>
              <a:t>Thiết lập cronjob</a:t>
            </a:r>
            <a:endParaRPr/>
          </a:p>
        </p:txBody>
      </p:sp>
      <p:sp>
        <p:nvSpPr>
          <p:cNvPr id="138" name="Google Shape;138;g2a51275799c_1_54: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3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5" name="Google Shape;145;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 name="Google Shape;17;p3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8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8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8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8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8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8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8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8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5"/>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1" name="Google Shape;21;p35"/>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8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8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8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8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8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8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8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8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36"/>
          <p:cNvSpPr txBox="1"/>
          <p:nvPr>
            <p:ph type="title"/>
          </p:nvPr>
        </p:nvSpPr>
        <p:spPr>
          <a:xfrm>
            <a:off x="228600" y="194392"/>
            <a:ext cx="10515600" cy="54451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5" name="Google Shape;25;p36"/>
          <p:cNvSpPr txBox="1"/>
          <p:nvPr>
            <p:ph idx="1" type="body"/>
          </p:nvPr>
        </p:nvSpPr>
        <p:spPr>
          <a:xfrm>
            <a:off x="457200" y="1066800"/>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36"/>
          <p:cNvSpPr txBox="1"/>
          <p:nvPr>
            <p:ph idx="2" type="body"/>
          </p:nvPr>
        </p:nvSpPr>
        <p:spPr>
          <a:xfrm>
            <a:off x="6209071" y="1102954"/>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8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8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8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8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8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8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8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8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8" name="Shape 28"/>
        <p:cNvGrpSpPr/>
        <p:nvPr/>
      </p:nvGrpSpPr>
      <p:grpSpPr>
        <a:xfrm>
          <a:off x="0" y="0"/>
          <a:ext cx="0" cy="0"/>
          <a:chOff x="0" y="0"/>
          <a:chExt cx="0" cy="0"/>
        </a:xfrm>
      </p:grpSpPr>
      <p:sp>
        <p:nvSpPr>
          <p:cNvPr id="29" name="Google Shape;29;p37"/>
          <p:cNvSpPr txBox="1"/>
          <p:nvPr>
            <p:ph type="title"/>
          </p:nvPr>
        </p:nvSpPr>
        <p:spPr>
          <a:xfrm>
            <a:off x="228600" y="125413"/>
            <a:ext cx="10390716" cy="70167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0" name="Google Shape;30;p37"/>
          <p:cNvSpPr txBox="1"/>
          <p:nvPr>
            <p:ph idx="1" type="body"/>
          </p:nvPr>
        </p:nvSpPr>
        <p:spPr>
          <a:xfrm>
            <a:off x="457200" y="1124743"/>
            <a:ext cx="5080000" cy="460851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37"/>
          <p:cNvSpPr txBox="1"/>
          <p:nvPr>
            <p:ph idx="2" type="body"/>
          </p:nvPr>
        </p:nvSpPr>
        <p:spPr>
          <a:xfrm>
            <a:off x="6858000" y="1124743"/>
            <a:ext cx="5080000" cy="460851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8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8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8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8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8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8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8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8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Over Content" type="txOverObj">
  <p:cSld name="TEXT_OVER_OBJECT">
    <p:spTree>
      <p:nvGrpSpPr>
        <p:cNvPr id="33" name="Shape 33"/>
        <p:cNvGrpSpPr/>
        <p:nvPr/>
      </p:nvGrpSpPr>
      <p:grpSpPr>
        <a:xfrm>
          <a:off x="0" y="0"/>
          <a:ext cx="0" cy="0"/>
          <a:chOff x="0" y="0"/>
          <a:chExt cx="0" cy="0"/>
        </a:xfrm>
      </p:grpSpPr>
      <p:sp>
        <p:nvSpPr>
          <p:cNvPr id="34" name="Google Shape;34;p38"/>
          <p:cNvSpPr txBox="1"/>
          <p:nvPr>
            <p:ph type="title"/>
          </p:nvPr>
        </p:nvSpPr>
        <p:spPr>
          <a:xfrm>
            <a:off x="228600" y="210344"/>
            <a:ext cx="10390716" cy="56038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5" name="Google Shape;35;p38"/>
          <p:cNvSpPr txBox="1"/>
          <p:nvPr>
            <p:ph idx="1" type="body"/>
          </p:nvPr>
        </p:nvSpPr>
        <p:spPr>
          <a:xfrm>
            <a:off x="457200" y="990600"/>
            <a:ext cx="10363200" cy="222726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8"/>
          <p:cNvSpPr txBox="1"/>
          <p:nvPr>
            <p:ph idx="2" type="body"/>
          </p:nvPr>
        </p:nvSpPr>
        <p:spPr>
          <a:xfrm>
            <a:off x="518652" y="3429000"/>
            <a:ext cx="10363200" cy="222885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8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8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8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8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8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8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8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8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38" name="Shape 38"/>
        <p:cNvGrpSpPr/>
        <p:nvPr/>
      </p:nvGrpSpPr>
      <p:grpSpPr>
        <a:xfrm>
          <a:off x="0" y="0"/>
          <a:ext cx="0" cy="0"/>
          <a:chOff x="0" y="0"/>
          <a:chExt cx="0" cy="0"/>
        </a:xfrm>
      </p:grpSpPr>
      <p:sp>
        <p:nvSpPr>
          <p:cNvPr id="39" name="Google Shape;39;p39"/>
          <p:cNvSpPr txBox="1"/>
          <p:nvPr>
            <p:ph type="title"/>
          </p:nvPr>
        </p:nvSpPr>
        <p:spPr>
          <a:xfrm>
            <a:off x="304800" y="136525"/>
            <a:ext cx="10390716" cy="63658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0" name="Google Shape;40;p39"/>
          <p:cNvSpPr txBox="1"/>
          <p:nvPr>
            <p:ph idx="1" type="body"/>
          </p:nvPr>
        </p:nvSpPr>
        <p:spPr>
          <a:xfrm>
            <a:off x="437364" y="990600"/>
            <a:ext cx="5080000" cy="460851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39"/>
          <p:cNvSpPr txBox="1"/>
          <p:nvPr>
            <p:ph idx="2" type="body"/>
          </p:nvPr>
        </p:nvSpPr>
        <p:spPr>
          <a:xfrm>
            <a:off x="6674638" y="1025013"/>
            <a:ext cx="5080000" cy="222726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9"/>
          <p:cNvSpPr txBox="1"/>
          <p:nvPr>
            <p:ph idx="3" type="body"/>
          </p:nvPr>
        </p:nvSpPr>
        <p:spPr>
          <a:xfrm>
            <a:off x="6674638" y="3396739"/>
            <a:ext cx="5080000" cy="222885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8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8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8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8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8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8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8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8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Graphical user interface, text, application, email&#10;&#10;Description automatically generated" id="10" name="Google Shape;10;p33"/>
          <p:cNvPicPr preferRelativeResize="0"/>
          <p:nvPr/>
        </p:nvPicPr>
        <p:blipFill rotWithShape="1">
          <a:blip r:embed="rId1">
            <a:alphaModFix/>
          </a:blip>
          <a:srcRect b="0" l="0" r="0" t="0"/>
          <a:stretch/>
        </p:blipFill>
        <p:spPr>
          <a:xfrm>
            <a:off x="0" y="6350"/>
            <a:ext cx="12192000" cy="6845300"/>
          </a:xfrm>
          <a:prstGeom prst="rect">
            <a:avLst/>
          </a:prstGeom>
          <a:noFill/>
          <a:ln>
            <a:noFill/>
          </a:ln>
        </p:spPr>
      </p:pic>
      <p:sp>
        <p:nvSpPr>
          <p:cNvPr id="11" name="Google Shape;11;p33"/>
          <p:cNvSpPr txBox="1"/>
          <p:nvPr>
            <p:ph type="title"/>
          </p:nvPr>
        </p:nvSpPr>
        <p:spPr>
          <a:xfrm>
            <a:off x="228600" y="136525"/>
            <a:ext cx="10515600" cy="54451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1pPr>
            <a:lvl2pPr lvl="1"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2pPr>
            <a:lvl3pPr lvl="2"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3pPr>
            <a:lvl4pPr lvl="3"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4pPr>
            <a:lvl5pPr lvl="4"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5pPr>
            <a:lvl6pPr lvl="5"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6pPr>
            <a:lvl7pPr lvl="6"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7pPr>
            <a:lvl8pPr lvl="7"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8pPr>
            <a:lvl9pPr lvl="8" marR="0" rtl="0" algn="l">
              <a:lnSpc>
                <a:spcPct val="90000"/>
              </a:lnSpc>
              <a:spcBef>
                <a:spcPts val="0"/>
              </a:spcBef>
              <a:spcAft>
                <a:spcPts val="0"/>
              </a:spcAft>
              <a:buSzPts val="1400"/>
              <a:buNone/>
              <a:defRPr b="1" i="0" sz="3200" u="none" cap="none" strike="noStrike">
                <a:solidFill>
                  <a:srgbClr val="007ABF"/>
                </a:solidFill>
                <a:latin typeface="Arial"/>
                <a:ea typeface="Arial"/>
                <a:cs typeface="Arial"/>
                <a:sym typeface="Arial"/>
              </a:defRPr>
            </a:lvl9pPr>
          </a:lstStyle>
          <a:p/>
        </p:txBody>
      </p:sp>
      <p:sp>
        <p:nvSpPr>
          <p:cNvPr id="12" name="Google Shape;12;p33"/>
          <p:cNvSpPr txBox="1"/>
          <p:nvPr>
            <p:ph idx="1" type="body"/>
          </p:nvPr>
        </p:nvSpPr>
        <p:spPr>
          <a:xfrm>
            <a:off x="341313" y="1252538"/>
            <a:ext cx="10515600" cy="4351337"/>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 name="Google Shape;13;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800" u="none" cap="none" strike="noStrike">
                <a:solidFill>
                  <a:schemeClr val="dk1"/>
                </a:solidFill>
                <a:latin typeface="Arial"/>
                <a:ea typeface="Arial"/>
                <a:cs typeface="Arial"/>
                <a:sym typeface="Arial"/>
              </a:defRPr>
            </a:lvl1pPr>
            <a:lvl2pPr indent="0" lvl="1" marL="0" marR="0" rtl="0" algn="r">
              <a:spcBef>
                <a:spcPts val="0"/>
              </a:spcBef>
              <a:spcAft>
                <a:spcPts val="0"/>
              </a:spcAft>
              <a:buNone/>
              <a:defRPr b="0" i="0" sz="1800" u="none" cap="none" strike="noStrike">
                <a:solidFill>
                  <a:schemeClr val="dk1"/>
                </a:solidFill>
                <a:latin typeface="Arial"/>
                <a:ea typeface="Arial"/>
                <a:cs typeface="Arial"/>
                <a:sym typeface="Arial"/>
              </a:defRPr>
            </a:lvl2pPr>
            <a:lvl3pPr indent="0" lvl="2" marL="0" marR="0" rtl="0" algn="r">
              <a:spcBef>
                <a:spcPts val="0"/>
              </a:spcBef>
              <a:spcAft>
                <a:spcPts val="0"/>
              </a:spcAft>
              <a:buNone/>
              <a:defRPr b="0" i="0" sz="1800" u="none" cap="none" strike="noStrike">
                <a:solidFill>
                  <a:schemeClr val="dk1"/>
                </a:solidFill>
                <a:latin typeface="Arial"/>
                <a:ea typeface="Arial"/>
                <a:cs typeface="Arial"/>
                <a:sym typeface="Arial"/>
              </a:defRPr>
            </a:lvl3pPr>
            <a:lvl4pPr indent="0" lvl="3" marL="0" marR="0" rtl="0" algn="r">
              <a:spcBef>
                <a:spcPts val="0"/>
              </a:spcBef>
              <a:spcAft>
                <a:spcPts val="0"/>
              </a:spcAft>
              <a:buNone/>
              <a:defRPr b="0" i="0" sz="1800" u="none" cap="none" strike="noStrike">
                <a:solidFill>
                  <a:schemeClr val="dk1"/>
                </a:solidFill>
                <a:latin typeface="Arial"/>
                <a:ea typeface="Arial"/>
                <a:cs typeface="Arial"/>
                <a:sym typeface="Arial"/>
              </a:defRPr>
            </a:lvl4pPr>
            <a:lvl5pPr indent="0" lvl="4" marL="0" marR="0" rtl="0" algn="r">
              <a:spcBef>
                <a:spcPts val="0"/>
              </a:spcBef>
              <a:spcAft>
                <a:spcPts val="0"/>
              </a:spcAft>
              <a:buNone/>
              <a:defRPr b="0" i="0" sz="1800" u="none" cap="none" strike="noStrike">
                <a:solidFill>
                  <a:schemeClr val="dk1"/>
                </a:solidFill>
                <a:latin typeface="Arial"/>
                <a:ea typeface="Arial"/>
                <a:cs typeface="Arial"/>
                <a:sym typeface="Arial"/>
              </a:defRPr>
            </a:lvl5pPr>
            <a:lvl6pPr indent="0" lvl="5" marL="0" marR="0" rtl="0" algn="r">
              <a:spcBef>
                <a:spcPts val="0"/>
              </a:spcBef>
              <a:spcAft>
                <a:spcPts val="0"/>
              </a:spcAft>
              <a:buNone/>
              <a:defRPr b="0" i="0" sz="1800" u="none" cap="none" strike="noStrike">
                <a:solidFill>
                  <a:schemeClr val="dk1"/>
                </a:solidFill>
                <a:latin typeface="Arial"/>
                <a:ea typeface="Arial"/>
                <a:cs typeface="Arial"/>
                <a:sym typeface="Arial"/>
              </a:defRPr>
            </a:lvl6pPr>
            <a:lvl7pPr indent="0" lvl="6" marL="0" marR="0" rtl="0" algn="r">
              <a:spcBef>
                <a:spcPts val="0"/>
              </a:spcBef>
              <a:spcAft>
                <a:spcPts val="0"/>
              </a:spcAft>
              <a:buNone/>
              <a:defRPr b="0" i="0" sz="1800" u="none" cap="none" strike="noStrike">
                <a:solidFill>
                  <a:schemeClr val="dk1"/>
                </a:solidFill>
                <a:latin typeface="Arial"/>
                <a:ea typeface="Arial"/>
                <a:cs typeface="Arial"/>
                <a:sym typeface="Arial"/>
              </a:defRPr>
            </a:lvl7pPr>
            <a:lvl8pPr indent="0" lvl="7" marL="0" marR="0" rtl="0" algn="r">
              <a:spcBef>
                <a:spcPts val="0"/>
              </a:spcBef>
              <a:spcAft>
                <a:spcPts val="0"/>
              </a:spcAft>
              <a:buNone/>
              <a:defRPr b="0" i="0" sz="1800" u="none" cap="none" strike="noStrike">
                <a:solidFill>
                  <a:schemeClr val="dk1"/>
                </a:solidFill>
                <a:latin typeface="Arial"/>
                <a:ea typeface="Arial"/>
                <a:cs typeface="Arial"/>
                <a:sym typeface="Arial"/>
              </a:defRPr>
            </a:lvl8pPr>
            <a:lvl9pPr indent="0" lvl="8" marL="0" marR="0" rtl="0" algn="r">
              <a:spcBef>
                <a:spcPts val="0"/>
              </a:spcBef>
              <a:spcAft>
                <a:spcPts val="0"/>
              </a:spcAft>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33"/>
          <p:cNvSpPr txBox="1"/>
          <p:nvPr/>
        </p:nvSpPr>
        <p:spPr>
          <a:xfrm>
            <a:off x="317500" y="6356350"/>
            <a:ext cx="1422400" cy="3540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700" u="none" cap="none" strike="noStrike">
                <a:solidFill>
                  <a:schemeClr val="lt1"/>
                </a:solidFill>
                <a:latin typeface="Arial"/>
                <a:ea typeface="Arial"/>
                <a:cs typeface="Arial"/>
                <a:sym typeface="Arial"/>
              </a:rPr>
              <a:t>FE Program</a:t>
            </a:r>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0.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pic>
        <p:nvPicPr>
          <p:cNvPr id="48" name="Google Shape;48;p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9" name="Google Shape;49;p1"/>
          <p:cNvSpPr txBox="1"/>
          <p:nvPr/>
        </p:nvSpPr>
        <p:spPr>
          <a:xfrm>
            <a:off x="83820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E7E6E6"/>
              </a:buClr>
              <a:buSzPts val="1400"/>
              <a:buFont typeface="Arial"/>
              <a:buNone/>
            </a:pPr>
            <a:fld id="{00000000-1234-1234-1234-123412341234}" type="slidenum">
              <a:rPr b="0" i="0" lang="en-US" sz="1800" u="none" cap="none" strike="noStrike">
                <a:solidFill>
                  <a:srgbClr val="E7E6E6"/>
                </a:solidFill>
                <a:latin typeface="Tahoma"/>
                <a:ea typeface="Tahoma"/>
                <a:cs typeface="Tahoma"/>
                <a:sym typeface="Tahoma"/>
              </a:rPr>
              <a:t>‹#›</a:t>
            </a:fld>
            <a:endParaRPr b="0" i="0" sz="1800" u="none" cap="none" strike="noStrike">
              <a:solidFill>
                <a:schemeClr val="dk1"/>
              </a:solidFill>
              <a:latin typeface="Calibri"/>
              <a:ea typeface="Calibri"/>
              <a:cs typeface="Calibri"/>
              <a:sym typeface="Calibri"/>
            </a:endParaRPr>
          </a:p>
        </p:txBody>
      </p:sp>
      <p:pic>
        <p:nvPicPr>
          <p:cNvPr descr="A picture containing drawing&#10;&#10;Description automatically generated" id="50" name="Google Shape;50;p1"/>
          <p:cNvPicPr preferRelativeResize="0"/>
          <p:nvPr/>
        </p:nvPicPr>
        <p:blipFill rotWithShape="1">
          <a:blip r:embed="rId4">
            <a:alphaModFix/>
          </a:blip>
          <a:srcRect b="16351" l="5000" r="5000" t="13557"/>
          <a:stretch/>
        </p:blipFill>
        <p:spPr>
          <a:xfrm>
            <a:off x="504825" y="258763"/>
            <a:ext cx="3989388" cy="838200"/>
          </a:xfrm>
          <a:prstGeom prst="rect">
            <a:avLst/>
          </a:prstGeom>
          <a:noFill/>
          <a:ln>
            <a:noFill/>
          </a:ln>
        </p:spPr>
      </p:pic>
      <p:sp>
        <p:nvSpPr>
          <p:cNvPr id="51" name="Google Shape;51;p1"/>
          <p:cNvSpPr/>
          <p:nvPr/>
        </p:nvSpPr>
        <p:spPr>
          <a:xfrm>
            <a:off x="5978525" y="3275013"/>
            <a:ext cx="2349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 </a:t>
            </a:r>
            <a:endParaRPr/>
          </a:p>
        </p:txBody>
      </p:sp>
      <p:sp>
        <p:nvSpPr>
          <p:cNvPr id="52" name="Google Shape;52;p1"/>
          <p:cNvSpPr/>
          <p:nvPr/>
        </p:nvSpPr>
        <p:spPr>
          <a:xfrm>
            <a:off x="760413" y="1231900"/>
            <a:ext cx="5637212" cy="476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ABF"/>
              </a:buClr>
              <a:buSzPts val="2500"/>
              <a:buFont typeface="Arial"/>
              <a:buNone/>
            </a:pPr>
            <a:r>
              <a:rPr b="1" i="0" lang="en-US" sz="2500" u="none" cap="none" strike="noStrike">
                <a:solidFill>
                  <a:srgbClr val="007ABF"/>
                </a:solidFill>
                <a:latin typeface="Helvetica Neue"/>
                <a:ea typeface="Helvetica Neue"/>
                <a:cs typeface="Helvetica Neue"/>
                <a:sym typeface="Helvetica Neue"/>
              </a:rPr>
              <a:t>WAY TO ENTERPRISE</a:t>
            </a:r>
            <a:endParaRPr/>
          </a:p>
        </p:txBody>
      </p:sp>
      <p:sp>
        <p:nvSpPr>
          <p:cNvPr id="53" name="Google Shape;53;p1"/>
          <p:cNvSpPr txBox="1"/>
          <p:nvPr/>
        </p:nvSpPr>
        <p:spPr>
          <a:xfrm>
            <a:off x="971610" y="2770188"/>
            <a:ext cx="9674823" cy="1317625"/>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7ABF"/>
              </a:buClr>
              <a:buSzPts val="4400"/>
              <a:buFont typeface="Arial"/>
              <a:buNone/>
            </a:pPr>
            <a:r>
              <a:rPr b="1" lang="en-US" sz="4900">
                <a:solidFill>
                  <a:srgbClr val="007ABF"/>
                </a:solidFill>
              </a:rPr>
              <a:t>Thực hành triển khai ứng dụng lên môi trường Production</a:t>
            </a:r>
            <a:endParaRPr b="0" i="0" sz="5000" u="none" cap="none" strike="noStrike">
              <a:solidFill>
                <a:srgbClr val="007ABF"/>
              </a:solidFill>
              <a:latin typeface="Helvetica Neue"/>
              <a:ea typeface="Helvetica Neue"/>
              <a:cs typeface="Helvetica Neue"/>
              <a:sym typeface="Helvetica Neue"/>
            </a:endParaRPr>
          </a:p>
        </p:txBody>
      </p:sp>
      <p:sp>
        <p:nvSpPr>
          <p:cNvPr id="54" name="Google Shape;5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2"/>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Mục đích bài học</a:t>
            </a:r>
            <a:endParaRPr/>
          </a:p>
        </p:txBody>
      </p:sp>
      <p:sp>
        <p:nvSpPr>
          <p:cNvPr id="61" name="Google Shape;61;p2"/>
          <p:cNvSpPr txBox="1"/>
          <p:nvPr>
            <p:ph idx="1" type="body"/>
          </p:nvPr>
        </p:nvSpPr>
        <p:spPr>
          <a:xfrm>
            <a:off x="366713" y="1066800"/>
            <a:ext cx="10377487" cy="4608513"/>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400"/>
              <a:buChar char="•"/>
            </a:pPr>
            <a:r>
              <a:rPr lang="en-US" sz="2400"/>
              <a:t>Tìm hiểu về cách triển khai ứng dụng trong môi trường thực tế</a:t>
            </a:r>
            <a:endParaRPr sz="2400"/>
          </a:p>
          <a:p>
            <a:pPr indent="-228600" lvl="0" marL="228600" rtl="0" algn="l">
              <a:lnSpc>
                <a:spcPct val="150000"/>
              </a:lnSpc>
              <a:spcBef>
                <a:spcPts val="1000"/>
              </a:spcBef>
              <a:spcAft>
                <a:spcPts val="0"/>
              </a:spcAft>
              <a:buClr>
                <a:schemeClr val="dk1"/>
              </a:buClr>
              <a:buSzPts val="2400"/>
              <a:buChar char="•"/>
            </a:pPr>
            <a:r>
              <a:rPr lang="en-US" sz="2400">
                <a:latin typeface="Arial"/>
                <a:ea typeface="Arial"/>
                <a:cs typeface="Arial"/>
                <a:sym typeface="Arial"/>
              </a:rPr>
              <a:t>Thực hành </a:t>
            </a:r>
            <a:r>
              <a:rPr lang="en-US" sz="2400"/>
              <a:t>triển khai ứng dụng từ học phần trước</a:t>
            </a:r>
            <a:endParaRPr sz="2400"/>
          </a:p>
        </p:txBody>
      </p:sp>
      <p:sp>
        <p:nvSpPr>
          <p:cNvPr id="62" name="Google Shape;62;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
                                            <p:txEl>
                                              <p:pRg end="0" st="0"/>
                                            </p:txEl>
                                          </p:spTgt>
                                        </p:tgtEl>
                                        <p:attrNameLst>
                                          <p:attrName>style.visibility</p:attrName>
                                        </p:attrNameLst>
                                      </p:cBhvr>
                                      <p:to>
                                        <p:strVal val="visible"/>
                                      </p:to>
                                    </p:set>
                                    <p:anim calcmode="lin" valueType="num">
                                      <p:cBhvr additive="base">
                                        <p:cTn dur="500"/>
                                        <p:tgtEl>
                                          <p:spTgt spid="6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
                                            <p:txEl>
                                              <p:pRg end="1" st="1"/>
                                            </p:txEl>
                                          </p:spTgt>
                                        </p:tgtEl>
                                        <p:attrNameLst>
                                          <p:attrName>style.visibility</p:attrName>
                                        </p:attrNameLst>
                                      </p:cBhvr>
                                      <p:to>
                                        <p:strVal val="visible"/>
                                      </p:to>
                                    </p:set>
                                    <p:anim calcmode="lin" valueType="num">
                                      <p:cBhvr additive="base">
                                        <p:cTn dur="500"/>
                                        <p:tgtEl>
                                          <p:spTgt spid="6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3"/>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0" lang="en-US"/>
              <a:t>Mô hình triển khai ứng dụng thực tế</a:t>
            </a:r>
            <a:endParaRPr/>
          </a:p>
        </p:txBody>
      </p:sp>
      <p:sp>
        <p:nvSpPr>
          <p:cNvPr id="69" name="Google Shape;69;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sp>
        <p:nvSpPr>
          <p:cNvPr id="70" name="Google Shape;70;p3"/>
          <p:cNvSpPr txBox="1"/>
          <p:nvPr>
            <p:ph idx="1" type="body"/>
          </p:nvPr>
        </p:nvSpPr>
        <p:spPr>
          <a:xfrm>
            <a:off x="381000" y="1066800"/>
            <a:ext cx="11090694" cy="4351338"/>
          </a:xfrm>
          <a:prstGeom prst="rect">
            <a:avLst/>
          </a:prstGeom>
          <a:noFill/>
          <a:ln>
            <a:noFill/>
          </a:ln>
        </p:spPr>
        <p:txBody>
          <a:bodyPr anchorCtr="0" anchor="t" bIns="45700" lIns="91425" spcFirstLastPara="1" rIns="91425" wrap="square" tIns="45700">
            <a:noAutofit/>
          </a:bodyPr>
          <a:lstStyle/>
          <a:p>
            <a:pPr indent="-25400" lvl="0" marL="228600" rtl="0" algn="just">
              <a:lnSpc>
                <a:spcPct val="100000"/>
              </a:lnSpc>
              <a:spcBef>
                <a:spcPts val="640"/>
              </a:spcBef>
              <a:spcAft>
                <a:spcPts val="0"/>
              </a:spcAft>
              <a:buClr>
                <a:schemeClr val="dk1"/>
              </a:buClr>
              <a:buSzPts val="3200"/>
              <a:buNone/>
            </a:pPr>
            <a:r>
              <a:rPr lang="en-US" sz="3200"/>
              <a:t>Ví dụ mô hình triển khai 1 ứng dụng 3 tier phổ biến</a:t>
            </a:r>
            <a:endParaRPr sz="3200">
              <a:latin typeface="Arial"/>
              <a:ea typeface="Arial"/>
              <a:cs typeface="Arial"/>
              <a:sym typeface="Arial"/>
            </a:endParaRPr>
          </a:p>
        </p:txBody>
      </p:sp>
      <p:pic>
        <p:nvPicPr>
          <p:cNvPr id="71" name="Google Shape;71;p3"/>
          <p:cNvPicPr preferRelativeResize="0"/>
          <p:nvPr/>
        </p:nvPicPr>
        <p:blipFill>
          <a:blip r:embed="rId3">
            <a:alphaModFix/>
          </a:blip>
          <a:stretch>
            <a:fillRect/>
          </a:stretch>
        </p:blipFill>
        <p:spPr>
          <a:xfrm>
            <a:off x="1023451" y="2043225"/>
            <a:ext cx="4788675" cy="1881250"/>
          </a:xfrm>
          <a:prstGeom prst="rect">
            <a:avLst/>
          </a:prstGeom>
          <a:noFill/>
          <a:ln>
            <a:noFill/>
          </a:ln>
        </p:spPr>
      </p:pic>
      <p:pic>
        <p:nvPicPr>
          <p:cNvPr id="72" name="Google Shape;72;p3"/>
          <p:cNvPicPr preferRelativeResize="0"/>
          <p:nvPr/>
        </p:nvPicPr>
        <p:blipFill>
          <a:blip r:embed="rId4">
            <a:alphaModFix/>
          </a:blip>
          <a:stretch>
            <a:fillRect/>
          </a:stretch>
        </p:blipFill>
        <p:spPr>
          <a:xfrm>
            <a:off x="5992975" y="2626875"/>
            <a:ext cx="5360825" cy="297823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4"/>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0" lang="en-US"/>
              <a:t>Các yêu cầu của ứng dụng trên Production</a:t>
            </a:r>
            <a:endParaRPr/>
          </a:p>
        </p:txBody>
      </p:sp>
      <p:sp>
        <p:nvSpPr>
          <p:cNvPr id="79" name="Google Shape;79;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sp>
        <p:nvSpPr>
          <p:cNvPr id="80" name="Google Shape;80;p4"/>
          <p:cNvSpPr txBox="1"/>
          <p:nvPr>
            <p:ph idx="1" type="body"/>
          </p:nvPr>
        </p:nvSpPr>
        <p:spPr>
          <a:xfrm>
            <a:off x="381000" y="1066800"/>
            <a:ext cx="11090694" cy="4351338"/>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rgbClr val="007ABF"/>
              </a:buClr>
              <a:buSzPts val="3200"/>
              <a:buChar char="•"/>
            </a:pPr>
            <a:r>
              <a:rPr lang="en-US" sz="3200"/>
              <a:t>Phân quyền truy cập database chính xác</a:t>
            </a:r>
            <a:endParaRPr/>
          </a:p>
          <a:p>
            <a:pPr indent="-228600" lvl="0" marL="228600" rtl="0" algn="just">
              <a:lnSpc>
                <a:spcPct val="100000"/>
              </a:lnSpc>
              <a:spcBef>
                <a:spcPts val="640"/>
              </a:spcBef>
              <a:spcAft>
                <a:spcPts val="0"/>
              </a:spcAft>
              <a:buClr>
                <a:schemeClr val="dk1"/>
              </a:buClr>
              <a:buSzPts val="3200"/>
              <a:buChar char="•"/>
            </a:pPr>
            <a:r>
              <a:rPr lang="en-US" sz="3200"/>
              <a:t>Backup dữ liệu thường xuyên</a:t>
            </a:r>
            <a:endParaRPr/>
          </a:p>
          <a:p>
            <a:pPr indent="-228600" lvl="0" marL="228600" rtl="0" algn="just">
              <a:lnSpc>
                <a:spcPct val="100000"/>
              </a:lnSpc>
              <a:spcBef>
                <a:spcPts val="640"/>
              </a:spcBef>
              <a:spcAft>
                <a:spcPts val="0"/>
              </a:spcAft>
              <a:buClr>
                <a:schemeClr val="dk1"/>
              </a:buClr>
              <a:buSzPts val="3200"/>
              <a:buChar char="•"/>
            </a:pPr>
            <a:r>
              <a:rPr lang="en-US" sz="3200"/>
              <a:t>Ứng dụng được đóng gói dưới dạng dịch vụ</a:t>
            </a:r>
            <a:endParaRPr sz="3200"/>
          </a:p>
          <a:p>
            <a:pPr indent="-228600" lvl="0" marL="228600" rtl="0" algn="just">
              <a:lnSpc>
                <a:spcPct val="100000"/>
              </a:lnSpc>
              <a:spcBef>
                <a:spcPts val="640"/>
              </a:spcBef>
              <a:spcAft>
                <a:spcPts val="0"/>
              </a:spcAft>
              <a:buClr>
                <a:schemeClr val="dk1"/>
              </a:buClr>
              <a:buSzPts val="3200"/>
              <a:buChar char="•"/>
            </a:pPr>
            <a:r>
              <a:rPr lang="en-US" sz="3200"/>
              <a:t>Tự động chạy khi server khởi động lại</a:t>
            </a:r>
            <a:endParaRPr/>
          </a:p>
          <a:p>
            <a:pPr indent="-228600" lvl="0" marL="228600" rtl="0" algn="just">
              <a:lnSpc>
                <a:spcPct val="100000"/>
              </a:lnSpc>
              <a:spcBef>
                <a:spcPts val="640"/>
              </a:spcBef>
              <a:spcAft>
                <a:spcPts val="0"/>
              </a:spcAft>
              <a:buClr>
                <a:schemeClr val="dk1"/>
              </a:buClr>
              <a:buSzPts val="3200"/>
              <a:buChar char="•"/>
            </a:pPr>
            <a:r>
              <a:rPr lang="en-US" sz="3200"/>
              <a:t>Giám sát và ghi log chi tiết</a:t>
            </a:r>
            <a:endParaRPr/>
          </a:p>
          <a:p>
            <a:pPr indent="-228600" lvl="0" marL="228600" rtl="0" algn="just">
              <a:lnSpc>
                <a:spcPct val="100000"/>
              </a:lnSpc>
              <a:spcBef>
                <a:spcPts val="640"/>
              </a:spcBef>
              <a:spcAft>
                <a:spcPts val="0"/>
              </a:spcAft>
              <a:buClr>
                <a:schemeClr val="dk1"/>
              </a:buClr>
              <a:buSzPts val="3200"/>
              <a:buChar char="•"/>
            </a:pPr>
            <a:r>
              <a:rPr lang="en-US" sz="3200"/>
              <a:t>Cơ chế bảo mật mạnh mẽ</a:t>
            </a:r>
            <a:endParaRPr/>
          </a:p>
          <a:p>
            <a:pPr indent="-25400" lvl="0" marL="228600" rtl="0" algn="just">
              <a:lnSpc>
                <a:spcPct val="100000"/>
              </a:lnSpc>
              <a:spcBef>
                <a:spcPts val="640"/>
              </a:spcBef>
              <a:spcAft>
                <a:spcPts val="0"/>
              </a:spcAft>
              <a:buClr>
                <a:schemeClr val="dk1"/>
              </a:buClr>
              <a:buSzPts val="3200"/>
              <a:buFont typeface="Arial"/>
              <a:buNone/>
            </a:pPr>
            <a:r>
              <a:t/>
            </a:r>
            <a:endParaRPr sz="32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g2a51275799c_1_3"/>
          <p:cNvSpPr txBox="1"/>
          <p:nvPr>
            <p:ph type="title"/>
          </p:nvPr>
        </p:nvSpPr>
        <p:spPr>
          <a:xfrm>
            <a:off x="228600" y="228600"/>
            <a:ext cx="10515600" cy="544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Th</a:t>
            </a:r>
            <a:r>
              <a:rPr lang="en-US"/>
              <a:t>ực hành: Chuẩn bị ứng dụng</a:t>
            </a:r>
            <a:endParaRPr/>
          </a:p>
        </p:txBody>
      </p:sp>
      <p:sp>
        <p:nvSpPr>
          <p:cNvPr id="87" name="Google Shape;87;g2a51275799c_1_3"/>
          <p:cNvSpPr txBox="1"/>
          <p:nvPr>
            <p:ph idx="1" type="body"/>
          </p:nvPr>
        </p:nvSpPr>
        <p:spPr>
          <a:xfrm>
            <a:off x="381000" y="1066800"/>
            <a:ext cx="79242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Chuẩn bị file .jar và .sql</a:t>
            </a:r>
            <a:endParaRPr/>
          </a:p>
          <a:p>
            <a:pPr indent="-342900" lvl="0" marL="457200" rtl="0" algn="l">
              <a:spcBef>
                <a:spcPts val="1000"/>
              </a:spcBef>
              <a:spcAft>
                <a:spcPts val="0"/>
              </a:spcAft>
              <a:buSzPts val="1800"/>
              <a:buChar char="-"/>
            </a:pPr>
            <a:r>
              <a:rPr lang="en-US"/>
              <a:t>Sửa file applications.properties để chấp nhận từ biến môi trường</a:t>
            </a:r>
            <a:endParaRPr/>
          </a:p>
          <a:p>
            <a:pPr indent="-342900" lvl="0" marL="457200" rtl="0" algn="l">
              <a:spcBef>
                <a:spcPts val="0"/>
              </a:spcBef>
              <a:spcAft>
                <a:spcPts val="0"/>
              </a:spcAft>
              <a:buSzPts val="1800"/>
              <a:buChar char="-"/>
            </a:pPr>
            <a:r>
              <a:rPr lang="en-US"/>
              <a:t>Đóng gói ứng dụng dùng mvn clean package</a:t>
            </a:r>
            <a:endParaRPr/>
          </a:p>
          <a:p>
            <a:pPr indent="-342900" lvl="0" marL="457200" rtl="0" algn="l">
              <a:spcBef>
                <a:spcPts val="0"/>
              </a:spcBef>
              <a:spcAft>
                <a:spcPts val="0"/>
              </a:spcAft>
              <a:buSzPts val="1800"/>
              <a:buChar char="-"/>
            </a:pPr>
            <a:r>
              <a:rPr lang="en-US"/>
              <a:t>Đầu ra là file .jar</a:t>
            </a:r>
            <a:endParaRPr/>
          </a:p>
        </p:txBody>
      </p:sp>
      <p:sp>
        <p:nvSpPr>
          <p:cNvPr id="88" name="Google Shape;88;g2a51275799c_1_3"/>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89" name="Google Shape;89;g2a51275799c_1_3"/>
          <p:cNvPicPr preferRelativeResize="0"/>
          <p:nvPr/>
        </p:nvPicPr>
        <p:blipFill>
          <a:blip r:embed="rId3">
            <a:alphaModFix/>
          </a:blip>
          <a:stretch>
            <a:fillRect/>
          </a:stretch>
        </p:blipFill>
        <p:spPr>
          <a:xfrm>
            <a:off x="8305200" y="1307288"/>
            <a:ext cx="2924175" cy="2390775"/>
          </a:xfrm>
          <a:prstGeom prst="rect">
            <a:avLst/>
          </a:prstGeom>
          <a:noFill/>
          <a:ln>
            <a:noFill/>
          </a:ln>
        </p:spPr>
      </p:pic>
      <p:pic>
        <p:nvPicPr>
          <p:cNvPr id="90" name="Google Shape;90;g2a51275799c_1_3"/>
          <p:cNvPicPr preferRelativeResize="0"/>
          <p:nvPr/>
        </p:nvPicPr>
        <p:blipFill>
          <a:blip r:embed="rId4">
            <a:alphaModFix/>
          </a:blip>
          <a:stretch>
            <a:fillRect/>
          </a:stretch>
        </p:blipFill>
        <p:spPr>
          <a:xfrm>
            <a:off x="8207325" y="3863023"/>
            <a:ext cx="3119925" cy="1916950"/>
          </a:xfrm>
          <a:prstGeom prst="rect">
            <a:avLst/>
          </a:prstGeom>
          <a:noFill/>
          <a:ln>
            <a:noFill/>
          </a:ln>
        </p:spPr>
      </p:pic>
      <p:pic>
        <p:nvPicPr>
          <p:cNvPr id="91" name="Google Shape;91;g2a51275799c_1_3"/>
          <p:cNvPicPr preferRelativeResize="0"/>
          <p:nvPr/>
        </p:nvPicPr>
        <p:blipFill>
          <a:blip r:embed="rId5">
            <a:alphaModFix/>
          </a:blip>
          <a:stretch>
            <a:fillRect/>
          </a:stretch>
        </p:blipFill>
        <p:spPr>
          <a:xfrm>
            <a:off x="461450" y="3698075"/>
            <a:ext cx="7439025" cy="790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2a51275799c_1_10"/>
          <p:cNvSpPr txBox="1"/>
          <p:nvPr>
            <p:ph type="title"/>
          </p:nvPr>
        </p:nvSpPr>
        <p:spPr>
          <a:xfrm>
            <a:off x="228600" y="228600"/>
            <a:ext cx="10515600" cy="544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Cài đặt máy chủ database</a:t>
            </a:r>
            <a:endParaRPr/>
          </a:p>
        </p:txBody>
      </p:sp>
      <p:sp>
        <p:nvSpPr>
          <p:cNvPr id="98" name="Google Shape;98;g2a51275799c_1_10"/>
          <p:cNvSpPr txBox="1"/>
          <p:nvPr>
            <p:ph idx="1" type="body"/>
          </p:nvPr>
        </p:nvSpPr>
        <p:spPr>
          <a:xfrm>
            <a:off x="381000" y="1066800"/>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 sudo apt-get update</a:t>
            </a:r>
            <a:endParaRPr/>
          </a:p>
          <a:p>
            <a:pPr indent="0" lvl="0" marL="0" rtl="0" algn="l">
              <a:spcBef>
                <a:spcPts val="1000"/>
              </a:spcBef>
              <a:spcAft>
                <a:spcPts val="0"/>
              </a:spcAft>
              <a:buNone/>
            </a:pPr>
            <a:r>
              <a:rPr lang="en-US"/>
              <a:t># sudo apt-get install mysql-server -y</a:t>
            </a:r>
            <a:endParaRPr/>
          </a:p>
          <a:p>
            <a:pPr indent="0" lvl="0" marL="0" rtl="0" algn="l">
              <a:spcBef>
                <a:spcPts val="1000"/>
              </a:spcBef>
              <a:spcAft>
                <a:spcPts val="0"/>
              </a:spcAft>
              <a:buNone/>
            </a:pPr>
            <a:r>
              <a:rPr lang="en-US"/>
              <a:t># sudo systemctl start mysql</a:t>
            </a:r>
            <a:endParaRPr/>
          </a:p>
          <a:p>
            <a:pPr indent="0" lvl="0" marL="0" rtl="0" algn="l">
              <a:spcBef>
                <a:spcPts val="1000"/>
              </a:spcBef>
              <a:spcAft>
                <a:spcPts val="0"/>
              </a:spcAft>
              <a:buNone/>
            </a:pPr>
            <a:r>
              <a:rPr lang="en-US"/>
              <a:t># sudo systemctl enable mysql</a:t>
            </a:r>
            <a:endParaRPr/>
          </a:p>
          <a:p>
            <a:pPr indent="0" lvl="0" marL="0" rtl="0" algn="l">
              <a:spcBef>
                <a:spcPts val="1000"/>
              </a:spcBef>
              <a:spcAft>
                <a:spcPts val="0"/>
              </a:spcAft>
              <a:buNone/>
            </a:pPr>
            <a:r>
              <a:rPr lang="en-US"/>
              <a:t># sudo mysql_secure_installation</a:t>
            </a:r>
            <a:endParaRPr/>
          </a:p>
        </p:txBody>
      </p:sp>
      <p:sp>
        <p:nvSpPr>
          <p:cNvPr id="99" name="Google Shape;99;g2a51275799c_1_1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2a51275799c_1_17"/>
          <p:cNvSpPr txBox="1"/>
          <p:nvPr>
            <p:ph type="title"/>
          </p:nvPr>
        </p:nvSpPr>
        <p:spPr>
          <a:xfrm>
            <a:off x="228600" y="228600"/>
            <a:ext cx="10515600" cy="544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Tạo database, user, phân quyền, import dữ liệu</a:t>
            </a:r>
            <a:endParaRPr/>
          </a:p>
        </p:txBody>
      </p:sp>
      <p:sp>
        <p:nvSpPr>
          <p:cNvPr id="106" name="Google Shape;106;g2a51275799c_1_17"/>
          <p:cNvSpPr txBox="1"/>
          <p:nvPr>
            <p:ph idx="1" type="body"/>
          </p:nvPr>
        </p:nvSpPr>
        <p:spPr>
          <a:xfrm>
            <a:off x="381000" y="1066800"/>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mysql&gt; create database TestingSystem;</a:t>
            </a:r>
            <a:endParaRPr/>
          </a:p>
          <a:p>
            <a:pPr indent="0" lvl="0" marL="0" rtl="0" algn="l">
              <a:spcBef>
                <a:spcPts val="1000"/>
              </a:spcBef>
              <a:spcAft>
                <a:spcPts val="0"/>
              </a:spcAft>
              <a:buNone/>
            </a:pPr>
            <a:r>
              <a:rPr lang="en-US"/>
              <a:t>mysql&gt; create user 'erm'@'%' identified by 'PassWord123@';</a:t>
            </a:r>
            <a:endParaRPr/>
          </a:p>
          <a:p>
            <a:pPr indent="0" lvl="0" marL="0" rtl="0" algn="l">
              <a:spcBef>
                <a:spcPts val="1000"/>
              </a:spcBef>
              <a:spcAft>
                <a:spcPts val="0"/>
              </a:spcAft>
              <a:buNone/>
            </a:pPr>
            <a:r>
              <a:rPr lang="en-US"/>
              <a:t>mysql&gt; GRANT ALL PRIVILEGES ON TestingSystem.* TO 'erm'@'%';</a:t>
            </a:r>
            <a:endParaRPr/>
          </a:p>
          <a:p>
            <a:pPr indent="0" lvl="0" marL="0" rtl="0" algn="l">
              <a:spcBef>
                <a:spcPts val="1000"/>
              </a:spcBef>
              <a:spcAft>
                <a:spcPts val="0"/>
              </a:spcAft>
              <a:buNone/>
            </a:pPr>
            <a:r>
              <a:rPr lang="en-US"/>
              <a:t>mysql&gt; FLUSH PRIVILEGES;</a:t>
            </a:r>
            <a:endParaRPr/>
          </a:p>
          <a:p>
            <a:pPr indent="0" lvl="0" marL="0" rtl="0" algn="l">
              <a:spcBef>
                <a:spcPts val="1000"/>
              </a:spcBef>
              <a:spcAft>
                <a:spcPts val="0"/>
              </a:spcAft>
              <a:buNone/>
            </a:pPr>
            <a:r>
              <a:rPr lang="en-US"/>
              <a:t>mysql&gt; source /&lt;path&gt;/&lt;to&gt;/schema.sql</a:t>
            </a:r>
            <a:endParaRPr/>
          </a:p>
        </p:txBody>
      </p:sp>
      <p:sp>
        <p:nvSpPr>
          <p:cNvPr id="107" name="Google Shape;107;g2a51275799c_1_1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108" name="Google Shape;108;g2a51275799c_1_17"/>
          <p:cNvPicPr preferRelativeResize="0"/>
          <p:nvPr/>
        </p:nvPicPr>
        <p:blipFill>
          <a:blip r:embed="rId3">
            <a:alphaModFix/>
          </a:blip>
          <a:stretch>
            <a:fillRect/>
          </a:stretch>
        </p:blipFill>
        <p:spPr>
          <a:xfrm>
            <a:off x="7191363" y="2745925"/>
            <a:ext cx="4314825" cy="1714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2a51275799c_1_24"/>
          <p:cNvSpPr txBox="1"/>
          <p:nvPr>
            <p:ph type="title"/>
          </p:nvPr>
        </p:nvSpPr>
        <p:spPr>
          <a:xfrm>
            <a:off x="228600" y="228600"/>
            <a:ext cx="10515600" cy="544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Cài đặt môi trường chạy ứng dụng</a:t>
            </a:r>
            <a:endParaRPr/>
          </a:p>
        </p:txBody>
      </p:sp>
      <p:sp>
        <p:nvSpPr>
          <p:cNvPr id="115" name="Google Shape;115;g2a51275799c_1_24"/>
          <p:cNvSpPr txBox="1"/>
          <p:nvPr>
            <p:ph idx="1" type="body"/>
          </p:nvPr>
        </p:nvSpPr>
        <p:spPr>
          <a:xfrm>
            <a:off x="381000" y="1066800"/>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lang="en-US"/>
              <a:t># sudo apt-get update</a:t>
            </a:r>
            <a:endParaRPr/>
          </a:p>
          <a:p>
            <a:pPr indent="0" lvl="0" marL="0" rtl="0" algn="l">
              <a:spcBef>
                <a:spcPts val="1000"/>
              </a:spcBef>
              <a:spcAft>
                <a:spcPts val="0"/>
              </a:spcAft>
              <a:buNone/>
            </a:pPr>
            <a:r>
              <a:rPr lang="en-US"/>
              <a:t># sudo apt install default-jre -y</a:t>
            </a:r>
            <a:endParaRPr/>
          </a:p>
          <a:p>
            <a:pPr indent="0" lvl="0" marL="0" rtl="0" algn="l">
              <a:spcBef>
                <a:spcPts val="1000"/>
              </a:spcBef>
              <a:spcAft>
                <a:spcPts val="0"/>
              </a:spcAft>
              <a:buNone/>
            </a:pPr>
            <a:r>
              <a:rPr lang="en-US"/>
              <a:t># java -jar HelloWorld-0.0.1-SNAPSHOT.jar =&gt; </a:t>
            </a:r>
            <a:r>
              <a:rPr lang="en-US">
                <a:solidFill>
                  <a:srgbClr val="FF0000"/>
                </a:solidFill>
              </a:rPr>
              <a:t>Lỗi không kết nối được đến database</a:t>
            </a:r>
            <a:endParaRPr>
              <a:solidFill>
                <a:srgbClr val="FF0000"/>
              </a:solidFill>
            </a:endParaRPr>
          </a:p>
          <a:p>
            <a:pPr indent="0" lvl="0" marL="0" rtl="0" algn="l">
              <a:spcBef>
                <a:spcPts val="1000"/>
              </a:spcBef>
              <a:spcAft>
                <a:spcPts val="0"/>
              </a:spcAft>
              <a:buNone/>
            </a:pPr>
            <a:r>
              <a:rPr lang="en-US"/>
              <a:t># DB_USERNAME=erm DB_PASSWORD="PassWord123@" java -jar HelloWorld-0.0.1-SNAPSHOT.jar =&gt; </a:t>
            </a:r>
            <a:r>
              <a:rPr lang="en-US">
                <a:solidFill>
                  <a:srgbClr val="6AA84F"/>
                </a:solidFill>
              </a:rPr>
              <a:t>Thành công</a:t>
            </a:r>
            <a:endParaRPr>
              <a:solidFill>
                <a:srgbClr val="6AA84F"/>
              </a:solidFill>
            </a:endParaRPr>
          </a:p>
          <a:p>
            <a:pPr indent="0" lvl="0" marL="0" rtl="0" algn="l">
              <a:spcBef>
                <a:spcPts val="1000"/>
              </a:spcBef>
              <a:spcAft>
                <a:spcPts val="0"/>
              </a:spcAft>
              <a:buNone/>
            </a:pPr>
            <a:r>
              <a:t/>
            </a:r>
            <a:endParaRPr/>
          </a:p>
        </p:txBody>
      </p:sp>
      <p:sp>
        <p:nvSpPr>
          <p:cNvPr id="116" name="Google Shape;116;g2a51275799c_1_24"/>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2a51275799c_1_31"/>
          <p:cNvSpPr txBox="1"/>
          <p:nvPr>
            <p:ph type="title"/>
          </p:nvPr>
        </p:nvSpPr>
        <p:spPr>
          <a:xfrm>
            <a:off x="228600" y="228600"/>
            <a:ext cx="10515600" cy="544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Đóng gói ứng dụng thành service</a:t>
            </a:r>
            <a:endParaRPr/>
          </a:p>
        </p:txBody>
      </p:sp>
      <p:sp>
        <p:nvSpPr>
          <p:cNvPr id="123" name="Google Shape;123;g2a51275799c_1_31"/>
          <p:cNvSpPr txBox="1"/>
          <p:nvPr>
            <p:ph idx="1" type="body"/>
          </p:nvPr>
        </p:nvSpPr>
        <p:spPr>
          <a:xfrm>
            <a:off x="381000" y="1066800"/>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T</a:t>
            </a:r>
            <a:r>
              <a:rPr lang="en-US"/>
              <a:t>ạo file service</a:t>
            </a:r>
            <a:endParaRPr/>
          </a:p>
          <a:p>
            <a:pPr indent="0" lvl="0" marL="0" rtl="0" algn="l">
              <a:spcBef>
                <a:spcPts val="1000"/>
              </a:spcBef>
              <a:spcAft>
                <a:spcPts val="0"/>
              </a:spcAft>
              <a:buNone/>
            </a:pPr>
            <a:r>
              <a:rPr lang="en-US"/>
              <a:t>Start &amp; enable service</a:t>
            </a:r>
            <a:endParaRPr/>
          </a:p>
          <a:p>
            <a:pPr indent="0" lvl="0" marL="0" rtl="0" algn="l">
              <a:spcBef>
                <a:spcPts val="1000"/>
              </a:spcBef>
              <a:spcAft>
                <a:spcPts val="0"/>
              </a:spcAft>
              <a:buNone/>
            </a:pPr>
            <a:r>
              <a:rPr lang="en-US"/>
              <a:t>Kiểm tra reboot máy ảo</a:t>
            </a:r>
            <a:endParaRPr/>
          </a:p>
        </p:txBody>
      </p:sp>
      <p:sp>
        <p:nvSpPr>
          <p:cNvPr id="124" name="Google Shape;124;g2a51275799c_1_3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125" name="Google Shape;125;g2a51275799c_1_31"/>
          <p:cNvPicPr preferRelativeResize="0"/>
          <p:nvPr/>
        </p:nvPicPr>
        <p:blipFill>
          <a:blip r:embed="rId3">
            <a:alphaModFix/>
          </a:blip>
          <a:stretch>
            <a:fillRect/>
          </a:stretch>
        </p:blipFill>
        <p:spPr>
          <a:xfrm>
            <a:off x="4899913" y="1319725"/>
            <a:ext cx="6105525" cy="2800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2a51275799c_1_38"/>
          <p:cNvSpPr txBox="1"/>
          <p:nvPr>
            <p:ph type="title"/>
          </p:nvPr>
        </p:nvSpPr>
        <p:spPr>
          <a:xfrm>
            <a:off x="228600" y="228600"/>
            <a:ext cx="10515600" cy="544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Backup dữ liệu thường xuyên</a:t>
            </a:r>
            <a:endParaRPr/>
          </a:p>
        </p:txBody>
      </p:sp>
      <p:sp>
        <p:nvSpPr>
          <p:cNvPr id="132" name="Google Shape;132;g2a51275799c_1_38"/>
          <p:cNvSpPr txBox="1"/>
          <p:nvPr>
            <p:ph idx="1" type="body"/>
          </p:nvPr>
        </p:nvSpPr>
        <p:spPr>
          <a:xfrm>
            <a:off x="381000" y="1066800"/>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T</a:t>
            </a:r>
            <a:r>
              <a:rPr lang="en-US"/>
              <a:t>ạo script backup</a:t>
            </a:r>
            <a:endParaRPr/>
          </a:p>
          <a:p>
            <a:pPr indent="0" lvl="0" marL="0" rtl="0" algn="l">
              <a:spcBef>
                <a:spcPts val="1000"/>
              </a:spcBef>
              <a:spcAft>
                <a:spcPts val="0"/>
              </a:spcAft>
              <a:buNone/>
            </a:pPr>
            <a:r>
              <a:rPr lang="en-US"/>
              <a:t>Setup crontab</a:t>
            </a:r>
            <a:endParaRPr/>
          </a:p>
        </p:txBody>
      </p:sp>
      <p:sp>
        <p:nvSpPr>
          <p:cNvPr id="133" name="Google Shape;133;g2a51275799c_1_38"/>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134" name="Google Shape;134;g2a51275799c_1_38"/>
          <p:cNvPicPr preferRelativeResize="0"/>
          <p:nvPr/>
        </p:nvPicPr>
        <p:blipFill>
          <a:blip r:embed="rId3">
            <a:alphaModFix/>
          </a:blip>
          <a:stretch>
            <a:fillRect/>
          </a:stretch>
        </p:blipFill>
        <p:spPr>
          <a:xfrm>
            <a:off x="381000" y="2361025"/>
            <a:ext cx="9880874" cy="20295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2a51275799c_1_54"/>
          <p:cNvSpPr txBox="1"/>
          <p:nvPr>
            <p:ph type="title"/>
          </p:nvPr>
        </p:nvSpPr>
        <p:spPr>
          <a:xfrm>
            <a:off x="228600" y="228600"/>
            <a:ext cx="10515600" cy="544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Tóm tắt quá trình cài đặt ứng dụng</a:t>
            </a:r>
            <a:endParaRPr/>
          </a:p>
        </p:txBody>
      </p:sp>
      <p:sp>
        <p:nvSpPr>
          <p:cNvPr id="141" name="Google Shape;141;g2a51275799c_1_54"/>
          <p:cNvSpPr txBox="1"/>
          <p:nvPr>
            <p:ph idx="1" type="body"/>
          </p:nvPr>
        </p:nvSpPr>
        <p:spPr>
          <a:xfrm>
            <a:off x="381000" y="1066800"/>
            <a:ext cx="10515600" cy="4351200"/>
          </a:xfrm>
          <a:prstGeom prst="rect">
            <a:avLst/>
          </a:prstGeom>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rgbClr val="6AA84F"/>
              </a:buClr>
              <a:buSzPts val="3200"/>
              <a:buChar char="•"/>
            </a:pPr>
            <a:r>
              <a:rPr lang="en-US" sz="3200">
                <a:solidFill>
                  <a:srgbClr val="6AA84F"/>
                </a:solidFill>
              </a:rPr>
              <a:t>Phân quyền truy cập database chính xác</a:t>
            </a:r>
            <a:endParaRPr>
              <a:solidFill>
                <a:srgbClr val="6AA84F"/>
              </a:solidFill>
            </a:endParaRPr>
          </a:p>
          <a:p>
            <a:pPr indent="-228600" lvl="0" marL="228600" rtl="0" algn="just">
              <a:lnSpc>
                <a:spcPct val="100000"/>
              </a:lnSpc>
              <a:spcBef>
                <a:spcPts val="640"/>
              </a:spcBef>
              <a:spcAft>
                <a:spcPts val="0"/>
              </a:spcAft>
              <a:buClr>
                <a:srgbClr val="6AA84F"/>
              </a:buClr>
              <a:buSzPts val="3200"/>
              <a:buChar char="•"/>
            </a:pPr>
            <a:r>
              <a:rPr lang="en-US" sz="3200">
                <a:solidFill>
                  <a:srgbClr val="6AA84F"/>
                </a:solidFill>
              </a:rPr>
              <a:t>Backup dữ liệu thường xuyên</a:t>
            </a:r>
            <a:endParaRPr>
              <a:solidFill>
                <a:srgbClr val="6AA84F"/>
              </a:solidFill>
            </a:endParaRPr>
          </a:p>
          <a:p>
            <a:pPr indent="-228600" lvl="0" marL="228600" rtl="0" algn="just">
              <a:lnSpc>
                <a:spcPct val="100000"/>
              </a:lnSpc>
              <a:spcBef>
                <a:spcPts val="640"/>
              </a:spcBef>
              <a:spcAft>
                <a:spcPts val="0"/>
              </a:spcAft>
              <a:buClr>
                <a:srgbClr val="6AA84F"/>
              </a:buClr>
              <a:buSzPts val="3200"/>
              <a:buChar char="•"/>
            </a:pPr>
            <a:r>
              <a:rPr lang="en-US" sz="3200">
                <a:solidFill>
                  <a:srgbClr val="6AA84F"/>
                </a:solidFill>
              </a:rPr>
              <a:t>Ứng dụng được đóng gói dưới dạng dịch vụ</a:t>
            </a:r>
            <a:endParaRPr sz="3200">
              <a:solidFill>
                <a:srgbClr val="6AA84F"/>
              </a:solidFill>
            </a:endParaRPr>
          </a:p>
          <a:p>
            <a:pPr indent="-228600" lvl="0" marL="228600" rtl="0" algn="just">
              <a:lnSpc>
                <a:spcPct val="100000"/>
              </a:lnSpc>
              <a:spcBef>
                <a:spcPts val="640"/>
              </a:spcBef>
              <a:spcAft>
                <a:spcPts val="0"/>
              </a:spcAft>
              <a:buClr>
                <a:srgbClr val="6AA84F"/>
              </a:buClr>
              <a:buSzPts val="3200"/>
              <a:buChar char="•"/>
            </a:pPr>
            <a:r>
              <a:rPr lang="en-US" sz="3200">
                <a:solidFill>
                  <a:srgbClr val="6AA84F"/>
                </a:solidFill>
              </a:rPr>
              <a:t>Tự động chạy khi server khởi động lại</a:t>
            </a:r>
            <a:endParaRPr>
              <a:solidFill>
                <a:srgbClr val="6AA84F"/>
              </a:solidFill>
            </a:endParaRPr>
          </a:p>
          <a:p>
            <a:pPr indent="-228600" lvl="0" marL="228600" rtl="0" algn="just">
              <a:lnSpc>
                <a:spcPct val="100000"/>
              </a:lnSpc>
              <a:spcBef>
                <a:spcPts val="640"/>
              </a:spcBef>
              <a:spcAft>
                <a:spcPts val="0"/>
              </a:spcAft>
              <a:buSzPts val="3200"/>
              <a:buChar char="•"/>
            </a:pPr>
            <a:r>
              <a:rPr lang="en-US" sz="3200"/>
              <a:t>Giám sát và ghi log chi tiết</a:t>
            </a:r>
            <a:endParaRPr/>
          </a:p>
          <a:p>
            <a:pPr indent="-228600" lvl="0" marL="228600" rtl="0" algn="just">
              <a:lnSpc>
                <a:spcPct val="100000"/>
              </a:lnSpc>
              <a:spcBef>
                <a:spcPts val="640"/>
              </a:spcBef>
              <a:spcAft>
                <a:spcPts val="0"/>
              </a:spcAft>
              <a:buSzPts val="3200"/>
              <a:buChar char="•"/>
            </a:pPr>
            <a:r>
              <a:rPr lang="en-US" sz="3200"/>
              <a:t>Cơ chế bảo mật mạnh mẽ</a:t>
            </a:r>
            <a:endParaRPr/>
          </a:p>
        </p:txBody>
      </p:sp>
      <p:sp>
        <p:nvSpPr>
          <p:cNvPr id="142" name="Google Shape;142;g2a51275799c_1_54"/>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32"/>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t/>
            </a:r>
            <a:endParaRPr/>
          </a:p>
        </p:txBody>
      </p:sp>
      <p:sp>
        <p:nvSpPr>
          <p:cNvPr id="148" name="Google Shape;148;p32"/>
          <p:cNvSpPr txBox="1"/>
          <p:nvPr>
            <p:ph idx="1" type="body"/>
          </p:nvPr>
        </p:nvSpPr>
        <p:spPr>
          <a:xfrm>
            <a:off x="381000" y="914400"/>
            <a:ext cx="10515600" cy="4351338"/>
          </a:xfrm>
          <a:prstGeom prst="rect">
            <a:avLst/>
          </a:prstGeom>
          <a:noFill/>
          <a:ln>
            <a:noFill/>
          </a:ln>
        </p:spPr>
        <p:txBody>
          <a:bodyPr anchorCtr="0" anchor="t" bIns="45700" lIns="91425" spcFirstLastPara="1" rIns="91425" wrap="square" tIns="45700">
            <a:noAutofit/>
          </a:bodyPr>
          <a:lstStyle/>
          <a:p>
            <a:pPr indent="0" lvl="0" marL="0" rtl="0" algn="ctr">
              <a:lnSpc>
                <a:spcPct val="150000"/>
              </a:lnSpc>
              <a:spcBef>
                <a:spcPts val="0"/>
              </a:spcBef>
              <a:spcAft>
                <a:spcPts val="0"/>
              </a:spcAft>
              <a:buClr>
                <a:schemeClr val="dk1"/>
              </a:buClr>
              <a:buSzPts val="2800"/>
              <a:buNone/>
            </a:pPr>
            <a:r>
              <a:rPr lang="en-US">
                <a:latin typeface="Arial"/>
                <a:ea typeface="Arial"/>
                <a:cs typeface="Arial"/>
                <a:sym typeface="Arial"/>
              </a:rPr>
              <a:t>Thank You</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Font typeface="Noto Sans Symbols"/>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49" name="Google Shape;149;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end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2005-08-06T12:02:07Z</dcterms:created>
  <dc:creator>YWC</dc:creator>
</cp:coreProperties>
</file>