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embeddedFontLst>
    <p:embeddedFont>
      <p:font typeface="Roboto"/>
      <p:regular r:id="rId23"/>
      <p:bold r:id="rId24"/>
      <p:italic r:id="rId25"/>
      <p:boldItalic r:id="rId26"/>
    </p:embeddedFont>
    <p:embeddedFont>
      <p:font typeface="Tahoma"/>
      <p:regular r:id="rId27"/>
      <p:bold r:id="rId28"/>
    </p:embeddedFont>
    <p:embeddedFont>
      <p:font typeface="Helvetica Neue"/>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3" roundtripDataSignature="AMtx7mhyG+tYjD7ifCWDVF9zr6LLDygz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933203-EDFB-4FF3-827A-AC3DC758B2E8}">
  <a:tblStyle styleId="{E2933203-EDFB-4FF3-827A-AC3DC758B2E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2F10B8FD-E2D9-4A61-A9A9-04D48723477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Tahoma-bold.fntdata"/><Relationship Id="rId27" Type="http://schemas.openxmlformats.org/officeDocument/2006/relationships/font" Target="fonts/Tahom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elveticaNeu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italic.fntdata"/><Relationship Id="rId30" Type="http://schemas.openxmlformats.org/officeDocument/2006/relationships/font" Target="fonts/HelveticaNeue-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HelveticaNeue-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vi.wikipedia.org/wiki/Linux" TargetMode="External"/><Relationship Id="rId3" Type="http://schemas.openxmlformats.org/officeDocument/2006/relationships/hyperlink" Target="https://l.facebook.com/l.php?u=https%3A%2F%2Fen.wikipedia.org%2Fwiki%2FLinus_Torvalds%3Ffbclid%3DIwAR0FMGduNyQTMjqZmlb6i3oZj_b5NzOxkCeGnE3nvyXGa5-TIfpcMBMSQHE&amp;h=AT2KnZjZSM9D_4o46L7tBTX51soVJTT5vXyiXi0649ROG1AK_Bm6MHVBG77p_L7y3SywaYBsGW0ffKffa4fwUAGhKeqN-7mxkactbcqD0sfTSsdBW7omM8yv3ajJ7A"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vi.wikipedia.org/wiki/Linux"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pload.wikimedia.org/wikipedia/commons/5/58/Linux_Distribution_Timeline_with_Android.svg"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z.com/vn/en/news/centos/#:~:text=CentOS%20Stream%20l%C3%A0%20m%E1%BB%99t%20phi%C3%AAn,%C4%91%E1%BA%A9y%20m%E1%BA%A1nh%20b%E1%BB%9Fi%20Red%20Ha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loudnativeviet.net/wiki/operating-system/bootstrapping/linux-booting/"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akivo.com/blog/virtualbox-network-setting-guide/"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hoenixnap.com/kb/useradd-vs-adduser#:~:text=adduser%20provides%20guides%20through%20the,the%20same%20tasks%20as%20adduser%2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 name="Google Shape;5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 name="Google Shape;58;p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65" name="Google Shape;6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6" name="Google Shape;66;p3: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Đọc thêm về linux tại : </a:t>
            </a:r>
            <a:r>
              <a:rPr lang="en-US" u="sng">
                <a:solidFill>
                  <a:schemeClr val="hlink"/>
                </a:solidFill>
                <a:latin typeface="Arial"/>
                <a:ea typeface="Arial"/>
                <a:cs typeface="Arial"/>
                <a:sym typeface="Arial"/>
                <a:hlinkClick r:id="rId2"/>
              </a:rPr>
              <a:t>https://vi.wikipedia.org/wiki/Linux</a:t>
            </a:r>
            <a:r>
              <a:rPr lang="en-US">
                <a:latin typeface="Arial"/>
                <a:ea typeface="Arial"/>
                <a:cs typeface="Arial"/>
                <a:sym typeface="Arial"/>
              </a:rPr>
              <a:t>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latin typeface="Arial"/>
                <a:ea typeface="Arial"/>
                <a:cs typeface="Arial"/>
                <a:sym typeface="Arial"/>
              </a:rPr>
              <a:t>1. Khi </a:t>
            </a:r>
            <a:r>
              <a:rPr lang="en-US" u="sng">
                <a:solidFill>
                  <a:schemeClr val="hlink"/>
                </a:solidFill>
                <a:latin typeface="Arial"/>
                <a:ea typeface="Arial"/>
                <a:cs typeface="Arial"/>
                <a:sym typeface="Arial"/>
                <a:hlinkClick r:id="rId3"/>
              </a:rPr>
              <a:t>Linus Torvalds</a:t>
            </a:r>
            <a:r>
              <a:rPr lang="en-US">
                <a:latin typeface="Arial"/>
                <a:ea typeface="Arial"/>
                <a:cs typeface="Arial"/>
                <a:sym typeface="Arial"/>
              </a:rPr>
              <a:t> lần đầu tiên sáng tạo ra Linux Kernel vào 5-10-1991 thì khi đó nhân của Linux chỉ có vẻn vẹn 65K - đồng thời là người tạo ra GIT – Distributed version control.</a:t>
            </a:r>
            <a:endParaRPr>
              <a:latin typeface="Arial"/>
              <a:ea typeface="Arial"/>
              <a:cs typeface="Arial"/>
              <a:sym typeface="Arial"/>
            </a:endParaRPr>
          </a:p>
          <a:p>
            <a:pPr indent="0" lvl="0" marL="0" rtl="0" algn="l">
              <a:spcBef>
                <a:spcPts val="360"/>
              </a:spcBef>
              <a:spcAft>
                <a:spcPts val="0"/>
              </a:spcAft>
              <a:buNone/>
            </a:pPr>
            <a:r>
              <a:rPr lang="en-US">
                <a:latin typeface="Arial"/>
                <a:ea typeface="Arial"/>
                <a:cs typeface="Arial"/>
                <a:sym typeface="Arial"/>
              </a:rPr>
              <a:t>2. Phiên bản nhân của Linux 3.18 (2015) đã có </a:t>
            </a:r>
            <a:r>
              <a:rPr i="1" lang="en-US">
                <a:latin typeface="Arial"/>
                <a:ea typeface="Arial"/>
                <a:cs typeface="Arial"/>
                <a:sym typeface="Arial"/>
              </a:rPr>
              <a:t>19 triệu dòng lệnh</a:t>
            </a:r>
            <a:r>
              <a:rPr lang="en-US">
                <a:latin typeface="Arial"/>
                <a:ea typeface="Arial"/>
                <a:cs typeface="Arial"/>
                <a:sym typeface="Arial"/>
              </a:rPr>
              <a:t> (18,997,848 lines). Khi biên dịch kernel có kích thước hơn 2M, mỗi tuần có đến 1300 cập nhật (updates) được phê chuẩn để đưa vào nhân. Ở đây chỉ nói riêng về nhân (kernel), còn các lệnh ngoại trú, hay các thư viện và các ứng dụng không tính đến ở đây. Hiện có 4,169 lập trình viên đang ngày đêm ngồi code cho nhân linux [4].</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75" name="Google Shape;7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76" name="Google Shape;76;p4: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Đọc thêm về linux tại : </a:t>
            </a:r>
            <a:r>
              <a:rPr lang="en-US" u="sng">
                <a:solidFill>
                  <a:schemeClr val="hlink"/>
                </a:solidFill>
                <a:latin typeface="Arial"/>
                <a:ea typeface="Arial"/>
                <a:cs typeface="Arial"/>
                <a:sym typeface="Arial"/>
                <a:hlinkClick r:id="rId2"/>
              </a:rPr>
              <a:t>https://vi.wikipedia.org/wiki/Linux</a:t>
            </a:r>
            <a:r>
              <a:rPr lang="en-US">
                <a:latin typeface="Arial"/>
                <a:ea typeface="Arial"/>
                <a:cs typeface="Arial"/>
                <a:sym typeface="Arial"/>
              </a:rPr>
              <a:t> </a:t>
            </a:r>
            <a:endParaRPr/>
          </a:p>
          <a:p>
            <a:pPr indent="0" lvl="0" marL="0" rtl="0" algn="l">
              <a:spcBef>
                <a:spcPts val="360"/>
              </a:spcBef>
              <a:spcAft>
                <a:spcPts val="0"/>
              </a:spcAft>
              <a:buNone/>
            </a:pPr>
            <a:r>
              <a:t/>
            </a:r>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Linux dựa trên nền tảng của UNIX và được phát triển từ MINIX – một phiên bản đơn giản của UNIX dành cho sinh viên với mục đích giáo dục.</a:t>
            </a:r>
            <a:endParaRPr>
              <a:latin typeface="Arial"/>
              <a:ea typeface="Arial"/>
              <a:cs typeface="Arial"/>
              <a:sym typeface="Arial"/>
            </a:endParaRPr>
          </a:p>
          <a:p>
            <a:pPr indent="0" lvl="0" marL="0" rtl="0" algn="l">
              <a:spcBef>
                <a:spcPts val="360"/>
              </a:spcBef>
              <a:spcAft>
                <a:spcPts val="0"/>
              </a:spcAft>
              <a:buNone/>
            </a:pPr>
            <a:r>
              <a:rPr lang="en-US">
                <a:latin typeface="Arial"/>
                <a:ea typeface="Arial"/>
                <a:cs typeface="Arial"/>
                <a:sym typeface="Arial"/>
              </a:rPr>
              <a:t>2. Phiên bản nhân của Linux 3.18 (2015) đã có </a:t>
            </a:r>
            <a:r>
              <a:rPr i="1" lang="en-US">
                <a:latin typeface="Arial"/>
                <a:ea typeface="Arial"/>
                <a:cs typeface="Arial"/>
                <a:sym typeface="Arial"/>
              </a:rPr>
              <a:t>19 triệu dòng lệnh</a:t>
            </a:r>
            <a:r>
              <a:rPr lang="en-US">
                <a:latin typeface="Arial"/>
                <a:ea typeface="Arial"/>
                <a:cs typeface="Arial"/>
                <a:sym typeface="Arial"/>
              </a:rPr>
              <a:t> (18,997,848 lines). Khi biên dịch kernel có kích thước hơn 2M, mỗi tuần có đến 1300 cập nhật (updates) được phê chuẩn để đưa vào nhân. Ở đây chỉ nói riêng về nhân (kernel), còn các lệnh ngoại trú, hay các thư viện và các ứng dụng không tính đến ở đây. Hiện có 4,169 lập trình viên đang ngày đêm ngồi code cho nhân linux [4].</a:t>
            </a:r>
            <a:endParaRPr/>
          </a:p>
          <a:p>
            <a:pPr indent="0" lvl="0" marL="0" rtl="0" algn="l">
              <a:spcBef>
                <a:spcPts val="360"/>
              </a:spcBef>
              <a:spcAft>
                <a:spcPts val="0"/>
              </a:spcAft>
              <a:buNone/>
            </a:pPr>
            <a:r>
              <a:rPr lang="en-US">
                <a:latin typeface="Arial"/>
                <a:ea typeface="Arial"/>
                <a:cs typeface="Arial"/>
                <a:sym typeface="Arial"/>
              </a:rPr>
              <a:t>3. Bộ quốc phòng Mỹ sử dụng Linux rất tích cực, các tầu ngầm nguyên tử của Mỹ đang sử dụng Redhat Linux để vận hành hệ thống.</a:t>
            </a:r>
            <a:endParaRPr/>
          </a:p>
          <a:p>
            <a:pPr indent="0" lvl="0" marL="0" rtl="0" algn="l">
              <a:spcBef>
                <a:spcPts val="360"/>
              </a:spcBef>
              <a:spcAft>
                <a:spcPts val="0"/>
              </a:spcAft>
              <a:buNone/>
            </a:pPr>
            <a:r>
              <a:rPr lang="en-US">
                <a:latin typeface="Arial"/>
                <a:ea typeface="Arial"/>
                <a:cs typeface="Arial"/>
                <a:sym typeface="Arial"/>
              </a:rPr>
              <a:t>4. Các hệ thống lớn và các ứng dụng đám mây (cloud) như google, facebook, amazon đều sử dụng Linux.</a:t>
            </a:r>
            <a:endParaRPr/>
          </a:p>
          <a:p>
            <a:pPr indent="0" lvl="0" marL="0" rtl="0" algn="l">
              <a:spcBef>
                <a:spcPts val="360"/>
              </a:spcBef>
              <a:spcAft>
                <a:spcPts val="0"/>
              </a:spcAft>
              <a:buNone/>
            </a:pPr>
            <a:r>
              <a:rPr lang="en-US">
                <a:latin typeface="Arial"/>
                <a:ea typeface="Arial"/>
                <a:cs typeface="Arial"/>
                <a:sym typeface="Arial"/>
              </a:rPr>
              <a:t>5. Linux được sử dụng trong các tầu hỏa tốc dạng ống của Nhật bản, trong các hệ thống thông tin giải trí trong nhiều dòng xe Toyota và cả ở nhiều hãng khác.</a:t>
            </a:r>
            <a:endParaRPr/>
          </a:p>
          <a:p>
            <a:pPr indent="0" lvl="0" marL="0" rtl="0" algn="l">
              <a:spcBef>
                <a:spcPts val="360"/>
              </a:spcBef>
              <a:spcAft>
                <a:spcPts val="0"/>
              </a:spcAft>
              <a:buNone/>
            </a:pPr>
            <a:r>
              <a:rPr lang="en-US">
                <a:latin typeface="Arial"/>
                <a:ea typeface="Arial"/>
                <a:cs typeface="Arial"/>
                <a:sym typeface="Arial"/>
              </a:rPr>
              <a:t>6. Đa phần trong số 500 siêu máy tính nhanh nhất thế giới đều sử dụng nền tảng Linux và trong địa hạt này Linux cũng là số 1.</a:t>
            </a:r>
            <a:endParaRPr/>
          </a:p>
          <a:p>
            <a:pPr indent="0" lvl="0" marL="0" rtl="0" algn="l">
              <a:spcBef>
                <a:spcPts val="360"/>
              </a:spcBef>
              <a:spcAft>
                <a:spcPts val="0"/>
              </a:spcAft>
              <a:buNone/>
            </a:pPr>
            <a:r>
              <a:rPr lang="en-US">
                <a:latin typeface="Arial"/>
                <a:ea typeface="Arial"/>
                <a:cs typeface="Arial"/>
                <a:sym typeface="Arial"/>
              </a:rPr>
              <a:t>7. Trong tất cả các điện thoại chạy hệ điều hành Android đều có nhân của Linux. Điện thoại Android tính đến năm 2015 chiếm 81% thị phần [2], và theo báo cáo của Google hiện đã có 1.4 tỷ thiết bị chạy Android [3]. </a:t>
            </a:r>
            <a:endParaRPr/>
          </a:p>
          <a:p>
            <a:pPr indent="0" lvl="0" marL="0" rtl="0" algn="l">
              <a:spcBef>
                <a:spcPts val="360"/>
              </a:spcBef>
              <a:spcAft>
                <a:spcPts val="0"/>
              </a:spcAft>
              <a:buNone/>
            </a:pPr>
            <a:r>
              <a:rPr lang="en-US">
                <a:latin typeface="Arial"/>
                <a:ea typeface="Arial"/>
                <a:cs typeface="Arial"/>
                <a:sym typeface="Arial"/>
              </a:rPr>
              <a:t>8. Linux cũng có vài trò không nhỏ trong lĩnh vực điện ảnh, Titanic và phim 3D đầu tiên là Avatar cũng được dựng trên hệ điều hành Linux.</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84" name="Google Shape;8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85" name="Google Shape;85;p5: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lang="en-US" u="sng">
                <a:solidFill>
                  <a:schemeClr val="hlink"/>
                </a:solidFill>
                <a:latin typeface="Arial"/>
                <a:ea typeface="Arial"/>
                <a:cs typeface="Arial"/>
                <a:sym typeface="Arial"/>
                <a:hlinkClick r:id="rId2"/>
              </a:rPr>
              <a:t>https://upload.wikimedia.org/wikipedia/commons/5/58/Linux_Distribution_Timeline_with_Android.svg</a:t>
            </a:r>
            <a:endParaRPr>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92" name="Google Shape;9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93" name="Google Shape;93;p6: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01" name="Google Shape;10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02" name="Google Shape;102;p7: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Chức năng của các thư mục trong hệ thống của ubuntu:</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a:t>
            </a:r>
            <a:r>
              <a:rPr b="0" i="0" lang="en-US" sz="1200">
                <a:solidFill>
                  <a:schemeClr val="dk1"/>
                </a:solidFill>
                <a:latin typeface="Arial"/>
                <a:ea typeface="Arial"/>
                <a:cs typeface="Arial"/>
                <a:sym typeface="Arial"/>
              </a:rPr>
              <a:t> (hay </a:t>
            </a:r>
            <a:r>
              <a:rPr b="1" i="0" lang="en-US" sz="1200">
                <a:solidFill>
                  <a:schemeClr val="dk1"/>
                </a:solidFill>
                <a:latin typeface="Arial"/>
                <a:ea typeface="Arial"/>
                <a:cs typeface="Arial"/>
                <a:sym typeface="Arial"/>
              </a:rPr>
              <a:t>computer</a:t>
            </a:r>
            <a:r>
              <a:rPr b="0" i="0" lang="en-US" sz="1200">
                <a:solidFill>
                  <a:schemeClr val="dk1"/>
                </a:solidFill>
                <a:latin typeface="Arial"/>
                <a:ea typeface="Arial"/>
                <a:cs typeface="Arial"/>
                <a:sym typeface="Arial"/>
              </a:rPr>
              <a:t>) - </a:t>
            </a:r>
            <a:r>
              <a:rPr b="1" i="0" lang="en-US" sz="1200">
                <a:solidFill>
                  <a:schemeClr val="dk1"/>
                </a:solidFill>
                <a:latin typeface="Arial"/>
                <a:ea typeface="Arial"/>
                <a:cs typeface="Arial"/>
                <a:sym typeface="Arial"/>
              </a:rPr>
              <a:t>Root</a:t>
            </a:r>
            <a:r>
              <a:rPr b="0" i="0" lang="en-US" sz="1200">
                <a:solidFill>
                  <a:schemeClr val="dk1"/>
                </a:solidFill>
                <a:latin typeface="Arial"/>
                <a:ea typeface="Arial"/>
                <a:cs typeface="Arial"/>
                <a:sym typeface="Arial"/>
              </a:rPr>
              <a:t> - Thư mục gốc (khác với thư mục </a:t>
            </a:r>
            <a:r>
              <a:rPr b="1" i="0" lang="en-US" sz="1200">
                <a:solidFill>
                  <a:schemeClr val="dk1"/>
                </a:solidFill>
                <a:latin typeface="Arial"/>
                <a:ea typeface="Arial"/>
                <a:cs typeface="Arial"/>
                <a:sym typeface="Arial"/>
              </a:rPr>
              <a:t>/root</a:t>
            </a:r>
            <a:r>
              <a:rPr b="0" i="0" lang="en-US" sz="1200">
                <a:solidFill>
                  <a:schemeClr val="dk1"/>
                </a:solidFill>
                <a:latin typeface="Arial"/>
                <a:ea typeface="Arial"/>
                <a:cs typeface="Arial"/>
                <a:sym typeface="Arial"/>
              </a:rPr>
              <a:t>): Mọi file trong hệ thống của ubuntu đều bắt đầu từ nguồn này. Chứa file hệ thống, các tệp tin cá nhân cũng như link tới các ổ đĩa cứng, mềm. Đại khái là chứa tất cả những thằng ở dưới đây.</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 Có 1 cái joke với câu lệnh “rm –rf /” ~ tượng tự như xóa folder windows</a:t>
            </a:r>
            <a:endParaRPr/>
          </a:p>
          <a:p>
            <a:pPr indent="0" lvl="0" marL="0" marR="0" rtl="0" algn="l">
              <a:lnSpc>
                <a:spcPct val="100000"/>
              </a:lnSpc>
              <a:spcBef>
                <a:spcPts val="360"/>
              </a:spcBef>
              <a:spcAft>
                <a:spcPts val="0"/>
              </a:spcAft>
              <a:buClr>
                <a:schemeClr val="dk1"/>
              </a:buClr>
              <a:buSzPts val="1200"/>
              <a:buFont typeface="Arial"/>
              <a:buNone/>
            </a:pPr>
            <a:r>
              <a:rPr b="1" i="0" lang="en-US" sz="1200">
                <a:solidFill>
                  <a:schemeClr val="dk1"/>
                </a:solidFill>
                <a:latin typeface="Arial"/>
                <a:ea typeface="Arial"/>
                <a:cs typeface="Arial"/>
                <a:sym typeface="Arial"/>
              </a:rPr>
              <a:t>/etc</a:t>
            </a:r>
            <a:r>
              <a:rPr b="0" i="0" lang="en-US" sz="1200">
                <a:solidFill>
                  <a:schemeClr val="dk1"/>
                </a:solidFill>
                <a:latin typeface="Arial"/>
                <a:ea typeface="Arial"/>
                <a:cs typeface="Arial"/>
                <a:sym typeface="Arial"/>
              </a:rPr>
              <a:t> - Các tập tin cấu hình. Cấu hình trong file này thường sẽ ảnh hưởng đến tất cả người dùng trên hệ thống. Thường là config của các chương trình được cài đặt toàn cục.</a:t>
            </a:r>
            <a:endParaRPr/>
          </a:p>
          <a:p>
            <a:pPr indent="0" lvl="0" marL="0" marR="0" rtl="0" algn="l">
              <a:lnSpc>
                <a:spcPct val="100000"/>
              </a:lnSpc>
              <a:spcBef>
                <a:spcPts val="360"/>
              </a:spcBef>
              <a:spcAft>
                <a:spcPts val="0"/>
              </a:spcAft>
              <a:buClr>
                <a:schemeClr val="dk1"/>
              </a:buClr>
              <a:buSzPts val="1200"/>
              <a:buFont typeface="Arial"/>
              <a:buNone/>
            </a:pPr>
            <a:r>
              <a:rPr b="1" i="0" lang="en-US" sz="1200">
                <a:solidFill>
                  <a:schemeClr val="dk1"/>
                </a:solidFill>
                <a:latin typeface="Arial"/>
                <a:ea typeface="Arial"/>
                <a:cs typeface="Arial"/>
                <a:sym typeface="Arial"/>
              </a:rPr>
              <a:t>/var</a:t>
            </a:r>
            <a:r>
              <a:rPr b="0" i="0" lang="en-US" sz="1200">
                <a:solidFill>
                  <a:schemeClr val="dk1"/>
                </a:solidFill>
                <a:latin typeface="Arial"/>
                <a:ea typeface="Arial"/>
                <a:cs typeface="Arial"/>
                <a:sym typeface="Arial"/>
              </a:rPr>
              <a:t> - các tệp tin thay đổi: Chứa các tập tin mà dung lượng lớn dần theo thời gian sử dụng. Bao gồm – Các tập tin ghi chú về hệ thống (</a:t>
            </a:r>
            <a:r>
              <a:rPr b="1" i="0" lang="en-US" sz="1200">
                <a:solidFill>
                  <a:schemeClr val="dk1"/>
                </a:solidFill>
                <a:latin typeface="Arial"/>
                <a:ea typeface="Arial"/>
                <a:cs typeface="Arial"/>
                <a:sym typeface="Arial"/>
              </a:rPr>
              <a:t>/var/log</a:t>
            </a:r>
            <a:r>
              <a:rPr b="0" i="0" lang="en-US" sz="1200">
                <a:solidFill>
                  <a:schemeClr val="dk1"/>
                </a:solidFill>
                <a:latin typeface="Arial"/>
                <a:ea typeface="Arial"/>
                <a:cs typeface="Arial"/>
                <a:sym typeface="Arial"/>
              </a:rPr>
              <a:t>); các gói và các tập tin cơ sở dữ liệu (</a:t>
            </a:r>
            <a:r>
              <a:rPr b="1" i="0" lang="en-US" sz="1200">
                <a:solidFill>
                  <a:schemeClr val="dk1"/>
                </a:solidFill>
                <a:latin typeface="Arial"/>
                <a:ea typeface="Arial"/>
                <a:cs typeface="Arial"/>
                <a:sym typeface="Arial"/>
              </a:rPr>
              <a:t>/var/lib</a:t>
            </a:r>
            <a:r>
              <a:rPr b="0" i="0" lang="en-US" sz="1200">
                <a:solidFill>
                  <a:schemeClr val="dk1"/>
                </a:solidFill>
                <a:latin typeface="Arial"/>
                <a:ea typeface="Arial"/>
                <a:cs typeface="Arial"/>
                <a:sym typeface="Arial"/>
              </a:rPr>
              <a:t>); thư điện tử (</a:t>
            </a:r>
            <a:r>
              <a:rPr b="1" i="0" lang="en-US" sz="1200">
                <a:solidFill>
                  <a:schemeClr val="dk1"/>
                </a:solidFill>
                <a:latin typeface="Arial"/>
                <a:ea typeface="Arial"/>
                <a:cs typeface="Arial"/>
                <a:sym typeface="Arial"/>
              </a:rPr>
              <a:t>/var/mail</a:t>
            </a:r>
            <a:r>
              <a:rPr b="0" i="0" lang="en-US" sz="1200">
                <a:solidFill>
                  <a:schemeClr val="dk1"/>
                </a:solidFill>
                <a:latin typeface="Arial"/>
                <a:ea typeface="Arial"/>
                <a:cs typeface="Arial"/>
                <a:sym typeface="Arial"/>
              </a:rPr>
              <a:t>); hàng đợi in queues (</a:t>
            </a:r>
            <a:r>
              <a:rPr b="1" i="0" lang="en-US" sz="1200">
                <a:solidFill>
                  <a:schemeClr val="dk1"/>
                </a:solidFill>
                <a:latin typeface="Arial"/>
                <a:ea typeface="Arial"/>
                <a:cs typeface="Arial"/>
                <a:sym typeface="Arial"/>
              </a:rPr>
              <a:t>/var/spool</a:t>
            </a:r>
            <a:r>
              <a:rPr b="0" i="0" lang="en-US" sz="1200">
                <a:solidFill>
                  <a:schemeClr val="dk1"/>
                </a:solidFill>
                <a:latin typeface="Arial"/>
                <a:ea typeface="Arial"/>
                <a:cs typeface="Arial"/>
                <a:sym typeface="Arial"/>
              </a:rPr>
              <a:t>); các tập tin khóa (</a:t>
            </a:r>
            <a:r>
              <a:rPr b="1" i="0" lang="en-US" sz="1200">
                <a:solidFill>
                  <a:schemeClr val="dk1"/>
                </a:solidFill>
                <a:latin typeface="Arial"/>
                <a:ea typeface="Arial"/>
                <a:cs typeface="Arial"/>
                <a:sym typeface="Arial"/>
              </a:rPr>
              <a:t>/var/lock</a:t>
            </a:r>
            <a:r>
              <a:rPr b="0" i="0" lang="en-US" sz="1200">
                <a:solidFill>
                  <a:schemeClr val="dk1"/>
                </a:solidFill>
                <a:latin typeface="Arial"/>
                <a:ea typeface="Arial"/>
                <a:cs typeface="Arial"/>
                <a:sym typeface="Arial"/>
              </a:rPr>
              <a:t>); các tập tin tạm được dùng khi khởi động lại (</a:t>
            </a:r>
            <a:r>
              <a:rPr b="1" i="0" lang="en-US" sz="1200">
                <a:solidFill>
                  <a:schemeClr val="dk1"/>
                </a:solidFill>
                <a:latin typeface="Arial"/>
                <a:ea typeface="Arial"/>
                <a:cs typeface="Arial"/>
                <a:sym typeface="Arial"/>
              </a:rPr>
              <a:t>/var/tmp</a:t>
            </a:r>
            <a:r>
              <a:rPr b="0" i="0" lang="en-US" sz="1200">
                <a:solidFill>
                  <a:schemeClr val="dk1"/>
                </a:solidFill>
                <a:latin typeface="Arial"/>
                <a:ea typeface="Arial"/>
                <a:cs typeface="Arial"/>
                <a:sym typeface="Arial"/>
              </a:rPr>
              <a:t>).</a:t>
            </a:r>
            <a:endParaRPr/>
          </a:p>
          <a:p>
            <a:pPr indent="0" lvl="0" marL="0" marR="0" rtl="0" algn="l">
              <a:lnSpc>
                <a:spcPct val="100000"/>
              </a:lnSpc>
              <a:spcBef>
                <a:spcPts val="360"/>
              </a:spcBef>
              <a:spcAft>
                <a:spcPts val="0"/>
              </a:spcAft>
              <a:buClr>
                <a:schemeClr val="dk1"/>
              </a:buClr>
              <a:buSzPts val="1200"/>
              <a:buFont typeface="Arial"/>
              <a:buNone/>
            </a:pPr>
            <a:r>
              <a:rPr b="1" i="0" lang="en-US" sz="1200">
                <a:solidFill>
                  <a:schemeClr val="dk1"/>
                </a:solidFill>
                <a:latin typeface="Arial"/>
                <a:ea typeface="Arial"/>
                <a:cs typeface="Arial"/>
                <a:sym typeface="Arial"/>
              </a:rPr>
              <a:t>/home</a:t>
            </a:r>
            <a:r>
              <a:rPr b="0" i="0" lang="en-US" sz="1200">
                <a:solidFill>
                  <a:schemeClr val="dk1"/>
                </a:solidFill>
                <a:latin typeface="Arial"/>
                <a:ea typeface="Arial"/>
                <a:cs typeface="Arial"/>
                <a:sym typeface="Arial"/>
              </a:rPr>
              <a:t> - Thư mục của người dùng.</a:t>
            </a:r>
            <a:endParaRPr/>
          </a:p>
          <a:p>
            <a:pPr indent="0" lvl="0" marL="0" marR="0" rtl="0" algn="l">
              <a:lnSpc>
                <a:spcPct val="100000"/>
              </a:lnSpc>
              <a:spcBef>
                <a:spcPts val="360"/>
              </a:spcBef>
              <a:spcAft>
                <a:spcPts val="0"/>
              </a:spcAft>
              <a:buClr>
                <a:schemeClr val="dk1"/>
              </a:buClr>
              <a:buSzPts val="1200"/>
              <a:buFont typeface="Arial"/>
              <a:buNone/>
            </a:pPr>
            <a:r>
              <a:rPr b="1" i="0" lang="en-US" sz="1200">
                <a:solidFill>
                  <a:schemeClr val="dk1"/>
                </a:solidFill>
                <a:latin typeface="Arial"/>
                <a:ea typeface="Arial"/>
                <a:cs typeface="Arial"/>
                <a:sym typeface="Arial"/>
              </a:rPr>
              <a:t>/mnt</a:t>
            </a:r>
            <a:r>
              <a:rPr b="0" i="0" lang="en-US" sz="1200">
                <a:solidFill>
                  <a:schemeClr val="dk1"/>
                </a:solidFill>
                <a:latin typeface="Arial"/>
                <a:ea typeface="Arial"/>
                <a:cs typeface="Arial"/>
                <a:sym typeface="Arial"/>
              </a:rPr>
              <a:t> - Chứa các thư mục của các ổ cứng hay trong cùng 1 mạng.</a:t>
            </a:r>
            <a:endParaRPr/>
          </a:p>
          <a:p>
            <a:pPr indent="0" lvl="0" marL="0" rtl="0" algn="l">
              <a:spcBef>
                <a:spcPts val="360"/>
              </a:spcBef>
              <a:spcAft>
                <a:spcPts val="0"/>
              </a:spcAft>
              <a:buNone/>
            </a:pPr>
            <a:r>
              <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/bin</a:t>
            </a:r>
            <a:r>
              <a:rPr b="0" i="0" lang="en-US" sz="1200">
                <a:solidFill>
                  <a:schemeClr val="dk1"/>
                </a:solidFill>
                <a:latin typeface="Arial"/>
                <a:ea typeface="Arial"/>
                <a:cs typeface="Arial"/>
                <a:sym typeface="Arial"/>
              </a:rPr>
              <a:t> (</a:t>
            </a:r>
            <a:r>
              <a:rPr b="1" i="0" lang="en-US" sz="1200">
                <a:solidFill>
                  <a:schemeClr val="dk1"/>
                </a:solidFill>
                <a:latin typeface="Arial"/>
                <a:ea typeface="Arial"/>
                <a:cs typeface="Arial"/>
                <a:sym typeface="Arial"/>
              </a:rPr>
              <a:t>binaries</a:t>
            </a:r>
            <a:r>
              <a:rPr b="0" i="0" lang="en-US" sz="1200">
                <a:solidFill>
                  <a:schemeClr val="dk1"/>
                </a:solidFill>
                <a:latin typeface="Arial"/>
                <a:ea typeface="Arial"/>
                <a:cs typeface="Arial"/>
                <a:sym typeface="Arial"/>
              </a:rPr>
              <a:t>) - Các tập tin thực thi của người dùng. Chứa các file là những lệnh của Linux cho cá nhân người sử dụng hoặc cho allusers. Các lệnh có thể lưu ở dạng mã nhị phân hoặc là .sh. (Các bạn chạy được những lệnh như bash hay mkdir ... đều là do chúng được nhét ở trong thư mục này).</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/sbin</a:t>
            </a:r>
            <a:r>
              <a:rPr b="0" i="0" lang="en-US" sz="1200">
                <a:solidFill>
                  <a:schemeClr val="dk1"/>
                </a:solidFill>
                <a:latin typeface="Arial"/>
                <a:ea typeface="Arial"/>
                <a:cs typeface="Arial"/>
                <a:sym typeface="Arial"/>
              </a:rPr>
              <a:t> - Các tập tin thực thi của hệ thống. Các lệnh trong file này là các lệnh dùng cho quản trị viên và thường dùng trong config hệ thống. Các lệnh trong file này thường chỉ được chạy bởi root hoặc superuser.</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/dev</a:t>
            </a:r>
            <a:r>
              <a:rPr b="0" i="0" lang="en-US" sz="1200">
                <a:solidFill>
                  <a:schemeClr val="dk1"/>
                </a:solidFill>
                <a:latin typeface="Arial"/>
                <a:ea typeface="Arial"/>
                <a:cs typeface="Arial"/>
                <a:sym typeface="Arial"/>
              </a:rPr>
              <a:t> - Các tập tin thiết bị : Chứa tệp tin thiết bị được cho phép kết nối như usb hay các ổ đĩa cứng khác. Ngoài ra còn có 1 tệp tin đặc biệt là dev/null. Tệp tin này có ý nghĩa là không có gì. Khi ta nói chuyển 1 thư mục vào dev/null ta có thể hiểu là thư mục hay tệp tin sẽ bị xóa đi. Dev/null loại bỏ toàn bộ các dữ liệu ghi vào nó mà vẫn báo cáo là đã ghi thành công. (hay được thấy trong crontab)</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/proc</a:t>
            </a:r>
            <a:r>
              <a:rPr b="0" i="0" lang="en-US" sz="1200">
                <a:solidFill>
                  <a:schemeClr val="dk1"/>
                </a:solidFill>
                <a:latin typeface="Arial"/>
                <a:ea typeface="Arial"/>
                <a:cs typeface="Arial"/>
                <a:sym typeface="Arial"/>
              </a:rPr>
              <a:t> - thông tin về tiến trình: Các thông tin về hệ thống được biểu diễn dưới dạng file. Nó cung cấp cách thức cho nhân Linux để gửi và nhận thông tin từ các tiến trình đang chạy trên môi trường Linux.</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/tmp</a:t>
            </a:r>
            <a:r>
              <a:rPr b="0" i="0" lang="en-US" sz="1200">
                <a:solidFill>
                  <a:schemeClr val="dk1"/>
                </a:solidFill>
                <a:latin typeface="Arial"/>
                <a:ea typeface="Arial"/>
                <a:cs typeface="Arial"/>
                <a:sym typeface="Arial"/>
              </a:rPr>
              <a:t> - Chứa các tập tin tạm: Các tập tin tạm của hệ thống và người dùng để tăng tốc cho máy tính. Thường được xóa khi reboot.</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/boot</a:t>
            </a:r>
            <a:r>
              <a:rPr b="0" i="0" lang="en-US" sz="1200">
                <a:solidFill>
                  <a:schemeClr val="dk1"/>
                </a:solidFill>
                <a:latin typeface="Arial"/>
                <a:ea typeface="Arial"/>
                <a:cs typeface="Arial"/>
                <a:sym typeface="Arial"/>
              </a:rPr>
              <a:t> - Các tập tin của chương trình khởi động máy.</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/lib</a:t>
            </a:r>
            <a:r>
              <a:rPr b="0" i="0" lang="en-US" sz="1200">
                <a:solidFill>
                  <a:schemeClr val="dk1"/>
                </a:solidFill>
                <a:latin typeface="Arial"/>
                <a:ea typeface="Arial"/>
                <a:cs typeface="Arial"/>
                <a:sym typeface="Arial"/>
              </a:rPr>
              <a:t> - Chứa các thư viện của hệ thống. Thông thường khi cài đặt các gói tin sẽ bao gồm các thư viện cài đặt thêm để hỗ trợ. Khi đó hệ thống sẽ sắp xếp các thư viện này vào cùng 1 chỗ để dễ dàng hơn khi gọi ra.</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/media</a:t>
            </a:r>
            <a:r>
              <a:rPr b="0" i="0" lang="en-US" sz="1200">
                <a:solidFill>
                  <a:schemeClr val="dk1"/>
                </a:solidFill>
                <a:latin typeface="Arial"/>
                <a:ea typeface="Arial"/>
                <a:cs typeface="Arial"/>
                <a:sym typeface="Arial"/>
              </a:rPr>
              <a:t> - Các thiết bị tháo lắp.</a:t>
            </a:r>
            <a:endParaRPr/>
          </a:p>
          <a:p>
            <a:pPr indent="0" lvl="0" marL="0" rtl="0" algn="l">
              <a:spcBef>
                <a:spcPts val="36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10" name="Google Shape;11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11" name="Google Shape;111;p8: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18" name="Google Shape;11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19" name="Google Shape;119;p9: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Link: </a:t>
            </a:r>
            <a:r>
              <a:rPr lang="en-US" u="sng">
                <a:solidFill>
                  <a:schemeClr val="hlink"/>
                </a:solidFill>
                <a:hlinkClick r:id="rId2"/>
              </a:rPr>
              <a:t>Từ A-Z về CentOS. So sánh CentOS Stream và CentOS LinuxZ.com Cloud – Tốc Độ Cao Khởi Tạo Nhanh Chóng</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CentOS (Community Enterprise Operating System) là một hệ điều hành mã nguồn mở và miễn phí dựa trên nền tảng của Red Hat Enterprise Linux (RHEL)</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CentOS Stream là một phiên bản mới của CentOS, được phát triển với mục tiêu cung cấp cho người dùng một phiên bản Linux hỗ trợ dài hạn nhưng cập nhật liên tục hơn, được đẩy mạnh bởi Red Hat.</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CentOS và CentOS Stream có thể được hiểu là 1 bản miễn phí của RHEL</a:t>
            </a:r>
            <a:endParaRPr b="0" i="0" sz="12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7" name="Google Shape;127;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Ubuntu là hệ điều hành mở do người dùng phát triển dựa trên Debian GNU/Linux bao gồm nhiều bản phân phối khác nhau.</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LST là từ viết tắt của Long Term Support, được gọi là “Hỗ trợ dài hạn”, lên đến 10 năm đối với máy tính để bàn và máy chủ.</a:t>
            </a:r>
            <a:endParaRPr/>
          </a:p>
        </p:txBody>
      </p:sp>
      <p:sp>
        <p:nvSpPr>
          <p:cNvPr id="128" name="Google Shape;128;p1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6" name="Google Shape;136;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Link: </a:t>
            </a:r>
            <a:r>
              <a:rPr lang="en-US" u="sng">
                <a:solidFill>
                  <a:schemeClr val="hlink"/>
                </a:solidFill>
                <a:hlinkClick r:id="rId2"/>
              </a:rPr>
              <a:t>Tiến trình khởi động Linux | Cloud Native Viet</a:t>
            </a:r>
            <a:endParaRPr/>
          </a:p>
          <a:p>
            <a:pPr indent="0" lvl="0" marL="0" rtl="0" algn="l">
              <a:spcBef>
                <a:spcPts val="360"/>
              </a:spcBef>
              <a:spcAft>
                <a:spcPts val="0"/>
              </a:spcAft>
              <a:buNone/>
            </a:pPr>
            <a:r>
              <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1. BIOS thực hiện các task khởi động cụ thể tùy thuộc vào platform phần cứng thực tế. Một khi phần cứng đã được liệt kê (enumerated) và phần cứng cần thiết cho việc boot được khởi tạo chính xác thì BIOS sẽ load và thực thi boot code từ thiết bị boot đã được cấu hình.</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2. Boot loader thường hiển thị cho user 1 menu gồm các boot option và có 1 default option sẽ được lựa chọn sau 1 khoảng thời gian trôi qua. Một khi sự lựa chọn được thực hiện, boot loader sẽ load kernel vào memory, cung cấp cho nó một vài tham số và trao quyền điều khiển cho nó.</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3. Kernel nếu bị nén sẽ được giải nén, sau đó nó sẽ thiết lập các chức năng hệ thống như phần cứng thiết yếu và memory paging và gọi start_kernel() để thực hiện các việc quan trọng của cài đặt hệ thống (interrupt, quản lý bộ nhớ còn lại, khởi tạo device và driver …). Sau đó nó sẽ khởi động riêng biệt idle process, scheduler, và init process được thực thi trong user space.</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4. INITRD cung cấp một giải pháp: là một tập các chương trình sẽ được thực thi khi kernel vừa mới được khởi chạy. Các chương trình này sẽ dò quét phần cứng của hệ thống và xác định xem kernel cần được hỗ trợ thêm những gì để có thể quản lý được các phần cứng đó. Chương trình INITRD có thể nạp thêm vào kernel các module bổ trợ. Khi chương trình INITRD kết thúc thì quá trình khởi động Linux sẽ tiếp diễn.</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5. Init (process) có chứa các script được thực thi bởi shell (sysv, bsd, runit) hoặc có chứa các file cấu hình được thực thi bởi các thành phần binary (systemd, upstart). Init có các level cụ thể (sysv, bsd) hoặc các target (systemd), mỗi cái bao gồm 1 tập các service (daemon) cụ thể. Chúng cung cấp các service, cấu trúc non-operating system khác nhau và hình thành user environment. Đối với môi trường server thì nó sẽ khởi động web server, database services và networking.</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6. Đối với môi trường Desktop thì nó sẽ khởi động 1 daemon được gọi là Display Manager để khởi động 1 môi trường đồ họa có chứa graphical server để cung cấp nền tảng graphical stack cơ bản và 1 Login Manager để cung cấp khả năng nhập credential và lựa chọn session. Sau khi user đã nhập credential chính xác thì Session Manager sẽ khởi động session. Session là 1 tập các chương trình như các thành phần UI (panels, desktops, applets …) để hình thành 1 môi trường Desktop đầy đủ.</a:t>
            </a:r>
            <a:endParaRPr b="0" i="0" sz="1200">
              <a:solidFill>
                <a:schemeClr val="dk1"/>
              </a:solidFill>
              <a:latin typeface="Arial"/>
              <a:ea typeface="Arial"/>
              <a:cs typeface="Arial"/>
              <a:sym typeface="Arial"/>
            </a:endParaRPr>
          </a:p>
        </p:txBody>
      </p:sp>
      <p:sp>
        <p:nvSpPr>
          <p:cNvPr id="137" name="Google Shape;137;p1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5" name="Google Shape;145;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LEGACY BIOS thường được gọi là BIOS truyền thống, ra đời vào năm 1975</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UEFI là từ viết tắt của Unifiel Extensibale Firmware Interface, là một phần mềm mở rộng hợp nhất dùng để kết nối phần mềm máy tính với hệ điều hành của nó. Được Intel phát triển nhằm cải thiện các hạn chế của LEGACY BIOS và tất nhiên nó sẽ hoạt động mạnh mẽ hơn nhiều.</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EB = Exabyte</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TB = Terabyte</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1 Ex = 10^6 TB</a:t>
            </a:r>
            <a:endParaRPr/>
          </a:p>
        </p:txBody>
      </p:sp>
      <p:sp>
        <p:nvSpPr>
          <p:cNvPr id="146" name="Google Shape;146;p1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7500" lvl="0" marL="457200" rtl="0" algn="l">
              <a:spcBef>
                <a:spcPts val="360"/>
              </a:spcBef>
              <a:spcAft>
                <a:spcPts val="0"/>
              </a:spcAft>
              <a:buSzPts val="1400"/>
              <a:buChar char="-"/>
            </a:pPr>
            <a:r>
              <a:rPr lang="en-US"/>
              <a:t>NAT: kết nối ra ngoài thông qua NAT port trong máy vật lý, nhận IP thuộc dải mạng tách biệt, bên ngoài muốn kết nối vào (host hoặc các máy thuộc cùng LAN) hoặc các máy VM muốn kết nối với nhau cần phải cấu hình thêm port forwarding.</a:t>
            </a:r>
            <a:endParaRPr/>
          </a:p>
          <a:p>
            <a:pPr indent="-317500" lvl="0" marL="457200" rtl="0" algn="l">
              <a:spcBef>
                <a:spcPts val="0"/>
              </a:spcBef>
              <a:spcAft>
                <a:spcPts val="0"/>
              </a:spcAft>
              <a:buSzPts val="1400"/>
              <a:buChar char="-"/>
            </a:pPr>
            <a:r>
              <a:rPr lang="en-US"/>
              <a:t>NAT Network: Tương tự như NAT, nhưng các máy VM nhận IP thuộc cùng 1 dải mạng, và có thể kết nối với nhau mà không cần thông qua port forwarding.</a:t>
            </a:r>
            <a:endParaRPr/>
          </a:p>
          <a:p>
            <a:pPr indent="-317500" lvl="0" marL="457200" rtl="0" algn="l">
              <a:spcBef>
                <a:spcPts val="0"/>
              </a:spcBef>
              <a:spcAft>
                <a:spcPts val="0"/>
              </a:spcAft>
              <a:buSzPts val="1400"/>
              <a:buChar char="-"/>
            </a:pPr>
            <a:r>
              <a:rPr lang="en-US"/>
              <a:t>Bridged: kết nối ra qua trực tiếp qua NIC của máy vật lý, nhận IP cùng dải mạng với máy vật lý, máy vật lý sẽ coi các VM này như các máy thuộc cùng LAN.</a:t>
            </a:r>
            <a:endParaRPr/>
          </a:p>
          <a:p>
            <a:pPr indent="-317500" lvl="0" marL="457200" rtl="0" algn="l">
              <a:spcBef>
                <a:spcPts val="0"/>
              </a:spcBef>
              <a:spcAft>
                <a:spcPts val="0"/>
              </a:spcAft>
              <a:buSzPts val="1400"/>
              <a:buChar char="-"/>
            </a:pPr>
            <a:r>
              <a:rPr lang="en-US"/>
              <a:t>Internal Network: Các VM thuộc cùng 1 dải mạng và có thể kết nối với nhau, không thể kết nối với host hay các mạng bên ngoài và ngược lại.</a:t>
            </a:r>
            <a:endParaRPr/>
          </a:p>
          <a:p>
            <a:pPr indent="-317500" lvl="0" marL="457200" rtl="0" algn="l">
              <a:spcBef>
                <a:spcPts val="0"/>
              </a:spcBef>
              <a:spcAft>
                <a:spcPts val="0"/>
              </a:spcAft>
              <a:buSzPts val="1400"/>
              <a:buChar char="-"/>
            </a:pPr>
            <a:r>
              <a:rPr lang="en-US"/>
              <a:t>Host-only:Các VM thuộc cùng 1 dải mạng, có thể kết nối với nhau, và chỉ có thể kết nối với host, không thể kết nối với các máy khác thuộc cùng mạng LAN với host hay kết nối ra Internet.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Link tham khảo: </a:t>
            </a:r>
            <a:r>
              <a:rPr lang="en-US" u="sng">
                <a:solidFill>
                  <a:schemeClr val="hlink"/>
                </a:solidFill>
                <a:hlinkClick r:id="rId2"/>
              </a:rPr>
              <a:t>https://www.nakivo.com/blog/virtualbox-network-setting-guide/</a:t>
            </a:r>
            <a:endParaRPr/>
          </a:p>
          <a:p>
            <a:pPr indent="0" lvl="0" marL="0" rtl="0" algn="l">
              <a:spcBef>
                <a:spcPts val="360"/>
              </a:spcBef>
              <a:spcAft>
                <a:spcPts val="0"/>
              </a:spcAft>
              <a:buNone/>
            </a:pPr>
            <a:r>
              <a:t/>
            </a:r>
            <a:endParaRPr/>
          </a:p>
        </p:txBody>
      </p:sp>
      <p:sp>
        <p:nvSpPr>
          <p:cNvPr id="153" name="Google Shape;15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a26edea4d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a26edea4d4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u="sng">
                <a:solidFill>
                  <a:schemeClr val="hlink"/>
                </a:solidFill>
                <a:hlinkClick r:id="rId2"/>
              </a:rPr>
              <a:t>https://phoenixnap.com/kb/useradd-vs-adduser#:~:text=adduser%20provides%20guides%20through%20the,the%20same%20tasks%20as%20adduser%20</a:t>
            </a:r>
            <a:r>
              <a:rPr lang="en-US"/>
              <a:t>.</a:t>
            </a:r>
            <a:endParaRPr/>
          </a:p>
          <a:p>
            <a:pPr indent="-304800" lvl="0" marL="457200" rtl="0" algn="l">
              <a:lnSpc>
                <a:spcPct val="115000"/>
              </a:lnSpc>
              <a:spcBef>
                <a:spcPts val="0"/>
              </a:spcBef>
              <a:spcAft>
                <a:spcPts val="0"/>
              </a:spcAft>
              <a:buClr>
                <a:srgbClr val="404040"/>
              </a:buClr>
              <a:buSzPts val="1200"/>
              <a:buFont typeface="Roboto"/>
              <a:buChar char="●"/>
            </a:pPr>
            <a:r>
              <a:rPr lang="en-US">
                <a:solidFill>
                  <a:srgbClr val="404040"/>
                </a:solidFill>
                <a:latin typeface="Roboto"/>
                <a:ea typeface="Roboto"/>
                <a:cs typeface="Roboto"/>
                <a:sym typeface="Roboto"/>
              </a:rPr>
              <a:t>The </a:t>
            </a:r>
            <a:r>
              <a:rPr lang="en-US">
                <a:solidFill>
                  <a:srgbClr val="404040"/>
                </a:solidFill>
                <a:highlight>
                  <a:srgbClr val="F7F7F7"/>
                </a:highlight>
                <a:latin typeface="Courier New"/>
                <a:ea typeface="Courier New"/>
                <a:cs typeface="Courier New"/>
                <a:sym typeface="Courier New"/>
              </a:rPr>
              <a:t>useradd</a:t>
            </a:r>
            <a:r>
              <a:rPr lang="en-US">
                <a:solidFill>
                  <a:srgbClr val="404040"/>
                </a:solidFill>
                <a:latin typeface="Roboto"/>
                <a:ea typeface="Roboto"/>
                <a:cs typeface="Roboto"/>
                <a:sym typeface="Roboto"/>
              </a:rPr>
              <a:t> command is lower level and available on all Linux distributions. It requires additional parameters to set up the account entirely.</a:t>
            </a:r>
            <a:endParaRPr>
              <a:solidFill>
                <a:srgbClr val="404040"/>
              </a:solidFill>
              <a:latin typeface="Roboto"/>
              <a:ea typeface="Roboto"/>
              <a:cs typeface="Roboto"/>
              <a:sym typeface="Roboto"/>
            </a:endParaRPr>
          </a:p>
          <a:p>
            <a:pPr indent="-304800" lvl="0" marL="457200" rtl="0" algn="l">
              <a:lnSpc>
                <a:spcPct val="115000"/>
              </a:lnSpc>
              <a:spcBef>
                <a:spcPts val="0"/>
              </a:spcBef>
              <a:spcAft>
                <a:spcPts val="0"/>
              </a:spcAft>
              <a:buClr>
                <a:srgbClr val="404040"/>
              </a:buClr>
              <a:buSzPts val="1200"/>
              <a:buFont typeface="Roboto"/>
              <a:buChar char="●"/>
            </a:pPr>
            <a:r>
              <a:rPr lang="en-US">
                <a:solidFill>
                  <a:srgbClr val="404040"/>
                </a:solidFill>
                <a:latin typeface="Roboto"/>
                <a:ea typeface="Roboto"/>
                <a:cs typeface="Roboto"/>
                <a:sym typeface="Roboto"/>
              </a:rPr>
              <a:t>The </a:t>
            </a:r>
            <a:r>
              <a:rPr lang="en-US">
                <a:solidFill>
                  <a:srgbClr val="404040"/>
                </a:solidFill>
                <a:highlight>
                  <a:srgbClr val="F7F7F7"/>
                </a:highlight>
                <a:latin typeface="Courier New"/>
                <a:ea typeface="Courier New"/>
                <a:cs typeface="Courier New"/>
                <a:sym typeface="Courier New"/>
              </a:rPr>
              <a:t>adduser</a:t>
            </a:r>
            <a:r>
              <a:rPr lang="en-US">
                <a:solidFill>
                  <a:srgbClr val="404040"/>
                </a:solidFill>
                <a:latin typeface="Roboto"/>
                <a:ea typeface="Roboto"/>
                <a:cs typeface="Roboto"/>
                <a:sym typeface="Roboto"/>
              </a:rPr>
              <a:t> command is higher level and not available on all Linux distributions. The command adds a user to the system with standard settings.</a:t>
            </a:r>
            <a:endParaRPr>
              <a:solidFill>
                <a:srgbClr val="404040"/>
              </a:solidFill>
              <a:latin typeface="Roboto"/>
              <a:ea typeface="Roboto"/>
              <a:cs typeface="Roboto"/>
              <a:sym typeface="Roboto"/>
            </a:endParaRPr>
          </a:p>
          <a:p>
            <a:pPr indent="0" lvl="0" marL="0" rtl="0" algn="l">
              <a:spcBef>
                <a:spcPts val="1500"/>
              </a:spcBef>
              <a:spcAft>
                <a:spcPts val="0"/>
              </a:spcAft>
              <a:buNone/>
            </a:pPr>
            <a:r>
              <a:t/>
            </a:r>
            <a:endParaRPr/>
          </a:p>
        </p:txBody>
      </p:sp>
      <p:sp>
        <p:nvSpPr>
          <p:cNvPr id="162" name="Google Shape;162;g2a26edea4d4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a26edea4d4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a26edea4d4_0_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0" name="Google Shape;170;g2a26edea4d4_0_2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a1ecadec27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8" name="Google Shape;178;g2a1ecadec2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6"/>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16"/>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17"/>
          <p:cNvSpPr txBox="1"/>
          <p:nvPr>
            <p:ph type="title"/>
          </p:nvPr>
        </p:nvSpPr>
        <p:spPr>
          <a:xfrm>
            <a:off x="228600" y="194392"/>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 name="Google Shape;25;p17"/>
          <p:cNvSpPr txBox="1"/>
          <p:nvPr>
            <p:ph idx="1" type="body"/>
          </p:nvPr>
        </p:nvSpPr>
        <p:spPr>
          <a:xfrm>
            <a:off x="457200" y="1066800"/>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17"/>
          <p:cNvSpPr txBox="1"/>
          <p:nvPr>
            <p:ph idx="2" type="body"/>
          </p:nvPr>
        </p:nvSpPr>
        <p:spPr>
          <a:xfrm>
            <a:off x="6209071" y="1102954"/>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8" name="Shape 28"/>
        <p:cNvGrpSpPr/>
        <p:nvPr/>
      </p:nvGrpSpPr>
      <p:grpSpPr>
        <a:xfrm>
          <a:off x="0" y="0"/>
          <a:ext cx="0" cy="0"/>
          <a:chOff x="0" y="0"/>
          <a:chExt cx="0" cy="0"/>
        </a:xfrm>
      </p:grpSpPr>
      <p:sp>
        <p:nvSpPr>
          <p:cNvPr id="29" name="Google Shape;29;p18"/>
          <p:cNvSpPr txBox="1"/>
          <p:nvPr>
            <p:ph type="title"/>
          </p:nvPr>
        </p:nvSpPr>
        <p:spPr>
          <a:xfrm>
            <a:off x="228600" y="125413"/>
            <a:ext cx="10390716" cy="70167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 name="Google Shape;30;p18"/>
          <p:cNvSpPr txBox="1"/>
          <p:nvPr>
            <p:ph idx="1" type="body"/>
          </p:nvPr>
        </p:nvSpPr>
        <p:spPr>
          <a:xfrm>
            <a:off x="4572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8"/>
          <p:cNvSpPr txBox="1"/>
          <p:nvPr>
            <p:ph idx="2" type="body"/>
          </p:nvPr>
        </p:nvSpPr>
        <p:spPr>
          <a:xfrm>
            <a:off x="68580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33" name="Shape 33"/>
        <p:cNvGrpSpPr/>
        <p:nvPr/>
      </p:nvGrpSpPr>
      <p:grpSpPr>
        <a:xfrm>
          <a:off x="0" y="0"/>
          <a:ext cx="0" cy="0"/>
          <a:chOff x="0" y="0"/>
          <a:chExt cx="0" cy="0"/>
        </a:xfrm>
      </p:grpSpPr>
      <p:sp>
        <p:nvSpPr>
          <p:cNvPr id="34" name="Google Shape;34;p19"/>
          <p:cNvSpPr txBox="1"/>
          <p:nvPr>
            <p:ph type="title"/>
          </p:nvPr>
        </p:nvSpPr>
        <p:spPr>
          <a:xfrm>
            <a:off x="228600" y="210344"/>
            <a:ext cx="10390716" cy="5603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19"/>
          <p:cNvSpPr txBox="1"/>
          <p:nvPr>
            <p:ph idx="1" type="body"/>
          </p:nvPr>
        </p:nvSpPr>
        <p:spPr>
          <a:xfrm>
            <a:off x="457200" y="990600"/>
            <a:ext cx="103632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9"/>
          <p:cNvSpPr txBox="1"/>
          <p:nvPr>
            <p:ph idx="2" type="body"/>
          </p:nvPr>
        </p:nvSpPr>
        <p:spPr>
          <a:xfrm>
            <a:off x="518652" y="3429000"/>
            <a:ext cx="103632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38" name="Shape 38"/>
        <p:cNvGrpSpPr/>
        <p:nvPr/>
      </p:nvGrpSpPr>
      <p:grpSpPr>
        <a:xfrm>
          <a:off x="0" y="0"/>
          <a:ext cx="0" cy="0"/>
          <a:chOff x="0" y="0"/>
          <a:chExt cx="0" cy="0"/>
        </a:xfrm>
      </p:grpSpPr>
      <p:sp>
        <p:nvSpPr>
          <p:cNvPr id="39" name="Google Shape;39;p20"/>
          <p:cNvSpPr txBox="1"/>
          <p:nvPr>
            <p:ph type="title"/>
          </p:nvPr>
        </p:nvSpPr>
        <p:spPr>
          <a:xfrm>
            <a:off x="304800" y="136525"/>
            <a:ext cx="10390716" cy="6365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0" name="Google Shape;40;p20"/>
          <p:cNvSpPr txBox="1"/>
          <p:nvPr>
            <p:ph idx="1" type="body"/>
          </p:nvPr>
        </p:nvSpPr>
        <p:spPr>
          <a:xfrm>
            <a:off x="437364" y="990600"/>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0"/>
          <p:cNvSpPr txBox="1"/>
          <p:nvPr>
            <p:ph idx="2" type="body"/>
          </p:nvPr>
        </p:nvSpPr>
        <p:spPr>
          <a:xfrm>
            <a:off x="6674638" y="1025013"/>
            <a:ext cx="50800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0"/>
          <p:cNvSpPr txBox="1"/>
          <p:nvPr>
            <p:ph idx="3" type="body"/>
          </p:nvPr>
        </p:nvSpPr>
        <p:spPr>
          <a:xfrm>
            <a:off x="6674638" y="3396739"/>
            <a:ext cx="50800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Graphical user interface, text, application, email&#10;&#10;Description automatically generated" id="10" name="Google Shape;10;p14"/>
          <p:cNvPicPr preferRelativeResize="0"/>
          <p:nvPr/>
        </p:nvPicPr>
        <p:blipFill rotWithShape="1">
          <a:blip r:embed="rId1">
            <a:alphaModFix/>
          </a:blip>
          <a:srcRect b="0" l="0" r="0" t="0"/>
          <a:stretch/>
        </p:blipFill>
        <p:spPr>
          <a:xfrm>
            <a:off x="0" y="6350"/>
            <a:ext cx="12192000" cy="6845300"/>
          </a:xfrm>
          <a:prstGeom prst="rect">
            <a:avLst/>
          </a:prstGeom>
          <a:noFill/>
          <a:ln>
            <a:noFill/>
          </a:ln>
        </p:spPr>
      </p:pic>
      <p:sp>
        <p:nvSpPr>
          <p:cNvPr id="11" name="Google Shape;11;p14"/>
          <p:cNvSpPr txBox="1"/>
          <p:nvPr>
            <p:ph type="title"/>
          </p:nvPr>
        </p:nvSpPr>
        <p:spPr>
          <a:xfrm>
            <a:off x="228600" y="136525"/>
            <a:ext cx="10515600" cy="54451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1pPr>
            <a:lvl2pPr lvl="1"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2pPr>
            <a:lvl3pPr lvl="2"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3pPr>
            <a:lvl4pPr lvl="3"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4pPr>
            <a:lvl5pPr lvl="4"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5pPr>
            <a:lvl6pPr lvl="5"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6pPr>
            <a:lvl7pPr lvl="6"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7pPr>
            <a:lvl8pPr lvl="7"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8pPr>
            <a:lvl9pPr lvl="8"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9pPr>
          </a:lstStyle>
          <a:p/>
        </p:txBody>
      </p:sp>
      <p:sp>
        <p:nvSpPr>
          <p:cNvPr id="12" name="Google Shape;12;p14"/>
          <p:cNvSpPr txBox="1"/>
          <p:nvPr>
            <p:ph idx="1" type="body"/>
          </p:nvPr>
        </p:nvSpPr>
        <p:spPr>
          <a:xfrm>
            <a:off x="341313" y="1252538"/>
            <a:ext cx="105156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4"/>
          <p:cNvSpPr txBox="1"/>
          <p:nvPr/>
        </p:nvSpPr>
        <p:spPr>
          <a:xfrm>
            <a:off x="317500" y="6356350"/>
            <a:ext cx="1422400" cy="3540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700" u="none" cap="none" strike="noStrike">
                <a:solidFill>
                  <a:schemeClr val="lt1"/>
                </a:solidFill>
                <a:latin typeface="Arial"/>
                <a:ea typeface="Arial"/>
                <a:cs typeface="Arial"/>
                <a:sym typeface="Arial"/>
              </a:rPr>
              <a:t>FE Program</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id="48" name="Google Shape;48;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9" name="Google Shape;49;p1"/>
          <p:cNvSpPr txBox="1"/>
          <p:nvPr/>
        </p:nvSpPr>
        <p:spPr>
          <a:xfrm>
            <a:off x="8382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E7E6E6"/>
              </a:buClr>
              <a:buSzPts val="1400"/>
              <a:buFont typeface="Arial"/>
              <a:buNone/>
            </a:pPr>
            <a:fld id="{00000000-1234-1234-1234-123412341234}" type="slidenum">
              <a:rPr b="0" i="0" lang="en-US" sz="1800" u="none" cap="none" strike="noStrike">
                <a:solidFill>
                  <a:srgbClr val="E7E6E6"/>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pic>
        <p:nvPicPr>
          <p:cNvPr descr="A picture containing drawing&#10;&#10;Description automatically generated" id="50" name="Google Shape;50;p1"/>
          <p:cNvPicPr preferRelativeResize="0"/>
          <p:nvPr/>
        </p:nvPicPr>
        <p:blipFill rotWithShape="1">
          <a:blip r:embed="rId4">
            <a:alphaModFix/>
          </a:blip>
          <a:srcRect b="16351" l="5000" r="5000" t="13557"/>
          <a:stretch/>
        </p:blipFill>
        <p:spPr>
          <a:xfrm>
            <a:off x="504825" y="258763"/>
            <a:ext cx="3989388" cy="838200"/>
          </a:xfrm>
          <a:prstGeom prst="rect">
            <a:avLst/>
          </a:prstGeom>
          <a:noFill/>
          <a:ln>
            <a:noFill/>
          </a:ln>
        </p:spPr>
      </p:pic>
      <p:sp>
        <p:nvSpPr>
          <p:cNvPr id="51" name="Google Shape;51;p1"/>
          <p:cNvSpPr/>
          <p:nvPr/>
        </p:nvSpPr>
        <p:spPr>
          <a:xfrm>
            <a:off x="5978525" y="3275013"/>
            <a:ext cx="2349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a:t>
            </a:r>
            <a:endParaRPr/>
          </a:p>
        </p:txBody>
      </p:sp>
      <p:sp>
        <p:nvSpPr>
          <p:cNvPr id="52" name="Google Shape;52;p1"/>
          <p:cNvSpPr/>
          <p:nvPr/>
        </p:nvSpPr>
        <p:spPr>
          <a:xfrm>
            <a:off x="760413" y="1231900"/>
            <a:ext cx="5637212" cy="476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ABF"/>
              </a:buClr>
              <a:buSzPts val="2500"/>
              <a:buFont typeface="Arial"/>
              <a:buNone/>
            </a:pPr>
            <a:r>
              <a:rPr b="1" i="0" lang="en-US" sz="2500" u="none" cap="none" strike="noStrike">
                <a:solidFill>
                  <a:srgbClr val="007ABF"/>
                </a:solidFill>
                <a:latin typeface="Helvetica Neue"/>
                <a:ea typeface="Helvetica Neue"/>
                <a:cs typeface="Helvetica Neue"/>
                <a:sym typeface="Helvetica Neue"/>
              </a:rPr>
              <a:t>WAY TO ENTERPRISE</a:t>
            </a:r>
            <a:endParaRPr/>
          </a:p>
        </p:txBody>
      </p:sp>
      <p:sp>
        <p:nvSpPr>
          <p:cNvPr id="53" name="Google Shape;53;p1"/>
          <p:cNvSpPr txBox="1"/>
          <p:nvPr/>
        </p:nvSpPr>
        <p:spPr>
          <a:xfrm>
            <a:off x="1216025" y="2770188"/>
            <a:ext cx="9070975" cy="131762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ABF"/>
              </a:buClr>
              <a:buSzPts val="4400"/>
              <a:buFont typeface="Arial"/>
              <a:buNone/>
            </a:pPr>
            <a:r>
              <a:rPr b="1" lang="en-US" sz="4900">
                <a:solidFill>
                  <a:srgbClr val="007ABF"/>
                </a:solidFill>
              </a:rPr>
              <a:t>LINUX OPERATION SYSTEM</a:t>
            </a:r>
            <a:endParaRPr b="0" i="0" sz="5000" u="none" cap="none" strike="noStrike">
              <a:solidFill>
                <a:srgbClr val="0079BF"/>
              </a:solidFill>
              <a:latin typeface="Helvetica Neue"/>
              <a:ea typeface="Helvetica Neue"/>
              <a:cs typeface="Helvetica Neue"/>
              <a:sym typeface="Helvetica Neue"/>
            </a:endParaRPr>
          </a:p>
        </p:txBody>
      </p:sp>
      <p:sp>
        <p:nvSpPr>
          <p:cNvPr id="54" name="Google Shape;5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Lesson purpose</a:t>
            </a:r>
            <a:endParaRPr/>
          </a:p>
        </p:txBody>
      </p:sp>
      <p:sp>
        <p:nvSpPr>
          <p:cNvPr id="61" name="Google Shape;61;p2"/>
          <p:cNvSpPr txBox="1"/>
          <p:nvPr>
            <p:ph idx="1" type="body"/>
          </p:nvPr>
        </p:nvSpPr>
        <p:spPr>
          <a:xfrm>
            <a:off x="366713" y="1066800"/>
            <a:ext cx="10377487" cy="4608513"/>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US" sz="2400"/>
              <a:t>Study about Linux operating system.</a:t>
            </a:r>
            <a:endParaRPr sz="2400"/>
          </a:p>
        </p:txBody>
      </p:sp>
      <p:sp>
        <p:nvSpPr>
          <p:cNvPr id="62" name="Google Shape;6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anim calcmode="lin" valueType="num">
                                      <p:cBhvr additive="base">
                                        <p:cTn dur="500"/>
                                        <p:tgtEl>
                                          <p:spTgt spid="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0" lang="en-US"/>
              <a:t>Introduction</a:t>
            </a:r>
            <a:r>
              <a:rPr b="0" lang="en-US"/>
              <a:t> of</a:t>
            </a:r>
            <a:r>
              <a:rPr b="0" lang="en-US">
                <a:latin typeface="Arial"/>
                <a:ea typeface="Arial"/>
                <a:cs typeface="Arial"/>
                <a:sym typeface="Arial"/>
              </a:rPr>
              <a:t> Linux</a:t>
            </a:r>
            <a:endParaRPr/>
          </a:p>
        </p:txBody>
      </p:sp>
      <p:sp>
        <p:nvSpPr>
          <p:cNvPr id="69" name="Google Shape;69;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70" name="Google Shape;70;p3"/>
          <p:cNvSpPr txBox="1"/>
          <p:nvPr>
            <p:ph idx="1" type="body"/>
          </p:nvPr>
        </p:nvSpPr>
        <p:spPr>
          <a:xfrm>
            <a:off x="381000" y="1066800"/>
            <a:ext cx="7152362"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3200"/>
              <a:buChar char="•"/>
            </a:pPr>
            <a:r>
              <a:rPr lang="en-US" sz="3200">
                <a:latin typeface="Arial"/>
                <a:ea typeface="Arial"/>
                <a:cs typeface="Arial"/>
                <a:sym typeface="Arial"/>
              </a:rPr>
              <a:t>Linus Benedic Torvalds </a:t>
            </a:r>
            <a:r>
              <a:rPr lang="en-US" sz="3200"/>
              <a:t>created and develop Linux core.</a:t>
            </a:r>
            <a:endParaRPr/>
          </a:p>
          <a:p>
            <a:pPr indent="-228600" lvl="0" marL="228600" rtl="0" algn="l">
              <a:lnSpc>
                <a:spcPct val="100000"/>
              </a:lnSpc>
              <a:spcBef>
                <a:spcPts val="640"/>
              </a:spcBef>
              <a:spcAft>
                <a:spcPts val="0"/>
              </a:spcAft>
              <a:buClr>
                <a:schemeClr val="dk1"/>
              </a:buClr>
              <a:buSzPts val="3200"/>
              <a:buChar char="•"/>
            </a:pPr>
            <a:r>
              <a:rPr lang="en-US" sz="3200">
                <a:latin typeface="Arial"/>
                <a:ea typeface="Arial"/>
                <a:cs typeface="Arial"/>
                <a:sym typeface="Arial"/>
              </a:rPr>
              <a:t>Linus Torvalds also </a:t>
            </a:r>
            <a:r>
              <a:rPr lang="en-US" sz="3200"/>
              <a:t>is the one who create distributed version control system</a:t>
            </a:r>
            <a:r>
              <a:rPr lang="en-US" sz="3200">
                <a:latin typeface="Arial"/>
                <a:ea typeface="Arial"/>
                <a:cs typeface="Arial"/>
                <a:sym typeface="Arial"/>
              </a:rPr>
              <a:t> - Git.</a:t>
            </a:r>
            <a:endParaRPr sz="3200">
              <a:latin typeface="Arial"/>
              <a:ea typeface="Arial"/>
              <a:cs typeface="Arial"/>
              <a:sym typeface="Arial"/>
            </a:endParaRPr>
          </a:p>
          <a:p>
            <a:pPr indent="-25400" lvl="0" marL="228600" rtl="0" algn="just">
              <a:lnSpc>
                <a:spcPct val="100000"/>
              </a:lnSpc>
              <a:spcBef>
                <a:spcPts val="640"/>
              </a:spcBef>
              <a:spcAft>
                <a:spcPts val="0"/>
              </a:spcAft>
              <a:buClr>
                <a:schemeClr val="dk1"/>
              </a:buClr>
              <a:buSzPts val="3200"/>
              <a:buNone/>
            </a:pPr>
            <a:r>
              <a:t/>
            </a:r>
            <a:endParaRPr sz="3200"/>
          </a:p>
        </p:txBody>
      </p:sp>
      <p:pic>
        <p:nvPicPr>
          <p:cNvPr descr="Ảnh có chứa đồ chơi, phim hoạt hình, Tượng động vật, chim cánh cụt&#10;&#10;Mô tả được tự động tạo" id="71" name="Google Shape;71;p3"/>
          <p:cNvPicPr preferRelativeResize="0"/>
          <p:nvPr/>
        </p:nvPicPr>
        <p:blipFill rotWithShape="1">
          <a:blip r:embed="rId3">
            <a:alphaModFix/>
          </a:blip>
          <a:srcRect b="0" l="0" r="0" t="0"/>
          <a:stretch/>
        </p:blipFill>
        <p:spPr>
          <a:xfrm>
            <a:off x="10371972" y="1067151"/>
            <a:ext cx="1369444" cy="1669391"/>
          </a:xfrm>
          <a:prstGeom prst="rect">
            <a:avLst/>
          </a:prstGeom>
          <a:noFill/>
          <a:ln>
            <a:noFill/>
          </a:ln>
        </p:spPr>
      </p:pic>
      <p:pic>
        <p:nvPicPr>
          <p:cNvPr descr="undefined" id="72" name="Google Shape;72;p3"/>
          <p:cNvPicPr preferRelativeResize="0"/>
          <p:nvPr/>
        </p:nvPicPr>
        <p:blipFill rotWithShape="1">
          <a:blip r:embed="rId4">
            <a:alphaModFix/>
          </a:blip>
          <a:srcRect b="0" l="0" r="0" t="0"/>
          <a:stretch/>
        </p:blipFill>
        <p:spPr>
          <a:xfrm>
            <a:off x="7391400" y="1066800"/>
            <a:ext cx="2821193" cy="42317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0" lang="en-US"/>
              <a:t>Introduction of Linux</a:t>
            </a:r>
            <a:endParaRPr/>
          </a:p>
        </p:txBody>
      </p:sp>
      <p:sp>
        <p:nvSpPr>
          <p:cNvPr id="79" name="Google Shape;7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80" name="Google Shape;80;p4"/>
          <p:cNvSpPr txBox="1"/>
          <p:nvPr>
            <p:ph idx="1" type="body"/>
          </p:nvPr>
        </p:nvSpPr>
        <p:spPr>
          <a:xfrm>
            <a:off x="381000" y="1066800"/>
            <a:ext cx="9990972" cy="4351338"/>
          </a:xfrm>
          <a:prstGeom prst="rect">
            <a:avLst/>
          </a:prstGeom>
          <a:noFill/>
          <a:ln>
            <a:noFill/>
          </a:ln>
        </p:spPr>
        <p:txBody>
          <a:bodyPr anchorCtr="0" anchor="t" bIns="45700" lIns="91425" spcFirstLastPara="1" rIns="91425" wrap="square" tIns="45700">
            <a:noAutofit/>
          </a:bodyPr>
          <a:lstStyle/>
          <a:p>
            <a:pPr indent="-317500" lvl="0" marL="228600" rtl="0" algn="just">
              <a:lnSpc>
                <a:spcPct val="100000"/>
              </a:lnSpc>
              <a:spcBef>
                <a:spcPts val="640"/>
              </a:spcBef>
              <a:spcAft>
                <a:spcPts val="0"/>
              </a:spcAft>
              <a:buSzPts val="3200"/>
              <a:buChar char="•"/>
            </a:pPr>
            <a:r>
              <a:rPr lang="en-US" sz="3200"/>
              <a:t>Linux is based on UNIX.</a:t>
            </a:r>
            <a:endParaRPr sz="3200"/>
          </a:p>
          <a:p>
            <a:pPr indent="-317500" lvl="0" marL="228600" rtl="0" algn="just">
              <a:lnSpc>
                <a:spcPct val="100000"/>
              </a:lnSpc>
              <a:spcBef>
                <a:spcPts val="640"/>
              </a:spcBef>
              <a:spcAft>
                <a:spcPts val="0"/>
              </a:spcAft>
              <a:buSzPts val="3200"/>
              <a:buChar char="•"/>
            </a:pPr>
            <a:r>
              <a:rPr lang="en-US" sz="3200"/>
              <a:t>It was developed from a project called Minix (a version of Unix).</a:t>
            </a:r>
            <a:endParaRPr sz="3200"/>
          </a:p>
          <a:p>
            <a:pPr indent="-317500" lvl="0" marL="228600" rtl="0" algn="just">
              <a:lnSpc>
                <a:spcPct val="100000"/>
              </a:lnSpc>
              <a:spcBef>
                <a:spcPts val="640"/>
              </a:spcBef>
              <a:spcAft>
                <a:spcPts val="0"/>
              </a:spcAft>
              <a:buSzPts val="3200"/>
              <a:buChar char="•"/>
            </a:pPr>
            <a:r>
              <a:rPr lang="en-US" sz="3200"/>
              <a:t>Linux 1.0 was officially released in 1991.</a:t>
            </a:r>
            <a:endParaRPr sz="3200"/>
          </a:p>
          <a:p>
            <a:pPr indent="-317500" lvl="0" marL="228600" rtl="0" algn="just">
              <a:lnSpc>
                <a:spcPct val="100000"/>
              </a:lnSpc>
              <a:spcBef>
                <a:spcPts val="640"/>
              </a:spcBef>
              <a:spcAft>
                <a:spcPts val="0"/>
              </a:spcAft>
              <a:buSzPts val="3200"/>
              <a:buChar char="•"/>
            </a:pPr>
            <a:r>
              <a:rPr lang="en-US" sz="3200"/>
              <a:t>Linux consists of two main components: Kernel and applications.</a:t>
            </a:r>
            <a:endParaRPr sz="3200"/>
          </a:p>
          <a:p>
            <a:pPr indent="-317500" lvl="0" marL="228600" rtl="0" algn="just">
              <a:lnSpc>
                <a:spcPct val="100000"/>
              </a:lnSpc>
              <a:spcBef>
                <a:spcPts val="640"/>
              </a:spcBef>
              <a:spcAft>
                <a:spcPts val="0"/>
              </a:spcAft>
              <a:buSzPts val="3200"/>
              <a:buChar char="•"/>
            </a:pPr>
            <a:r>
              <a:rPr lang="en-US" sz="3200"/>
              <a:t>It is a multi-tasking, multi-user operating system.</a:t>
            </a:r>
            <a:endParaRPr sz="3200"/>
          </a:p>
          <a:p>
            <a:pPr indent="-317500" lvl="0" marL="228600" rtl="0" algn="just">
              <a:lnSpc>
                <a:spcPct val="100000"/>
              </a:lnSpc>
              <a:spcBef>
                <a:spcPts val="640"/>
              </a:spcBef>
              <a:spcAft>
                <a:spcPts val="0"/>
              </a:spcAft>
              <a:buSzPts val="3200"/>
              <a:buChar char="•"/>
            </a:pPr>
            <a:r>
              <a:rPr lang="en-US" sz="3200"/>
              <a:t>Linux is a free and open operating system.</a:t>
            </a:r>
            <a:endParaRPr sz="3200"/>
          </a:p>
          <a:p>
            <a:pPr indent="0" lvl="0" marL="228600" rtl="0" algn="just">
              <a:lnSpc>
                <a:spcPct val="100000"/>
              </a:lnSpc>
              <a:spcBef>
                <a:spcPts val="640"/>
              </a:spcBef>
              <a:spcAft>
                <a:spcPts val="0"/>
              </a:spcAft>
              <a:buNone/>
            </a:pPr>
            <a:r>
              <a:t/>
            </a:r>
            <a:endParaRPr sz="3200"/>
          </a:p>
        </p:txBody>
      </p:sp>
      <p:pic>
        <p:nvPicPr>
          <p:cNvPr descr="Ảnh có chứa đồ chơi, phim hoạt hình, Tượng động vật, chim cánh cụt&#10;&#10;Mô tả được tự động tạo" id="81" name="Google Shape;81;p4"/>
          <p:cNvPicPr preferRelativeResize="0"/>
          <p:nvPr/>
        </p:nvPicPr>
        <p:blipFill rotWithShape="1">
          <a:blip r:embed="rId3">
            <a:alphaModFix/>
          </a:blip>
          <a:srcRect b="0" l="0" r="0" t="0"/>
          <a:stretch/>
        </p:blipFill>
        <p:spPr>
          <a:xfrm>
            <a:off x="10371972" y="1067151"/>
            <a:ext cx="1369444" cy="166939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0" lang="en-US">
                <a:latin typeface="Arial"/>
                <a:ea typeface="Arial"/>
                <a:cs typeface="Arial"/>
                <a:sym typeface="Arial"/>
              </a:rPr>
              <a:t>Linux Distribution Timeline</a:t>
            </a:r>
            <a:endParaRPr>
              <a:latin typeface="Arial"/>
              <a:ea typeface="Arial"/>
              <a:cs typeface="Arial"/>
              <a:sym typeface="Arial"/>
            </a:endParaRPr>
          </a:p>
        </p:txBody>
      </p:sp>
      <p:pic>
        <p:nvPicPr>
          <p:cNvPr descr="Ảnh có chứa văn bản, biểu đồ, hàng, số&#10;&#10;Mô tả được tự động tạo" id="88" name="Google Shape;88;p5"/>
          <p:cNvPicPr preferRelativeResize="0"/>
          <p:nvPr>
            <p:ph idx="1" type="body"/>
          </p:nvPr>
        </p:nvPicPr>
        <p:blipFill rotWithShape="1">
          <a:blip r:embed="rId3">
            <a:alphaModFix/>
          </a:blip>
          <a:srcRect b="0" l="0" r="0" t="0"/>
          <a:stretch/>
        </p:blipFill>
        <p:spPr>
          <a:xfrm>
            <a:off x="22795" y="1268708"/>
            <a:ext cx="12169856" cy="4739479"/>
          </a:xfrm>
          <a:prstGeom prst="rect">
            <a:avLst/>
          </a:prstGeom>
          <a:noFill/>
          <a:ln>
            <a:noFill/>
          </a:ln>
        </p:spPr>
      </p:pic>
      <p:sp>
        <p:nvSpPr>
          <p:cNvPr id="89" name="Google Shape;8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0" lang="en-US"/>
              <a:t>Linux architecture</a:t>
            </a:r>
            <a:endParaRPr>
              <a:latin typeface="Arial"/>
              <a:ea typeface="Arial"/>
              <a:cs typeface="Arial"/>
              <a:sym typeface="Arial"/>
            </a:endParaRPr>
          </a:p>
        </p:txBody>
      </p:sp>
      <p:sp>
        <p:nvSpPr>
          <p:cNvPr id="96" name="Google Shape;9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97" name="Google Shape;97;p6"/>
          <p:cNvSpPr txBox="1"/>
          <p:nvPr>
            <p:ph idx="1" type="body"/>
          </p:nvPr>
        </p:nvSpPr>
        <p:spPr>
          <a:xfrm>
            <a:off x="381000" y="1066800"/>
            <a:ext cx="7073153"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Hardware</a:t>
            </a:r>
            <a:r>
              <a:rPr lang="en-US">
                <a:latin typeface="Arial"/>
                <a:ea typeface="Arial"/>
                <a:cs typeface="Arial"/>
                <a:sym typeface="Arial"/>
              </a:rPr>
              <a:t> ( CPU, RAM, DISK …)</a:t>
            </a:r>
            <a:endParaRPr/>
          </a:p>
          <a:p>
            <a:pPr indent="-228600" lvl="0" marL="228600" rtl="0" algn="l">
              <a:lnSpc>
                <a:spcPct val="90000"/>
              </a:lnSpc>
              <a:spcBef>
                <a:spcPts val="1000"/>
              </a:spcBef>
              <a:spcAft>
                <a:spcPts val="0"/>
              </a:spcAft>
              <a:buClr>
                <a:schemeClr val="dk1"/>
              </a:buClr>
              <a:buSzPts val="2800"/>
              <a:buChar char="•"/>
            </a:pPr>
            <a:r>
              <a:rPr lang="en-US"/>
              <a:t>Software</a:t>
            </a:r>
            <a:r>
              <a:rPr lang="en-US">
                <a:latin typeface="Arial"/>
                <a:ea typeface="Arial"/>
                <a:cs typeface="Arial"/>
                <a:sym typeface="Arial"/>
              </a:rPr>
              <a:t>: </a:t>
            </a:r>
            <a:endParaRPr/>
          </a:p>
          <a:p>
            <a:pPr indent="-228600" lvl="1" marL="685800" rtl="0" algn="l">
              <a:lnSpc>
                <a:spcPct val="90000"/>
              </a:lnSpc>
              <a:spcBef>
                <a:spcPts val="500"/>
              </a:spcBef>
              <a:spcAft>
                <a:spcPts val="0"/>
              </a:spcAft>
              <a:buClr>
                <a:schemeClr val="dk1"/>
              </a:buClr>
              <a:buSzPts val="2400"/>
              <a:buChar char="•"/>
            </a:pPr>
            <a:r>
              <a:rPr lang="en-US">
                <a:latin typeface="Arial"/>
                <a:ea typeface="Arial"/>
                <a:cs typeface="Arial"/>
                <a:sym typeface="Arial"/>
              </a:rPr>
              <a:t>Kernel space: </a:t>
            </a:r>
            <a:r>
              <a:rPr lang="en-US"/>
              <a:t>is Linux core</a:t>
            </a:r>
            <a:r>
              <a:rPr lang="en-US">
                <a:latin typeface="Arial"/>
                <a:ea typeface="Arial"/>
                <a:cs typeface="Arial"/>
                <a:sym typeface="Arial"/>
              </a:rPr>
              <a:t>. </a:t>
            </a:r>
            <a:r>
              <a:rPr lang="en-US"/>
              <a:t>It connect hardware and software</a:t>
            </a:r>
            <a:endParaRPr/>
          </a:p>
          <a:p>
            <a:pPr indent="-228600" lvl="1" marL="685800" rtl="0" algn="l">
              <a:lnSpc>
                <a:spcPct val="90000"/>
              </a:lnSpc>
              <a:spcBef>
                <a:spcPts val="500"/>
              </a:spcBef>
              <a:spcAft>
                <a:spcPts val="0"/>
              </a:spcAft>
              <a:buClr>
                <a:schemeClr val="dk1"/>
              </a:buClr>
              <a:buSzPts val="2400"/>
              <a:buChar char="•"/>
            </a:pPr>
            <a:r>
              <a:rPr lang="en-US">
                <a:latin typeface="Arial"/>
                <a:ea typeface="Arial"/>
                <a:cs typeface="Arial"/>
                <a:sym typeface="Arial"/>
              </a:rPr>
              <a:t>User space: </a:t>
            </a:r>
            <a:r>
              <a:rPr lang="en-US"/>
              <a:t>is software application running on</a:t>
            </a:r>
            <a:r>
              <a:rPr lang="en-US">
                <a:latin typeface="Arial"/>
                <a:ea typeface="Arial"/>
                <a:cs typeface="Arial"/>
                <a:sym typeface="Arial"/>
              </a:rPr>
              <a:t> Kernel.</a:t>
            </a:r>
            <a:endParaRPr/>
          </a:p>
          <a:p>
            <a:pPr indent="-76200" lvl="1" marL="685800" rtl="0" algn="l">
              <a:lnSpc>
                <a:spcPct val="90000"/>
              </a:lnSpc>
              <a:spcBef>
                <a:spcPts val="500"/>
              </a:spcBef>
              <a:spcAft>
                <a:spcPts val="0"/>
              </a:spcAft>
              <a:buClr>
                <a:schemeClr val="dk1"/>
              </a:buClr>
              <a:buSzPts val="2400"/>
              <a:buNone/>
            </a:pPr>
            <a:r>
              <a:t/>
            </a:r>
            <a:endParaRPr/>
          </a:p>
        </p:txBody>
      </p:sp>
      <p:pic>
        <p:nvPicPr>
          <p:cNvPr descr="Ảnh có chứa văn bản, ảnh chụp màn hình, Phông chữ, số&#10;&#10;Mô tả được tự động tạo" id="98" name="Google Shape;98;p6"/>
          <p:cNvPicPr preferRelativeResize="0"/>
          <p:nvPr/>
        </p:nvPicPr>
        <p:blipFill rotWithShape="1">
          <a:blip r:embed="rId3">
            <a:alphaModFix/>
          </a:blip>
          <a:srcRect b="0" l="0" r="0" t="0"/>
          <a:stretch/>
        </p:blipFill>
        <p:spPr>
          <a:xfrm>
            <a:off x="7657589" y="1420649"/>
            <a:ext cx="4231341" cy="352902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7"/>
          <p:cNvSpPr txBox="1"/>
          <p:nvPr>
            <p:ph type="title"/>
          </p:nvPr>
        </p:nvSpPr>
        <p:spPr>
          <a:xfrm>
            <a:off x="242075" y="153825"/>
            <a:ext cx="10515600" cy="544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0" lang="en-US"/>
              <a:t>Linux architecture</a:t>
            </a:r>
            <a:endParaRPr b="0"/>
          </a:p>
        </p:txBody>
      </p:sp>
      <p:sp>
        <p:nvSpPr>
          <p:cNvPr id="105" name="Google Shape;10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106" name="Google Shape;106;p7"/>
          <p:cNvSpPr txBox="1"/>
          <p:nvPr>
            <p:ph idx="1" type="body"/>
          </p:nvPr>
        </p:nvSpPr>
        <p:spPr>
          <a:xfrm>
            <a:off x="381000" y="1066800"/>
            <a:ext cx="7073153"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Linux has a directory structure</a:t>
            </a:r>
            <a:endParaRPr>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Char char="•"/>
            </a:pPr>
            <a:r>
              <a:rPr lang="en-US">
                <a:latin typeface="Arial"/>
                <a:ea typeface="Arial"/>
                <a:cs typeface="Arial"/>
                <a:sym typeface="Arial"/>
              </a:rPr>
              <a:t>/ </a:t>
            </a:r>
            <a:r>
              <a:rPr lang="en-US"/>
              <a:t>is the root directory.</a:t>
            </a:r>
            <a:endParaRPr/>
          </a:p>
          <a:p>
            <a:pPr indent="-228600" lvl="0" marL="228600" rtl="0" algn="l">
              <a:lnSpc>
                <a:spcPct val="90000"/>
              </a:lnSpc>
              <a:spcBef>
                <a:spcPts val="1000"/>
              </a:spcBef>
              <a:spcAft>
                <a:spcPts val="0"/>
              </a:spcAft>
              <a:buClr>
                <a:schemeClr val="dk1"/>
              </a:buClr>
              <a:buSzPts val="2800"/>
              <a:buChar char="•"/>
            </a:pPr>
            <a:r>
              <a:rPr lang="en-US"/>
              <a:t>Some commonly used folders:</a:t>
            </a:r>
            <a:endParaRPr/>
          </a:p>
          <a:p>
            <a:pPr indent="-228600" lvl="1" marL="685800" rtl="0" algn="l">
              <a:lnSpc>
                <a:spcPct val="90000"/>
              </a:lnSpc>
              <a:spcBef>
                <a:spcPts val="500"/>
              </a:spcBef>
              <a:spcAft>
                <a:spcPts val="0"/>
              </a:spcAft>
              <a:buClr>
                <a:schemeClr val="dk1"/>
              </a:buClr>
              <a:buSzPts val="2400"/>
              <a:buChar char="•"/>
            </a:pPr>
            <a:r>
              <a:rPr lang="en-US"/>
              <a:t>/etc</a:t>
            </a:r>
            <a:endParaRPr/>
          </a:p>
          <a:p>
            <a:pPr indent="-228600" lvl="1" marL="685800" rtl="0" algn="l">
              <a:lnSpc>
                <a:spcPct val="90000"/>
              </a:lnSpc>
              <a:spcBef>
                <a:spcPts val="500"/>
              </a:spcBef>
              <a:spcAft>
                <a:spcPts val="0"/>
              </a:spcAft>
              <a:buClr>
                <a:schemeClr val="dk1"/>
              </a:buClr>
              <a:buSzPts val="2400"/>
              <a:buChar char="•"/>
            </a:pPr>
            <a:r>
              <a:rPr lang="en-US"/>
              <a:t>/var</a:t>
            </a:r>
            <a:endParaRPr/>
          </a:p>
          <a:p>
            <a:pPr indent="-228600" lvl="1" marL="685800" rtl="0" algn="l">
              <a:lnSpc>
                <a:spcPct val="90000"/>
              </a:lnSpc>
              <a:spcBef>
                <a:spcPts val="500"/>
              </a:spcBef>
              <a:spcAft>
                <a:spcPts val="0"/>
              </a:spcAft>
              <a:buClr>
                <a:schemeClr val="dk1"/>
              </a:buClr>
              <a:buSzPts val="2400"/>
              <a:buChar char="•"/>
            </a:pPr>
            <a:r>
              <a:rPr lang="en-US"/>
              <a:t>/home</a:t>
            </a:r>
            <a:endParaRPr/>
          </a:p>
          <a:p>
            <a:pPr indent="-228600" lvl="1" marL="685800" rtl="0" algn="l">
              <a:lnSpc>
                <a:spcPct val="90000"/>
              </a:lnSpc>
              <a:spcBef>
                <a:spcPts val="500"/>
              </a:spcBef>
              <a:spcAft>
                <a:spcPts val="0"/>
              </a:spcAft>
              <a:buClr>
                <a:schemeClr val="dk1"/>
              </a:buClr>
              <a:buSzPts val="2400"/>
              <a:buChar char="•"/>
            </a:pPr>
            <a:r>
              <a:rPr lang="en-US"/>
              <a:t>/mnt</a:t>
            </a:r>
            <a:endParaRPr/>
          </a:p>
          <a:p>
            <a:pPr indent="-76200" lvl="1" marL="685800" rtl="0" algn="l">
              <a:lnSpc>
                <a:spcPct val="90000"/>
              </a:lnSpc>
              <a:spcBef>
                <a:spcPts val="500"/>
              </a:spcBef>
              <a:spcAft>
                <a:spcPts val="0"/>
              </a:spcAft>
              <a:buClr>
                <a:schemeClr val="dk1"/>
              </a:buClr>
              <a:buSzPts val="2400"/>
              <a:buNone/>
            </a:pPr>
            <a:r>
              <a:t/>
            </a:r>
            <a:endParaRPr/>
          </a:p>
        </p:txBody>
      </p:sp>
      <p:pic>
        <p:nvPicPr>
          <p:cNvPr descr="https://linuxhandbook.com/content/images/2020/06/linux-system-directoies-poster.png" id="107" name="Google Shape;107;p7"/>
          <p:cNvPicPr preferRelativeResize="0"/>
          <p:nvPr/>
        </p:nvPicPr>
        <p:blipFill rotWithShape="1">
          <a:blip r:embed="rId3">
            <a:alphaModFix/>
          </a:blip>
          <a:srcRect b="0" l="0" r="0" t="0"/>
          <a:stretch/>
        </p:blipFill>
        <p:spPr>
          <a:xfrm>
            <a:off x="7757755" y="983834"/>
            <a:ext cx="3596045" cy="50870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0" lang="en-US"/>
              <a:t>Linux version</a:t>
            </a:r>
            <a:endParaRPr/>
          </a:p>
        </p:txBody>
      </p:sp>
      <p:sp>
        <p:nvSpPr>
          <p:cNvPr id="114" name="Google Shape;11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115" name="Google Shape;115;p8"/>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Common </a:t>
            </a:r>
            <a:r>
              <a:rPr lang="en-US"/>
              <a:t>Open Source</a:t>
            </a:r>
            <a:r>
              <a:rPr lang="en-US">
                <a:latin typeface="Arial"/>
                <a:ea typeface="Arial"/>
                <a:cs typeface="Arial"/>
                <a:sym typeface="Arial"/>
              </a:rPr>
              <a:t> v</a:t>
            </a:r>
            <a:r>
              <a:rPr lang="en-US"/>
              <a:t>ersion</a:t>
            </a:r>
            <a:r>
              <a:rPr lang="en-US">
                <a:latin typeface="Arial"/>
                <a:ea typeface="Arial"/>
                <a:cs typeface="Arial"/>
                <a:sym typeface="Arial"/>
              </a:rPr>
              <a:t>:</a:t>
            </a:r>
            <a:endParaRPr/>
          </a:p>
          <a:p>
            <a:pPr indent="-228600" lvl="1" marL="685800" rtl="0" algn="l">
              <a:lnSpc>
                <a:spcPct val="90000"/>
              </a:lnSpc>
              <a:spcBef>
                <a:spcPts val="500"/>
              </a:spcBef>
              <a:spcAft>
                <a:spcPts val="0"/>
              </a:spcAft>
              <a:buClr>
                <a:srgbClr val="000000"/>
              </a:buClr>
              <a:buSzPts val="2400"/>
              <a:buChar char="•"/>
            </a:pPr>
            <a:r>
              <a:rPr lang="en-US">
                <a:solidFill>
                  <a:srgbClr val="000000"/>
                </a:solidFill>
                <a:latin typeface="Arial"/>
                <a:ea typeface="Arial"/>
                <a:cs typeface="Arial"/>
                <a:sym typeface="Arial"/>
              </a:rPr>
              <a:t>RedHat Linux &gt; Centos</a:t>
            </a:r>
            <a:endParaRPr>
              <a:solidFill>
                <a:srgbClr val="000000"/>
              </a:solidFill>
              <a:latin typeface="Arial"/>
              <a:ea typeface="Arial"/>
              <a:cs typeface="Arial"/>
              <a:sym typeface="Arial"/>
            </a:endParaRPr>
          </a:p>
          <a:p>
            <a:pPr indent="-228600" lvl="2" marL="1143000" rtl="0" algn="l">
              <a:lnSpc>
                <a:spcPct val="90000"/>
              </a:lnSpc>
              <a:spcBef>
                <a:spcPts val="500"/>
              </a:spcBef>
              <a:spcAft>
                <a:spcPts val="0"/>
              </a:spcAft>
              <a:buClr>
                <a:srgbClr val="000000"/>
              </a:buClr>
              <a:buSzPts val="2000"/>
              <a:buChar char="•"/>
            </a:pPr>
            <a:r>
              <a:rPr lang="en-US">
                <a:solidFill>
                  <a:srgbClr val="000000"/>
                </a:solidFill>
                <a:latin typeface="Arial"/>
                <a:ea typeface="Arial"/>
                <a:cs typeface="Arial"/>
                <a:sym typeface="Arial"/>
              </a:rPr>
              <a:t>Centos 5, 6, 7, 8 stream, 9 stream</a:t>
            </a:r>
            <a:endParaRPr>
              <a:solidFill>
                <a:srgbClr val="000000"/>
              </a:solidFill>
              <a:latin typeface="Arial"/>
              <a:ea typeface="Arial"/>
              <a:cs typeface="Arial"/>
              <a:sym typeface="Arial"/>
            </a:endParaRPr>
          </a:p>
          <a:p>
            <a:pPr indent="-228600" lvl="1" marL="685800" rtl="0" algn="l">
              <a:lnSpc>
                <a:spcPct val="90000"/>
              </a:lnSpc>
              <a:spcBef>
                <a:spcPts val="500"/>
              </a:spcBef>
              <a:spcAft>
                <a:spcPts val="0"/>
              </a:spcAft>
              <a:buClr>
                <a:srgbClr val="000000"/>
              </a:buClr>
              <a:buSzPts val="2400"/>
              <a:buChar char="•"/>
            </a:pPr>
            <a:r>
              <a:rPr lang="en-US">
                <a:solidFill>
                  <a:srgbClr val="000000"/>
                </a:solidFill>
                <a:latin typeface="Arial"/>
                <a:ea typeface="Arial"/>
                <a:cs typeface="Arial"/>
                <a:sym typeface="Arial"/>
              </a:rPr>
              <a:t>Debian &gt; Ubuntu</a:t>
            </a:r>
            <a:endParaRPr>
              <a:solidFill>
                <a:srgbClr val="000000"/>
              </a:solidFill>
              <a:latin typeface="Arial"/>
              <a:ea typeface="Arial"/>
              <a:cs typeface="Arial"/>
              <a:sym typeface="Arial"/>
            </a:endParaRPr>
          </a:p>
          <a:p>
            <a:pPr indent="-228600" lvl="2" marL="1143000" rtl="0" algn="l">
              <a:lnSpc>
                <a:spcPct val="90000"/>
              </a:lnSpc>
              <a:spcBef>
                <a:spcPts val="500"/>
              </a:spcBef>
              <a:spcAft>
                <a:spcPts val="0"/>
              </a:spcAft>
              <a:buClr>
                <a:schemeClr val="dk1"/>
              </a:buClr>
              <a:buSzPts val="2000"/>
              <a:buChar char="•"/>
            </a:pPr>
            <a:r>
              <a:rPr lang="en-US">
                <a:latin typeface="Arial"/>
                <a:ea typeface="Arial"/>
                <a:cs typeface="Arial"/>
                <a:sym typeface="Arial"/>
              </a:rPr>
              <a:t>Ubuntu 12.04 14.14 18.04 20.04 22.04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0" lang="en-US">
                <a:latin typeface="Arial"/>
                <a:ea typeface="Arial"/>
                <a:cs typeface="Arial"/>
                <a:sym typeface="Arial"/>
              </a:rPr>
              <a:t>CentOS Intro</a:t>
            </a:r>
            <a:endParaRPr>
              <a:latin typeface="Arial"/>
              <a:ea typeface="Arial"/>
              <a:cs typeface="Arial"/>
              <a:sym typeface="Arial"/>
            </a:endParaRPr>
          </a:p>
        </p:txBody>
      </p:sp>
      <p:sp>
        <p:nvSpPr>
          <p:cNvPr id="122" name="Google Shape;12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123" name="Google Shape;123;p9"/>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0000"/>
              </a:buClr>
              <a:buSzPts val="2800"/>
              <a:buChar char="•"/>
            </a:pPr>
            <a:r>
              <a:rPr lang="en-US">
                <a:solidFill>
                  <a:srgbClr val="000000"/>
                </a:solidFill>
                <a:latin typeface="Arial"/>
                <a:ea typeface="Arial"/>
                <a:cs typeface="Arial"/>
                <a:sym typeface="Arial"/>
              </a:rPr>
              <a:t>Centos 5, 6, 7, 8 stream, 9 stream</a:t>
            </a:r>
            <a:endParaRPr>
              <a:solidFill>
                <a:srgbClr val="000000"/>
              </a:solidFill>
              <a:latin typeface="Arial"/>
              <a:ea typeface="Arial"/>
              <a:cs typeface="Arial"/>
              <a:sym typeface="Arial"/>
            </a:endParaRPr>
          </a:p>
          <a:p>
            <a:pPr indent="-76200" lvl="1" marL="685800" rtl="0" algn="l">
              <a:lnSpc>
                <a:spcPct val="90000"/>
              </a:lnSpc>
              <a:spcBef>
                <a:spcPts val="500"/>
              </a:spcBef>
              <a:spcAft>
                <a:spcPts val="0"/>
              </a:spcAft>
              <a:buClr>
                <a:schemeClr val="dk1"/>
              </a:buClr>
              <a:buSzPts val="2400"/>
              <a:buNone/>
            </a:pPr>
            <a:r>
              <a:t/>
            </a:r>
            <a:endParaRPr/>
          </a:p>
        </p:txBody>
      </p:sp>
      <p:pic>
        <p:nvPicPr>
          <p:cNvPr descr="Ảnh có chứa văn bản, ảnh chụp màn hình, số, Phông chữ&#10;&#10;Mô tả được tự động tạo" id="124" name="Google Shape;124;p9"/>
          <p:cNvPicPr preferRelativeResize="0"/>
          <p:nvPr/>
        </p:nvPicPr>
        <p:blipFill rotWithShape="1">
          <a:blip r:embed="rId3">
            <a:alphaModFix/>
          </a:blip>
          <a:srcRect b="0" l="0" r="0" t="0"/>
          <a:stretch/>
        </p:blipFill>
        <p:spPr>
          <a:xfrm>
            <a:off x="753036" y="1523431"/>
            <a:ext cx="6517340" cy="46358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0"/>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latin typeface="Arial"/>
                <a:ea typeface="Arial"/>
                <a:cs typeface="Arial"/>
                <a:sym typeface="Arial"/>
              </a:rPr>
              <a:t>Ubuntu Intro</a:t>
            </a:r>
            <a:endParaRPr/>
          </a:p>
        </p:txBody>
      </p:sp>
      <p:sp>
        <p:nvSpPr>
          <p:cNvPr id="131" name="Google Shape;131;p10"/>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0" lvl="1" marL="457200" rtl="0" algn="l">
              <a:lnSpc>
                <a:spcPct val="90000"/>
              </a:lnSpc>
              <a:spcBef>
                <a:spcPts val="0"/>
              </a:spcBef>
              <a:spcAft>
                <a:spcPts val="0"/>
              </a:spcAft>
              <a:buClr>
                <a:schemeClr val="dk1"/>
              </a:buClr>
              <a:buSzPts val="2400"/>
              <a:buNone/>
            </a:pPr>
            <a:r>
              <a:rPr lang="en-US">
                <a:latin typeface="Arial"/>
                <a:ea typeface="Arial"/>
                <a:cs typeface="Arial"/>
                <a:sym typeface="Arial"/>
              </a:rPr>
              <a:t>Ubuntu 12.04 14.14 18.04 20.04 22.04</a:t>
            </a:r>
            <a:endParaRPr/>
          </a:p>
          <a:p>
            <a:pPr indent="0" lvl="1" marL="457200" rtl="0" algn="l">
              <a:lnSpc>
                <a:spcPct val="90000"/>
              </a:lnSpc>
              <a:spcBef>
                <a:spcPts val="500"/>
              </a:spcBef>
              <a:spcAft>
                <a:spcPts val="0"/>
              </a:spcAft>
              <a:buClr>
                <a:schemeClr val="dk1"/>
              </a:buClr>
              <a:buSzPts val="2400"/>
              <a:buNone/>
            </a:pPr>
            <a:r>
              <a:t/>
            </a:r>
            <a:endParaRPr/>
          </a:p>
        </p:txBody>
      </p:sp>
      <p:sp>
        <p:nvSpPr>
          <p:cNvPr id="132" name="Google Shape;13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Ảnh có chứa văn bản, ảnh chụp màn hình, biểu đồ, hàng&#10;&#10;Mô tả được tự động tạo" id="133" name="Google Shape;133;p10"/>
          <p:cNvPicPr preferRelativeResize="0"/>
          <p:nvPr/>
        </p:nvPicPr>
        <p:blipFill rotWithShape="1">
          <a:blip r:embed="rId3">
            <a:alphaModFix/>
          </a:blip>
          <a:srcRect b="0" l="0" r="0" t="0"/>
          <a:stretch/>
        </p:blipFill>
        <p:spPr>
          <a:xfrm>
            <a:off x="313764" y="1506406"/>
            <a:ext cx="11716869" cy="45533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1"/>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Operating System Boot Process</a:t>
            </a:r>
            <a:endParaRPr/>
          </a:p>
        </p:txBody>
      </p:sp>
      <p:sp>
        <p:nvSpPr>
          <p:cNvPr id="140" name="Google Shape;140;p11"/>
          <p:cNvSpPr txBox="1"/>
          <p:nvPr>
            <p:ph idx="1" type="body"/>
          </p:nvPr>
        </p:nvSpPr>
        <p:spPr>
          <a:xfrm>
            <a:off x="381000" y="1066800"/>
            <a:ext cx="7620000" cy="4351338"/>
          </a:xfrm>
          <a:prstGeom prst="rect">
            <a:avLst/>
          </a:prstGeom>
          <a:noFill/>
          <a:ln>
            <a:noFill/>
          </a:ln>
        </p:spPr>
        <p:txBody>
          <a:bodyPr anchorCtr="0" anchor="t" bIns="45700" lIns="91425" spcFirstLastPara="1" rIns="91425" wrap="square" tIns="45700">
            <a:noAutofit/>
          </a:bodyPr>
          <a:lstStyle/>
          <a:p>
            <a:pPr indent="-514350" lvl="0" marL="514350" rtl="0" algn="l">
              <a:lnSpc>
                <a:spcPct val="90000"/>
              </a:lnSpc>
              <a:spcBef>
                <a:spcPts val="0"/>
              </a:spcBef>
              <a:spcAft>
                <a:spcPts val="0"/>
              </a:spcAft>
              <a:buClr>
                <a:schemeClr val="dk1"/>
              </a:buClr>
              <a:buSzPts val="2800"/>
              <a:buAutoNum type="arabicPeriod"/>
            </a:pPr>
            <a:r>
              <a:rPr lang="en-US">
                <a:latin typeface="Arial"/>
                <a:ea typeface="Arial"/>
                <a:cs typeface="Arial"/>
                <a:sym typeface="Arial"/>
              </a:rPr>
              <a:t>BIOS</a:t>
            </a:r>
            <a:endParaRPr/>
          </a:p>
          <a:p>
            <a:pPr indent="-514350" lvl="0" marL="514350" rtl="0" algn="l">
              <a:lnSpc>
                <a:spcPct val="90000"/>
              </a:lnSpc>
              <a:spcBef>
                <a:spcPts val="1000"/>
              </a:spcBef>
              <a:spcAft>
                <a:spcPts val="0"/>
              </a:spcAft>
              <a:buClr>
                <a:schemeClr val="dk1"/>
              </a:buClr>
              <a:buSzPts val="2800"/>
              <a:buAutoNum type="arabicPeriod"/>
            </a:pPr>
            <a:r>
              <a:rPr lang="en-US">
                <a:latin typeface="Arial"/>
                <a:ea typeface="Arial"/>
                <a:cs typeface="Arial"/>
                <a:sym typeface="Arial"/>
              </a:rPr>
              <a:t>Master Boot Record (MBR)</a:t>
            </a:r>
            <a:endParaRPr/>
          </a:p>
          <a:p>
            <a:pPr indent="-514350" lvl="0" marL="514350" rtl="0" algn="l">
              <a:lnSpc>
                <a:spcPct val="90000"/>
              </a:lnSpc>
              <a:spcBef>
                <a:spcPts val="1000"/>
              </a:spcBef>
              <a:spcAft>
                <a:spcPts val="0"/>
              </a:spcAft>
              <a:buClr>
                <a:schemeClr val="dk1"/>
              </a:buClr>
              <a:buSzPts val="2800"/>
              <a:buAutoNum type="arabicPeriod"/>
            </a:pPr>
            <a:r>
              <a:rPr lang="en-US">
                <a:latin typeface="Arial"/>
                <a:ea typeface="Arial"/>
                <a:cs typeface="Arial"/>
                <a:sym typeface="Arial"/>
              </a:rPr>
              <a:t>Boot loader</a:t>
            </a:r>
            <a:endParaRPr/>
          </a:p>
          <a:p>
            <a:pPr indent="-292100" lvl="0" marL="342900" rtl="0" algn="l">
              <a:spcBef>
                <a:spcPts val="1000"/>
              </a:spcBef>
              <a:spcAft>
                <a:spcPts val="0"/>
              </a:spcAft>
              <a:buSzPts val="2800"/>
              <a:buAutoNum type="arabicPeriod"/>
            </a:pPr>
            <a:r>
              <a:rPr lang="en-US"/>
              <a:t>The Linux kernel is loaded and launched</a:t>
            </a:r>
            <a:endParaRPr/>
          </a:p>
          <a:p>
            <a:pPr indent="-292100" lvl="0" marL="342900" rtl="0" algn="l">
              <a:spcBef>
                <a:spcPts val="1000"/>
              </a:spcBef>
              <a:spcAft>
                <a:spcPts val="0"/>
              </a:spcAft>
              <a:buSzPts val="2800"/>
              <a:buAutoNum type="arabicPeriod"/>
            </a:pPr>
            <a:r>
              <a:rPr lang="en-US"/>
              <a:t>Scripts in INITRD execute.</a:t>
            </a:r>
            <a:endParaRPr/>
          </a:p>
          <a:p>
            <a:pPr indent="-292100" lvl="0" marL="342900" rtl="0" algn="l">
              <a:spcBef>
                <a:spcPts val="1000"/>
              </a:spcBef>
              <a:spcAft>
                <a:spcPts val="0"/>
              </a:spcAft>
              <a:buSzPts val="2800"/>
              <a:buAutoNum type="arabicPeriod"/>
            </a:pPr>
            <a:r>
              <a:rPr lang="en-US"/>
              <a:t>The init program is executed</a:t>
            </a:r>
            <a:endParaRPr/>
          </a:p>
          <a:p>
            <a:pPr indent="-292100" lvl="0" marL="342900" rtl="0" algn="l">
              <a:spcBef>
                <a:spcPts val="1000"/>
              </a:spcBef>
              <a:spcAft>
                <a:spcPts val="0"/>
              </a:spcAft>
              <a:buSzPts val="2800"/>
              <a:buAutoNum type="arabicPeriod"/>
            </a:pPr>
            <a:r>
              <a:rPr lang="en-US"/>
              <a:t>Log in to the graphical interface</a:t>
            </a:r>
            <a:endParaRPr/>
          </a:p>
          <a:p>
            <a:pPr indent="-292100" lvl="0" marL="342900" rtl="0" algn="l">
              <a:spcBef>
                <a:spcPts val="1000"/>
              </a:spcBef>
              <a:spcAft>
                <a:spcPts val="0"/>
              </a:spcAft>
              <a:buSzPts val="2800"/>
              <a:buAutoNum type="arabicPeriod"/>
            </a:pPr>
            <a:r>
              <a:rPr lang="en-US"/>
              <a:t>Successfully logged into the system.</a:t>
            </a:r>
            <a:endParaRPr/>
          </a:p>
          <a:p>
            <a:pPr indent="0" lvl="0" marL="228600" rtl="0" algn="l">
              <a:lnSpc>
                <a:spcPct val="90000"/>
              </a:lnSpc>
              <a:spcBef>
                <a:spcPts val="1000"/>
              </a:spcBef>
              <a:spcAft>
                <a:spcPts val="0"/>
              </a:spcAft>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41" name="Google Shape;14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Quá trình khởi động Linux" id="142" name="Google Shape;142;p11"/>
          <p:cNvPicPr preferRelativeResize="0"/>
          <p:nvPr/>
        </p:nvPicPr>
        <p:blipFill rotWithShape="1">
          <a:blip r:embed="rId3">
            <a:alphaModFix/>
          </a:blip>
          <a:srcRect b="0" l="0" r="0" t="0"/>
          <a:stretch/>
        </p:blipFill>
        <p:spPr>
          <a:xfrm>
            <a:off x="8726488" y="814087"/>
            <a:ext cx="3008312" cy="48567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2"/>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latin typeface="Arial"/>
                <a:ea typeface="Arial"/>
                <a:cs typeface="Arial"/>
                <a:sym typeface="Arial"/>
              </a:rPr>
              <a:t>BIOS Legacy vs UEFI</a:t>
            </a:r>
            <a:endParaRPr/>
          </a:p>
        </p:txBody>
      </p:sp>
      <p:graphicFrame>
        <p:nvGraphicFramePr>
          <p:cNvPr id="149" name="Google Shape;149;p12"/>
          <p:cNvGraphicFramePr/>
          <p:nvPr/>
        </p:nvGraphicFramePr>
        <p:xfrm>
          <a:off x="894475" y="709425"/>
          <a:ext cx="3000000" cy="3000000"/>
        </p:xfrm>
        <a:graphic>
          <a:graphicData uri="http://schemas.openxmlformats.org/drawingml/2006/table">
            <a:tbl>
              <a:tblPr bandRow="1" firstRow="1">
                <a:noFill/>
                <a:tableStyleId>{E2933203-EDFB-4FF3-827A-AC3DC758B2E8}</a:tableStyleId>
              </a:tblPr>
              <a:tblGrid>
                <a:gridCol w="4591925"/>
                <a:gridCol w="4591925"/>
              </a:tblGrid>
              <a:tr h="602725">
                <a:tc>
                  <a:txBody>
                    <a:bodyPr/>
                    <a:lstStyle/>
                    <a:p>
                      <a:pPr indent="0" lvl="0" marL="0" marR="0" rtl="0" algn="ctr">
                        <a:spcBef>
                          <a:spcPts val="0"/>
                        </a:spcBef>
                        <a:spcAft>
                          <a:spcPts val="0"/>
                        </a:spcAft>
                        <a:buNone/>
                      </a:pPr>
                      <a:r>
                        <a:rPr lang="en-US" sz="3600" u="none" cap="none" strike="noStrike"/>
                        <a:t>LEGACY</a:t>
                      </a:r>
                      <a:endParaRPr sz="3600" u="none" cap="none" strike="noStrike"/>
                    </a:p>
                  </a:txBody>
                  <a:tcPr marT="45725" marB="45725" marR="91450" marL="91450"/>
                </a:tc>
                <a:tc>
                  <a:txBody>
                    <a:bodyPr/>
                    <a:lstStyle/>
                    <a:p>
                      <a:pPr indent="0" lvl="0" marL="0" marR="0" rtl="0" algn="ctr">
                        <a:spcBef>
                          <a:spcPts val="0"/>
                        </a:spcBef>
                        <a:spcAft>
                          <a:spcPts val="0"/>
                        </a:spcAft>
                        <a:buNone/>
                      </a:pPr>
                      <a:r>
                        <a:rPr lang="en-US" sz="3600" u="none" cap="none" strike="noStrike"/>
                        <a:t>UEFI</a:t>
                      </a:r>
                      <a:endParaRPr sz="3600" u="none" cap="none" strike="noStrike"/>
                    </a:p>
                  </a:txBody>
                  <a:tcPr marT="45725" marB="45725" marR="91450" marL="91450"/>
                </a:tc>
              </a:tr>
              <a:tr h="1244850">
                <a:tc>
                  <a:txBody>
                    <a:bodyPr/>
                    <a:lstStyle/>
                    <a:p>
                      <a:pPr indent="-285750" lvl="0" marL="285750" marR="0" rtl="0" algn="l">
                        <a:spcBef>
                          <a:spcPts val="0"/>
                        </a:spcBef>
                        <a:spcAft>
                          <a:spcPts val="0"/>
                        </a:spcAft>
                        <a:buClr>
                          <a:schemeClr val="dk1"/>
                        </a:buClr>
                        <a:buSzPts val="2800"/>
                        <a:buFont typeface="Arial"/>
                        <a:buChar char="•"/>
                      </a:pPr>
                      <a:r>
                        <a:rPr lang="en-US" sz="2800"/>
                        <a:t>Simple user interface, keyboard operation</a:t>
                      </a:r>
                      <a:endParaRPr sz="2800" u="none" cap="none" strike="noStrike"/>
                    </a:p>
                  </a:txBody>
                  <a:tcPr marT="45725" marB="45725" marR="91450" marL="91450"/>
                </a:tc>
                <a:tc>
                  <a:txBody>
                    <a:bodyPr/>
                    <a:lstStyle/>
                    <a:p>
                      <a:pPr indent="-285750" lvl="0" marL="285750" marR="0" rtl="0" algn="l">
                        <a:spcBef>
                          <a:spcPts val="0"/>
                        </a:spcBef>
                        <a:spcAft>
                          <a:spcPts val="0"/>
                        </a:spcAft>
                        <a:buClr>
                          <a:schemeClr val="dk1"/>
                        </a:buClr>
                        <a:buSzPts val="2800"/>
                        <a:buFont typeface="Arial"/>
                        <a:buChar char="•"/>
                      </a:pPr>
                      <a:r>
                        <a:rPr lang="en-US" sz="2800"/>
                        <a:t>Graphical interface, mouse and keyboard operation, easy to use</a:t>
                      </a:r>
                      <a:endParaRPr sz="2800" u="none" cap="none" strike="noStrike"/>
                    </a:p>
                  </a:txBody>
                  <a:tcPr marT="45725" marB="45725" marR="91450" marL="91450"/>
                </a:tc>
              </a:tr>
              <a:tr h="857575">
                <a:tc>
                  <a:txBody>
                    <a:bodyPr/>
                    <a:lstStyle/>
                    <a:p>
                      <a:pPr indent="-285750" lvl="0" marL="285750" marR="0" rtl="0" algn="l">
                        <a:spcBef>
                          <a:spcPts val="0"/>
                        </a:spcBef>
                        <a:spcAft>
                          <a:spcPts val="0"/>
                        </a:spcAft>
                        <a:buClr>
                          <a:schemeClr val="dk1"/>
                        </a:buClr>
                        <a:buSzPts val="2800"/>
                        <a:buFont typeface="Arial"/>
                        <a:buChar char="•"/>
                      </a:pPr>
                      <a:r>
                        <a:rPr lang="en-US" sz="2800"/>
                        <a:t>Only MBR format hard drives are supported</a:t>
                      </a:r>
                      <a:endParaRPr sz="2800" u="none" cap="none" strike="noStrike"/>
                    </a:p>
                  </a:txBody>
                  <a:tcPr marT="45725" marB="45725" marR="91450" marL="91450"/>
                </a:tc>
                <a:tc>
                  <a:txBody>
                    <a:bodyPr/>
                    <a:lstStyle/>
                    <a:p>
                      <a:pPr indent="-285750" lvl="0" marL="285750" marR="0" rtl="0" algn="l">
                        <a:spcBef>
                          <a:spcPts val="0"/>
                        </a:spcBef>
                        <a:spcAft>
                          <a:spcPts val="0"/>
                        </a:spcAft>
                        <a:buClr>
                          <a:schemeClr val="dk1"/>
                        </a:buClr>
                        <a:buSzPts val="2800"/>
                        <a:buFont typeface="Arial"/>
                        <a:buChar char="•"/>
                      </a:pPr>
                      <a:r>
                        <a:rPr lang="en-US" sz="2800"/>
                        <a:t>Supports both MBR and GPT</a:t>
                      </a:r>
                      <a:endParaRPr sz="2800" u="none" cap="none" strike="noStrike"/>
                    </a:p>
                  </a:txBody>
                  <a:tcPr marT="45725" marB="45725" marR="91450" marL="91450"/>
                </a:tc>
              </a:tr>
              <a:tr h="857575">
                <a:tc>
                  <a:txBody>
                    <a:bodyPr/>
                    <a:lstStyle/>
                    <a:p>
                      <a:pPr indent="-285750" lvl="0" marL="285750" marR="0" rtl="0" algn="l">
                        <a:spcBef>
                          <a:spcPts val="0"/>
                        </a:spcBef>
                        <a:spcAft>
                          <a:spcPts val="0"/>
                        </a:spcAft>
                        <a:buClr>
                          <a:schemeClr val="dk1"/>
                        </a:buClr>
                        <a:buSzPts val="2800"/>
                        <a:buFont typeface="Arial"/>
                        <a:buChar char="•"/>
                      </a:pPr>
                      <a:r>
                        <a:rPr lang="en-US" sz="2800"/>
                        <a:t>Hard drives larger than 2TB are not supported</a:t>
                      </a:r>
                      <a:endParaRPr sz="2800" u="none" cap="none" strike="noStrike"/>
                    </a:p>
                  </a:txBody>
                  <a:tcPr marT="45725" marB="45725" marR="91450" marL="91450"/>
                </a:tc>
                <a:tc>
                  <a:txBody>
                    <a:bodyPr/>
                    <a:lstStyle/>
                    <a:p>
                      <a:pPr indent="-285750" lvl="0" marL="285750" marR="0" rtl="0" algn="l">
                        <a:spcBef>
                          <a:spcPts val="0"/>
                        </a:spcBef>
                        <a:spcAft>
                          <a:spcPts val="0"/>
                        </a:spcAft>
                        <a:buClr>
                          <a:schemeClr val="dk1"/>
                        </a:buClr>
                        <a:buSzPts val="2800"/>
                        <a:buFont typeface="Arial"/>
                        <a:buChar char="•"/>
                      </a:pPr>
                      <a:r>
                        <a:rPr lang="en-US" sz="2800"/>
                        <a:t>Supports maximum 18EB hard drive</a:t>
                      </a:r>
                      <a:endParaRPr sz="2800" u="none" cap="none" strike="noStrike"/>
                    </a:p>
                  </a:txBody>
                  <a:tcPr marT="45725" marB="45725" marR="91450" marL="91450"/>
                </a:tc>
              </a:tr>
              <a:tr h="973625">
                <a:tc>
                  <a:txBody>
                    <a:bodyPr/>
                    <a:lstStyle/>
                    <a:p>
                      <a:pPr indent="-285750" lvl="0" marL="285750" marR="0" rtl="0" algn="l">
                        <a:spcBef>
                          <a:spcPts val="0"/>
                        </a:spcBef>
                        <a:spcAft>
                          <a:spcPts val="0"/>
                        </a:spcAft>
                        <a:buClr>
                          <a:schemeClr val="dk1"/>
                        </a:buClr>
                        <a:buSzPts val="2800"/>
                        <a:buFont typeface="Arial"/>
                        <a:buChar char="•"/>
                      </a:pPr>
                      <a:r>
                        <a:rPr lang="en-US" sz="2800"/>
                        <a:t>Supports up to 4 primary partitions (Primary)</a:t>
                      </a:r>
                      <a:endParaRPr sz="2800" u="none" cap="none" strike="noStrike"/>
                    </a:p>
                  </a:txBody>
                  <a:tcPr marT="45725" marB="45725" marR="91450" marL="91450"/>
                </a:tc>
                <a:tc>
                  <a:txBody>
                    <a:bodyPr/>
                    <a:lstStyle/>
                    <a:p>
                      <a:pPr indent="-285750" lvl="0" marL="285750" marR="0" rtl="0" algn="l">
                        <a:spcBef>
                          <a:spcPts val="0"/>
                        </a:spcBef>
                        <a:spcAft>
                          <a:spcPts val="0"/>
                        </a:spcAft>
                        <a:buClr>
                          <a:schemeClr val="dk1"/>
                        </a:buClr>
                        <a:buSzPts val="2800"/>
                        <a:buFont typeface="Arial"/>
                        <a:buChar char="•"/>
                      </a:pPr>
                      <a:r>
                        <a:rPr lang="en-US" sz="2800"/>
                        <a:t>Supports maximum 128 primary partitions</a:t>
                      </a:r>
                      <a:endParaRPr sz="2800" u="none" cap="none" strike="noStrike"/>
                    </a:p>
                  </a:txBody>
                  <a:tcPr marT="45725" marB="45725" marR="91450" marL="91450"/>
                </a:tc>
              </a:tr>
              <a:tr h="564100">
                <a:tc>
                  <a:txBody>
                    <a:bodyPr/>
                    <a:lstStyle/>
                    <a:p>
                      <a:pPr indent="-285750" lvl="0" marL="285750" marR="0" rtl="0" algn="l">
                        <a:spcBef>
                          <a:spcPts val="0"/>
                        </a:spcBef>
                        <a:spcAft>
                          <a:spcPts val="0"/>
                        </a:spcAft>
                        <a:buClr>
                          <a:schemeClr val="dk1"/>
                        </a:buClr>
                        <a:buSzPts val="2800"/>
                        <a:buFont typeface="Arial"/>
                        <a:buChar char="•"/>
                      </a:pPr>
                      <a:r>
                        <a:rPr lang="en-US" sz="2800"/>
                        <a:t>Poor security</a:t>
                      </a:r>
                      <a:endParaRPr sz="2800" u="none" cap="none" strike="noStrike"/>
                    </a:p>
                  </a:txBody>
                  <a:tcPr marT="45725" marB="45725" marR="91450" marL="91450"/>
                </a:tc>
                <a:tc>
                  <a:txBody>
                    <a:bodyPr/>
                    <a:lstStyle/>
                    <a:p>
                      <a:pPr indent="-285750" lvl="0" marL="285750" marR="0" rtl="0" algn="l">
                        <a:spcBef>
                          <a:spcPts val="0"/>
                        </a:spcBef>
                        <a:spcAft>
                          <a:spcPts val="0"/>
                        </a:spcAft>
                        <a:buClr>
                          <a:schemeClr val="dk1"/>
                        </a:buClr>
                        <a:buSzPts val="2800"/>
                        <a:buFont typeface="Arial"/>
                        <a:buChar char="•"/>
                      </a:pPr>
                      <a:r>
                        <a:rPr lang="en-US" sz="2800"/>
                        <a:t>Better security</a:t>
                      </a:r>
                      <a:endParaRPr sz="2800" u="none" cap="none" strike="noStrike"/>
                    </a:p>
                  </a:txBody>
                  <a:tcPr marT="45725" marB="45725" marR="91450" marL="91450"/>
                </a:tc>
              </a:tr>
            </a:tbl>
          </a:graphicData>
        </a:graphic>
      </p:graphicFrame>
      <p:sp>
        <p:nvSpPr>
          <p:cNvPr id="150" name="Google Shape;15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VirtualBox Network setting</a:t>
            </a:r>
            <a:endParaRPr/>
          </a:p>
        </p:txBody>
      </p:sp>
      <p:sp>
        <p:nvSpPr>
          <p:cNvPr id="156" name="Google Shape;156;p13"/>
          <p:cNvSpPr txBox="1"/>
          <p:nvPr>
            <p:ph idx="1" type="body"/>
          </p:nvPr>
        </p:nvSpPr>
        <p:spPr>
          <a:xfrm>
            <a:off x="381000" y="914400"/>
            <a:ext cx="10515600" cy="4351338"/>
          </a:xfrm>
          <a:prstGeom prst="rect">
            <a:avLst/>
          </a:prstGeom>
          <a:noFill/>
          <a:ln>
            <a:noFill/>
          </a:ln>
        </p:spPr>
        <p:txBody>
          <a:bodyPr anchorCtr="0" anchor="t" bIns="45700" lIns="91425" spcFirstLastPara="1" rIns="91425" wrap="square" tIns="45700">
            <a:noAutofit/>
          </a:bodyPr>
          <a:lstStyle/>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Font typeface="Noto Sans Symbols"/>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57" name="Google Shape;15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pic>
        <p:nvPicPr>
          <p:cNvPr id="158" name="Google Shape;158;p13"/>
          <p:cNvPicPr preferRelativeResize="0"/>
          <p:nvPr/>
        </p:nvPicPr>
        <p:blipFill>
          <a:blip r:embed="rId3">
            <a:alphaModFix/>
          </a:blip>
          <a:stretch>
            <a:fillRect/>
          </a:stretch>
        </p:blipFill>
        <p:spPr>
          <a:xfrm>
            <a:off x="815029" y="1231979"/>
            <a:ext cx="10081576" cy="36995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a26edea4d4_0_0"/>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Basic command in Linux</a:t>
            </a:r>
            <a:endParaRPr/>
          </a:p>
        </p:txBody>
      </p:sp>
      <p:sp>
        <p:nvSpPr>
          <p:cNvPr id="165" name="Google Shape;165;g2a26edea4d4_0_0"/>
          <p:cNvSpPr txBox="1"/>
          <p:nvPr>
            <p:ph idx="1" type="body"/>
          </p:nvPr>
        </p:nvSpPr>
        <p:spPr>
          <a:xfrm>
            <a:off x="394475" y="784200"/>
            <a:ext cx="10515600" cy="52896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SzPts val="2400"/>
              <a:buFont typeface="Times New Roman"/>
              <a:buChar char="●"/>
            </a:pPr>
            <a:r>
              <a:rPr lang="en-US" sz="2400"/>
              <a:t>Show OS version</a:t>
            </a:r>
            <a:endParaRPr sz="2400"/>
          </a:p>
          <a:p>
            <a:pPr indent="0" lvl="0" marL="457200" rtl="0" algn="l">
              <a:lnSpc>
                <a:spcPct val="150000"/>
              </a:lnSpc>
              <a:spcBef>
                <a:spcPts val="0"/>
              </a:spcBef>
              <a:spcAft>
                <a:spcPts val="0"/>
              </a:spcAft>
              <a:buNone/>
            </a:pPr>
            <a:r>
              <a:rPr lang="en-US" sz="2000"/>
              <a:t>lsb_release -a</a:t>
            </a:r>
            <a:endParaRPr sz="2900"/>
          </a:p>
          <a:p>
            <a:pPr indent="-381000" lvl="0" marL="457200" rtl="0" algn="l">
              <a:lnSpc>
                <a:spcPct val="150000"/>
              </a:lnSpc>
              <a:spcBef>
                <a:spcPts val="0"/>
              </a:spcBef>
              <a:spcAft>
                <a:spcPts val="0"/>
              </a:spcAft>
              <a:buSzPts val="2400"/>
              <a:buChar char="●"/>
            </a:pPr>
            <a:r>
              <a:rPr lang="en-US" sz="2400"/>
              <a:t>Install command</a:t>
            </a:r>
            <a:endParaRPr sz="2400"/>
          </a:p>
          <a:p>
            <a:pPr indent="0" lvl="0" marL="457200" rtl="0" algn="l">
              <a:lnSpc>
                <a:spcPct val="150000"/>
              </a:lnSpc>
              <a:spcBef>
                <a:spcPts val="0"/>
              </a:spcBef>
              <a:spcAft>
                <a:spcPts val="0"/>
              </a:spcAft>
              <a:buNone/>
            </a:pPr>
            <a:r>
              <a:rPr lang="en-US" sz="2000"/>
              <a:t>#use for Ubuntu OS</a:t>
            </a:r>
            <a:endParaRPr sz="2000"/>
          </a:p>
          <a:p>
            <a:pPr indent="0" lvl="0" marL="457200" rtl="0" algn="l">
              <a:lnSpc>
                <a:spcPct val="150000"/>
              </a:lnSpc>
              <a:spcBef>
                <a:spcPts val="0"/>
              </a:spcBef>
              <a:spcAft>
                <a:spcPts val="0"/>
              </a:spcAft>
              <a:buNone/>
            </a:pPr>
            <a:r>
              <a:rPr lang="en-US" sz="2000"/>
              <a:t>sudo apt-get [options] [command] [package(s)]</a:t>
            </a:r>
            <a:endParaRPr sz="2000"/>
          </a:p>
          <a:p>
            <a:pPr indent="0" lvl="0" marL="457200" rtl="0" algn="l">
              <a:lnSpc>
                <a:spcPct val="150000"/>
              </a:lnSpc>
              <a:spcBef>
                <a:spcPts val="0"/>
              </a:spcBef>
              <a:spcAft>
                <a:spcPts val="0"/>
              </a:spcAft>
              <a:buNone/>
            </a:pPr>
            <a:r>
              <a:rPr lang="en-US" sz="2000"/>
              <a:t>#User for Cent OS</a:t>
            </a:r>
            <a:endParaRPr sz="2000"/>
          </a:p>
          <a:p>
            <a:pPr indent="0" lvl="0" marL="457200" marR="190500" rtl="0" algn="l">
              <a:lnSpc>
                <a:spcPct val="115000"/>
              </a:lnSpc>
              <a:spcBef>
                <a:spcPts val="0"/>
              </a:spcBef>
              <a:spcAft>
                <a:spcPts val="0"/>
              </a:spcAft>
              <a:buNone/>
            </a:pPr>
            <a:r>
              <a:rPr lang="en-US" sz="2000"/>
              <a:t>sudo yum [options] [command] [package(s)]</a:t>
            </a:r>
            <a:endParaRPr sz="2000"/>
          </a:p>
          <a:p>
            <a:pPr indent="-381000" lvl="0" marL="457200" rtl="0" algn="l">
              <a:lnSpc>
                <a:spcPct val="150000"/>
              </a:lnSpc>
              <a:spcBef>
                <a:spcPts val="800"/>
              </a:spcBef>
              <a:spcAft>
                <a:spcPts val="0"/>
              </a:spcAft>
              <a:buSzPts val="2400"/>
              <a:buChar char="●"/>
            </a:pPr>
            <a:r>
              <a:rPr lang="en-US" sz="2400"/>
              <a:t>User command</a:t>
            </a:r>
            <a:endParaRPr sz="2400"/>
          </a:p>
          <a:p>
            <a:pPr indent="0" lvl="0" marL="457200" marR="190500" rtl="0" algn="l">
              <a:lnSpc>
                <a:spcPct val="115000"/>
              </a:lnSpc>
              <a:spcBef>
                <a:spcPts val="0"/>
              </a:spcBef>
              <a:spcAft>
                <a:spcPts val="0"/>
              </a:spcAft>
              <a:buNone/>
            </a:pPr>
            <a:r>
              <a:rPr lang="en-US" sz="2000"/>
              <a:t>useradd [options] [User_name]</a:t>
            </a:r>
            <a:endParaRPr sz="2000"/>
          </a:p>
          <a:p>
            <a:pPr indent="0" lvl="0" marL="457200" rtl="0" algn="l">
              <a:lnSpc>
                <a:spcPct val="150000"/>
              </a:lnSpc>
              <a:spcBef>
                <a:spcPts val="800"/>
              </a:spcBef>
              <a:spcAft>
                <a:spcPts val="0"/>
              </a:spcAft>
              <a:buNone/>
            </a:pPr>
            <a:r>
              <a:rPr lang="en-US" sz="2000"/>
              <a:t>usermod</a:t>
            </a:r>
            <a:endParaRPr sz="2000"/>
          </a:p>
          <a:p>
            <a:pPr indent="0" lvl="0" marL="457200" marR="190500" rtl="0" algn="l">
              <a:lnSpc>
                <a:spcPct val="115000"/>
              </a:lnSpc>
              <a:spcBef>
                <a:spcPts val="0"/>
              </a:spcBef>
              <a:spcAft>
                <a:spcPts val="0"/>
              </a:spcAft>
              <a:buNone/>
            </a:pPr>
            <a:r>
              <a:rPr lang="en-US" sz="2000"/>
              <a:t>userdel [options] </a:t>
            </a:r>
            <a:r>
              <a:rPr lang="en-US" sz="2000"/>
              <a:t>[User_name]</a:t>
            </a:r>
            <a:endParaRPr sz="2000"/>
          </a:p>
          <a:p>
            <a:pPr indent="0" lvl="0" marL="457200" marR="190500" rtl="0" algn="l">
              <a:lnSpc>
                <a:spcPct val="115000"/>
              </a:lnSpc>
              <a:spcBef>
                <a:spcPts val="800"/>
              </a:spcBef>
              <a:spcAft>
                <a:spcPts val="0"/>
              </a:spcAft>
              <a:buNone/>
            </a:pPr>
            <a:r>
              <a:t/>
            </a:r>
            <a:endParaRPr sz="2000"/>
          </a:p>
          <a:p>
            <a:pPr indent="0" lvl="0" marL="457200" rtl="0" algn="l">
              <a:lnSpc>
                <a:spcPct val="150000"/>
              </a:lnSpc>
              <a:spcBef>
                <a:spcPts val="800"/>
              </a:spcBef>
              <a:spcAft>
                <a:spcPts val="0"/>
              </a:spcAft>
              <a:buNone/>
            </a:pPr>
            <a:r>
              <a:t/>
            </a:r>
            <a:endParaRPr sz="4000"/>
          </a:p>
        </p:txBody>
      </p:sp>
      <p:sp>
        <p:nvSpPr>
          <p:cNvPr id="166" name="Google Shape;166;g2a26edea4d4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2a26edea4d4_0_28"/>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Basic command in Linux</a:t>
            </a:r>
            <a:endParaRPr/>
          </a:p>
        </p:txBody>
      </p:sp>
      <p:sp>
        <p:nvSpPr>
          <p:cNvPr id="173" name="Google Shape;173;g2a26edea4d4_0_28"/>
          <p:cNvSpPr txBox="1"/>
          <p:nvPr>
            <p:ph idx="1" type="body"/>
          </p:nvPr>
        </p:nvSpPr>
        <p:spPr>
          <a:xfrm>
            <a:off x="421425" y="773100"/>
            <a:ext cx="10515600" cy="4351200"/>
          </a:xfrm>
          <a:prstGeom prst="rect">
            <a:avLst/>
          </a:prstGeom>
        </p:spPr>
        <p:txBody>
          <a:bodyPr anchorCtr="0" anchor="t" bIns="45700" lIns="91425" spcFirstLastPara="1" rIns="91425" wrap="square" tIns="45700">
            <a:noAutofit/>
          </a:bodyPr>
          <a:lstStyle/>
          <a:p>
            <a:pPr indent="-387350" lvl="0" marL="457200" rtl="0" algn="l">
              <a:lnSpc>
                <a:spcPct val="150000"/>
              </a:lnSpc>
              <a:spcBef>
                <a:spcPts val="0"/>
              </a:spcBef>
              <a:spcAft>
                <a:spcPts val="0"/>
              </a:spcAft>
              <a:buSzPts val="2500"/>
              <a:buChar char="●"/>
            </a:pPr>
            <a:r>
              <a:rPr lang="en-US" sz="2500"/>
              <a:t>Group command</a:t>
            </a:r>
            <a:endParaRPr sz="2500"/>
          </a:p>
          <a:p>
            <a:pPr indent="0" lvl="0" marL="457200" rtl="0" algn="l">
              <a:lnSpc>
                <a:spcPct val="150000"/>
              </a:lnSpc>
              <a:spcBef>
                <a:spcPts val="0"/>
              </a:spcBef>
              <a:spcAft>
                <a:spcPts val="0"/>
              </a:spcAft>
              <a:buNone/>
            </a:pPr>
            <a:r>
              <a:rPr lang="en-US" sz="2100"/>
              <a:t>groupadd </a:t>
            </a:r>
            <a:r>
              <a:rPr lang="en-US" sz="2100"/>
              <a:t>[options] [Group_name]</a:t>
            </a:r>
            <a:endParaRPr sz="2100"/>
          </a:p>
          <a:p>
            <a:pPr indent="0" lvl="0" marL="457200" rtl="0" algn="l">
              <a:lnSpc>
                <a:spcPct val="150000"/>
              </a:lnSpc>
              <a:spcBef>
                <a:spcPts val="0"/>
              </a:spcBef>
              <a:spcAft>
                <a:spcPts val="0"/>
              </a:spcAft>
              <a:buNone/>
            </a:pPr>
            <a:r>
              <a:rPr lang="en-US" sz="2100"/>
              <a:t>groupmod</a:t>
            </a:r>
            <a:endParaRPr sz="2100"/>
          </a:p>
          <a:p>
            <a:pPr indent="0" lvl="0" marL="457200" rtl="0" algn="l">
              <a:lnSpc>
                <a:spcPct val="150000"/>
              </a:lnSpc>
              <a:spcBef>
                <a:spcPts val="0"/>
              </a:spcBef>
              <a:spcAft>
                <a:spcPts val="0"/>
              </a:spcAft>
              <a:buNone/>
            </a:pPr>
            <a:r>
              <a:rPr lang="en-US" sz="2100"/>
              <a:t>groupdel </a:t>
            </a:r>
            <a:r>
              <a:rPr lang="en-US" sz="2100"/>
              <a:t>[options] [Group_name]</a:t>
            </a:r>
            <a:endParaRPr sz="2100"/>
          </a:p>
          <a:p>
            <a:pPr indent="-387350" lvl="0" marL="457200" rtl="0" algn="l">
              <a:lnSpc>
                <a:spcPct val="150000"/>
              </a:lnSpc>
              <a:spcBef>
                <a:spcPts val="0"/>
              </a:spcBef>
              <a:spcAft>
                <a:spcPts val="0"/>
              </a:spcAft>
              <a:buSzPts val="2500"/>
              <a:buChar char="●"/>
            </a:pPr>
            <a:r>
              <a:rPr lang="en-US" sz="2500"/>
              <a:t>File, folder command</a:t>
            </a:r>
            <a:endParaRPr sz="2500"/>
          </a:p>
          <a:p>
            <a:pPr indent="0" lvl="0" marL="0" rtl="0" algn="l">
              <a:lnSpc>
                <a:spcPct val="150000"/>
              </a:lnSpc>
              <a:spcBef>
                <a:spcPts val="0"/>
              </a:spcBef>
              <a:spcAft>
                <a:spcPts val="0"/>
              </a:spcAft>
              <a:buNone/>
            </a:pPr>
            <a:r>
              <a:t/>
            </a:r>
            <a:endParaRPr sz="2200"/>
          </a:p>
          <a:p>
            <a:pPr indent="0" lvl="0" marL="0" rtl="0" algn="l">
              <a:lnSpc>
                <a:spcPct val="150000"/>
              </a:lnSpc>
              <a:spcBef>
                <a:spcPts val="0"/>
              </a:spcBef>
              <a:spcAft>
                <a:spcPts val="0"/>
              </a:spcAft>
              <a:buNone/>
            </a:pPr>
            <a:r>
              <a:t/>
            </a:r>
            <a:endParaRPr sz="2500"/>
          </a:p>
          <a:p>
            <a:pPr indent="0" lvl="0" marL="457200" rtl="0" algn="l">
              <a:lnSpc>
                <a:spcPct val="150000"/>
              </a:lnSpc>
              <a:spcBef>
                <a:spcPts val="0"/>
              </a:spcBef>
              <a:spcAft>
                <a:spcPts val="0"/>
              </a:spcAft>
              <a:buNone/>
            </a:pPr>
            <a:r>
              <a:t/>
            </a:r>
            <a:endParaRPr sz="4100"/>
          </a:p>
        </p:txBody>
      </p:sp>
      <p:sp>
        <p:nvSpPr>
          <p:cNvPr id="174" name="Google Shape;174;g2a26edea4d4_0_2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75" name="Google Shape;175;g2a26edea4d4_0_28"/>
          <p:cNvGraphicFramePr/>
          <p:nvPr/>
        </p:nvGraphicFramePr>
        <p:xfrm>
          <a:off x="844700" y="3429000"/>
          <a:ext cx="3000000" cy="3000000"/>
        </p:xfrm>
        <a:graphic>
          <a:graphicData uri="http://schemas.openxmlformats.org/drawingml/2006/table">
            <a:tbl>
              <a:tblPr>
                <a:noFill/>
                <a:tableStyleId>{2F10B8FD-E2D9-4A61-A9A9-04D487234779}</a:tableStyleId>
              </a:tblPr>
              <a:tblGrid>
                <a:gridCol w="5574650"/>
                <a:gridCol w="4712350"/>
              </a:tblGrid>
              <a:tr h="652700">
                <a:tc>
                  <a:txBody>
                    <a:bodyPr/>
                    <a:lstStyle/>
                    <a:p>
                      <a:pPr indent="0" lvl="0" marL="0" rtl="0" algn="ctr">
                        <a:spcBef>
                          <a:spcPts val="0"/>
                        </a:spcBef>
                        <a:spcAft>
                          <a:spcPts val="0"/>
                        </a:spcAft>
                        <a:buNone/>
                      </a:pPr>
                      <a:r>
                        <a:rPr b="1" lang="en-US" sz="2400"/>
                        <a:t>FILE</a:t>
                      </a:r>
                      <a:endParaRPr b="1" sz="2400"/>
                    </a:p>
                  </a:txBody>
                  <a:tcPr marT="91425" marB="91425" marR="91425" marL="91425"/>
                </a:tc>
                <a:tc>
                  <a:txBody>
                    <a:bodyPr/>
                    <a:lstStyle/>
                    <a:p>
                      <a:pPr indent="0" lvl="0" marL="0" rtl="0" algn="ctr">
                        <a:spcBef>
                          <a:spcPts val="0"/>
                        </a:spcBef>
                        <a:spcAft>
                          <a:spcPts val="0"/>
                        </a:spcAft>
                        <a:buNone/>
                      </a:pPr>
                      <a:r>
                        <a:rPr b="1" lang="en-US" sz="2400"/>
                        <a:t>FOLDER</a:t>
                      </a:r>
                      <a:endParaRPr b="1" sz="2400"/>
                    </a:p>
                  </a:txBody>
                  <a:tcPr marT="91425" marB="91425" marR="91425" marL="91425"/>
                </a:tc>
              </a:tr>
              <a:tr h="2278725">
                <a:tc>
                  <a:txBody>
                    <a:bodyPr/>
                    <a:lstStyle/>
                    <a:p>
                      <a:pPr indent="-342900" lvl="0" marL="457200" rtl="0" algn="l">
                        <a:spcBef>
                          <a:spcPts val="0"/>
                        </a:spcBef>
                        <a:spcAft>
                          <a:spcPts val="0"/>
                        </a:spcAft>
                        <a:buSzPts val="1800"/>
                        <a:buChar char="❖"/>
                      </a:pPr>
                      <a:r>
                        <a:rPr lang="en-US" sz="1800"/>
                        <a:t>nano </a:t>
                      </a:r>
                      <a:r>
                        <a:rPr lang="en-US" sz="1800">
                          <a:solidFill>
                            <a:schemeClr val="dk1"/>
                          </a:solidFill>
                        </a:rPr>
                        <a:t>[OPTION] </a:t>
                      </a:r>
                      <a:r>
                        <a:rPr lang="en-US" sz="1800"/>
                        <a:t>[File path]\[File name]</a:t>
                      </a:r>
                      <a:endParaRPr sz="1800"/>
                    </a:p>
                    <a:p>
                      <a:pPr indent="-342900" lvl="0" marL="457200" rtl="0" algn="l">
                        <a:spcBef>
                          <a:spcPts val="0"/>
                        </a:spcBef>
                        <a:spcAft>
                          <a:spcPts val="0"/>
                        </a:spcAft>
                        <a:buSzPts val="1800"/>
                        <a:buChar char="❖"/>
                      </a:pPr>
                      <a:r>
                        <a:rPr lang="en-US" sz="1800"/>
                        <a:t>cat </a:t>
                      </a:r>
                      <a:r>
                        <a:rPr lang="en-US" sz="1800">
                          <a:solidFill>
                            <a:schemeClr val="dk1"/>
                          </a:solidFill>
                        </a:rPr>
                        <a:t>[OPTION] [File path]\[File name]</a:t>
                      </a:r>
                      <a:endParaRPr sz="1800"/>
                    </a:p>
                    <a:p>
                      <a:pPr indent="-342900" lvl="0" marL="457200" rtl="0" algn="l">
                        <a:spcBef>
                          <a:spcPts val="0"/>
                        </a:spcBef>
                        <a:spcAft>
                          <a:spcPts val="0"/>
                        </a:spcAft>
                        <a:buSzPts val="1800"/>
                        <a:buChar char="❖"/>
                      </a:pPr>
                      <a:r>
                        <a:rPr lang="en-US" sz="1800"/>
                        <a:t>rm </a:t>
                      </a:r>
                      <a:r>
                        <a:rPr lang="en-US" sz="1800">
                          <a:solidFill>
                            <a:schemeClr val="dk1"/>
                          </a:solidFill>
                        </a:rPr>
                        <a:t>[OPTION] [File path]\[File name]</a:t>
                      </a:r>
                      <a:endParaRPr sz="1800"/>
                    </a:p>
                    <a:p>
                      <a:pPr indent="-342900" lvl="0" marL="457200" marR="190500" rtl="0" algn="l">
                        <a:lnSpc>
                          <a:spcPct val="115000"/>
                        </a:lnSpc>
                        <a:spcBef>
                          <a:spcPts val="0"/>
                        </a:spcBef>
                        <a:spcAft>
                          <a:spcPts val="0"/>
                        </a:spcAft>
                        <a:buClr>
                          <a:schemeClr val="dk1"/>
                        </a:buClr>
                        <a:buSzPts val="1800"/>
                        <a:buChar char="❖"/>
                      </a:pPr>
                      <a:r>
                        <a:rPr lang="en-US" sz="1800">
                          <a:solidFill>
                            <a:schemeClr val="dk1"/>
                          </a:solidFill>
                        </a:rPr>
                        <a:t>cp [OPTION] [Source] [Directory]</a:t>
                      </a:r>
                      <a:endParaRPr sz="1800">
                        <a:solidFill>
                          <a:schemeClr val="dk1"/>
                        </a:solidFill>
                      </a:endParaRPr>
                    </a:p>
                    <a:p>
                      <a:pPr indent="-342900" lvl="0" marL="457200" marR="190500" rtl="0" algn="l">
                        <a:lnSpc>
                          <a:spcPct val="115000"/>
                        </a:lnSpc>
                        <a:spcBef>
                          <a:spcPts val="0"/>
                        </a:spcBef>
                        <a:spcAft>
                          <a:spcPts val="0"/>
                        </a:spcAft>
                        <a:buClr>
                          <a:schemeClr val="dk1"/>
                        </a:buClr>
                        <a:buSzPts val="1800"/>
                        <a:buChar char="❖"/>
                      </a:pPr>
                      <a:r>
                        <a:rPr lang="en-US" sz="1800">
                          <a:solidFill>
                            <a:schemeClr val="dk1"/>
                          </a:solidFill>
                        </a:rPr>
                        <a:t>mv [</a:t>
                      </a:r>
                      <a:r>
                        <a:rPr lang="en-US" sz="1800">
                          <a:solidFill>
                            <a:schemeClr val="dk1"/>
                          </a:solidFill>
                        </a:rPr>
                        <a:t>OPTION</a:t>
                      </a:r>
                      <a:r>
                        <a:rPr lang="en-US" sz="1800">
                          <a:solidFill>
                            <a:schemeClr val="dk1"/>
                          </a:solidFill>
                        </a:rPr>
                        <a:t>] [source_file_name(s)] [Destination_file_name]</a:t>
                      </a:r>
                      <a:endParaRPr sz="1800">
                        <a:solidFill>
                          <a:schemeClr val="dk1"/>
                        </a:solidFill>
                      </a:endParaRPr>
                    </a:p>
                  </a:txBody>
                  <a:tcPr marT="91425" marB="91425" marR="91425" marL="91425"/>
                </a:tc>
                <a:tc>
                  <a:txBody>
                    <a:bodyPr/>
                    <a:lstStyle/>
                    <a:p>
                      <a:pPr indent="-342900" lvl="0" marL="457200" rtl="0" algn="l">
                        <a:spcBef>
                          <a:spcPts val="0"/>
                        </a:spcBef>
                        <a:spcAft>
                          <a:spcPts val="0"/>
                        </a:spcAft>
                        <a:buSzPts val="1800"/>
                        <a:buChar char="❖"/>
                      </a:pPr>
                      <a:r>
                        <a:rPr lang="en-US" sz="1800"/>
                        <a:t>ls </a:t>
                      </a:r>
                      <a:r>
                        <a:rPr lang="en-US" sz="1800">
                          <a:solidFill>
                            <a:schemeClr val="dk1"/>
                          </a:solidFill>
                        </a:rPr>
                        <a:t>[directory]</a:t>
                      </a:r>
                      <a:endParaRPr sz="1800"/>
                    </a:p>
                    <a:p>
                      <a:pPr indent="-342900" lvl="0" marL="457200" rtl="0" algn="l">
                        <a:spcBef>
                          <a:spcPts val="0"/>
                        </a:spcBef>
                        <a:spcAft>
                          <a:spcPts val="0"/>
                        </a:spcAft>
                        <a:buSzPts val="1800"/>
                        <a:buChar char="❖"/>
                      </a:pPr>
                      <a:r>
                        <a:rPr lang="en-US" sz="1800"/>
                        <a:t>mkdir </a:t>
                      </a:r>
                      <a:r>
                        <a:rPr lang="en-US" sz="1800">
                          <a:solidFill>
                            <a:schemeClr val="dk1"/>
                          </a:solidFill>
                        </a:rPr>
                        <a:t>[OPTIONS] [directory]</a:t>
                      </a:r>
                      <a:endParaRPr sz="1800"/>
                    </a:p>
                    <a:p>
                      <a:pPr indent="-342900" lvl="0" marL="457200" rtl="0" algn="l">
                        <a:spcBef>
                          <a:spcPts val="0"/>
                        </a:spcBef>
                        <a:spcAft>
                          <a:spcPts val="0"/>
                        </a:spcAft>
                        <a:buSzPts val="1800"/>
                        <a:buChar char="❖"/>
                      </a:pPr>
                      <a:r>
                        <a:rPr lang="en-US" sz="1800"/>
                        <a:t>cd </a:t>
                      </a:r>
                      <a:r>
                        <a:rPr lang="en-US" sz="1800">
                          <a:solidFill>
                            <a:schemeClr val="dk1"/>
                          </a:solidFill>
                        </a:rPr>
                        <a:t>[directory]</a:t>
                      </a:r>
                      <a:endParaRPr sz="1800"/>
                    </a:p>
                    <a:p>
                      <a:pPr indent="-342900" lvl="0" marL="457200" marR="190500" rtl="0" algn="l">
                        <a:lnSpc>
                          <a:spcPct val="115000"/>
                        </a:lnSpc>
                        <a:spcBef>
                          <a:spcPts val="0"/>
                        </a:spcBef>
                        <a:spcAft>
                          <a:spcPts val="0"/>
                        </a:spcAft>
                        <a:buClr>
                          <a:schemeClr val="dk1"/>
                        </a:buClr>
                        <a:buSzPts val="1800"/>
                        <a:buChar char="❖"/>
                      </a:pPr>
                      <a:r>
                        <a:rPr lang="en-US" sz="1800">
                          <a:solidFill>
                            <a:schemeClr val="dk1"/>
                          </a:solidFill>
                        </a:rPr>
                        <a:t>rmdir [OPTIONS] [directory]</a:t>
                      </a:r>
                      <a:endParaRPr sz="1800">
                        <a:solidFill>
                          <a:schemeClr val="dk1"/>
                        </a:solidFill>
                      </a:endParaRPr>
                    </a:p>
                    <a:p>
                      <a:pPr indent="0" lvl="0" marL="0" rtl="0" algn="l">
                        <a:spcBef>
                          <a:spcPts val="800"/>
                        </a:spcBef>
                        <a:spcAft>
                          <a:spcPts val="0"/>
                        </a:spcAft>
                        <a:buNone/>
                      </a:pPr>
                      <a:r>
                        <a:t/>
                      </a:r>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2a1ecadec27_0_0"/>
          <p:cNvSpPr txBox="1"/>
          <p:nvPr>
            <p:ph type="title"/>
          </p:nvPr>
        </p:nvSpPr>
        <p:spPr>
          <a:xfrm>
            <a:off x="228600" y="228600"/>
            <a:ext cx="10515600" cy="544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181" name="Google Shape;181;g2a1ecadec27_0_0"/>
          <p:cNvSpPr txBox="1"/>
          <p:nvPr>
            <p:ph idx="1" type="body"/>
          </p:nvPr>
        </p:nvSpPr>
        <p:spPr>
          <a:xfrm>
            <a:off x="381000" y="914400"/>
            <a:ext cx="10515600" cy="4351200"/>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dk1"/>
              </a:buClr>
              <a:buSzPts val="2800"/>
              <a:buNone/>
            </a:pPr>
            <a:r>
              <a:rPr lang="en-US">
                <a:latin typeface="Arial"/>
                <a:ea typeface="Arial"/>
                <a:cs typeface="Arial"/>
                <a:sym typeface="Arial"/>
              </a:rPr>
              <a:t>Thank You</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Font typeface="Noto Sans Symbols"/>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82" name="Google Shape;182;g2a1ecadec27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2005-08-06T12:02:07Z</dcterms:created>
  <dc:creator>YWC</dc:creator>
</cp:coreProperties>
</file>