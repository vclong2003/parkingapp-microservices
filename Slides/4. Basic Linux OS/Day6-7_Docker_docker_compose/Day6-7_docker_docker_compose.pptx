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858000" cy="9144000"/>
  <p:embeddedFontLst>
    <p:embeddedFont>
      <p:font typeface="Tahoma"/>
      <p:regular r:id="rId24"/>
      <p:bold r:id="rId25"/>
    </p:embeddedFont>
    <p:embeddedFont>
      <p:font typeface="Helvetica Neue"/>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30" roundtripDataSignature="AMtx7mjL/xfflyawRgsoSI+8CK6xBRZbf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Tahoma-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HelveticaNeue-regular.fntdata"/><Relationship Id="rId25" Type="http://schemas.openxmlformats.org/officeDocument/2006/relationships/font" Target="fonts/Tahoma-bold.fntdata"/><Relationship Id="rId28" Type="http://schemas.openxmlformats.org/officeDocument/2006/relationships/font" Target="fonts/HelveticaNeue-italic.fntdata"/><Relationship Id="rId27" Type="http://schemas.openxmlformats.org/officeDocument/2006/relationships/font" Target="fonts/HelveticaNeue-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HelveticaNeue-boldItalic.fntdata"/><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 name="Google Shape;4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7" name="Google Shape;57;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Thực hành trên project quản lý nhân viên từ học phần trước (quản lý account, department), sẽ export file jar từ project, kết hợp với sql schema để thực hành triển khai ứng dụng thực tế bao gồm backend và database</a:t>
            </a:r>
            <a:endParaRPr/>
          </a:p>
        </p:txBody>
      </p:sp>
      <p:sp>
        <p:nvSpPr>
          <p:cNvPr id="58" name="Google Shape;58;p2: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
        <p:nvSpPr>
          <p:cNvPr id="65" name="Google Shape;65;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66" name="Google Shape;66;p3:notes"/>
          <p:cNvSpPr txBox="1"/>
          <p:nvPr>
            <p:ph idx="1" type="body"/>
          </p:nvPr>
        </p:nvSpPr>
        <p:spPr>
          <a:xfrm>
            <a:off x="685800" y="4343400"/>
            <a:ext cx="5486400" cy="41148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a:t>Nêu bật các khó chăn chính của việc triển khai ứng dụng theo cách truyền thống, cho ví dụ</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4: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
        <p:nvSpPr>
          <p:cNvPr id="74" name="Google Shape;74;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75" name="Google Shape;75;p4:notes"/>
          <p:cNvSpPr txBox="1"/>
          <p:nvPr>
            <p:ph idx="1" type="body"/>
          </p:nvPr>
        </p:nvSpPr>
        <p:spPr>
          <a:xfrm>
            <a:off x="685800" y="4343400"/>
            <a:ext cx="5486400" cy="41148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a51275799c_1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3" name="Google Shape;83;g2a51275799c_1_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en-US"/>
              <a:t>Hướng dẫn học viên xuất file jar từ bài tập của học phần trước, tuy nhiên sửa file applications.properties để chấp nhận giá trị từ biến môi trường.</a:t>
            </a:r>
            <a:endParaRPr/>
          </a:p>
          <a:p>
            <a:pPr indent="0" lvl="0" marL="0" rtl="0" algn="l">
              <a:lnSpc>
                <a:spcPct val="100000"/>
              </a:lnSpc>
              <a:spcBef>
                <a:spcPts val="360"/>
              </a:spcBef>
              <a:spcAft>
                <a:spcPts val="0"/>
              </a:spcAft>
              <a:buSzPts val="1400"/>
              <a:buNone/>
            </a:pPr>
            <a:r>
              <a:rPr lang="en-US"/>
              <a:t>Dùng mvn clean package để build ứng dụng ra file jar trong phần target</a:t>
            </a:r>
            <a:endParaRPr/>
          </a:p>
          <a:p>
            <a:pPr indent="0" lvl="0" marL="0" rtl="0" algn="l">
              <a:lnSpc>
                <a:spcPct val="100000"/>
              </a:lnSpc>
              <a:spcBef>
                <a:spcPts val="360"/>
              </a:spcBef>
              <a:spcAft>
                <a:spcPts val="0"/>
              </a:spcAft>
              <a:buSzPts val="1400"/>
              <a:buNone/>
            </a:pPr>
            <a:r>
              <a:t/>
            </a:r>
            <a:endParaRPr/>
          </a:p>
          <a:p>
            <a:pPr indent="0" lvl="0" marL="0" rtl="0" algn="l">
              <a:lnSpc>
                <a:spcPct val="100000"/>
              </a:lnSpc>
              <a:spcBef>
                <a:spcPts val="360"/>
              </a:spcBef>
              <a:spcAft>
                <a:spcPts val="0"/>
              </a:spcAft>
              <a:buSzPts val="1400"/>
              <a:buNone/>
            </a:pPr>
            <a:r>
              <a:rPr lang="en-US"/>
              <a:t>Lưu ý nếu import project vào thì cần edit jdk cho chính xác với file pom.xml (Đang để là 8) thì mới run và build được ứng dụng</a:t>
            </a:r>
            <a:endParaRPr/>
          </a:p>
          <a:p>
            <a:pPr indent="0" lvl="0" marL="0" rtl="0" algn="l">
              <a:lnSpc>
                <a:spcPct val="100000"/>
              </a:lnSpc>
              <a:spcBef>
                <a:spcPts val="360"/>
              </a:spcBef>
              <a:spcAft>
                <a:spcPts val="0"/>
              </a:spcAft>
              <a:buSzPts val="1400"/>
              <a:buNone/>
            </a:pPr>
            <a:r>
              <a:rPr lang="en-US"/>
              <a:t>File TestingSystem.sql đã có sẵn trong file nén</a:t>
            </a:r>
            <a:endParaRPr/>
          </a:p>
          <a:p>
            <a:pPr indent="0" lvl="0" marL="0" rtl="0" algn="l">
              <a:lnSpc>
                <a:spcPct val="100000"/>
              </a:lnSpc>
              <a:spcBef>
                <a:spcPts val="360"/>
              </a:spcBef>
              <a:spcAft>
                <a:spcPts val="0"/>
              </a:spcAft>
              <a:buSzPts val="1400"/>
              <a:buNone/>
            </a:pPr>
            <a:r>
              <a:t/>
            </a:r>
            <a:endParaRPr/>
          </a:p>
          <a:p>
            <a:pPr indent="0" lvl="0" marL="0" rtl="0" algn="l">
              <a:lnSpc>
                <a:spcPct val="100000"/>
              </a:lnSpc>
              <a:spcBef>
                <a:spcPts val="360"/>
              </a:spcBef>
              <a:spcAft>
                <a:spcPts val="0"/>
              </a:spcAft>
              <a:buSzPts val="1400"/>
              <a:buNone/>
            </a:pPr>
            <a:r>
              <a:rPr lang="en-US"/>
              <a:t>Nếu học viên chưa có thì share file nén bao gồm: code + file sql</a:t>
            </a:r>
            <a:endParaRPr/>
          </a:p>
          <a:p>
            <a:pPr indent="0" lvl="0" marL="0" rtl="0" algn="l">
              <a:lnSpc>
                <a:spcPct val="100000"/>
              </a:lnSpc>
              <a:spcBef>
                <a:spcPts val="360"/>
              </a:spcBef>
              <a:spcAft>
                <a:spcPts val="0"/>
              </a:spcAft>
              <a:buSzPts val="1400"/>
              <a:buNone/>
            </a:pPr>
            <a:r>
              <a:t/>
            </a:r>
            <a:endParaRPr/>
          </a:p>
          <a:p>
            <a:pPr indent="0" lvl="0" marL="0" rtl="0" algn="l">
              <a:lnSpc>
                <a:spcPct val="100000"/>
              </a:lnSpc>
              <a:spcBef>
                <a:spcPts val="360"/>
              </a:spcBef>
              <a:spcAft>
                <a:spcPts val="0"/>
              </a:spcAft>
              <a:buSzPts val="1400"/>
              <a:buNone/>
            </a:pPr>
            <a:r>
              <a:rPr lang="en-US"/>
              <a:t>Hướng dẫn học viên copy file .jar và .sql lên máy ảo linux (bằng scp)</a:t>
            </a:r>
            <a:endParaRPr/>
          </a:p>
        </p:txBody>
      </p:sp>
      <p:sp>
        <p:nvSpPr>
          <p:cNvPr id="84" name="Google Shape;84;g2a51275799c_1_3: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25c0ca648b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25c0ca648b_0_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a:t>Mô tả nổi bật sự khác nhau và mối liên hệ giữa Image vs Container, có thể dùng file ISO và máy ảo làm ví dụ minh họa cho dễ hiểu</a:t>
            </a:r>
            <a:endParaRPr/>
          </a:p>
        </p:txBody>
      </p:sp>
      <p:sp>
        <p:nvSpPr>
          <p:cNvPr id="93" name="Google Shape;93;g325c0ca648b_0_6: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25c0ca648b_0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25c0ca648b_0_1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2" name="Google Shape;102;g325c0ca648b_0_15: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a51275799c_1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10" name="Google Shape;110;g2a51275799c_1_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rPr lang="en-US"/>
              <a:t>Mô tả các bước chính đối với các image phổ biến như database (mysql, postgre, …) và web server (nginx, haproxy)</a:t>
            </a:r>
            <a:endParaRPr/>
          </a:p>
        </p:txBody>
      </p:sp>
      <p:sp>
        <p:nvSpPr>
          <p:cNvPr id="111" name="Google Shape;111;g2a51275799c_1_10: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25c0ca648b_0_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25c0ca648b_0_2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a:t>M</a:t>
            </a:r>
            <a:r>
              <a:rPr lang="en-US"/>
              <a:t>ô tả các bước chính như tạo DockerFile, build, push.</a:t>
            </a:r>
            <a:endParaRPr/>
          </a:p>
          <a:p>
            <a:pPr indent="0" lvl="0" marL="0" rtl="0" algn="l">
              <a:spcBef>
                <a:spcPts val="360"/>
              </a:spcBef>
              <a:spcAft>
                <a:spcPts val="0"/>
              </a:spcAft>
              <a:buNone/>
            </a:pPr>
            <a:r>
              <a:rPr lang="en-US"/>
              <a:t>Giải thích về ý nghĩa registry, các loại registry phổ biến</a:t>
            </a:r>
            <a:endParaRPr/>
          </a:p>
          <a:p>
            <a:pPr indent="0" lvl="0" marL="0" rtl="0" algn="l">
              <a:spcBef>
                <a:spcPts val="360"/>
              </a:spcBef>
              <a:spcAft>
                <a:spcPts val="0"/>
              </a:spcAft>
              <a:buNone/>
            </a:pPr>
            <a:r>
              <a:t/>
            </a:r>
            <a:endParaRPr/>
          </a:p>
        </p:txBody>
      </p:sp>
      <p:sp>
        <p:nvSpPr>
          <p:cNvPr id="120" name="Google Shape;120;g325c0ca648b_0_29: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25c0ca648b_0_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25c0ca648b_0_3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a:t>Ôn lại với học viên cách cài phần mềm docker từ repo khác, không cần quá đi sâu chi tiết vì ở giai đoạn này học viên đã thành thạo cài phần mềm</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Lưu ý nếu dùng lại máy ảo từ buổi trước thì cần tắt service mysql, helloworld</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Hướng dẫn học viên pull image với tag cụ thể, chạy container từ image đó với biến môi trường, giải thích 1 số option phổ biến như -d, -e, -p cho học viên</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Sau đó truy cập mysql client vào để tạo dữ liệu TestingSystem tương tự như buổi trước</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Có thể demo chạy 1 container  mysql khác với tên khác, cổng khác</a:t>
            </a:r>
            <a:endParaRPr/>
          </a:p>
        </p:txBody>
      </p:sp>
      <p:sp>
        <p:nvSpPr>
          <p:cNvPr id="129" name="Google Shape;129;g325c0ca648b_0_38: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25c0ca648b_0_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25c0ca648b_0_5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a:t>Hướng dẫn học viên viết Dockerfile cùng thư mục với file jar đã up lên server,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Giải thích các câu lệnh tương ứng trong Dockerfile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Giải thích các option của lệnh build</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Hướng dẫn học viên kiểm tra images, xóa image nếu cần</a:t>
            </a:r>
            <a:endParaRPr/>
          </a:p>
        </p:txBody>
      </p:sp>
      <p:sp>
        <p:nvSpPr>
          <p:cNvPr id="141" name="Google Shape;141;g325c0ca648b_0_50: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25c0ca648b_0_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25c0ca648b_0_6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a:t>Phần hướng dẫn học viên push/pull image lên registry thì hướng dẫn học viên cơ bản, không cần làm trong phần thực hành, hoặc mentor có thể làm mẫu 1 lần</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H</a:t>
            </a:r>
            <a:r>
              <a:rPr lang="en-US"/>
              <a:t>ướng dẫn học viên chạy container mới build với các biến môi trường cụ thể, giải thích tại sao URL không dùng localhost hoặc 127.0.0.1 được vì localhost hoặc 127.0.0.1 trong container sẽ khác với máy bên ngoài.</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Hướng dẫn học viên stop/start container, xóa container và chạy lại</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Hướng dẫn học viên chạy 1 image mysql khác port 3307, 1 image ứng dụng khác port 8081 và kiểm tra kết quả để thấy được sự hiệu quả của Container</a:t>
            </a:r>
            <a:endParaRPr/>
          </a:p>
        </p:txBody>
      </p:sp>
      <p:sp>
        <p:nvSpPr>
          <p:cNvPr id="152" name="Google Shape;152;g325c0ca648b_0_67: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d7dfff89db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2d7dfff89db_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1" name="Google Shape;161;g2d7dfff89db_0_0: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d7dfff89db_0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d7dfff89db_0_1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0" name="Google Shape;170;g2d7dfff89db_0_10: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d7dfff89db_0_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2d7dfff89db_0_1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9" name="Google Shape;179;g2d7dfff89db_0_19: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d7dfff89db_0_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d7dfff89db_0_2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a:t>Hướng dẫn học viên thực hành tạo docker file,</a:t>
            </a:r>
            <a:endParaRPr/>
          </a:p>
          <a:p>
            <a:pPr indent="0" lvl="0" marL="0" rtl="0" algn="l">
              <a:spcBef>
                <a:spcPts val="360"/>
              </a:spcBef>
              <a:spcAft>
                <a:spcPts val="0"/>
              </a:spcAft>
              <a:buNone/>
            </a:pPr>
            <a:r>
              <a:rPr lang="en-US"/>
              <a:t>Mô tả chi tiết, ý nghĩa các option thường dùng</a:t>
            </a:r>
            <a:endParaRPr/>
          </a:p>
          <a:p>
            <a:pPr indent="0" lvl="0" marL="0" rtl="0" algn="l">
              <a:spcBef>
                <a:spcPts val="360"/>
              </a:spcBef>
              <a:spcAft>
                <a:spcPts val="0"/>
              </a:spcAft>
              <a:buNone/>
            </a:pPr>
            <a:r>
              <a:t/>
            </a:r>
            <a:endParaRPr/>
          </a:p>
        </p:txBody>
      </p:sp>
      <p:sp>
        <p:nvSpPr>
          <p:cNvPr id="187" name="Google Shape;187;g2d7dfff89db_0_28: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26ba6b3ca8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26ba6b3ca8_0_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a:t>Gi</a:t>
            </a:r>
            <a:r>
              <a:rPr lang="en-US"/>
              <a:t>ải thích ý nghĩa và thực hành các câu lệnh hay dùng với docker compose</a:t>
            </a:r>
            <a:endParaRPr/>
          </a:p>
          <a:p>
            <a:pPr indent="0" lvl="0" marL="0" rtl="0" algn="l">
              <a:spcBef>
                <a:spcPts val="360"/>
              </a:spcBef>
              <a:spcAft>
                <a:spcPts val="0"/>
              </a:spcAft>
              <a:buNone/>
            </a:pPr>
            <a:r>
              <a:t/>
            </a:r>
            <a:endParaRPr/>
          </a:p>
        </p:txBody>
      </p:sp>
      <p:sp>
        <p:nvSpPr>
          <p:cNvPr id="196" name="Google Shape;196;g326ba6b3ca8_0_1: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3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03" name="Google Shape;203;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7" name="Google Shape;17;p3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5"/>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1" name="Google Shape;21;p35"/>
          <p:cNvSpPr txBox="1"/>
          <p:nvPr>
            <p:ph idx="1" type="body"/>
          </p:nvPr>
        </p:nvSpPr>
        <p:spPr>
          <a:xfrm>
            <a:off x="381000" y="1066800"/>
            <a:ext cx="10515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 name="Google Shape;22;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36"/>
          <p:cNvSpPr txBox="1"/>
          <p:nvPr>
            <p:ph type="title"/>
          </p:nvPr>
        </p:nvSpPr>
        <p:spPr>
          <a:xfrm>
            <a:off x="228600" y="194392"/>
            <a:ext cx="10515600" cy="54451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5" name="Google Shape;25;p36"/>
          <p:cNvSpPr txBox="1"/>
          <p:nvPr>
            <p:ph idx="1" type="body"/>
          </p:nvPr>
        </p:nvSpPr>
        <p:spPr>
          <a:xfrm>
            <a:off x="457200" y="1066800"/>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36"/>
          <p:cNvSpPr txBox="1"/>
          <p:nvPr>
            <p:ph idx="2" type="body"/>
          </p:nvPr>
        </p:nvSpPr>
        <p:spPr>
          <a:xfrm>
            <a:off x="6209071" y="1102954"/>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28" name="Shape 28"/>
        <p:cNvGrpSpPr/>
        <p:nvPr/>
      </p:nvGrpSpPr>
      <p:grpSpPr>
        <a:xfrm>
          <a:off x="0" y="0"/>
          <a:ext cx="0" cy="0"/>
          <a:chOff x="0" y="0"/>
          <a:chExt cx="0" cy="0"/>
        </a:xfrm>
      </p:grpSpPr>
      <p:sp>
        <p:nvSpPr>
          <p:cNvPr id="29" name="Google Shape;29;p37"/>
          <p:cNvSpPr txBox="1"/>
          <p:nvPr>
            <p:ph type="title"/>
          </p:nvPr>
        </p:nvSpPr>
        <p:spPr>
          <a:xfrm>
            <a:off x="228600" y="125413"/>
            <a:ext cx="10390716" cy="70167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0" name="Google Shape;30;p37"/>
          <p:cNvSpPr txBox="1"/>
          <p:nvPr>
            <p:ph idx="1" type="body"/>
          </p:nvPr>
        </p:nvSpPr>
        <p:spPr>
          <a:xfrm>
            <a:off x="457200" y="1124743"/>
            <a:ext cx="5080000" cy="4608513"/>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37"/>
          <p:cNvSpPr txBox="1"/>
          <p:nvPr>
            <p:ph idx="2" type="body"/>
          </p:nvPr>
        </p:nvSpPr>
        <p:spPr>
          <a:xfrm>
            <a:off x="6858000" y="1124743"/>
            <a:ext cx="5080000" cy="4608513"/>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Over Content" type="txOverObj">
  <p:cSld name="TEXT_OVER_OBJECT">
    <p:spTree>
      <p:nvGrpSpPr>
        <p:cNvPr id="33" name="Shape 33"/>
        <p:cNvGrpSpPr/>
        <p:nvPr/>
      </p:nvGrpSpPr>
      <p:grpSpPr>
        <a:xfrm>
          <a:off x="0" y="0"/>
          <a:ext cx="0" cy="0"/>
          <a:chOff x="0" y="0"/>
          <a:chExt cx="0" cy="0"/>
        </a:xfrm>
      </p:grpSpPr>
      <p:sp>
        <p:nvSpPr>
          <p:cNvPr id="34" name="Google Shape;34;p38"/>
          <p:cNvSpPr txBox="1"/>
          <p:nvPr>
            <p:ph type="title"/>
          </p:nvPr>
        </p:nvSpPr>
        <p:spPr>
          <a:xfrm>
            <a:off x="228600" y="210344"/>
            <a:ext cx="10390716" cy="56038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5" name="Google Shape;35;p38"/>
          <p:cNvSpPr txBox="1"/>
          <p:nvPr>
            <p:ph idx="1" type="body"/>
          </p:nvPr>
        </p:nvSpPr>
        <p:spPr>
          <a:xfrm>
            <a:off x="457200" y="990600"/>
            <a:ext cx="10363200" cy="2227263"/>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38"/>
          <p:cNvSpPr txBox="1"/>
          <p:nvPr>
            <p:ph idx="2" type="body"/>
          </p:nvPr>
        </p:nvSpPr>
        <p:spPr>
          <a:xfrm>
            <a:off x="518652" y="3429000"/>
            <a:ext cx="10363200" cy="222885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2 Content" type="txAndTwoObj">
  <p:cSld name="TEXT_AND_TWO_OBJECTS">
    <p:spTree>
      <p:nvGrpSpPr>
        <p:cNvPr id="38" name="Shape 38"/>
        <p:cNvGrpSpPr/>
        <p:nvPr/>
      </p:nvGrpSpPr>
      <p:grpSpPr>
        <a:xfrm>
          <a:off x="0" y="0"/>
          <a:ext cx="0" cy="0"/>
          <a:chOff x="0" y="0"/>
          <a:chExt cx="0" cy="0"/>
        </a:xfrm>
      </p:grpSpPr>
      <p:sp>
        <p:nvSpPr>
          <p:cNvPr id="39" name="Google Shape;39;p39"/>
          <p:cNvSpPr txBox="1"/>
          <p:nvPr>
            <p:ph type="title"/>
          </p:nvPr>
        </p:nvSpPr>
        <p:spPr>
          <a:xfrm>
            <a:off x="304800" y="136525"/>
            <a:ext cx="10390716" cy="63658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0" name="Google Shape;40;p39"/>
          <p:cNvSpPr txBox="1"/>
          <p:nvPr>
            <p:ph idx="1" type="body"/>
          </p:nvPr>
        </p:nvSpPr>
        <p:spPr>
          <a:xfrm>
            <a:off x="437364" y="990600"/>
            <a:ext cx="5080000" cy="4608513"/>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39"/>
          <p:cNvSpPr txBox="1"/>
          <p:nvPr>
            <p:ph idx="2" type="body"/>
          </p:nvPr>
        </p:nvSpPr>
        <p:spPr>
          <a:xfrm>
            <a:off x="6674638" y="1025013"/>
            <a:ext cx="5080000" cy="2227263"/>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39"/>
          <p:cNvSpPr txBox="1"/>
          <p:nvPr>
            <p:ph idx="3" type="body"/>
          </p:nvPr>
        </p:nvSpPr>
        <p:spPr>
          <a:xfrm>
            <a:off x="6674638" y="3396739"/>
            <a:ext cx="5080000" cy="222885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descr="Graphical user interface, text, application, email&#10;&#10;Description automatically generated" id="10" name="Google Shape;10;p33"/>
          <p:cNvPicPr preferRelativeResize="0"/>
          <p:nvPr/>
        </p:nvPicPr>
        <p:blipFill rotWithShape="1">
          <a:blip r:embed="rId1">
            <a:alphaModFix/>
          </a:blip>
          <a:srcRect b="0" l="0" r="0" t="0"/>
          <a:stretch/>
        </p:blipFill>
        <p:spPr>
          <a:xfrm>
            <a:off x="0" y="6350"/>
            <a:ext cx="12192000" cy="6845300"/>
          </a:xfrm>
          <a:prstGeom prst="rect">
            <a:avLst/>
          </a:prstGeom>
          <a:noFill/>
          <a:ln>
            <a:noFill/>
          </a:ln>
        </p:spPr>
      </p:pic>
      <p:sp>
        <p:nvSpPr>
          <p:cNvPr id="11" name="Google Shape;11;p33"/>
          <p:cNvSpPr txBox="1"/>
          <p:nvPr>
            <p:ph type="title"/>
          </p:nvPr>
        </p:nvSpPr>
        <p:spPr>
          <a:xfrm>
            <a:off x="228600" y="136525"/>
            <a:ext cx="10515600" cy="54451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rgbClr val="000000"/>
              </a:buClr>
              <a:buSzPts val="1400"/>
              <a:buFont typeface="Arial"/>
              <a:buNone/>
              <a:defRPr b="1" i="0" sz="3200" u="none" cap="none" strike="noStrike">
                <a:solidFill>
                  <a:srgbClr val="007ABF"/>
                </a:solidFill>
                <a:latin typeface="Arial"/>
                <a:ea typeface="Arial"/>
                <a:cs typeface="Arial"/>
                <a:sym typeface="Arial"/>
              </a:defRPr>
            </a:lvl1pPr>
            <a:lvl2pPr lvl="1" marR="0" rtl="0" algn="l">
              <a:lnSpc>
                <a:spcPct val="90000"/>
              </a:lnSpc>
              <a:spcBef>
                <a:spcPts val="0"/>
              </a:spcBef>
              <a:spcAft>
                <a:spcPts val="0"/>
              </a:spcAft>
              <a:buClr>
                <a:srgbClr val="000000"/>
              </a:buClr>
              <a:buSzPts val="1400"/>
              <a:buFont typeface="Arial"/>
              <a:buNone/>
              <a:defRPr b="1" i="0" sz="3200" u="none" cap="none" strike="noStrike">
                <a:solidFill>
                  <a:srgbClr val="007ABF"/>
                </a:solidFill>
                <a:latin typeface="Arial"/>
                <a:ea typeface="Arial"/>
                <a:cs typeface="Arial"/>
                <a:sym typeface="Arial"/>
              </a:defRPr>
            </a:lvl2pPr>
            <a:lvl3pPr lvl="2" marR="0" rtl="0" algn="l">
              <a:lnSpc>
                <a:spcPct val="90000"/>
              </a:lnSpc>
              <a:spcBef>
                <a:spcPts val="0"/>
              </a:spcBef>
              <a:spcAft>
                <a:spcPts val="0"/>
              </a:spcAft>
              <a:buClr>
                <a:srgbClr val="000000"/>
              </a:buClr>
              <a:buSzPts val="1400"/>
              <a:buFont typeface="Arial"/>
              <a:buNone/>
              <a:defRPr b="1" i="0" sz="3200" u="none" cap="none" strike="noStrike">
                <a:solidFill>
                  <a:srgbClr val="007ABF"/>
                </a:solidFill>
                <a:latin typeface="Arial"/>
                <a:ea typeface="Arial"/>
                <a:cs typeface="Arial"/>
                <a:sym typeface="Arial"/>
              </a:defRPr>
            </a:lvl3pPr>
            <a:lvl4pPr lvl="3" marR="0" rtl="0" algn="l">
              <a:lnSpc>
                <a:spcPct val="90000"/>
              </a:lnSpc>
              <a:spcBef>
                <a:spcPts val="0"/>
              </a:spcBef>
              <a:spcAft>
                <a:spcPts val="0"/>
              </a:spcAft>
              <a:buClr>
                <a:srgbClr val="000000"/>
              </a:buClr>
              <a:buSzPts val="1400"/>
              <a:buFont typeface="Arial"/>
              <a:buNone/>
              <a:defRPr b="1" i="0" sz="3200" u="none" cap="none" strike="noStrike">
                <a:solidFill>
                  <a:srgbClr val="007ABF"/>
                </a:solidFill>
                <a:latin typeface="Arial"/>
                <a:ea typeface="Arial"/>
                <a:cs typeface="Arial"/>
                <a:sym typeface="Arial"/>
              </a:defRPr>
            </a:lvl4pPr>
            <a:lvl5pPr lvl="4" marR="0" rtl="0" algn="l">
              <a:lnSpc>
                <a:spcPct val="90000"/>
              </a:lnSpc>
              <a:spcBef>
                <a:spcPts val="0"/>
              </a:spcBef>
              <a:spcAft>
                <a:spcPts val="0"/>
              </a:spcAft>
              <a:buClr>
                <a:srgbClr val="000000"/>
              </a:buClr>
              <a:buSzPts val="1400"/>
              <a:buFont typeface="Arial"/>
              <a:buNone/>
              <a:defRPr b="1" i="0" sz="3200" u="none" cap="none" strike="noStrike">
                <a:solidFill>
                  <a:srgbClr val="007ABF"/>
                </a:solidFill>
                <a:latin typeface="Arial"/>
                <a:ea typeface="Arial"/>
                <a:cs typeface="Arial"/>
                <a:sym typeface="Arial"/>
              </a:defRPr>
            </a:lvl5pPr>
            <a:lvl6pPr lvl="5" marR="0" rtl="0" algn="l">
              <a:lnSpc>
                <a:spcPct val="90000"/>
              </a:lnSpc>
              <a:spcBef>
                <a:spcPts val="0"/>
              </a:spcBef>
              <a:spcAft>
                <a:spcPts val="0"/>
              </a:spcAft>
              <a:buClr>
                <a:srgbClr val="000000"/>
              </a:buClr>
              <a:buSzPts val="1400"/>
              <a:buFont typeface="Arial"/>
              <a:buNone/>
              <a:defRPr b="1" i="0" sz="3200" u="none" cap="none" strike="noStrike">
                <a:solidFill>
                  <a:srgbClr val="007ABF"/>
                </a:solidFill>
                <a:latin typeface="Arial"/>
                <a:ea typeface="Arial"/>
                <a:cs typeface="Arial"/>
                <a:sym typeface="Arial"/>
              </a:defRPr>
            </a:lvl6pPr>
            <a:lvl7pPr lvl="6" marR="0" rtl="0" algn="l">
              <a:lnSpc>
                <a:spcPct val="90000"/>
              </a:lnSpc>
              <a:spcBef>
                <a:spcPts val="0"/>
              </a:spcBef>
              <a:spcAft>
                <a:spcPts val="0"/>
              </a:spcAft>
              <a:buClr>
                <a:srgbClr val="000000"/>
              </a:buClr>
              <a:buSzPts val="1400"/>
              <a:buFont typeface="Arial"/>
              <a:buNone/>
              <a:defRPr b="1" i="0" sz="3200" u="none" cap="none" strike="noStrike">
                <a:solidFill>
                  <a:srgbClr val="007ABF"/>
                </a:solidFill>
                <a:latin typeface="Arial"/>
                <a:ea typeface="Arial"/>
                <a:cs typeface="Arial"/>
                <a:sym typeface="Arial"/>
              </a:defRPr>
            </a:lvl7pPr>
            <a:lvl8pPr lvl="7" marR="0" rtl="0" algn="l">
              <a:lnSpc>
                <a:spcPct val="90000"/>
              </a:lnSpc>
              <a:spcBef>
                <a:spcPts val="0"/>
              </a:spcBef>
              <a:spcAft>
                <a:spcPts val="0"/>
              </a:spcAft>
              <a:buClr>
                <a:srgbClr val="000000"/>
              </a:buClr>
              <a:buSzPts val="1400"/>
              <a:buFont typeface="Arial"/>
              <a:buNone/>
              <a:defRPr b="1" i="0" sz="3200" u="none" cap="none" strike="noStrike">
                <a:solidFill>
                  <a:srgbClr val="007ABF"/>
                </a:solidFill>
                <a:latin typeface="Arial"/>
                <a:ea typeface="Arial"/>
                <a:cs typeface="Arial"/>
                <a:sym typeface="Arial"/>
              </a:defRPr>
            </a:lvl8pPr>
            <a:lvl9pPr lvl="8" marR="0" rtl="0" algn="l">
              <a:lnSpc>
                <a:spcPct val="90000"/>
              </a:lnSpc>
              <a:spcBef>
                <a:spcPts val="0"/>
              </a:spcBef>
              <a:spcAft>
                <a:spcPts val="0"/>
              </a:spcAft>
              <a:buClr>
                <a:srgbClr val="000000"/>
              </a:buClr>
              <a:buSzPts val="1400"/>
              <a:buFont typeface="Arial"/>
              <a:buNone/>
              <a:defRPr b="1" i="0" sz="3200" u="none" cap="none" strike="noStrike">
                <a:solidFill>
                  <a:srgbClr val="007ABF"/>
                </a:solidFill>
                <a:latin typeface="Arial"/>
                <a:ea typeface="Arial"/>
                <a:cs typeface="Arial"/>
                <a:sym typeface="Arial"/>
              </a:defRPr>
            </a:lvl9pPr>
          </a:lstStyle>
          <a:p/>
        </p:txBody>
      </p:sp>
      <p:sp>
        <p:nvSpPr>
          <p:cNvPr id="12" name="Google Shape;12;p33"/>
          <p:cNvSpPr txBox="1"/>
          <p:nvPr>
            <p:ph idx="1" type="body"/>
          </p:nvPr>
        </p:nvSpPr>
        <p:spPr>
          <a:xfrm>
            <a:off x="341313" y="1252538"/>
            <a:ext cx="10515600" cy="4351337"/>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 name="Google Shape;13;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4" name="Google Shape;14;p33"/>
          <p:cNvSpPr txBox="1"/>
          <p:nvPr/>
        </p:nvSpPr>
        <p:spPr>
          <a:xfrm>
            <a:off x="317500" y="6356350"/>
            <a:ext cx="1422400" cy="3540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chemeClr val="lt1"/>
                </a:solidFill>
                <a:latin typeface="Arial"/>
                <a:ea typeface="Arial"/>
                <a:cs typeface="Arial"/>
                <a:sym typeface="Arial"/>
              </a:rPr>
              <a:t>FE Program</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4.png"/><Relationship Id="rId5" Type="http://schemas.openxmlformats.org/officeDocument/2006/relationships/image" Target="../media/image8.png"/><Relationship Id="rId6"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image" Target="../media/image12.png"/><Relationship Id="rId5"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pic>
        <p:nvPicPr>
          <p:cNvPr id="48" name="Google Shape;48;p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9" name="Google Shape;49;p1"/>
          <p:cNvSpPr txBox="1"/>
          <p:nvPr/>
        </p:nvSpPr>
        <p:spPr>
          <a:xfrm>
            <a:off x="83820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E7E6E6"/>
              </a:buClr>
              <a:buSzPts val="1400"/>
              <a:buFont typeface="Arial"/>
              <a:buNone/>
            </a:pPr>
            <a:fld id="{00000000-1234-1234-1234-123412341234}" type="slidenum">
              <a:rPr b="0" i="0" lang="en-US" sz="1800" u="none" cap="none" strike="noStrike">
                <a:solidFill>
                  <a:srgbClr val="E7E6E6"/>
                </a:solidFill>
                <a:latin typeface="Tahoma"/>
                <a:ea typeface="Tahoma"/>
                <a:cs typeface="Tahoma"/>
                <a:sym typeface="Tahoma"/>
              </a:rPr>
              <a:t>‹#›</a:t>
            </a:fld>
            <a:endParaRPr b="0" i="0" sz="1800" u="none" cap="none" strike="noStrike">
              <a:solidFill>
                <a:schemeClr val="dk1"/>
              </a:solidFill>
              <a:latin typeface="Calibri"/>
              <a:ea typeface="Calibri"/>
              <a:cs typeface="Calibri"/>
              <a:sym typeface="Calibri"/>
            </a:endParaRPr>
          </a:p>
        </p:txBody>
      </p:sp>
      <p:pic>
        <p:nvPicPr>
          <p:cNvPr descr="A picture containing drawing&#10;&#10;Description automatically generated" id="50" name="Google Shape;50;p1"/>
          <p:cNvPicPr preferRelativeResize="0"/>
          <p:nvPr/>
        </p:nvPicPr>
        <p:blipFill rotWithShape="1">
          <a:blip r:embed="rId4">
            <a:alphaModFix/>
          </a:blip>
          <a:srcRect b="16351" l="5000" r="5000" t="13557"/>
          <a:stretch/>
        </p:blipFill>
        <p:spPr>
          <a:xfrm>
            <a:off x="504825" y="258763"/>
            <a:ext cx="3989388" cy="838200"/>
          </a:xfrm>
          <a:prstGeom prst="rect">
            <a:avLst/>
          </a:prstGeom>
          <a:noFill/>
          <a:ln>
            <a:noFill/>
          </a:ln>
        </p:spPr>
      </p:pic>
      <p:sp>
        <p:nvSpPr>
          <p:cNvPr id="51" name="Google Shape;51;p1"/>
          <p:cNvSpPr/>
          <p:nvPr/>
        </p:nvSpPr>
        <p:spPr>
          <a:xfrm>
            <a:off x="5978525" y="3275013"/>
            <a:ext cx="23495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52" name="Google Shape;52;p1"/>
          <p:cNvSpPr/>
          <p:nvPr/>
        </p:nvSpPr>
        <p:spPr>
          <a:xfrm>
            <a:off x="760413" y="1231900"/>
            <a:ext cx="5637212" cy="476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ABF"/>
              </a:buClr>
              <a:buSzPts val="2500"/>
              <a:buFont typeface="Arial"/>
              <a:buNone/>
            </a:pPr>
            <a:r>
              <a:rPr b="1" i="0" lang="en-US" sz="2500" u="none" cap="none" strike="noStrike">
                <a:solidFill>
                  <a:srgbClr val="007ABF"/>
                </a:solidFill>
                <a:latin typeface="Helvetica Neue"/>
                <a:ea typeface="Helvetica Neue"/>
                <a:cs typeface="Helvetica Neue"/>
                <a:sym typeface="Helvetica Neue"/>
              </a:rPr>
              <a:t>WAY TO ENTERPRISE</a:t>
            </a:r>
            <a:endParaRPr b="0" i="0" sz="1400" u="none" cap="none" strike="noStrike">
              <a:solidFill>
                <a:srgbClr val="000000"/>
              </a:solidFill>
              <a:latin typeface="Arial"/>
              <a:ea typeface="Arial"/>
              <a:cs typeface="Arial"/>
              <a:sym typeface="Arial"/>
            </a:endParaRPr>
          </a:p>
        </p:txBody>
      </p:sp>
      <p:sp>
        <p:nvSpPr>
          <p:cNvPr id="53" name="Google Shape;53;p1"/>
          <p:cNvSpPr txBox="1"/>
          <p:nvPr/>
        </p:nvSpPr>
        <p:spPr>
          <a:xfrm>
            <a:off x="971610" y="2770188"/>
            <a:ext cx="9674823" cy="1317625"/>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7ABF"/>
              </a:buClr>
              <a:buSzPts val="4400"/>
              <a:buFont typeface="Arial"/>
              <a:buNone/>
            </a:pPr>
            <a:r>
              <a:rPr b="1" lang="en-US" sz="4900">
                <a:solidFill>
                  <a:srgbClr val="007ABF"/>
                </a:solidFill>
              </a:rPr>
              <a:t>Cơ bản về Docker và Docker compose</a:t>
            </a:r>
            <a:endParaRPr b="0" i="0" sz="5000" u="none" cap="none" strike="noStrike">
              <a:solidFill>
                <a:srgbClr val="007ABF"/>
              </a:solidFill>
              <a:latin typeface="Helvetica Neue"/>
              <a:ea typeface="Helvetica Neue"/>
              <a:cs typeface="Helvetica Neue"/>
              <a:sym typeface="Helvetica Neue"/>
            </a:endParaRPr>
          </a:p>
        </p:txBody>
      </p:sp>
      <p:sp>
        <p:nvSpPr>
          <p:cNvPr id="54" name="Google Shape;5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2"/>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400"/>
              <a:buNone/>
            </a:pPr>
            <a:r>
              <a:rPr lang="en-US"/>
              <a:t>Mục đích bài học</a:t>
            </a:r>
            <a:endParaRPr/>
          </a:p>
        </p:txBody>
      </p:sp>
      <p:sp>
        <p:nvSpPr>
          <p:cNvPr id="61" name="Google Shape;61;p2"/>
          <p:cNvSpPr txBox="1"/>
          <p:nvPr>
            <p:ph idx="1" type="body"/>
          </p:nvPr>
        </p:nvSpPr>
        <p:spPr>
          <a:xfrm>
            <a:off x="366713" y="1066800"/>
            <a:ext cx="10377487" cy="4608513"/>
          </a:xfrm>
          <a:prstGeom prst="rect">
            <a:avLst/>
          </a:prstGeom>
          <a:noFill/>
          <a:ln>
            <a:noFill/>
          </a:ln>
        </p:spPr>
        <p:txBody>
          <a:bodyPr anchorCtr="0" anchor="t" bIns="45700" lIns="91425" spcFirstLastPara="1" rIns="91425" wrap="square" tIns="45700">
            <a:normAutofit/>
          </a:bodyPr>
          <a:lstStyle/>
          <a:p>
            <a:pPr indent="-228600" lvl="0" marL="228600" rtl="0" algn="l">
              <a:lnSpc>
                <a:spcPct val="150000"/>
              </a:lnSpc>
              <a:spcBef>
                <a:spcPts val="0"/>
              </a:spcBef>
              <a:spcAft>
                <a:spcPts val="0"/>
              </a:spcAft>
              <a:buClr>
                <a:schemeClr val="dk1"/>
              </a:buClr>
              <a:buSzPts val="2400"/>
              <a:buChar char="•"/>
            </a:pPr>
            <a:r>
              <a:rPr lang="en-US" sz="2400"/>
              <a:t>Tìm hiểu về </a:t>
            </a:r>
            <a:r>
              <a:rPr lang="en-US" sz="2400"/>
              <a:t>các thách thức khi triển khai ứng dụng theo cách truyền thống.</a:t>
            </a:r>
            <a:endParaRPr sz="2400"/>
          </a:p>
          <a:p>
            <a:pPr indent="-228600" lvl="0" marL="228600" rtl="0" algn="l">
              <a:lnSpc>
                <a:spcPct val="150000"/>
              </a:lnSpc>
              <a:spcBef>
                <a:spcPts val="0"/>
              </a:spcBef>
              <a:spcAft>
                <a:spcPts val="0"/>
              </a:spcAft>
              <a:buSzPts val="2400"/>
              <a:buChar char="•"/>
            </a:pPr>
            <a:r>
              <a:rPr lang="en-US" sz="2400"/>
              <a:t>Tìm hiểu cơ bản về container, tại sao container có thể giải quyết được các khó khăn khi triển khai ứng dụng.</a:t>
            </a:r>
            <a:endParaRPr sz="2400"/>
          </a:p>
          <a:p>
            <a:pPr indent="-228600" lvl="0" marL="228600" rtl="0" algn="l">
              <a:lnSpc>
                <a:spcPct val="150000"/>
              </a:lnSpc>
              <a:spcBef>
                <a:spcPts val="1000"/>
              </a:spcBef>
              <a:spcAft>
                <a:spcPts val="0"/>
              </a:spcAft>
              <a:buClr>
                <a:schemeClr val="dk1"/>
              </a:buClr>
              <a:buSzPts val="2400"/>
              <a:buChar char="•"/>
            </a:pPr>
            <a:r>
              <a:rPr lang="en-US" sz="2400">
                <a:latin typeface="Arial"/>
                <a:ea typeface="Arial"/>
                <a:cs typeface="Arial"/>
                <a:sym typeface="Arial"/>
              </a:rPr>
              <a:t>Thực hành </a:t>
            </a:r>
            <a:r>
              <a:rPr lang="en-US" sz="2400"/>
              <a:t>build image, triển khai ứng dụng từ học phần trước sử dụng docker, docker compose</a:t>
            </a:r>
            <a:endParaRPr sz="2400"/>
          </a:p>
        </p:txBody>
      </p:sp>
      <p:sp>
        <p:nvSpPr>
          <p:cNvPr id="62" name="Google Shape;62;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Tahoma"/>
                <a:ea typeface="Tahoma"/>
                <a:cs typeface="Tahoma"/>
                <a:sym typeface="Tahoma"/>
              </a:rPr>
              <a:t>‹#›</a:t>
            </a:fld>
            <a:endParaRPr b="0" i="0" sz="1400" u="none" cap="none" strike="noStrike">
              <a:solidFill>
                <a:schemeClr val="dk1"/>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1">
                                            <p:txEl>
                                              <p:pRg end="0" st="0"/>
                                            </p:txEl>
                                          </p:spTgt>
                                        </p:tgtEl>
                                        <p:attrNameLst>
                                          <p:attrName>style.visibility</p:attrName>
                                        </p:attrNameLst>
                                      </p:cBhvr>
                                      <p:to>
                                        <p:strVal val="visible"/>
                                      </p:to>
                                    </p:set>
                                    <p:anim calcmode="lin" valueType="num">
                                      <p:cBhvr additive="base">
                                        <p:cTn dur="500"/>
                                        <p:tgtEl>
                                          <p:spTgt spid="6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1">
                                            <p:txEl>
                                              <p:pRg end="1" st="1"/>
                                            </p:txEl>
                                          </p:spTgt>
                                        </p:tgtEl>
                                        <p:attrNameLst>
                                          <p:attrName>style.visibility</p:attrName>
                                        </p:attrNameLst>
                                      </p:cBhvr>
                                      <p:to>
                                        <p:strVal val="visible"/>
                                      </p:to>
                                    </p:set>
                                    <p:anim calcmode="lin" valueType="num">
                                      <p:cBhvr additive="base">
                                        <p:cTn dur="500"/>
                                        <p:tgtEl>
                                          <p:spTgt spid="6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1">
                                            <p:txEl>
                                              <p:pRg end="2" st="2"/>
                                            </p:txEl>
                                          </p:spTgt>
                                        </p:tgtEl>
                                        <p:attrNameLst>
                                          <p:attrName>style.visibility</p:attrName>
                                        </p:attrNameLst>
                                      </p:cBhvr>
                                      <p:to>
                                        <p:strVal val="visible"/>
                                      </p:to>
                                    </p:set>
                                    <p:anim calcmode="lin" valueType="num">
                                      <p:cBhvr additive="base">
                                        <p:cTn dur="500"/>
                                        <p:tgtEl>
                                          <p:spTgt spid="6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3"/>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400"/>
              <a:buNone/>
            </a:pPr>
            <a:r>
              <a:rPr lang="en-US"/>
              <a:t>Thách thức của triển khai ứng dụng truyền thống</a:t>
            </a:r>
            <a:endParaRPr/>
          </a:p>
        </p:txBody>
      </p:sp>
      <p:sp>
        <p:nvSpPr>
          <p:cNvPr id="69" name="Google Shape;69;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Tahoma"/>
                <a:ea typeface="Tahoma"/>
                <a:cs typeface="Tahoma"/>
                <a:sym typeface="Tahoma"/>
              </a:rPr>
              <a:t>‹#›</a:t>
            </a:fld>
            <a:endParaRPr b="0" i="0" sz="1400" u="none" cap="none" strike="noStrike">
              <a:solidFill>
                <a:schemeClr val="dk1"/>
              </a:solidFill>
              <a:latin typeface="Tahoma"/>
              <a:ea typeface="Tahoma"/>
              <a:cs typeface="Tahoma"/>
              <a:sym typeface="Tahoma"/>
            </a:endParaRPr>
          </a:p>
        </p:txBody>
      </p:sp>
      <p:sp>
        <p:nvSpPr>
          <p:cNvPr id="70" name="Google Shape;70;p3"/>
          <p:cNvSpPr txBox="1"/>
          <p:nvPr>
            <p:ph idx="1" type="body"/>
          </p:nvPr>
        </p:nvSpPr>
        <p:spPr>
          <a:xfrm>
            <a:off x="381000" y="1066800"/>
            <a:ext cx="6966300" cy="4351200"/>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640"/>
              </a:spcBef>
              <a:spcAft>
                <a:spcPts val="0"/>
              </a:spcAft>
              <a:buSzPts val="3200"/>
              <a:buChar char="•"/>
            </a:pPr>
            <a:r>
              <a:rPr lang="en-US" sz="3200"/>
              <a:t>Cài đặt môi trường phức tạp, conflict versions</a:t>
            </a:r>
            <a:endParaRPr sz="3200"/>
          </a:p>
          <a:p>
            <a:pPr indent="-228600" lvl="0" marL="228600" rtl="0" algn="just">
              <a:lnSpc>
                <a:spcPct val="100000"/>
              </a:lnSpc>
              <a:spcBef>
                <a:spcPts val="640"/>
              </a:spcBef>
              <a:spcAft>
                <a:spcPts val="0"/>
              </a:spcAft>
              <a:buSzPts val="3200"/>
              <a:buChar char="•"/>
            </a:pPr>
            <a:r>
              <a:rPr lang="en-US" sz="3200"/>
              <a:t>Sử dụng tài nguyên không hiệu quả, các ứng dụng cạnh tranh lẫn nhau.</a:t>
            </a:r>
            <a:endParaRPr sz="3200"/>
          </a:p>
          <a:p>
            <a:pPr indent="-228600" lvl="0" marL="228600" rtl="0" algn="just">
              <a:lnSpc>
                <a:spcPct val="100000"/>
              </a:lnSpc>
              <a:spcBef>
                <a:spcPts val="640"/>
              </a:spcBef>
              <a:spcAft>
                <a:spcPts val="0"/>
              </a:spcAft>
              <a:buSzPts val="3200"/>
              <a:buChar char="•"/>
            </a:pPr>
            <a:r>
              <a:rPr lang="en-US" sz="3200"/>
              <a:t>Môi trường không nhất quán giữa dev, prod</a:t>
            </a:r>
            <a:endParaRPr sz="3200"/>
          </a:p>
          <a:p>
            <a:pPr indent="-228600" lvl="0" marL="228600" rtl="0" algn="just">
              <a:lnSpc>
                <a:spcPct val="100000"/>
              </a:lnSpc>
              <a:spcBef>
                <a:spcPts val="640"/>
              </a:spcBef>
              <a:spcAft>
                <a:spcPts val="0"/>
              </a:spcAft>
              <a:buSzPts val="3200"/>
              <a:buChar char="•"/>
            </a:pPr>
            <a:r>
              <a:rPr lang="en-US" sz="3200"/>
              <a:t>Khó mở rộng</a:t>
            </a:r>
            <a:endParaRPr sz="3200"/>
          </a:p>
          <a:p>
            <a:pPr indent="-228600" lvl="0" marL="228600" rtl="0" algn="just">
              <a:lnSpc>
                <a:spcPct val="100000"/>
              </a:lnSpc>
              <a:spcBef>
                <a:spcPts val="640"/>
              </a:spcBef>
              <a:spcAft>
                <a:spcPts val="0"/>
              </a:spcAft>
              <a:buSzPts val="3200"/>
              <a:buChar char="•"/>
            </a:pPr>
            <a:r>
              <a:rPr lang="en-US" sz="3200"/>
              <a:t>Update gây downtime lâu, …</a:t>
            </a:r>
            <a:endParaRPr sz="3200"/>
          </a:p>
          <a:p>
            <a:pPr indent="-25400" lvl="0" marL="228600" rtl="0" algn="just">
              <a:lnSpc>
                <a:spcPct val="100000"/>
              </a:lnSpc>
              <a:spcBef>
                <a:spcPts val="640"/>
              </a:spcBef>
              <a:spcAft>
                <a:spcPts val="0"/>
              </a:spcAft>
              <a:buClr>
                <a:schemeClr val="dk1"/>
              </a:buClr>
              <a:buSzPts val="3200"/>
              <a:buNone/>
            </a:pPr>
            <a:r>
              <a:t/>
            </a:r>
            <a:endParaRPr sz="3200"/>
          </a:p>
        </p:txBody>
      </p:sp>
      <p:pic>
        <p:nvPicPr>
          <p:cNvPr id="71" name="Google Shape;71;p3"/>
          <p:cNvPicPr preferRelativeResize="0"/>
          <p:nvPr/>
        </p:nvPicPr>
        <p:blipFill>
          <a:blip r:embed="rId3">
            <a:alphaModFix/>
          </a:blip>
          <a:stretch>
            <a:fillRect/>
          </a:stretch>
        </p:blipFill>
        <p:spPr>
          <a:xfrm>
            <a:off x="7659100" y="1754400"/>
            <a:ext cx="4532899" cy="35548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4"/>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400"/>
              <a:buNone/>
            </a:pPr>
            <a:r>
              <a:rPr lang="en-US"/>
              <a:t>Giải pháp 1: Mỗi ứng dụng 1 Virtual Machine</a:t>
            </a:r>
            <a:endParaRPr/>
          </a:p>
        </p:txBody>
      </p:sp>
      <p:sp>
        <p:nvSpPr>
          <p:cNvPr id="78" name="Google Shape;78;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Tahoma"/>
                <a:ea typeface="Tahoma"/>
                <a:cs typeface="Tahoma"/>
                <a:sym typeface="Tahoma"/>
              </a:rPr>
              <a:t>‹#›</a:t>
            </a:fld>
            <a:endParaRPr b="0" i="0" sz="1400" u="none" cap="none" strike="noStrike">
              <a:solidFill>
                <a:schemeClr val="dk1"/>
              </a:solidFill>
              <a:latin typeface="Tahoma"/>
              <a:ea typeface="Tahoma"/>
              <a:cs typeface="Tahoma"/>
              <a:sym typeface="Tahoma"/>
            </a:endParaRPr>
          </a:p>
        </p:txBody>
      </p:sp>
      <p:sp>
        <p:nvSpPr>
          <p:cNvPr id="79" name="Google Shape;79;p4"/>
          <p:cNvSpPr txBox="1"/>
          <p:nvPr>
            <p:ph idx="1" type="body"/>
          </p:nvPr>
        </p:nvSpPr>
        <p:spPr>
          <a:xfrm>
            <a:off x="381000" y="1066800"/>
            <a:ext cx="4884300" cy="45663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640"/>
              </a:spcBef>
              <a:spcAft>
                <a:spcPts val="0"/>
              </a:spcAft>
              <a:buClr>
                <a:schemeClr val="dk1"/>
              </a:buClr>
              <a:buSzPts val="3200"/>
              <a:buFont typeface="Arial"/>
              <a:buNone/>
            </a:pPr>
            <a:r>
              <a:rPr b="1" i="1" lang="en-US" sz="2700"/>
              <a:t>Lợi ích:</a:t>
            </a:r>
            <a:endParaRPr b="1" i="1" sz="2700"/>
          </a:p>
          <a:p>
            <a:pPr indent="-400050" lvl="0" marL="457200" rtl="0" algn="just">
              <a:lnSpc>
                <a:spcPct val="100000"/>
              </a:lnSpc>
              <a:spcBef>
                <a:spcPts val="640"/>
              </a:spcBef>
              <a:spcAft>
                <a:spcPts val="0"/>
              </a:spcAft>
              <a:buSzPts val="2700"/>
              <a:buChar char="-"/>
            </a:pPr>
            <a:r>
              <a:rPr lang="en-US" sz="2700"/>
              <a:t>Tách biệt hoàn toàn</a:t>
            </a:r>
            <a:endParaRPr sz="2700"/>
          </a:p>
          <a:p>
            <a:pPr indent="-400050" lvl="0" marL="457200" rtl="0" algn="just">
              <a:lnSpc>
                <a:spcPct val="100000"/>
              </a:lnSpc>
              <a:spcBef>
                <a:spcPts val="0"/>
              </a:spcBef>
              <a:spcAft>
                <a:spcPts val="0"/>
              </a:spcAft>
              <a:buSzPts val="2700"/>
              <a:buChar char="-"/>
            </a:pPr>
            <a:r>
              <a:rPr lang="en-US" sz="2700"/>
              <a:t>Quản lý tài nguyên hiệu quả hơn</a:t>
            </a:r>
            <a:endParaRPr sz="2700"/>
          </a:p>
          <a:p>
            <a:pPr indent="-400050" lvl="0" marL="457200" rtl="0" algn="just">
              <a:lnSpc>
                <a:spcPct val="100000"/>
              </a:lnSpc>
              <a:spcBef>
                <a:spcPts val="0"/>
              </a:spcBef>
              <a:spcAft>
                <a:spcPts val="0"/>
              </a:spcAft>
              <a:buSzPts val="2700"/>
              <a:buChar char="-"/>
            </a:pPr>
            <a:r>
              <a:rPr lang="en-US" sz="2700"/>
              <a:t>Dễ mở rộng</a:t>
            </a:r>
            <a:endParaRPr sz="2700"/>
          </a:p>
          <a:p>
            <a:pPr indent="-400050" lvl="0" marL="457200" rtl="0" algn="just">
              <a:lnSpc>
                <a:spcPct val="100000"/>
              </a:lnSpc>
              <a:spcBef>
                <a:spcPts val="0"/>
              </a:spcBef>
              <a:spcAft>
                <a:spcPts val="0"/>
              </a:spcAft>
              <a:buSzPts val="2700"/>
              <a:buChar char="-"/>
            </a:pPr>
            <a:r>
              <a:rPr lang="en-US" sz="2700"/>
              <a:t>Ổn định hơn</a:t>
            </a:r>
            <a:endParaRPr sz="2700"/>
          </a:p>
          <a:p>
            <a:pPr indent="0" lvl="0" marL="0" rtl="0" algn="just">
              <a:lnSpc>
                <a:spcPct val="100000"/>
              </a:lnSpc>
              <a:spcBef>
                <a:spcPts val="640"/>
              </a:spcBef>
              <a:spcAft>
                <a:spcPts val="0"/>
              </a:spcAft>
              <a:buNone/>
            </a:pPr>
            <a:r>
              <a:rPr b="1" i="1" lang="en-US" sz="2700"/>
              <a:t>Hạn chế:</a:t>
            </a:r>
            <a:endParaRPr b="1" i="1" sz="2700"/>
          </a:p>
          <a:p>
            <a:pPr indent="-400050" lvl="0" marL="457200" rtl="0" algn="just">
              <a:lnSpc>
                <a:spcPct val="100000"/>
              </a:lnSpc>
              <a:spcBef>
                <a:spcPts val="640"/>
              </a:spcBef>
              <a:spcAft>
                <a:spcPts val="0"/>
              </a:spcAft>
              <a:buSzPts val="2700"/>
              <a:buChar char="-"/>
            </a:pPr>
            <a:r>
              <a:rPr lang="en-US" sz="2700"/>
              <a:t>Chi phí tài nguyên cao</a:t>
            </a:r>
            <a:endParaRPr sz="2700"/>
          </a:p>
          <a:p>
            <a:pPr indent="-400050" lvl="0" marL="457200" rtl="0" algn="just">
              <a:lnSpc>
                <a:spcPct val="100000"/>
              </a:lnSpc>
              <a:spcBef>
                <a:spcPts val="0"/>
              </a:spcBef>
              <a:spcAft>
                <a:spcPts val="0"/>
              </a:spcAft>
              <a:buSzPts val="2700"/>
              <a:buChar char="-"/>
            </a:pPr>
            <a:r>
              <a:rPr lang="en-US" sz="2700"/>
              <a:t>Khởi tạo chậm</a:t>
            </a:r>
            <a:endParaRPr sz="2700"/>
          </a:p>
          <a:p>
            <a:pPr indent="-400050" lvl="0" marL="457200" rtl="0" algn="just">
              <a:lnSpc>
                <a:spcPct val="100000"/>
              </a:lnSpc>
              <a:spcBef>
                <a:spcPts val="0"/>
              </a:spcBef>
              <a:spcAft>
                <a:spcPts val="0"/>
              </a:spcAft>
              <a:buSzPts val="2700"/>
              <a:buChar char="-"/>
            </a:pPr>
            <a:r>
              <a:rPr lang="en-US" sz="2700"/>
              <a:t>Khả năng di chuyển chậm</a:t>
            </a:r>
            <a:endParaRPr sz="2700"/>
          </a:p>
        </p:txBody>
      </p:sp>
      <p:pic>
        <p:nvPicPr>
          <p:cNvPr id="80" name="Google Shape;80;p4"/>
          <p:cNvPicPr preferRelativeResize="0"/>
          <p:nvPr/>
        </p:nvPicPr>
        <p:blipFill>
          <a:blip r:embed="rId3">
            <a:alphaModFix/>
          </a:blip>
          <a:stretch>
            <a:fillRect/>
          </a:stretch>
        </p:blipFill>
        <p:spPr>
          <a:xfrm>
            <a:off x="5265250" y="959263"/>
            <a:ext cx="6088550" cy="45664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g2a51275799c_1_3"/>
          <p:cNvSpPr txBox="1"/>
          <p:nvPr>
            <p:ph type="title"/>
          </p:nvPr>
        </p:nvSpPr>
        <p:spPr>
          <a:xfrm>
            <a:off x="228600" y="228600"/>
            <a:ext cx="10515600" cy="5445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400"/>
              <a:buNone/>
            </a:pPr>
            <a:r>
              <a:rPr lang="en-US"/>
              <a:t>Giải pháp 2: Mỗi ứng dụng 1 container </a:t>
            </a:r>
            <a:endParaRPr/>
          </a:p>
        </p:txBody>
      </p:sp>
      <p:sp>
        <p:nvSpPr>
          <p:cNvPr id="87" name="Google Shape;87;g2a51275799c_1_3"/>
          <p:cNvSpPr txBox="1"/>
          <p:nvPr>
            <p:ph idx="1" type="body"/>
          </p:nvPr>
        </p:nvSpPr>
        <p:spPr>
          <a:xfrm>
            <a:off x="381000" y="1066800"/>
            <a:ext cx="4233000" cy="43512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640"/>
              </a:spcBef>
              <a:spcAft>
                <a:spcPts val="0"/>
              </a:spcAft>
              <a:buNone/>
            </a:pPr>
            <a:r>
              <a:rPr b="1" i="1" lang="en-US" sz="2200"/>
              <a:t>Lợi ích:</a:t>
            </a:r>
            <a:endParaRPr b="1" i="1" sz="2200"/>
          </a:p>
          <a:p>
            <a:pPr indent="-368300" lvl="0" marL="457200" rtl="0" algn="just">
              <a:lnSpc>
                <a:spcPct val="100000"/>
              </a:lnSpc>
              <a:spcBef>
                <a:spcPts val="640"/>
              </a:spcBef>
              <a:spcAft>
                <a:spcPts val="0"/>
              </a:spcAft>
              <a:buSzPts val="2200"/>
              <a:buChar char="-"/>
            </a:pPr>
            <a:r>
              <a:rPr lang="en-US" sz="2200"/>
              <a:t>Khả năng mở rộng cao</a:t>
            </a:r>
            <a:endParaRPr sz="2200"/>
          </a:p>
          <a:p>
            <a:pPr indent="-368300" lvl="0" marL="457200" rtl="0" algn="just">
              <a:lnSpc>
                <a:spcPct val="100000"/>
              </a:lnSpc>
              <a:spcBef>
                <a:spcPts val="0"/>
              </a:spcBef>
              <a:spcAft>
                <a:spcPts val="0"/>
              </a:spcAft>
              <a:buSzPts val="2200"/>
              <a:buChar char="-"/>
            </a:pPr>
            <a:r>
              <a:rPr lang="en-US" sz="2200"/>
              <a:t>Đồng nhất môi trường</a:t>
            </a:r>
            <a:endParaRPr sz="2200"/>
          </a:p>
          <a:p>
            <a:pPr indent="-368300" lvl="0" marL="457200" rtl="0" algn="just">
              <a:lnSpc>
                <a:spcPct val="100000"/>
              </a:lnSpc>
              <a:spcBef>
                <a:spcPts val="0"/>
              </a:spcBef>
              <a:spcAft>
                <a:spcPts val="0"/>
              </a:spcAft>
              <a:buSzPts val="2200"/>
              <a:buChar char="-"/>
            </a:pPr>
            <a:r>
              <a:rPr lang="en-US" sz="2200"/>
              <a:t>Chi phí tối ưu</a:t>
            </a:r>
            <a:endParaRPr sz="2200"/>
          </a:p>
          <a:p>
            <a:pPr indent="-368300" lvl="0" marL="457200" rtl="0" algn="just">
              <a:lnSpc>
                <a:spcPct val="100000"/>
              </a:lnSpc>
              <a:spcBef>
                <a:spcPts val="0"/>
              </a:spcBef>
              <a:spcAft>
                <a:spcPts val="0"/>
              </a:spcAft>
              <a:buSzPts val="2200"/>
              <a:buChar char="-"/>
            </a:pPr>
            <a:r>
              <a:rPr lang="en-US" sz="2200"/>
              <a:t>Thời gian khởi chạy nhanh hơn VM</a:t>
            </a:r>
            <a:endParaRPr sz="2200"/>
          </a:p>
          <a:p>
            <a:pPr indent="0" lvl="0" marL="0" rtl="0" algn="just">
              <a:lnSpc>
                <a:spcPct val="100000"/>
              </a:lnSpc>
              <a:spcBef>
                <a:spcPts val="640"/>
              </a:spcBef>
              <a:spcAft>
                <a:spcPts val="0"/>
              </a:spcAft>
              <a:buNone/>
            </a:pPr>
            <a:r>
              <a:rPr b="1" i="1" lang="en-US" sz="2200"/>
              <a:t>Hạn chế:</a:t>
            </a:r>
            <a:endParaRPr b="1" i="1" sz="2200"/>
          </a:p>
          <a:p>
            <a:pPr indent="-368300" lvl="0" marL="457200" rtl="0" algn="just">
              <a:lnSpc>
                <a:spcPct val="100000"/>
              </a:lnSpc>
              <a:spcBef>
                <a:spcPts val="640"/>
              </a:spcBef>
              <a:spcAft>
                <a:spcPts val="0"/>
              </a:spcAft>
              <a:buSzPts val="2200"/>
              <a:buChar char="-"/>
            </a:pPr>
            <a:r>
              <a:rPr lang="en-US" sz="2200"/>
              <a:t>Bảo mật: các container share nhau HĐH</a:t>
            </a:r>
            <a:endParaRPr sz="2200"/>
          </a:p>
          <a:p>
            <a:pPr indent="-368300" lvl="0" marL="457200" rtl="0" algn="just">
              <a:lnSpc>
                <a:spcPct val="100000"/>
              </a:lnSpc>
              <a:spcBef>
                <a:spcPts val="0"/>
              </a:spcBef>
              <a:spcAft>
                <a:spcPts val="0"/>
              </a:spcAft>
              <a:buSzPts val="2200"/>
              <a:buChar char="-"/>
            </a:pPr>
            <a:r>
              <a:rPr lang="en-US" sz="2200"/>
              <a:t>Độ phức tạp: việc sử dụng network, storage trong container phức tạp</a:t>
            </a:r>
            <a:endParaRPr sz="2200"/>
          </a:p>
        </p:txBody>
      </p:sp>
      <p:sp>
        <p:nvSpPr>
          <p:cNvPr id="88" name="Google Shape;88;g2a51275799c_1_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US"/>
              <a:t>‹#›</a:t>
            </a:fld>
            <a:endParaRPr/>
          </a:p>
        </p:txBody>
      </p:sp>
      <p:pic>
        <p:nvPicPr>
          <p:cNvPr id="89" name="Google Shape;89;g2a51275799c_1_3"/>
          <p:cNvPicPr preferRelativeResize="0"/>
          <p:nvPr/>
        </p:nvPicPr>
        <p:blipFill>
          <a:blip r:embed="rId3">
            <a:alphaModFix/>
          </a:blip>
          <a:stretch>
            <a:fillRect/>
          </a:stretch>
        </p:blipFill>
        <p:spPr>
          <a:xfrm>
            <a:off x="4893125" y="1433875"/>
            <a:ext cx="6114299" cy="32695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g325c0ca648b_0_6"/>
          <p:cNvSpPr txBox="1"/>
          <p:nvPr>
            <p:ph type="title"/>
          </p:nvPr>
        </p:nvSpPr>
        <p:spPr>
          <a:xfrm>
            <a:off x="228600" y="228600"/>
            <a:ext cx="10515600" cy="544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Image và Container</a:t>
            </a:r>
            <a:endParaRPr/>
          </a:p>
        </p:txBody>
      </p:sp>
      <p:sp>
        <p:nvSpPr>
          <p:cNvPr id="96" name="Google Shape;96;g325c0ca648b_0_6"/>
          <p:cNvSpPr txBox="1"/>
          <p:nvPr>
            <p:ph idx="1" type="body"/>
          </p:nvPr>
        </p:nvSpPr>
        <p:spPr>
          <a:xfrm>
            <a:off x="381000" y="1066800"/>
            <a:ext cx="47775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i="1" lang="en-US" sz="2500"/>
              <a:t>Image:</a:t>
            </a:r>
            <a:endParaRPr b="1" i="1" sz="2500"/>
          </a:p>
          <a:p>
            <a:pPr indent="-323850" lvl="0" marL="457200" rtl="0" algn="l">
              <a:spcBef>
                <a:spcPts val="1000"/>
              </a:spcBef>
              <a:spcAft>
                <a:spcPts val="0"/>
              </a:spcAft>
              <a:buSzPts val="1500"/>
              <a:buChar char="-"/>
            </a:pPr>
            <a:r>
              <a:rPr lang="en-US" sz="2500"/>
              <a:t>Là mẫu (template), bất biến chứa tất cả các thành phần chạy ứng dụng: mã nguồn (hoặc file thực thi), thư viện, phụ thuộc, file cấu hình, ..</a:t>
            </a:r>
            <a:endParaRPr sz="2500"/>
          </a:p>
          <a:p>
            <a:pPr indent="-323850" lvl="0" marL="457200" rtl="0" algn="l">
              <a:spcBef>
                <a:spcPts val="0"/>
              </a:spcBef>
              <a:spcAft>
                <a:spcPts val="0"/>
              </a:spcAft>
              <a:buSzPts val="1500"/>
              <a:buChar char="-"/>
            </a:pPr>
            <a:r>
              <a:rPr lang="en-US" sz="2500"/>
              <a:t>Được build 1 lần và có thể tạo nhiều container khác nhau.</a:t>
            </a:r>
            <a:endParaRPr sz="2500"/>
          </a:p>
          <a:p>
            <a:pPr indent="-323850" lvl="0" marL="457200" rtl="0" algn="l">
              <a:spcBef>
                <a:spcPts val="0"/>
              </a:spcBef>
              <a:spcAft>
                <a:spcPts val="0"/>
              </a:spcAft>
              <a:buSzPts val="1500"/>
              <a:buChar char="-"/>
            </a:pPr>
            <a:r>
              <a:rPr lang="en-US" sz="2500"/>
              <a:t>Image được lưu trữ trên các registry như docker hub, local registry, … </a:t>
            </a:r>
            <a:endParaRPr sz="2500"/>
          </a:p>
        </p:txBody>
      </p:sp>
      <p:sp>
        <p:nvSpPr>
          <p:cNvPr id="97" name="Google Shape;97;g325c0ca648b_0_6"/>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US"/>
              <a:t>‹#›</a:t>
            </a:fld>
            <a:endParaRPr/>
          </a:p>
        </p:txBody>
      </p:sp>
      <p:pic>
        <p:nvPicPr>
          <p:cNvPr id="98" name="Google Shape;98;g325c0ca648b_0_6"/>
          <p:cNvPicPr preferRelativeResize="0"/>
          <p:nvPr/>
        </p:nvPicPr>
        <p:blipFill>
          <a:blip r:embed="rId3">
            <a:alphaModFix/>
          </a:blip>
          <a:stretch>
            <a:fillRect/>
          </a:stretch>
        </p:blipFill>
        <p:spPr>
          <a:xfrm>
            <a:off x="5753050" y="1979200"/>
            <a:ext cx="5213800" cy="27956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325c0ca648b_0_15"/>
          <p:cNvSpPr txBox="1"/>
          <p:nvPr>
            <p:ph type="title"/>
          </p:nvPr>
        </p:nvSpPr>
        <p:spPr>
          <a:xfrm>
            <a:off x="228600" y="228600"/>
            <a:ext cx="10515600" cy="544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Image và Container</a:t>
            </a:r>
            <a:endParaRPr/>
          </a:p>
        </p:txBody>
      </p:sp>
      <p:sp>
        <p:nvSpPr>
          <p:cNvPr id="105" name="Google Shape;105;g325c0ca648b_0_15"/>
          <p:cNvSpPr txBox="1"/>
          <p:nvPr>
            <p:ph idx="1" type="body"/>
          </p:nvPr>
        </p:nvSpPr>
        <p:spPr>
          <a:xfrm>
            <a:off x="381000" y="1066800"/>
            <a:ext cx="53340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i="1" lang="en-US"/>
              <a:t>Container:</a:t>
            </a:r>
            <a:endParaRPr b="1" i="1"/>
          </a:p>
          <a:p>
            <a:pPr indent="-342900" lvl="0" marL="457200" rtl="0" algn="l">
              <a:spcBef>
                <a:spcPts val="1000"/>
              </a:spcBef>
              <a:spcAft>
                <a:spcPts val="0"/>
              </a:spcAft>
              <a:buSzPts val="1800"/>
              <a:buChar char="-"/>
            </a:pPr>
            <a:r>
              <a:rPr lang="en-US"/>
              <a:t>Là 1 thực thể đang chạy, được tạo ra từ 1 image</a:t>
            </a:r>
            <a:endParaRPr/>
          </a:p>
          <a:p>
            <a:pPr indent="-342900" lvl="0" marL="457200" rtl="0" algn="l">
              <a:spcBef>
                <a:spcPts val="0"/>
              </a:spcBef>
              <a:spcAft>
                <a:spcPts val="0"/>
              </a:spcAft>
              <a:buSzPts val="1800"/>
              <a:buChar char="-"/>
            </a:pPr>
            <a:r>
              <a:rPr lang="en-US"/>
              <a:t>Container không bất biến, mà trong quá trình chạy có thể thay đổi: thêm file log mới, sửa file cấu hình, …</a:t>
            </a:r>
            <a:endParaRPr/>
          </a:p>
          <a:p>
            <a:pPr indent="0" lvl="0" marL="0" rtl="0" algn="l">
              <a:spcBef>
                <a:spcPts val="1000"/>
              </a:spcBef>
              <a:spcAft>
                <a:spcPts val="0"/>
              </a:spcAft>
              <a:buNone/>
            </a:pPr>
            <a:r>
              <a:t/>
            </a:r>
            <a:endParaRPr/>
          </a:p>
        </p:txBody>
      </p:sp>
      <p:sp>
        <p:nvSpPr>
          <p:cNvPr id="106" name="Google Shape;106;g325c0ca648b_0_15"/>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US"/>
              <a:t>‹#›</a:t>
            </a:fld>
            <a:endParaRPr/>
          </a:p>
        </p:txBody>
      </p:sp>
      <p:pic>
        <p:nvPicPr>
          <p:cNvPr id="107" name="Google Shape;107;g325c0ca648b_0_15"/>
          <p:cNvPicPr preferRelativeResize="0"/>
          <p:nvPr/>
        </p:nvPicPr>
        <p:blipFill>
          <a:blip r:embed="rId3">
            <a:alphaModFix/>
          </a:blip>
          <a:stretch>
            <a:fillRect/>
          </a:stretch>
        </p:blipFill>
        <p:spPr>
          <a:xfrm>
            <a:off x="6015950" y="1432675"/>
            <a:ext cx="5504100" cy="227023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g2a51275799c_1_10"/>
          <p:cNvSpPr txBox="1"/>
          <p:nvPr>
            <p:ph type="title"/>
          </p:nvPr>
        </p:nvSpPr>
        <p:spPr>
          <a:xfrm>
            <a:off x="228600" y="228600"/>
            <a:ext cx="10515600" cy="5445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400"/>
              <a:buNone/>
            </a:pPr>
            <a:r>
              <a:rPr lang="en-US"/>
              <a:t>Các thao tác với image</a:t>
            </a:r>
            <a:endParaRPr/>
          </a:p>
        </p:txBody>
      </p:sp>
      <p:sp>
        <p:nvSpPr>
          <p:cNvPr id="114" name="Google Shape;114;g2a51275799c_1_10"/>
          <p:cNvSpPr txBox="1"/>
          <p:nvPr>
            <p:ph idx="1" type="body"/>
          </p:nvPr>
        </p:nvSpPr>
        <p:spPr>
          <a:xfrm>
            <a:off x="381000" y="1066800"/>
            <a:ext cx="4175100" cy="4351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800"/>
              <a:buNone/>
            </a:pPr>
            <a:r>
              <a:rPr lang="en-US"/>
              <a:t>Đối với các image phổ biến như database, web server:</a:t>
            </a:r>
            <a:endParaRPr/>
          </a:p>
          <a:p>
            <a:pPr indent="-342900" lvl="0" marL="457200" rtl="0" algn="l">
              <a:lnSpc>
                <a:spcPct val="90000"/>
              </a:lnSpc>
              <a:spcBef>
                <a:spcPts val="1000"/>
              </a:spcBef>
              <a:spcAft>
                <a:spcPts val="0"/>
              </a:spcAft>
              <a:buSzPts val="1800"/>
              <a:buChar char="-"/>
            </a:pPr>
            <a:r>
              <a:rPr lang="en-US"/>
              <a:t>Pull từ registry, với tag (version) cụ thể</a:t>
            </a:r>
            <a:endParaRPr/>
          </a:p>
          <a:p>
            <a:pPr indent="-342900" lvl="0" marL="457200" rtl="0" algn="l">
              <a:lnSpc>
                <a:spcPct val="90000"/>
              </a:lnSpc>
              <a:spcBef>
                <a:spcPts val="0"/>
              </a:spcBef>
              <a:spcAft>
                <a:spcPts val="0"/>
              </a:spcAft>
              <a:buSzPts val="1800"/>
              <a:buChar char="-"/>
            </a:pPr>
            <a:r>
              <a:rPr lang="en-US"/>
              <a:t>Sử dụng image đã pull để chạy container</a:t>
            </a:r>
            <a:endParaRPr/>
          </a:p>
          <a:p>
            <a:pPr indent="0" lvl="0" marL="0" rtl="0" algn="l">
              <a:lnSpc>
                <a:spcPct val="90000"/>
              </a:lnSpc>
              <a:spcBef>
                <a:spcPts val="1000"/>
              </a:spcBef>
              <a:spcAft>
                <a:spcPts val="0"/>
              </a:spcAft>
              <a:buNone/>
            </a:pPr>
            <a:r>
              <a:t/>
            </a:r>
            <a:endParaRPr/>
          </a:p>
        </p:txBody>
      </p:sp>
      <p:sp>
        <p:nvSpPr>
          <p:cNvPr id="115" name="Google Shape;115;g2a51275799c_1_1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US"/>
              <a:t>‹#›</a:t>
            </a:fld>
            <a:endParaRPr/>
          </a:p>
        </p:txBody>
      </p:sp>
      <p:pic>
        <p:nvPicPr>
          <p:cNvPr id="116" name="Google Shape;116;g2a51275799c_1_10"/>
          <p:cNvPicPr preferRelativeResize="0"/>
          <p:nvPr/>
        </p:nvPicPr>
        <p:blipFill>
          <a:blip r:embed="rId3">
            <a:alphaModFix/>
          </a:blip>
          <a:stretch>
            <a:fillRect/>
          </a:stretch>
        </p:blipFill>
        <p:spPr>
          <a:xfrm>
            <a:off x="4485850" y="1333725"/>
            <a:ext cx="7331099" cy="336094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325c0ca648b_0_29"/>
          <p:cNvSpPr txBox="1"/>
          <p:nvPr>
            <p:ph type="title"/>
          </p:nvPr>
        </p:nvSpPr>
        <p:spPr>
          <a:xfrm>
            <a:off x="228600" y="228600"/>
            <a:ext cx="10515600" cy="544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Các thao tác với image</a:t>
            </a:r>
            <a:endParaRPr/>
          </a:p>
        </p:txBody>
      </p:sp>
      <p:sp>
        <p:nvSpPr>
          <p:cNvPr id="123" name="Google Shape;123;g325c0ca648b_0_29"/>
          <p:cNvSpPr txBox="1"/>
          <p:nvPr>
            <p:ph idx="1" type="body"/>
          </p:nvPr>
        </p:nvSpPr>
        <p:spPr>
          <a:xfrm>
            <a:off x="381000" y="1066800"/>
            <a:ext cx="55443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en-US"/>
              <a:t>Đối với image chứa code ứng dụng:</a:t>
            </a:r>
            <a:endParaRPr/>
          </a:p>
          <a:p>
            <a:pPr indent="-342900" lvl="0" marL="457200" rtl="0" algn="l">
              <a:spcBef>
                <a:spcPts val="1000"/>
              </a:spcBef>
              <a:spcAft>
                <a:spcPts val="0"/>
              </a:spcAft>
              <a:buSzPts val="1800"/>
              <a:buChar char="-"/>
            </a:pPr>
            <a:r>
              <a:rPr lang="en-US"/>
              <a:t>Tạo Dockerfile</a:t>
            </a:r>
            <a:endParaRPr/>
          </a:p>
          <a:p>
            <a:pPr indent="-342900" lvl="0" marL="457200" rtl="0" algn="l">
              <a:spcBef>
                <a:spcPts val="0"/>
              </a:spcBef>
              <a:spcAft>
                <a:spcPts val="0"/>
              </a:spcAft>
              <a:buSzPts val="1800"/>
              <a:buChar char="-"/>
            </a:pPr>
            <a:r>
              <a:rPr lang="en-US"/>
              <a:t>Build thành image, đánh tag (version)</a:t>
            </a:r>
            <a:endParaRPr/>
          </a:p>
          <a:p>
            <a:pPr indent="-342900" lvl="0" marL="457200" rtl="0" algn="l">
              <a:spcBef>
                <a:spcPts val="0"/>
              </a:spcBef>
              <a:spcAft>
                <a:spcPts val="0"/>
              </a:spcAft>
              <a:buSzPts val="1800"/>
              <a:buChar char="-"/>
            </a:pPr>
            <a:r>
              <a:rPr lang="en-US"/>
              <a:t>Push lên registry</a:t>
            </a:r>
            <a:endParaRPr/>
          </a:p>
          <a:p>
            <a:pPr indent="0" lvl="0" marL="0" rtl="0" algn="l">
              <a:spcBef>
                <a:spcPts val="1000"/>
              </a:spcBef>
              <a:spcAft>
                <a:spcPts val="0"/>
              </a:spcAft>
              <a:buNone/>
            </a:pPr>
            <a:r>
              <a:rPr lang="en-US"/>
              <a:t>Trên máy server: </a:t>
            </a:r>
            <a:endParaRPr/>
          </a:p>
          <a:p>
            <a:pPr indent="-342900" lvl="0" marL="457200" rtl="0" algn="l">
              <a:spcBef>
                <a:spcPts val="1000"/>
              </a:spcBef>
              <a:spcAft>
                <a:spcPts val="0"/>
              </a:spcAft>
              <a:buSzPts val="1800"/>
              <a:buChar char="-"/>
            </a:pPr>
            <a:r>
              <a:rPr lang="en-US"/>
              <a:t>Pull image và run container tương tự với image phổ biến</a:t>
            </a:r>
            <a:endParaRPr/>
          </a:p>
          <a:p>
            <a:pPr indent="0" lvl="0" marL="0" rtl="0" algn="l">
              <a:spcBef>
                <a:spcPts val="1000"/>
              </a:spcBef>
              <a:spcAft>
                <a:spcPts val="0"/>
              </a:spcAft>
              <a:buNone/>
            </a:pPr>
            <a:r>
              <a:t/>
            </a:r>
            <a:endParaRPr/>
          </a:p>
        </p:txBody>
      </p:sp>
      <p:sp>
        <p:nvSpPr>
          <p:cNvPr id="124" name="Google Shape;124;g325c0ca648b_0_29"/>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US"/>
              <a:t>‹#›</a:t>
            </a:fld>
            <a:endParaRPr/>
          </a:p>
        </p:txBody>
      </p:sp>
      <p:pic>
        <p:nvPicPr>
          <p:cNvPr id="125" name="Google Shape;125;g325c0ca648b_0_29"/>
          <p:cNvPicPr preferRelativeResize="0"/>
          <p:nvPr/>
        </p:nvPicPr>
        <p:blipFill>
          <a:blip r:embed="rId3">
            <a:alphaModFix/>
          </a:blip>
          <a:stretch>
            <a:fillRect/>
          </a:stretch>
        </p:blipFill>
        <p:spPr>
          <a:xfrm>
            <a:off x="5783187" y="1066800"/>
            <a:ext cx="4659564" cy="39726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325c0ca648b_0_38"/>
          <p:cNvSpPr txBox="1"/>
          <p:nvPr>
            <p:ph type="title"/>
          </p:nvPr>
        </p:nvSpPr>
        <p:spPr>
          <a:xfrm>
            <a:off x="228600" y="228600"/>
            <a:ext cx="10515600" cy="544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Thực hành thao tác với image</a:t>
            </a:r>
            <a:endParaRPr/>
          </a:p>
        </p:txBody>
      </p:sp>
      <p:sp>
        <p:nvSpPr>
          <p:cNvPr id="132" name="Google Shape;132;g325c0ca648b_0_38"/>
          <p:cNvSpPr txBox="1"/>
          <p:nvPr>
            <p:ph idx="1" type="body"/>
          </p:nvPr>
        </p:nvSpPr>
        <p:spPr>
          <a:xfrm>
            <a:off x="381000" y="1066800"/>
            <a:ext cx="62865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en-US"/>
              <a:t>Với database mysql:</a:t>
            </a:r>
            <a:endParaRPr/>
          </a:p>
          <a:p>
            <a:pPr indent="-342900" lvl="0" marL="457200" rtl="0" algn="l">
              <a:spcBef>
                <a:spcPts val="1000"/>
              </a:spcBef>
              <a:spcAft>
                <a:spcPts val="0"/>
              </a:spcAft>
              <a:buSzPts val="1800"/>
              <a:buChar char="•"/>
            </a:pPr>
            <a:r>
              <a:rPr lang="en-US"/>
              <a:t>C</a:t>
            </a:r>
            <a:r>
              <a:rPr lang="en-US"/>
              <a:t>ài đặt docker trên máy ảo</a:t>
            </a:r>
            <a:endParaRPr/>
          </a:p>
          <a:p>
            <a:pPr indent="-342900" lvl="0" marL="457200" rtl="0" algn="l">
              <a:spcBef>
                <a:spcPts val="0"/>
              </a:spcBef>
              <a:spcAft>
                <a:spcPts val="0"/>
              </a:spcAft>
              <a:buSzPts val="1800"/>
              <a:buChar char="•"/>
            </a:pPr>
            <a:r>
              <a:rPr lang="en-US"/>
              <a:t>Pull image mysql:8.0</a:t>
            </a:r>
            <a:endParaRPr/>
          </a:p>
          <a:p>
            <a:pPr indent="-342900" lvl="0" marL="457200" rtl="0" algn="l">
              <a:spcBef>
                <a:spcPts val="0"/>
              </a:spcBef>
              <a:spcAft>
                <a:spcPts val="0"/>
              </a:spcAft>
              <a:buSzPts val="1800"/>
              <a:buChar char="•"/>
            </a:pPr>
            <a:r>
              <a:rPr lang="en-US"/>
              <a:t>Chạy container từ image</a:t>
            </a:r>
            <a:endParaRPr/>
          </a:p>
          <a:p>
            <a:pPr indent="-342900" lvl="0" marL="457200" rtl="0" algn="l">
              <a:spcBef>
                <a:spcPts val="0"/>
              </a:spcBef>
              <a:spcAft>
                <a:spcPts val="0"/>
              </a:spcAft>
              <a:buSzPts val="1800"/>
              <a:buChar char="•"/>
            </a:pPr>
            <a:r>
              <a:rPr lang="en-US"/>
              <a:t>Truy cập vào mysql, tạo database, user, grant quyền, khởi tạo dữ liệu</a:t>
            </a:r>
            <a:endParaRPr/>
          </a:p>
        </p:txBody>
      </p:sp>
      <p:sp>
        <p:nvSpPr>
          <p:cNvPr id="133" name="Google Shape;133;g325c0ca648b_0_38"/>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US"/>
              <a:t>‹#›</a:t>
            </a:fld>
            <a:endParaRPr/>
          </a:p>
        </p:txBody>
      </p:sp>
      <p:pic>
        <p:nvPicPr>
          <p:cNvPr id="134" name="Google Shape;134;g325c0ca648b_0_38"/>
          <p:cNvPicPr preferRelativeResize="0"/>
          <p:nvPr/>
        </p:nvPicPr>
        <p:blipFill>
          <a:blip r:embed="rId3">
            <a:alphaModFix/>
          </a:blip>
          <a:stretch>
            <a:fillRect/>
          </a:stretch>
        </p:blipFill>
        <p:spPr>
          <a:xfrm>
            <a:off x="6667500" y="1178150"/>
            <a:ext cx="4895850" cy="1304925"/>
          </a:xfrm>
          <a:prstGeom prst="rect">
            <a:avLst/>
          </a:prstGeom>
          <a:noFill/>
          <a:ln>
            <a:noFill/>
          </a:ln>
        </p:spPr>
      </p:pic>
      <p:pic>
        <p:nvPicPr>
          <p:cNvPr id="135" name="Google Shape;135;g325c0ca648b_0_38"/>
          <p:cNvPicPr preferRelativeResize="0"/>
          <p:nvPr/>
        </p:nvPicPr>
        <p:blipFill>
          <a:blip r:embed="rId4">
            <a:alphaModFix/>
          </a:blip>
          <a:stretch>
            <a:fillRect/>
          </a:stretch>
        </p:blipFill>
        <p:spPr>
          <a:xfrm>
            <a:off x="6667500" y="2888125"/>
            <a:ext cx="5330119" cy="1135200"/>
          </a:xfrm>
          <a:prstGeom prst="rect">
            <a:avLst/>
          </a:prstGeom>
          <a:noFill/>
          <a:ln>
            <a:noFill/>
          </a:ln>
        </p:spPr>
      </p:pic>
      <p:pic>
        <p:nvPicPr>
          <p:cNvPr id="136" name="Google Shape;136;g325c0ca648b_0_38"/>
          <p:cNvPicPr preferRelativeResize="0"/>
          <p:nvPr/>
        </p:nvPicPr>
        <p:blipFill>
          <a:blip r:embed="rId5">
            <a:alphaModFix/>
          </a:blip>
          <a:stretch>
            <a:fillRect/>
          </a:stretch>
        </p:blipFill>
        <p:spPr>
          <a:xfrm>
            <a:off x="6591300" y="4321025"/>
            <a:ext cx="5543550" cy="447675"/>
          </a:xfrm>
          <a:prstGeom prst="rect">
            <a:avLst/>
          </a:prstGeom>
          <a:noFill/>
          <a:ln>
            <a:noFill/>
          </a:ln>
        </p:spPr>
      </p:pic>
      <p:pic>
        <p:nvPicPr>
          <p:cNvPr id="137" name="Google Shape;137;g325c0ca648b_0_38"/>
          <p:cNvPicPr preferRelativeResize="0"/>
          <p:nvPr/>
        </p:nvPicPr>
        <p:blipFill>
          <a:blip r:embed="rId6">
            <a:alphaModFix/>
          </a:blip>
          <a:stretch>
            <a:fillRect/>
          </a:stretch>
        </p:blipFill>
        <p:spPr>
          <a:xfrm>
            <a:off x="820738" y="3735113"/>
            <a:ext cx="4314825" cy="1714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25c0ca648b_0_50"/>
          <p:cNvSpPr txBox="1"/>
          <p:nvPr>
            <p:ph type="title"/>
          </p:nvPr>
        </p:nvSpPr>
        <p:spPr>
          <a:xfrm>
            <a:off x="228600" y="228600"/>
            <a:ext cx="10515600" cy="544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Thực hành thao tác với image</a:t>
            </a:r>
            <a:endParaRPr/>
          </a:p>
        </p:txBody>
      </p:sp>
      <p:sp>
        <p:nvSpPr>
          <p:cNvPr id="144" name="Google Shape;144;g325c0ca648b_0_50"/>
          <p:cNvSpPr txBox="1"/>
          <p:nvPr>
            <p:ph idx="1" type="body"/>
          </p:nvPr>
        </p:nvSpPr>
        <p:spPr>
          <a:xfrm>
            <a:off x="381000" y="1066800"/>
            <a:ext cx="51237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en-US"/>
              <a:t>Với ứng dụng backend (file jar)</a:t>
            </a:r>
            <a:endParaRPr/>
          </a:p>
          <a:p>
            <a:pPr indent="-342900" lvl="0" marL="457200" rtl="0" algn="l">
              <a:spcBef>
                <a:spcPts val="1000"/>
              </a:spcBef>
              <a:spcAft>
                <a:spcPts val="0"/>
              </a:spcAft>
              <a:buSzPts val="1800"/>
              <a:buChar char="-"/>
            </a:pPr>
            <a:r>
              <a:rPr lang="en-US"/>
              <a:t>Viết Dockerfile</a:t>
            </a:r>
            <a:endParaRPr/>
          </a:p>
          <a:p>
            <a:pPr indent="-342900" lvl="0" marL="457200" rtl="0" algn="l">
              <a:spcBef>
                <a:spcPts val="0"/>
              </a:spcBef>
              <a:spcAft>
                <a:spcPts val="0"/>
              </a:spcAft>
              <a:buSzPts val="1800"/>
              <a:buChar char="-"/>
            </a:pPr>
            <a:r>
              <a:rPr lang="en-US"/>
              <a:t>Build với tên, version cụ thể</a:t>
            </a:r>
            <a:endParaRPr/>
          </a:p>
          <a:p>
            <a:pPr indent="-342900" lvl="0" marL="457200" rtl="0" algn="l">
              <a:spcBef>
                <a:spcPts val="0"/>
              </a:spcBef>
              <a:spcAft>
                <a:spcPts val="0"/>
              </a:spcAft>
              <a:buSzPts val="1800"/>
              <a:buChar char="-"/>
            </a:pPr>
            <a:r>
              <a:rPr lang="en-US"/>
              <a:t>Kiểm tra lại kết quả</a:t>
            </a:r>
            <a:endParaRPr/>
          </a:p>
          <a:p>
            <a:pPr indent="0" lvl="0" marL="0" rtl="0" algn="l">
              <a:spcBef>
                <a:spcPts val="1000"/>
              </a:spcBef>
              <a:spcAft>
                <a:spcPts val="0"/>
              </a:spcAft>
              <a:buNone/>
            </a:pPr>
            <a:r>
              <a:t/>
            </a:r>
            <a:endParaRPr/>
          </a:p>
        </p:txBody>
      </p:sp>
      <p:sp>
        <p:nvSpPr>
          <p:cNvPr id="145" name="Google Shape;145;g325c0ca648b_0_5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US"/>
              <a:t>‹#›</a:t>
            </a:fld>
            <a:endParaRPr/>
          </a:p>
        </p:txBody>
      </p:sp>
      <p:pic>
        <p:nvPicPr>
          <p:cNvPr id="146" name="Google Shape;146;g325c0ca648b_0_50"/>
          <p:cNvPicPr preferRelativeResize="0"/>
          <p:nvPr/>
        </p:nvPicPr>
        <p:blipFill>
          <a:blip r:embed="rId3">
            <a:alphaModFix/>
          </a:blip>
          <a:stretch>
            <a:fillRect/>
          </a:stretch>
        </p:blipFill>
        <p:spPr>
          <a:xfrm>
            <a:off x="5816675" y="1634013"/>
            <a:ext cx="6267450" cy="2600325"/>
          </a:xfrm>
          <a:prstGeom prst="rect">
            <a:avLst/>
          </a:prstGeom>
          <a:noFill/>
          <a:ln>
            <a:noFill/>
          </a:ln>
        </p:spPr>
      </p:pic>
      <p:pic>
        <p:nvPicPr>
          <p:cNvPr id="147" name="Google Shape;147;g325c0ca648b_0_50"/>
          <p:cNvPicPr preferRelativeResize="0"/>
          <p:nvPr/>
        </p:nvPicPr>
        <p:blipFill>
          <a:blip r:embed="rId4">
            <a:alphaModFix/>
          </a:blip>
          <a:stretch>
            <a:fillRect/>
          </a:stretch>
        </p:blipFill>
        <p:spPr>
          <a:xfrm>
            <a:off x="5816675" y="4436925"/>
            <a:ext cx="6419850" cy="981075"/>
          </a:xfrm>
          <a:prstGeom prst="rect">
            <a:avLst/>
          </a:prstGeom>
          <a:noFill/>
          <a:ln>
            <a:noFill/>
          </a:ln>
        </p:spPr>
      </p:pic>
      <p:pic>
        <p:nvPicPr>
          <p:cNvPr id="148" name="Google Shape;148;g325c0ca648b_0_50"/>
          <p:cNvPicPr preferRelativeResize="0"/>
          <p:nvPr/>
        </p:nvPicPr>
        <p:blipFill>
          <a:blip r:embed="rId5">
            <a:alphaModFix/>
          </a:blip>
          <a:stretch>
            <a:fillRect/>
          </a:stretch>
        </p:blipFill>
        <p:spPr>
          <a:xfrm>
            <a:off x="380988" y="4413100"/>
            <a:ext cx="5210175" cy="1028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g325c0ca648b_0_67"/>
          <p:cNvSpPr txBox="1"/>
          <p:nvPr>
            <p:ph type="title"/>
          </p:nvPr>
        </p:nvSpPr>
        <p:spPr>
          <a:xfrm>
            <a:off x="228600" y="228600"/>
            <a:ext cx="10515600" cy="544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Thực hành thao tác với image</a:t>
            </a:r>
            <a:endParaRPr/>
          </a:p>
        </p:txBody>
      </p:sp>
      <p:sp>
        <p:nvSpPr>
          <p:cNvPr id="155" name="Google Shape;155;g325c0ca648b_0_67"/>
          <p:cNvSpPr txBox="1"/>
          <p:nvPr>
            <p:ph idx="1" type="body"/>
          </p:nvPr>
        </p:nvSpPr>
        <p:spPr>
          <a:xfrm>
            <a:off x="381000" y="1066800"/>
            <a:ext cx="44556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en-US"/>
              <a:t>Với ứng dụng backend</a:t>
            </a:r>
            <a:endParaRPr/>
          </a:p>
          <a:p>
            <a:pPr indent="-342900" lvl="0" marL="457200" rtl="0" algn="l">
              <a:spcBef>
                <a:spcPts val="1000"/>
              </a:spcBef>
              <a:spcAft>
                <a:spcPts val="0"/>
              </a:spcAft>
              <a:buSzPts val="1800"/>
              <a:buChar char="-"/>
            </a:pPr>
            <a:r>
              <a:rPr lang="en-US"/>
              <a:t>Chạy container với biến môi trường cụ thể</a:t>
            </a:r>
            <a:endParaRPr/>
          </a:p>
          <a:p>
            <a:pPr indent="-342900" lvl="0" marL="457200" rtl="0" algn="l">
              <a:spcBef>
                <a:spcPts val="0"/>
              </a:spcBef>
              <a:spcAft>
                <a:spcPts val="0"/>
              </a:spcAft>
              <a:buSzPts val="1800"/>
              <a:buChar char="-"/>
            </a:pPr>
            <a:r>
              <a:rPr lang="en-US"/>
              <a:t>Xem log container</a:t>
            </a:r>
            <a:endParaRPr/>
          </a:p>
          <a:p>
            <a:pPr indent="-342900" lvl="0" marL="457200" rtl="0" algn="l">
              <a:spcBef>
                <a:spcPts val="0"/>
              </a:spcBef>
              <a:spcAft>
                <a:spcPts val="0"/>
              </a:spcAft>
              <a:buSzPts val="1800"/>
              <a:buChar char="-"/>
            </a:pPr>
            <a:r>
              <a:rPr lang="en-US"/>
              <a:t>Stop và Xóa container nếu lỗi và chạy lại</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t/>
            </a:r>
            <a:endParaRPr/>
          </a:p>
        </p:txBody>
      </p:sp>
      <p:sp>
        <p:nvSpPr>
          <p:cNvPr id="156" name="Google Shape;156;g325c0ca648b_0_67"/>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US"/>
              <a:t>‹#›</a:t>
            </a:fld>
            <a:endParaRPr/>
          </a:p>
        </p:txBody>
      </p:sp>
      <p:pic>
        <p:nvPicPr>
          <p:cNvPr id="157" name="Google Shape;157;g325c0ca648b_0_67"/>
          <p:cNvPicPr preferRelativeResize="0"/>
          <p:nvPr/>
        </p:nvPicPr>
        <p:blipFill>
          <a:blip r:embed="rId3">
            <a:alphaModFix/>
          </a:blip>
          <a:stretch>
            <a:fillRect/>
          </a:stretch>
        </p:blipFill>
        <p:spPr>
          <a:xfrm>
            <a:off x="4989000" y="925500"/>
            <a:ext cx="7050601" cy="251140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2d7dfff89db_0_0"/>
          <p:cNvSpPr txBox="1"/>
          <p:nvPr>
            <p:ph type="title"/>
          </p:nvPr>
        </p:nvSpPr>
        <p:spPr>
          <a:xfrm>
            <a:off x="228600" y="228600"/>
            <a:ext cx="10515600" cy="544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Các vấn đề khi chạy ứng dụng bằng docker run</a:t>
            </a:r>
            <a:endParaRPr/>
          </a:p>
        </p:txBody>
      </p:sp>
      <p:sp>
        <p:nvSpPr>
          <p:cNvPr id="164" name="Google Shape;164;g2d7dfff89db_0_0"/>
          <p:cNvSpPr txBox="1"/>
          <p:nvPr>
            <p:ph idx="1" type="body"/>
          </p:nvPr>
        </p:nvSpPr>
        <p:spPr>
          <a:xfrm>
            <a:off x="381000" y="1066800"/>
            <a:ext cx="7296900" cy="3334800"/>
          </a:xfrm>
          <a:prstGeom prst="rect">
            <a:avLst/>
          </a:prstGeom>
        </p:spPr>
        <p:txBody>
          <a:bodyPr anchorCtr="0" anchor="t" bIns="45700" lIns="91425" spcFirstLastPara="1" rIns="91425" wrap="square" tIns="45700">
            <a:noAutofit/>
          </a:bodyPr>
          <a:lstStyle/>
          <a:p>
            <a:pPr indent="-330200" lvl="0" marL="457200" rtl="0" algn="l">
              <a:spcBef>
                <a:spcPts val="1000"/>
              </a:spcBef>
              <a:spcAft>
                <a:spcPts val="0"/>
              </a:spcAft>
              <a:buSzPts val="1600"/>
              <a:buChar char="•"/>
            </a:pPr>
            <a:r>
              <a:rPr b="1" i="1" lang="en-US" sz="2600"/>
              <a:t>Phức tạp khi quản lý nhiều container</a:t>
            </a:r>
            <a:r>
              <a:rPr lang="en-US" sz="2600"/>
              <a:t> (backend, frontend, database), cần tự quản lý các tham số như biến môi trường, mạng, storage, …</a:t>
            </a:r>
            <a:endParaRPr sz="2600"/>
          </a:p>
          <a:p>
            <a:pPr indent="-330200" lvl="0" marL="457200" rtl="0" algn="l">
              <a:spcBef>
                <a:spcPts val="0"/>
              </a:spcBef>
              <a:spcAft>
                <a:spcPts val="0"/>
              </a:spcAft>
              <a:buSzPts val="1600"/>
              <a:buChar char="•"/>
            </a:pPr>
            <a:r>
              <a:rPr b="1" i="1" lang="en-US" sz="2600"/>
              <a:t>Khó tái sử dụng cấu hình</a:t>
            </a:r>
            <a:r>
              <a:rPr lang="en-US" sz="2600"/>
              <a:t>: Nếu muốn chạy trên nhiều môi trường như dev, stag, prod hoặc scale thì khó tái sử dụng cấu hình.</a:t>
            </a:r>
            <a:endParaRPr sz="2600"/>
          </a:p>
          <a:p>
            <a:pPr indent="-330200" lvl="0" marL="457200" rtl="0" algn="l">
              <a:spcBef>
                <a:spcPts val="0"/>
              </a:spcBef>
              <a:spcAft>
                <a:spcPts val="0"/>
              </a:spcAft>
              <a:buSzPts val="1600"/>
              <a:buChar char="•"/>
            </a:pPr>
            <a:r>
              <a:rPr b="1" i="1" lang="en-US" sz="2600"/>
              <a:t>Thiếu khả năng đồng bộ và quản lý dịch vụ</a:t>
            </a:r>
            <a:r>
              <a:rPr lang="en-US" sz="2600"/>
              <a:t>: Phải tự stop/start container bằng tay, không chỉ định thứ tự được</a:t>
            </a:r>
            <a:endParaRPr sz="2600"/>
          </a:p>
        </p:txBody>
      </p:sp>
      <p:sp>
        <p:nvSpPr>
          <p:cNvPr id="165" name="Google Shape;165;g2d7dfff89db_0_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US"/>
              <a:t>‹#›</a:t>
            </a:fld>
            <a:endParaRPr/>
          </a:p>
        </p:txBody>
      </p:sp>
      <p:pic>
        <p:nvPicPr>
          <p:cNvPr id="166" name="Google Shape;166;g2d7dfff89db_0_0"/>
          <p:cNvPicPr preferRelativeResize="0"/>
          <p:nvPr/>
        </p:nvPicPr>
        <p:blipFill>
          <a:blip r:embed="rId3">
            <a:alphaModFix/>
          </a:blip>
          <a:stretch>
            <a:fillRect/>
          </a:stretch>
        </p:blipFill>
        <p:spPr>
          <a:xfrm>
            <a:off x="7677900" y="1275625"/>
            <a:ext cx="4209300" cy="362604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g2d7dfff89db_0_10"/>
          <p:cNvSpPr txBox="1"/>
          <p:nvPr>
            <p:ph type="title"/>
          </p:nvPr>
        </p:nvSpPr>
        <p:spPr>
          <a:xfrm>
            <a:off x="228600" y="228600"/>
            <a:ext cx="10515600" cy="544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Giới thiệu Docker compose</a:t>
            </a:r>
            <a:endParaRPr/>
          </a:p>
        </p:txBody>
      </p:sp>
      <p:sp>
        <p:nvSpPr>
          <p:cNvPr id="173" name="Google Shape;173;g2d7dfff89db_0_10"/>
          <p:cNvSpPr txBox="1"/>
          <p:nvPr>
            <p:ph idx="1" type="body"/>
          </p:nvPr>
        </p:nvSpPr>
        <p:spPr>
          <a:xfrm>
            <a:off x="381000" y="1066800"/>
            <a:ext cx="105156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i="1" lang="en-US"/>
              <a:t>Docker compose</a:t>
            </a:r>
            <a:r>
              <a:rPr lang="en-US"/>
              <a:t>: là một công cụ giúp định nghĩa và quản lý các ứng dụng đa container bằng cách sử dụng file cấu hình YAML</a:t>
            </a:r>
            <a:endParaRPr/>
          </a:p>
        </p:txBody>
      </p:sp>
      <p:sp>
        <p:nvSpPr>
          <p:cNvPr id="174" name="Google Shape;174;g2d7dfff89db_0_1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US"/>
              <a:t>‹#›</a:t>
            </a:fld>
            <a:endParaRPr/>
          </a:p>
        </p:txBody>
      </p:sp>
      <p:pic>
        <p:nvPicPr>
          <p:cNvPr id="175" name="Google Shape;175;g2d7dfff89db_0_10"/>
          <p:cNvPicPr preferRelativeResize="0"/>
          <p:nvPr/>
        </p:nvPicPr>
        <p:blipFill>
          <a:blip r:embed="rId3">
            <a:alphaModFix/>
          </a:blip>
          <a:stretch>
            <a:fillRect/>
          </a:stretch>
        </p:blipFill>
        <p:spPr>
          <a:xfrm>
            <a:off x="1439875" y="1969950"/>
            <a:ext cx="8743950" cy="34480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2d7dfff89db_0_19"/>
          <p:cNvSpPr txBox="1"/>
          <p:nvPr>
            <p:ph type="title"/>
          </p:nvPr>
        </p:nvSpPr>
        <p:spPr>
          <a:xfrm>
            <a:off x="228600" y="228600"/>
            <a:ext cx="10515600" cy="544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Giới thiệu Docker compose</a:t>
            </a:r>
            <a:endParaRPr/>
          </a:p>
        </p:txBody>
      </p:sp>
      <p:sp>
        <p:nvSpPr>
          <p:cNvPr id="182" name="Google Shape;182;g2d7dfff89db_0_19"/>
          <p:cNvSpPr txBox="1"/>
          <p:nvPr>
            <p:ph idx="1" type="body"/>
          </p:nvPr>
        </p:nvSpPr>
        <p:spPr>
          <a:xfrm>
            <a:off x="381000" y="1066800"/>
            <a:ext cx="105156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i="1" lang="en-US"/>
              <a:t>Ưu điểm Docker compose:</a:t>
            </a:r>
            <a:endParaRPr b="1" i="1"/>
          </a:p>
          <a:p>
            <a:pPr indent="-342900" lvl="0" marL="457200" rtl="0" algn="l">
              <a:spcBef>
                <a:spcPts val="1000"/>
              </a:spcBef>
              <a:spcAft>
                <a:spcPts val="0"/>
              </a:spcAft>
              <a:buSzPts val="1800"/>
              <a:buChar char="•"/>
            </a:pPr>
            <a:r>
              <a:rPr lang="en-US"/>
              <a:t>Quản lý dễ dàng và tập trung: sử dụng file docker-compose.yml để định nghĩa toàn bộ cấu hình cho nhiều container</a:t>
            </a:r>
            <a:endParaRPr/>
          </a:p>
          <a:p>
            <a:pPr indent="-342900" lvl="0" marL="457200" rtl="0" algn="l">
              <a:spcBef>
                <a:spcPts val="0"/>
              </a:spcBef>
              <a:spcAft>
                <a:spcPts val="0"/>
              </a:spcAft>
              <a:buSzPts val="1800"/>
              <a:buChar char="•"/>
            </a:pPr>
            <a:r>
              <a:rPr lang="en-US"/>
              <a:t>Tái sử dụng cấu hình cho nhiều môi trường khác nhau</a:t>
            </a:r>
            <a:endParaRPr/>
          </a:p>
          <a:p>
            <a:pPr indent="-342900" lvl="0" marL="457200" rtl="0" algn="l">
              <a:spcBef>
                <a:spcPts val="0"/>
              </a:spcBef>
              <a:spcAft>
                <a:spcPts val="0"/>
              </a:spcAft>
              <a:buSzPts val="1800"/>
              <a:buChar char="•"/>
            </a:pPr>
            <a:r>
              <a:rPr lang="en-US"/>
              <a:t>Bật tắt dễ dàng với chỉ 1 câu lệnh</a:t>
            </a:r>
            <a:endParaRPr/>
          </a:p>
          <a:p>
            <a:pPr indent="-342900" lvl="0" marL="457200" rtl="0" algn="l">
              <a:spcBef>
                <a:spcPts val="0"/>
              </a:spcBef>
              <a:spcAft>
                <a:spcPts val="0"/>
              </a:spcAft>
              <a:buSzPts val="1800"/>
              <a:buChar char="•"/>
            </a:pPr>
            <a:r>
              <a:rPr lang="en-US"/>
              <a:t>Hỗ trợ tạo mạng, storage tự động, dễ dàng</a:t>
            </a:r>
            <a:endParaRPr/>
          </a:p>
          <a:p>
            <a:pPr indent="-342900" lvl="0" marL="457200" rtl="0" algn="l">
              <a:spcBef>
                <a:spcPts val="0"/>
              </a:spcBef>
              <a:spcAft>
                <a:spcPts val="0"/>
              </a:spcAft>
              <a:buSzPts val="1800"/>
              <a:buChar char="•"/>
            </a:pPr>
            <a:r>
              <a:rPr lang="en-US"/>
              <a:t>Hỗ trợ xử lý thứ tự bật tắt các container</a:t>
            </a:r>
            <a:endParaRPr/>
          </a:p>
          <a:p>
            <a:pPr indent="-342900" lvl="0" marL="457200" rtl="0" algn="l">
              <a:spcBef>
                <a:spcPts val="0"/>
              </a:spcBef>
              <a:spcAft>
                <a:spcPts val="0"/>
              </a:spcAft>
              <a:buSzPts val="1800"/>
              <a:buChar char="•"/>
            </a:pPr>
            <a:r>
              <a:rPr lang="en-US"/>
              <a:t>…</a:t>
            </a:r>
            <a:endParaRPr/>
          </a:p>
        </p:txBody>
      </p:sp>
      <p:sp>
        <p:nvSpPr>
          <p:cNvPr id="183" name="Google Shape;183;g2d7dfff89db_0_19"/>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2d7dfff89db_0_28"/>
          <p:cNvSpPr txBox="1"/>
          <p:nvPr>
            <p:ph type="title"/>
          </p:nvPr>
        </p:nvSpPr>
        <p:spPr>
          <a:xfrm>
            <a:off x="228600" y="228600"/>
            <a:ext cx="10515600" cy="544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Thực hành với Docker Compose</a:t>
            </a:r>
            <a:endParaRPr/>
          </a:p>
        </p:txBody>
      </p:sp>
      <p:sp>
        <p:nvSpPr>
          <p:cNvPr id="190" name="Google Shape;190;g2d7dfff89db_0_28"/>
          <p:cNvSpPr txBox="1"/>
          <p:nvPr>
            <p:ph idx="1" type="body"/>
          </p:nvPr>
        </p:nvSpPr>
        <p:spPr>
          <a:xfrm>
            <a:off x="381000" y="1066800"/>
            <a:ext cx="46179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en-US"/>
              <a:t>M</a:t>
            </a:r>
            <a:r>
              <a:rPr lang="en-US"/>
              <a:t>ột số tùy chọn hay sử dụng:</a:t>
            </a:r>
            <a:endParaRPr/>
          </a:p>
          <a:p>
            <a:pPr indent="-342900" lvl="0" marL="457200" rtl="0" algn="l">
              <a:spcBef>
                <a:spcPts val="1000"/>
              </a:spcBef>
              <a:spcAft>
                <a:spcPts val="0"/>
              </a:spcAft>
              <a:buSzPts val="1800"/>
              <a:buChar char="-"/>
            </a:pPr>
            <a:r>
              <a:rPr lang="en-US"/>
              <a:t>Kết nối với nhau thông qua tên service</a:t>
            </a:r>
            <a:endParaRPr/>
          </a:p>
          <a:p>
            <a:pPr indent="-342900" lvl="0" marL="457200" rtl="0" algn="l">
              <a:spcBef>
                <a:spcPts val="0"/>
              </a:spcBef>
              <a:spcAft>
                <a:spcPts val="0"/>
              </a:spcAft>
              <a:buSzPts val="1800"/>
              <a:buChar char="-"/>
            </a:pPr>
            <a:r>
              <a:rPr lang="en-US"/>
              <a:t>Mount volume để lưu giữ liệu lâu dài</a:t>
            </a:r>
            <a:endParaRPr/>
          </a:p>
          <a:p>
            <a:pPr indent="-342900" lvl="0" marL="457200" rtl="0" algn="l">
              <a:spcBef>
                <a:spcPts val="0"/>
              </a:spcBef>
              <a:spcAft>
                <a:spcPts val="0"/>
              </a:spcAft>
              <a:buSzPts val="1800"/>
              <a:buChar char="-"/>
            </a:pPr>
            <a:r>
              <a:rPr lang="en-US"/>
              <a:t>depends_on để quy định thứ tự </a:t>
            </a:r>
            <a:endParaRPr/>
          </a:p>
        </p:txBody>
      </p:sp>
      <p:sp>
        <p:nvSpPr>
          <p:cNvPr id="191" name="Google Shape;191;g2d7dfff89db_0_28"/>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US"/>
              <a:t>‹#›</a:t>
            </a:fld>
            <a:endParaRPr/>
          </a:p>
        </p:txBody>
      </p:sp>
      <p:pic>
        <p:nvPicPr>
          <p:cNvPr id="192" name="Google Shape;192;g2d7dfff89db_0_28"/>
          <p:cNvPicPr preferRelativeResize="0"/>
          <p:nvPr/>
        </p:nvPicPr>
        <p:blipFill>
          <a:blip r:embed="rId3">
            <a:alphaModFix/>
          </a:blip>
          <a:stretch>
            <a:fillRect/>
          </a:stretch>
        </p:blipFill>
        <p:spPr>
          <a:xfrm>
            <a:off x="5119300" y="947123"/>
            <a:ext cx="5505350" cy="45905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26ba6b3ca8_0_1"/>
          <p:cNvSpPr txBox="1"/>
          <p:nvPr>
            <p:ph type="title"/>
          </p:nvPr>
        </p:nvSpPr>
        <p:spPr>
          <a:xfrm>
            <a:off x="228600" y="228600"/>
            <a:ext cx="10515600" cy="544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Thực hành với Docker Compose</a:t>
            </a:r>
            <a:endParaRPr/>
          </a:p>
        </p:txBody>
      </p:sp>
      <p:sp>
        <p:nvSpPr>
          <p:cNvPr id="199" name="Google Shape;199;g326ba6b3ca8_0_1"/>
          <p:cNvSpPr txBox="1"/>
          <p:nvPr>
            <p:ph idx="1" type="body"/>
          </p:nvPr>
        </p:nvSpPr>
        <p:spPr>
          <a:xfrm>
            <a:off x="381000" y="1066800"/>
            <a:ext cx="105156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en-US"/>
              <a:t>C</a:t>
            </a:r>
            <a:r>
              <a:rPr lang="en-US"/>
              <a:t>ác thao tác hay dùng với docker compose:</a:t>
            </a:r>
            <a:endParaRPr/>
          </a:p>
          <a:p>
            <a:pPr indent="0" lvl="0" marL="0" rtl="0" algn="l">
              <a:spcBef>
                <a:spcPts val="1000"/>
              </a:spcBef>
              <a:spcAft>
                <a:spcPts val="0"/>
              </a:spcAft>
              <a:buNone/>
            </a:pPr>
            <a:r>
              <a:rPr lang="en-US"/>
              <a:t># docker compose up -d</a:t>
            </a:r>
            <a:endParaRPr/>
          </a:p>
          <a:p>
            <a:pPr indent="0" lvl="0" marL="0" rtl="0" algn="l">
              <a:spcBef>
                <a:spcPts val="1000"/>
              </a:spcBef>
              <a:spcAft>
                <a:spcPts val="0"/>
              </a:spcAft>
              <a:buNone/>
            </a:pPr>
            <a:r>
              <a:rPr lang="en-US"/>
              <a:t># docker compose down</a:t>
            </a:r>
            <a:endParaRPr/>
          </a:p>
          <a:p>
            <a:pPr indent="0" lvl="0" marL="0" rtl="0" algn="l">
              <a:spcBef>
                <a:spcPts val="1000"/>
              </a:spcBef>
              <a:spcAft>
                <a:spcPts val="0"/>
              </a:spcAft>
              <a:buNone/>
            </a:pPr>
            <a:r>
              <a:rPr lang="en-US"/>
              <a:t># docker compose logs &lt;service&gt;</a:t>
            </a:r>
            <a:endParaRPr/>
          </a:p>
          <a:p>
            <a:pPr indent="0" lvl="0" marL="0" rtl="0" algn="l">
              <a:spcBef>
                <a:spcPts val="1000"/>
              </a:spcBef>
              <a:spcAft>
                <a:spcPts val="0"/>
              </a:spcAft>
              <a:buNone/>
            </a:pPr>
            <a:r>
              <a:rPr lang="en-US"/>
              <a:t># docker compose restart &lt;service&gt;</a:t>
            </a:r>
            <a:endParaRPr/>
          </a:p>
          <a:p>
            <a:pPr indent="0" lvl="0" marL="0" rtl="0" algn="l">
              <a:spcBef>
                <a:spcPts val="1000"/>
              </a:spcBef>
              <a:spcAft>
                <a:spcPts val="0"/>
              </a:spcAft>
              <a:buNone/>
            </a:pPr>
            <a:r>
              <a:rPr lang="en-US"/>
              <a:t># docker compose build</a:t>
            </a:r>
            <a:endParaRPr/>
          </a:p>
        </p:txBody>
      </p:sp>
      <p:sp>
        <p:nvSpPr>
          <p:cNvPr id="200" name="Google Shape;200;g326ba6b3ca8_0_1"/>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2"/>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400"/>
              <a:buNone/>
            </a:pPr>
            <a:r>
              <a:t/>
            </a:r>
            <a:endParaRPr/>
          </a:p>
        </p:txBody>
      </p:sp>
      <p:sp>
        <p:nvSpPr>
          <p:cNvPr id="206" name="Google Shape;206;p32"/>
          <p:cNvSpPr txBox="1"/>
          <p:nvPr>
            <p:ph idx="1" type="body"/>
          </p:nvPr>
        </p:nvSpPr>
        <p:spPr>
          <a:xfrm>
            <a:off x="381000" y="914400"/>
            <a:ext cx="10515600" cy="4351338"/>
          </a:xfrm>
          <a:prstGeom prst="rect">
            <a:avLst/>
          </a:prstGeom>
          <a:noFill/>
          <a:ln>
            <a:noFill/>
          </a:ln>
        </p:spPr>
        <p:txBody>
          <a:bodyPr anchorCtr="0" anchor="t" bIns="45700" lIns="91425" spcFirstLastPara="1" rIns="91425" wrap="square" tIns="45700">
            <a:noAutofit/>
          </a:bodyPr>
          <a:lstStyle/>
          <a:p>
            <a:pPr indent="0" lvl="0" marL="0" rtl="0" algn="ctr">
              <a:lnSpc>
                <a:spcPct val="150000"/>
              </a:lnSpc>
              <a:spcBef>
                <a:spcPts val="0"/>
              </a:spcBef>
              <a:spcAft>
                <a:spcPts val="0"/>
              </a:spcAft>
              <a:buClr>
                <a:schemeClr val="dk1"/>
              </a:buClr>
              <a:buSzPts val="2800"/>
              <a:buNone/>
            </a:pPr>
            <a:r>
              <a:rPr lang="en-US">
                <a:latin typeface="Arial"/>
                <a:ea typeface="Arial"/>
                <a:cs typeface="Arial"/>
                <a:sym typeface="Arial"/>
              </a:rPr>
              <a:t>Thank You</a:t>
            </a:r>
            <a:endParaRPr/>
          </a:p>
          <a:p>
            <a:pPr indent="-76200" lvl="1" marL="685800" rtl="0" algn="l">
              <a:lnSpc>
                <a:spcPct val="90000"/>
              </a:lnSpc>
              <a:spcBef>
                <a:spcPts val="500"/>
              </a:spcBef>
              <a:spcAft>
                <a:spcPts val="0"/>
              </a:spcAft>
              <a:buClr>
                <a:schemeClr val="dk1"/>
              </a:buClr>
              <a:buSzPts val="2400"/>
              <a:buNone/>
            </a:pPr>
            <a:r>
              <a:t/>
            </a:r>
            <a:endParaRPr/>
          </a:p>
          <a:p>
            <a:pPr indent="-228600" lvl="1" marL="685800" rtl="0" algn="l">
              <a:lnSpc>
                <a:spcPct val="90000"/>
              </a:lnSpc>
              <a:spcBef>
                <a:spcPts val="500"/>
              </a:spcBef>
              <a:spcAft>
                <a:spcPts val="0"/>
              </a:spcAft>
              <a:buClr>
                <a:schemeClr val="dk1"/>
              </a:buClr>
              <a:buSzPts val="2400"/>
              <a:buFont typeface="Noto Sans Symbols"/>
              <a:buNone/>
            </a:pPr>
            <a:r>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207" name="Google Shape;207;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Tahoma"/>
                <a:ea typeface="Tahoma"/>
                <a:cs typeface="Tahoma"/>
                <a:sym typeface="Tahoma"/>
              </a:rPr>
              <a:t>‹#›</a:t>
            </a:fld>
            <a:endParaRPr b="0" i="0" sz="1400" u="none" cap="none" strike="noStrike">
              <a:solidFill>
                <a:schemeClr val="dk1"/>
              </a:solidFill>
              <a:latin typeface="Tahoma"/>
              <a:ea typeface="Tahoma"/>
              <a:cs typeface="Tahoma"/>
              <a:sym typeface="Tahoma"/>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lends">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2005-08-06T12:02:07Z</dcterms:created>
  <dc:creator>YWC</dc:creator>
</cp:coreProperties>
</file>